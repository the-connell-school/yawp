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light day of definition and context: what we are doing and why. Brian takes a full class period; you can also fold it into another lesson. Goals: students understand the purpose of YAWP!, read a sample essay, and create their YAWP! accounts. Have the sample essay (“Bored in the USA,” or your own) printed or shared, and your class’s join link ready.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Brian’s own slides, left as an example. Make your own the same way: three statements about you, two true and one believable lie, and a photo or two that make you human (self-deprecating works best). Or delete these slides and play the game without them. How Brian plays it: let students ask questions and "vibe it out," take guesses, then a vote by show of hands for each one. The reveal: he was not born in Canada.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Brian’s own slides, left as an example. Make your own the same way: three statements about you, two true and one believable lie, and a photo or two that make you human (self-deprecating works best). Or delete these slides and play the game without them. Brian’s line: "Here’s my blonde-haired, blue-eyed twin brother Patrick and me, on our first day of kindergarten at a school that made us wear these uniforms. I’m obviously the handsome fella on the left."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Brian’s own slides, left as an example. Make your own the same way: three statements about you, two true and one believable lie, and a photo or two that make you human (self-deprecating works best). Or delete these slides and play the game without them. Brian’s line: "A short 12 or 13 years later, I looked like this. My wife and I did in fact meet in high school; this is us in our freshman year of college."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write three statements at their desks. Keep the lies believable ("I have eight children" or "I can fly" won’t work). Then share with a neighbor or table and guess. Watch the room come to life. Invite a few to try to stump the whole class, or you. The point is to disarm the room and have fun together at the top of the program.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introduce the program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what they think "yawp" means. A yell, a sound, a scream from a rooftop: all good. Say "yes, and" to every answer; how you respond matters to the whole room, not just the student who spoke. Then Brian’s framing: your yawp is your voice. Imagine everything inside you, your thoughts, opinions, experiences, relationships, the music in your head, and give it all one big, mighty sound. That is your yawp, and it is unique to you. In this program we unleash it through writing.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 a quick discussion. How might a happy person express it without words? (Smile, laugh.) An angry one? Then: writing articulates something for yourself and others, and it lasts. That permanence is why writing is power. Most students hear this and think, "I want some of that." Day 1 is about getting them to buy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"Bored in the USA" from the resources, or your own sample, as long as it follows our form (intro ending in a thesis, body paragraphs, conclusion). Everyone has a copy. Before reading, ask everyone to underline or highlight anything interesting, at least one thing per paragraph. Volunteers read aloud, a paragraph each. Don’t overanalyze.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it simple: "Tell me one thing you underlined and why." The point is that they’re talking. The question you must land is the third: the main point is the thesis statement, the last sentence of the introduction. Have everyone underline it. It’s one sentence that captures the main argument of the whole essay, and you’ll come back to it for weeks.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shape of the essay they just read and the one they are about to write. Point at the thesis: the most important part, the last sentence of the intro. Don’t spend long here; it’s also a handout, and you’ll come back to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can tell them the topic is coming later. This is a writing class: they’ll spend real time writing and thinking about what they think.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current sign-up flow. Each class has its own join link and QR code on its Students tab. The class code shown there is for your reference only; it is not enough to join. Students pick a display name, a handle and a password. Keep a note of handles and passwords, or give the class a pattern to follow, to avoid the inevitable forgotten passwords; you can reset a student’s password from the Students tab.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room while students sign up. Handles are 3 to 30 characters: letters, numbers, dots, underscores and hyphens. Already have an account? They can log in from the same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Once they’re in, have them open the class and start the first assignment you’ve given them, which creates their document. Next class they open the same document (not a new one) and begin pre-writing.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YAWP_HYBRID">
    <p:bg>
      <p:bgPr>
        <a:solidFill>
          <a:srgbClr val="F7F5EE"/>
        </a:solidFill>
      </p:bgPr>
    </p:bg>
    <p:spTree>
      <p:nvGrpSpPr>
        <p:cNvPr id="1" name=""/>
        <p:cNvGrpSpPr/>
        <p:nvPr/>
      </p:nvGrpSpPr>
      <p:grpSpPr>
        <a:xfrm>
          <a:off x="0" y="0"/>
          <a:ext cx="0" cy="0"/>
          <a:chOff x="0" y="0"/>
          <a:chExt cx="0" cy="0"/>
        </a:xfrm>
      </p:grpSpPr>
      <p:sp>
        <p:nvSpPr>
          <p:cNvPr id="2" name="Text 0"/>
          <p:cNvSpPr/>
          <p:nvPr/>
        </p:nvSpPr>
        <p:spPr>
          <a:xfrm>
            <a:off x="685800" y="6355080"/>
            <a:ext cx="1828800" cy="320040"/>
          </a:xfrm>
          <a:prstGeom prst="rect">
            <a:avLst/>
          </a:prstGeom>
          <a:noFill/>
          <a:ln/>
        </p:spPr>
        <p:txBody>
          <a:bodyPr wrap="square" lIns="0" tIns="0" rIns="0" bIns="0" rtlCol="0" anchor="ctr"/>
          <a:lstStyle/>
          <a:p>
            <a:pPr indent="0" marL="0">
              <a:buNone/>
            </a:pPr>
            <a:r>
              <a:rPr lang="en-US" sz="1100" b="1" dirty="0">
                <a:solidFill>
                  <a:srgbClr val="D27151"/>
                </a:solidFill>
                <a:latin typeface="Georgia" pitchFamily="34" charset="0"/>
                <a:ea typeface="Georgia" pitchFamily="34" charset="-122"/>
                <a:cs typeface="Georgia" pitchFamily="34" charset="-120"/>
              </a:rPr>
              <a:t>YAWP!</a:t>
            </a:r>
            <a:endParaRPr lang="en-US" sz="1100" dirty="0"/>
          </a:p>
        </p:txBody>
      </p:sp>
      <p:sp>
        <p:nvSpPr>
          <p:cNvPr id="25" name="Slide Number Placeholder 0"/>
          <p:cNvSpPr>
            <a:spLocks noGrp="1"/>
          </p:cNvSpPr>
          <p:nvPr>
            <p:ph type="sldNum" sz="quarter" idx="4294967295"/>
          </p:nvPr>
        </p:nvSpPr>
        <p:spPr>
          <a:xfrm>
            <a:off x="10957255"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7E7C78"/>
                </a:solidFill>
                <a:latin typeface="Consolas"/>
                <a:ea typeface="Consolas"/>
                <a:cs typeface="Consolas"/>
              </a:defRPr>
            </a:lvl1pPr>
          </a:lstStyle>
          <a:p>
            <a:pPr algn="r"/>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57255"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7E7C78"/>
                </a:solidFill>
                <a:latin typeface="Consolas"/>
                <a:ea typeface="Consolas"/>
                <a:cs typeface="Consolas"/>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2.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2.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2.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2.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4663440" cy="6858000"/>
          </a:xfrm>
          <a:prstGeom prst="rect">
            <a:avLst/>
          </a:prstGeom>
          <a:solidFill>
            <a:srgbClr val="02BDC7"/>
          </a:solidFill>
          <a:ln w="12700">
            <a:solidFill>
              <a:srgbClr val="02BDC7"/>
            </a:solidFill>
            <a:prstDash val="solid"/>
          </a:ln>
        </p:spPr>
      </p:sp>
      <p:sp>
        <p:nvSpPr>
          <p:cNvPr id="3" name="Shape 1"/>
          <p:cNvSpPr/>
          <p:nvPr/>
        </p:nvSpPr>
        <p:spPr>
          <a:xfrm>
            <a:off x="777240" y="1874520"/>
            <a:ext cx="3108960" cy="3108960"/>
          </a:xfrm>
          <a:prstGeom prst="ellipse">
            <a:avLst/>
          </a:prstGeom>
          <a:solidFill>
            <a:srgbClr val="FFFEFA"/>
          </a:solidFill>
          <a:ln w="12700">
            <a:solidFill>
              <a:srgbClr val="FFFEFA"/>
            </a:solidFill>
            <a:prstDash val="solid"/>
          </a:ln>
          <a:effectLst>
            <a:outerShdw sx="100000" sy="100000" kx="0" ky="0" algn="bl" rotWithShape="0" blurRad="177800" dist="50800" dir="5400000">
              <a:srgbClr val="3C3828">
                <a:alpha val="18000"/>
              </a:srgbClr>
            </a:outerShdw>
          </a:effectLst>
        </p:spPr>
      </p:sp>
      <p:sp>
        <p:nvSpPr>
          <p:cNvPr id="4" name="Text 2"/>
          <p:cNvSpPr/>
          <p:nvPr/>
        </p:nvSpPr>
        <p:spPr>
          <a:xfrm>
            <a:off x="777240" y="2788920"/>
            <a:ext cx="3108960" cy="914400"/>
          </a:xfrm>
          <a:prstGeom prst="rect">
            <a:avLst/>
          </a:prstGeom>
          <a:noFill/>
          <a:ln/>
        </p:spPr>
        <p:txBody>
          <a:bodyPr wrap="square" lIns="0" tIns="0" rIns="0" bIns="0" rtlCol="0" anchor="ctr"/>
          <a:lstStyle/>
          <a:p>
            <a:pPr algn="ctr" indent="0" marL="0">
              <a:buNone/>
            </a:pPr>
            <a:r>
              <a:rPr lang="en-US" sz="6000" b="1" dirty="0">
                <a:solidFill>
                  <a:srgbClr val="3C3828"/>
                </a:solidFill>
                <a:latin typeface="Georgia" pitchFamily="34" charset="0"/>
                <a:ea typeface="Georgia" pitchFamily="34" charset="-122"/>
                <a:cs typeface="Georgia" pitchFamily="34" charset="-120"/>
              </a:rPr>
              <a:t>YAWP!</a:t>
            </a:r>
            <a:endParaRPr lang="en-US" sz="6000" dirty="0"/>
          </a:p>
        </p:txBody>
      </p:sp>
      <p:sp>
        <p:nvSpPr>
          <p:cNvPr id="5" name="Text 3"/>
          <p:cNvSpPr/>
          <p:nvPr/>
        </p:nvSpPr>
        <p:spPr>
          <a:xfrm>
            <a:off x="777240" y="3703320"/>
            <a:ext cx="3108960" cy="365760"/>
          </a:xfrm>
          <a:prstGeom prst="rect">
            <a:avLst/>
          </a:prstGeom>
          <a:noFill/>
          <a:ln/>
        </p:spPr>
        <p:txBody>
          <a:bodyPr wrap="square" lIns="0" tIns="0" rIns="0" bIns="0" rtlCol="0" anchor="ctr"/>
          <a:lstStyle/>
          <a:p>
            <a:pPr algn="ctr" indent="0" marL="0">
              <a:buNone/>
            </a:pPr>
            <a:r>
              <a:rPr lang="en-US" sz="1200" b="1" spc="300" kern="0" dirty="0">
                <a:solidFill>
                  <a:srgbClr val="D27151"/>
                </a:solidFill>
                <a:latin typeface="Consolas" pitchFamily="34" charset="0"/>
                <a:ea typeface="Consolas" pitchFamily="34" charset="-122"/>
                <a:cs typeface="Consolas" pitchFamily="34" charset="-120"/>
              </a:rPr>
              <a:t>WRITING PROGRAM</a:t>
            </a:r>
            <a:endParaRPr lang="en-US" sz="1200" dirty="0"/>
          </a:p>
        </p:txBody>
      </p:sp>
      <p:sp>
        <p:nvSpPr>
          <p:cNvPr id="6" name="Shape 4"/>
          <p:cNvSpPr/>
          <p:nvPr/>
        </p:nvSpPr>
        <p:spPr>
          <a:xfrm>
            <a:off x="2971800" y="1371600"/>
            <a:ext cx="1325880" cy="1325880"/>
          </a:xfrm>
          <a:prstGeom prst="ellipse">
            <a:avLst/>
          </a:prstGeom>
          <a:solidFill>
            <a:srgbClr val="FFB600"/>
          </a:solidFill>
          <a:ln w="12700">
            <a:solidFill>
              <a:srgbClr val="FFB600"/>
            </a:solidFill>
            <a:prstDash val="solid"/>
          </a:ln>
        </p:spPr>
      </p:sp>
      <p:pic>
        <p:nvPicPr>
          <p:cNvPr id="7" name="Image 0" descr="lightbulb icon">    </p:cNvPr>
          <p:cNvPicPr>
            <a:picLocks noChangeAspect="1"/>
          </p:cNvPicPr>
          <p:nvPr/>
        </p:nvPicPr>
        <p:blipFill>
          <a:blip r:embed="rId1"/>
          <a:stretch>
            <a:fillRect/>
          </a:stretch>
        </p:blipFill>
        <p:spPr>
          <a:xfrm>
            <a:off x="3236976" y="1636776"/>
            <a:ext cx="795528" cy="795528"/>
          </a:xfrm>
          <a:prstGeom prst="rect">
            <a:avLst/>
          </a:prstGeom>
        </p:spPr>
      </p:pic>
      <p:sp>
        <p:nvSpPr>
          <p:cNvPr id="8" name="Shape 5"/>
          <p:cNvSpPr/>
          <p:nvPr/>
        </p:nvSpPr>
        <p:spPr>
          <a:xfrm>
            <a:off x="365760" y="2011680"/>
            <a:ext cx="914400" cy="914400"/>
          </a:xfrm>
          <a:prstGeom prst="ellipse">
            <a:avLst/>
          </a:prstGeom>
          <a:solidFill>
            <a:srgbClr val="FF9755"/>
          </a:solidFill>
          <a:ln w="12700">
            <a:solidFill>
              <a:srgbClr val="FF9755"/>
            </a:solidFill>
            <a:prstDash val="solid"/>
          </a:ln>
        </p:spPr>
      </p:sp>
      <p:pic>
        <p:nvPicPr>
          <p:cNvPr id="9" name="Image 1" descr="puzzle icon">    </p:cNvPr>
          <p:cNvPicPr>
            <a:picLocks noChangeAspect="1"/>
          </p:cNvPicPr>
          <p:nvPr/>
        </p:nvPicPr>
        <p:blipFill>
          <a:blip r:embed="rId2"/>
          <a:stretch>
            <a:fillRect/>
          </a:stretch>
        </p:blipFill>
        <p:spPr>
          <a:xfrm>
            <a:off x="548640" y="2194560"/>
            <a:ext cx="548640" cy="548640"/>
          </a:xfrm>
          <a:prstGeom prst="rect">
            <a:avLst/>
          </a:prstGeom>
        </p:spPr>
      </p:pic>
      <p:sp>
        <p:nvSpPr>
          <p:cNvPr id="10" name="Shape 6"/>
          <p:cNvSpPr/>
          <p:nvPr/>
        </p:nvSpPr>
        <p:spPr>
          <a:xfrm>
            <a:off x="822960" y="4206240"/>
            <a:ext cx="1051560" cy="1051560"/>
          </a:xfrm>
          <a:prstGeom prst="ellipse">
            <a:avLst/>
          </a:prstGeom>
          <a:solidFill>
            <a:srgbClr val="FC4540"/>
          </a:solidFill>
          <a:ln w="12700">
            <a:solidFill>
              <a:srgbClr val="FC4540"/>
            </a:solidFill>
            <a:prstDash val="solid"/>
          </a:ln>
        </p:spPr>
      </p:sp>
      <p:pic>
        <p:nvPicPr>
          <p:cNvPr id="11" name="Image 2" descr="thumbs icon">    </p:cNvPr>
          <p:cNvPicPr>
            <a:picLocks noChangeAspect="1"/>
          </p:cNvPicPr>
          <p:nvPr/>
        </p:nvPicPr>
        <p:blipFill>
          <a:blip r:embed="rId3"/>
          <a:stretch>
            <a:fillRect/>
          </a:stretch>
        </p:blipFill>
        <p:spPr>
          <a:xfrm>
            <a:off x="1033272" y="4416552"/>
            <a:ext cx="630936" cy="630936"/>
          </a:xfrm>
          <a:prstGeom prst="rect">
            <a:avLst/>
          </a:prstGeom>
        </p:spPr>
      </p:pic>
      <p:sp>
        <p:nvSpPr>
          <p:cNvPr id="12" name="Shape 7"/>
          <p:cNvSpPr/>
          <p:nvPr/>
        </p:nvSpPr>
        <p:spPr>
          <a:xfrm>
            <a:off x="594360" y="3200400"/>
            <a:ext cx="256032" cy="256032"/>
          </a:xfrm>
          <a:prstGeom prst="ellipse">
            <a:avLst/>
          </a:prstGeom>
          <a:solidFill>
            <a:srgbClr val="FFFEFA"/>
          </a:solidFill>
          <a:ln w="12700">
            <a:solidFill>
              <a:srgbClr val="FFFEFA"/>
            </a:solidFill>
            <a:prstDash val="solid"/>
          </a:ln>
        </p:spPr>
      </p:sp>
      <p:sp>
        <p:nvSpPr>
          <p:cNvPr id="13" name="Shape 8"/>
          <p:cNvSpPr/>
          <p:nvPr/>
        </p:nvSpPr>
        <p:spPr>
          <a:xfrm>
            <a:off x="3931920" y="2971800"/>
            <a:ext cx="329184" cy="329184"/>
          </a:xfrm>
          <a:prstGeom prst="ellipse">
            <a:avLst/>
          </a:prstGeom>
          <a:solidFill>
            <a:srgbClr val="FC4067"/>
          </a:solidFill>
          <a:ln w="12700">
            <a:solidFill>
              <a:srgbClr val="FC4067"/>
            </a:solidFill>
            <a:prstDash val="solid"/>
          </a:ln>
        </p:spPr>
      </p:sp>
      <p:sp>
        <p:nvSpPr>
          <p:cNvPr id="14" name="Shape 9"/>
          <p:cNvSpPr/>
          <p:nvPr/>
        </p:nvSpPr>
        <p:spPr>
          <a:xfrm>
            <a:off x="3383280" y="5074920"/>
            <a:ext cx="457200" cy="457200"/>
          </a:xfrm>
          <a:prstGeom prst="ellipse">
            <a:avLst/>
          </a:prstGeom>
          <a:solidFill>
            <a:srgbClr val="FF9755"/>
          </a:solidFill>
          <a:ln w="12700">
            <a:solidFill>
              <a:srgbClr val="FF9755"/>
            </a:solidFill>
            <a:prstDash val="solid"/>
          </a:ln>
        </p:spPr>
      </p:sp>
      <p:sp>
        <p:nvSpPr>
          <p:cNvPr id="15" name="Shape 10"/>
          <p:cNvSpPr/>
          <p:nvPr/>
        </p:nvSpPr>
        <p:spPr>
          <a:xfrm>
            <a:off x="2651760" y="5303520"/>
            <a:ext cx="146304" cy="146304"/>
          </a:xfrm>
          <a:prstGeom prst="ellipse">
            <a:avLst/>
          </a:prstGeom>
          <a:solidFill>
            <a:srgbClr val="FFB600"/>
          </a:solidFill>
          <a:ln w="12700">
            <a:solidFill>
              <a:srgbClr val="FFB600"/>
            </a:solidFill>
            <a:prstDash val="solid"/>
          </a:ln>
        </p:spPr>
      </p:sp>
      <p:sp>
        <p:nvSpPr>
          <p:cNvPr id="16" name="Shape 11"/>
          <p:cNvSpPr/>
          <p:nvPr/>
        </p:nvSpPr>
        <p:spPr>
          <a:xfrm>
            <a:off x="1920240" y="5212080"/>
            <a:ext cx="182880" cy="182880"/>
          </a:xfrm>
          <a:prstGeom prst="ellipse">
            <a:avLst/>
          </a:prstGeom>
          <a:solidFill>
            <a:srgbClr val="FFFEFA"/>
          </a:solidFill>
          <a:ln w="12700">
            <a:solidFill>
              <a:srgbClr val="FFFEFA"/>
            </a:solidFill>
            <a:prstDash val="solid"/>
          </a:ln>
        </p:spPr>
      </p:sp>
      <p:sp>
        <p:nvSpPr>
          <p:cNvPr id="17" name="Text 12"/>
          <p:cNvSpPr/>
          <p:nvPr/>
        </p:nvSpPr>
        <p:spPr>
          <a:xfrm>
            <a:off x="5394960" y="2057400"/>
            <a:ext cx="6110935" cy="365760"/>
          </a:xfrm>
          <a:prstGeom prst="rect">
            <a:avLst/>
          </a:prstGeom>
          <a:noFill/>
          <a:ln/>
        </p:spPr>
        <p:txBody>
          <a:bodyPr wrap="square" lIns="0" tIns="0" rIns="0" bIns="0" rtlCol="0" anchor="ctr"/>
          <a:lstStyle/>
          <a:p>
            <a:pPr indent="0" marL="0">
              <a:buNone/>
            </a:pPr>
            <a:r>
              <a:rPr lang="en-US" sz="1300" b="1" spc="200" kern="0" dirty="0">
                <a:solidFill>
                  <a:srgbClr val="02BDC7"/>
                </a:solidFill>
                <a:latin typeface="Consolas" pitchFamily="34" charset="0"/>
                <a:ea typeface="Consolas" pitchFamily="34" charset="-122"/>
                <a:cs typeface="Consolas" pitchFamily="34" charset="-120"/>
              </a:rPr>
              <a:t>THESIS-DRIVEN ESSAY · LESSON 1</a:t>
            </a:r>
            <a:endParaRPr lang="en-US" sz="1300" dirty="0"/>
          </a:p>
        </p:txBody>
      </p:sp>
      <p:sp>
        <p:nvSpPr>
          <p:cNvPr id="18" name="Text 13"/>
          <p:cNvSpPr/>
          <p:nvPr/>
        </p:nvSpPr>
        <p:spPr>
          <a:xfrm>
            <a:off x="5394960" y="2468880"/>
            <a:ext cx="6110935" cy="1371600"/>
          </a:xfrm>
          <a:prstGeom prst="rect">
            <a:avLst/>
          </a:prstGeom>
          <a:noFill/>
          <a:ln/>
        </p:spPr>
        <p:txBody>
          <a:bodyPr wrap="square" lIns="0" tIns="0" rIns="0" bIns="0" rtlCol="0" anchor="ctr"/>
          <a:lstStyle/>
          <a:p>
            <a:pPr indent="0" marL="0">
              <a:buNone/>
            </a:pPr>
            <a:r>
              <a:rPr lang="en-US" sz="6600" dirty="0">
                <a:solidFill>
                  <a:srgbClr val="3C3828"/>
                </a:solidFill>
                <a:highlight>
                  <a:srgbClr val="FFE14D"/>
                </a:highlight>
                <a:latin typeface="Georgia" pitchFamily="34" charset="0"/>
                <a:ea typeface="Georgia" pitchFamily="34" charset="-122"/>
                <a:cs typeface="Georgia" pitchFamily="34" charset="-120"/>
              </a:rPr>
              <a:t>Day 1</a:t>
            </a:r>
            <a:endParaRPr lang="en-US" sz="6600" dirty="0"/>
          </a:p>
        </p:txBody>
      </p:sp>
      <p:sp>
        <p:nvSpPr>
          <p:cNvPr id="19" name="Text 14"/>
          <p:cNvSpPr/>
          <p:nvPr/>
        </p:nvSpPr>
        <p:spPr>
          <a:xfrm>
            <a:off x="5394960" y="3931920"/>
            <a:ext cx="6110935" cy="640080"/>
          </a:xfrm>
          <a:prstGeom prst="rect">
            <a:avLst/>
          </a:prstGeom>
          <a:noFill/>
          <a:ln/>
        </p:spPr>
        <p:txBody>
          <a:bodyPr wrap="square" lIns="0" tIns="0" rIns="0" bIns="0" rtlCol="0" anchor="t"/>
          <a:lstStyle/>
          <a:p>
            <a:pPr indent="0" marL="0">
              <a:buNone/>
            </a:pPr>
            <a:r>
              <a:rPr lang="en-US" sz="2200" dirty="0">
                <a:solidFill>
                  <a:srgbClr val="7E7C78"/>
                </a:solidFill>
                <a:latin typeface="Calibri" pitchFamily="34" charset="0"/>
                <a:ea typeface="Calibri" pitchFamily="34" charset="-122"/>
                <a:cs typeface="Calibri" pitchFamily="34" charset="-120"/>
              </a:rPr>
              <a:t>Introduce students to YAWP!</a:t>
            </a:r>
            <a:endParaRPr lang="en-US" sz="2200" dirty="0"/>
          </a:p>
        </p:txBody>
      </p:sp>
      <p:sp>
        <p:nvSpPr>
          <p:cNvPr id="20" name="Shape 15"/>
          <p:cNvSpPr/>
          <p:nvPr/>
        </p:nvSpPr>
        <p:spPr>
          <a:xfrm>
            <a:off x="5394960" y="4800600"/>
            <a:ext cx="237744" cy="237744"/>
          </a:xfrm>
          <a:prstGeom prst="ellipse">
            <a:avLst/>
          </a:prstGeom>
          <a:solidFill>
            <a:srgbClr val="02BDC7"/>
          </a:solidFill>
          <a:ln w="12700">
            <a:solidFill>
              <a:srgbClr val="02BDC7"/>
            </a:solidFill>
            <a:prstDash val="solid"/>
          </a:ln>
        </p:spPr>
      </p:sp>
      <p:sp>
        <p:nvSpPr>
          <p:cNvPr id="21" name="Shape 16"/>
          <p:cNvSpPr/>
          <p:nvPr/>
        </p:nvSpPr>
        <p:spPr>
          <a:xfrm>
            <a:off x="5779008" y="4800600"/>
            <a:ext cx="237744" cy="237744"/>
          </a:xfrm>
          <a:prstGeom prst="ellipse">
            <a:avLst/>
          </a:prstGeom>
          <a:solidFill>
            <a:srgbClr val="FFB600"/>
          </a:solidFill>
          <a:ln w="12700">
            <a:solidFill>
              <a:srgbClr val="FFB600"/>
            </a:solidFill>
            <a:prstDash val="solid"/>
          </a:ln>
        </p:spPr>
      </p:sp>
      <p:sp>
        <p:nvSpPr>
          <p:cNvPr id="22" name="Shape 17"/>
          <p:cNvSpPr/>
          <p:nvPr/>
        </p:nvSpPr>
        <p:spPr>
          <a:xfrm>
            <a:off x="6163056" y="4800600"/>
            <a:ext cx="237744" cy="237744"/>
          </a:xfrm>
          <a:prstGeom prst="ellipse">
            <a:avLst/>
          </a:prstGeom>
          <a:solidFill>
            <a:srgbClr val="FC4540"/>
          </a:solidFill>
          <a:ln w="12700">
            <a:solidFill>
              <a:srgbClr val="FC4540"/>
            </a:solidFill>
            <a:prstDash val="solid"/>
          </a:ln>
        </p:spPr>
      </p:sp>
      <p:sp>
        <p:nvSpPr>
          <p:cNvPr id="23" name="Shape 18"/>
          <p:cNvSpPr/>
          <p:nvPr/>
        </p:nvSpPr>
        <p:spPr>
          <a:xfrm>
            <a:off x="6547104" y="4800600"/>
            <a:ext cx="237744" cy="237744"/>
          </a:xfrm>
          <a:prstGeom prst="ellipse">
            <a:avLst/>
          </a:prstGeom>
          <a:solidFill>
            <a:srgbClr val="FF9755"/>
          </a:solidFill>
          <a:ln w="12700">
            <a:solidFill>
              <a:srgbClr val="FF9755"/>
            </a:solidFill>
            <a:prstDash val="solid"/>
          </a:ln>
        </p:spPr>
      </p:sp>
      <p:sp>
        <p:nvSpPr>
          <p:cNvPr id="24" name="Shape 19"/>
          <p:cNvSpPr/>
          <p:nvPr/>
        </p:nvSpPr>
        <p:spPr>
          <a:xfrm>
            <a:off x="6931152" y="4800600"/>
            <a:ext cx="237744" cy="237744"/>
          </a:xfrm>
          <a:prstGeom prst="ellipse">
            <a:avLst/>
          </a:prstGeom>
          <a:solidFill>
            <a:srgbClr val="FC4067"/>
          </a:solidFill>
          <a:ln w="12700">
            <a:solidFill>
              <a:srgbClr val="FC4067"/>
            </a:solidFill>
            <a:prstDash val="solid"/>
          </a:ln>
        </p:spPr>
      </p:sp>
      <p:sp>
        <p:nvSpPr>
          <p:cNvPr id="25" name="Slide Number Placeholder 0"/>
          <p:cNvSpPr>
            <a:spLocks noGrp="1"/>
          </p:cNvSpPr>
          <p:nvPr>
            <p:ph type="sldNum" sz="quarter" idx="4294967295"/>
          </p:nvPr>
        </p:nvSpPr>
        <p:spPr>
          <a:xfrm>
            <a:off x="10957255"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7E7C78"/>
                </a:solidFill>
                <a:latin typeface="Consolas"/>
                <a:ea typeface="Consolas"/>
                <a:cs typeface="Consolas"/>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85800" y="502920"/>
            <a:ext cx="9357055" cy="320040"/>
          </a:xfrm>
          <a:prstGeom prst="rect">
            <a:avLst/>
          </a:prstGeom>
          <a:noFill/>
          <a:ln/>
        </p:spPr>
        <p:txBody>
          <a:bodyPr wrap="square" lIns="0" tIns="0" rIns="0" bIns="0" rtlCol="0" anchor="b"/>
          <a:lstStyle/>
          <a:p>
            <a:pPr indent="0" marL="0">
              <a:buNone/>
            </a:pPr>
            <a:r>
              <a:rPr lang="en-US" sz="1200" b="1" spc="200" kern="0" dirty="0">
                <a:solidFill>
                  <a:srgbClr val="02BDC7"/>
                </a:solidFill>
                <a:latin typeface="Consolas" pitchFamily="34" charset="0"/>
                <a:ea typeface="Consolas" pitchFamily="34" charset="-122"/>
                <a:cs typeface="Consolas" pitchFamily="34" charset="-120"/>
              </a:rPr>
              <a:t>2 TRUTHS AND A LIE</a:t>
            </a:r>
            <a:endParaRPr lang="en-US" sz="1200" dirty="0"/>
          </a:p>
        </p:txBody>
      </p:sp>
      <p:sp>
        <p:nvSpPr>
          <p:cNvPr id="3" name="Text 1"/>
          <p:cNvSpPr/>
          <p:nvPr/>
        </p:nvSpPr>
        <p:spPr>
          <a:xfrm>
            <a:off x="685800" y="868680"/>
            <a:ext cx="9357055" cy="960120"/>
          </a:xfrm>
          <a:prstGeom prst="rect">
            <a:avLst/>
          </a:prstGeom>
          <a:noFill/>
          <a:ln/>
        </p:spPr>
        <p:txBody>
          <a:bodyPr wrap="square" lIns="0" tIns="0" rIns="0" bIns="0" rtlCol="0" anchor="t"/>
          <a:lstStyle/>
          <a:p>
            <a:pPr indent="0" marL="0">
              <a:buNone/>
            </a:pPr>
            <a:r>
              <a:rPr lang="en-US" sz="3600" dirty="0">
                <a:solidFill>
                  <a:srgbClr val="3C3828"/>
                </a:solidFill>
                <a:latin typeface="Georgia" pitchFamily="34" charset="0"/>
                <a:ea typeface="Georgia" pitchFamily="34" charset="-122"/>
                <a:cs typeface="Georgia" pitchFamily="34" charset="-120"/>
              </a:rPr>
              <a:t>2 Truths and a Lie</a:t>
            </a:r>
            <a:endParaRPr lang="en-US" sz="3600" dirty="0"/>
          </a:p>
        </p:txBody>
      </p:sp>
      <p:sp>
        <p:nvSpPr>
          <p:cNvPr id="4" name="Shape 2"/>
          <p:cNvSpPr/>
          <p:nvPr/>
        </p:nvSpPr>
        <p:spPr>
          <a:xfrm>
            <a:off x="10637215" y="457200"/>
            <a:ext cx="868680" cy="868680"/>
          </a:xfrm>
          <a:prstGeom prst="ellipse">
            <a:avLst/>
          </a:prstGeom>
          <a:solidFill>
            <a:srgbClr val="02BDC7"/>
          </a:solidFill>
          <a:ln w="12700">
            <a:solidFill>
              <a:srgbClr val="02BDC7"/>
            </a:solidFill>
            <a:prstDash val="solid"/>
          </a:ln>
        </p:spPr>
      </p:sp>
      <p:pic>
        <p:nvPicPr>
          <p:cNvPr id="5" name="Image 0" descr="pencil icon">    </p:cNvPr>
          <p:cNvPicPr>
            <a:picLocks noChangeAspect="1"/>
          </p:cNvPicPr>
          <p:nvPr/>
        </p:nvPicPr>
        <p:blipFill>
          <a:blip r:embed="rId1"/>
          <a:stretch>
            <a:fillRect/>
          </a:stretch>
        </p:blipFill>
        <p:spPr>
          <a:xfrm>
            <a:off x="10810951" y="630936"/>
            <a:ext cx="521208" cy="521208"/>
          </a:xfrm>
          <a:prstGeom prst="rect">
            <a:avLst/>
          </a:prstGeom>
        </p:spPr>
      </p:pic>
      <p:sp>
        <p:nvSpPr>
          <p:cNvPr id="6" name="Shape 3"/>
          <p:cNvSpPr/>
          <p:nvPr/>
        </p:nvSpPr>
        <p:spPr>
          <a:xfrm>
            <a:off x="10344607" y="530352"/>
            <a:ext cx="182880" cy="182880"/>
          </a:xfrm>
          <a:prstGeom prst="ellipse">
            <a:avLst/>
          </a:prstGeom>
          <a:solidFill>
            <a:srgbClr val="FC4540"/>
          </a:solidFill>
          <a:ln w="12700">
            <a:solidFill>
              <a:srgbClr val="FC4540"/>
            </a:solidFill>
            <a:prstDash val="solid"/>
          </a:ln>
        </p:spPr>
      </p:sp>
      <p:sp>
        <p:nvSpPr>
          <p:cNvPr id="7" name="Shape 4"/>
          <p:cNvSpPr/>
          <p:nvPr/>
        </p:nvSpPr>
        <p:spPr>
          <a:xfrm>
            <a:off x="11460175" y="1307592"/>
            <a:ext cx="128016" cy="128016"/>
          </a:xfrm>
          <a:prstGeom prst="ellipse">
            <a:avLst/>
          </a:prstGeom>
          <a:solidFill>
            <a:srgbClr val="FF9755"/>
          </a:solidFill>
          <a:ln w="12700">
            <a:solidFill>
              <a:srgbClr val="FF9755"/>
            </a:solidFill>
            <a:prstDash val="solid"/>
          </a:ln>
        </p:spPr>
      </p:sp>
      <p:sp>
        <p:nvSpPr>
          <p:cNvPr id="8" name="Text 5"/>
          <p:cNvSpPr/>
          <p:nvPr/>
        </p:nvSpPr>
        <p:spPr>
          <a:xfrm>
            <a:off x="685800" y="1920240"/>
            <a:ext cx="10820095" cy="868680"/>
          </a:xfrm>
          <a:prstGeom prst="rect">
            <a:avLst/>
          </a:prstGeom>
          <a:noFill/>
          <a:ln/>
        </p:spPr>
        <p:txBody>
          <a:bodyPr wrap="square" lIns="0" tIns="0" rIns="0" bIns="0" rtlCol="0" anchor="t"/>
          <a:lstStyle/>
          <a:p>
            <a:pPr indent="0" marL="0">
              <a:buNone/>
            </a:pPr>
            <a:r>
              <a:rPr lang="en-US" sz="2200" dirty="0">
                <a:solidFill>
                  <a:srgbClr val="3C3828"/>
                </a:solidFill>
                <a:latin typeface="Calibri" pitchFamily="34" charset="0"/>
                <a:ea typeface="Calibri" pitchFamily="34" charset="-122"/>
                <a:cs typeface="Calibri" pitchFamily="34" charset="-120"/>
              </a:rPr>
              <a:t>The rules: the </a:t>
            </a:r>
            <a:r>
              <a:rPr lang="en-US" sz="2200" dirty="0">
                <a:solidFill>
                  <a:srgbClr val="3C3828"/>
                </a:solidFill>
                <a:highlight>
                  <a:srgbClr val="FFE14D"/>
                </a:highlight>
                <a:latin typeface="Calibri" pitchFamily="34" charset="0"/>
                <a:ea typeface="Calibri" pitchFamily="34" charset="-122"/>
                <a:cs typeface="Calibri" pitchFamily="34" charset="-120"/>
              </a:rPr>
              <a:t>truths have to be true,</a:t>
            </a:r>
            <a:r>
              <a:rPr lang="en-US" sz="2200" dirty="0">
                <a:solidFill>
                  <a:srgbClr val="3C3828"/>
                </a:solidFill>
                <a:latin typeface="Calibri" pitchFamily="34" charset="0"/>
                <a:ea typeface="Calibri" pitchFamily="34" charset="-122"/>
                <a:cs typeface="Calibri" pitchFamily="34" charset="-120"/>
              </a:rPr>
              <a:t> and the </a:t>
            </a:r>
            <a:r>
              <a:rPr lang="en-US" sz="2200" dirty="0">
                <a:solidFill>
                  <a:srgbClr val="3C3828"/>
                </a:solidFill>
                <a:highlight>
                  <a:srgbClr val="FFE14D"/>
                </a:highlight>
                <a:latin typeface="Calibri" pitchFamily="34" charset="0"/>
                <a:ea typeface="Calibri" pitchFamily="34" charset="-122"/>
                <a:cs typeface="Calibri" pitchFamily="34" charset="-120"/>
              </a:rPr>
              <a:t>lie has to be believable.</a:t>
            </a:r>
            <a:r>
              <a:rPr lang="en-US" sz="2200" dirty="0">
                <a:solidFill>
                  <a:srgbClr val="3C3828"/>
                </a:solidFill>
                <a:latin typeface="Calibri" pitchFamily="34" charset="0"/>
                <a:ea typeface="Calibri" pitchFamily="34" charset="-122"/>
                <a:cs typeface="Calibri" pitchFamily="34" charset="-120"/>
              </a:rPr>
              <a:t> Which one is the lie?</a:t>
            </a:r>
            <a:endParaRPr lang="en-US" sz="2200" dirty="0"/>
          </a:p>
        </p:txBody>
      </p:sp>
      <p:sp>
        <p:nvSpPr>
          <p:cNvPr id="9" name="Shape 6"/>
          <p:cNvSpPr/>
          <p:nvPr/>
        </p:nvSpPr>
        <p:spPr>
          <a:xfrm>
            <a:off x="685800" y="2971800"/>
            <a:ext cx="3393338" cy="3108960"/>
          </a:xfrm>
          <a:prstGeom prst="roundRect">
            <a:avLst>
              <a:gd name="adj" fmla="val 4118"/>
            </a:avLst>
          </a:prstGeom>
          <a:solidFill>
            <a:srgbClr val="FFFEFA"/>
          </a:solidFill>
          <a:ln w="9525">
            <a:solidFill>
              <a:srgbClr val="D6D4CC"/>
            </a:solidFill>
            <a:prstDash val="solid"/>
          </a:ln>
          <a:effectLst>
            <a:outerShdw sx="100000" sy="100000" kx="0" ky="0" algn="bl" rotWithShape="0" blurRad="127000" dist="38100" dir="5400000">
              <a:srgbClr val="3C3828">
                <a:alpha val="12000"/>
              </a:srgbClr>
            </a:outerShdw>
          </a:effectLst>
        </p:spPr>
      </p:sp>
      <p:sp>
        <p:nvSpPr>
          <p:cNvPr id="10" name="Shape 7"/>
          <p:cNvSpPr/>
          <p:nvPr/>
        </p:nvSpPr>
        <p:spPr>
          <a:xfrm>
            <a:off x="813816" y="2971800"/>
            <a:ext cx="3137306" cy="91440"/>
          </a:xfrm>
          <a:prstGeom prst="rect">
            <a:avLst/>
          </a:prstGeom>
          <a:solidFill>
            <a:srgbClr val="02BDC7"/>
          </a:solidFill>
          <a:ln w="12700">
            <a:solidFill>
              <a:srgbClr val="02BDC7"/>
            </a:solidFill>
            <a:prstDash val="solid"/>
          </a:ln>
        </p:spPr>
      </p:sp>
      <p:sp>
        <p:nvSpPr>
          <p:cNvPr id="11" name="Shape 8"/>
          <p:cNvSpPr/>
          <p:nvPr/>
        </p:nvSpPr>
        <p:spPr>
          <a:xfrm>
            <a:off x="1005840" y="3337560"/>
            <a:ext cx="731520" cy="731520"/>
          </a:xfrm>
          <a:prstGeom prst="ellipse">
            <a:avLst/>
          </a:prstGeom>
          <a:solidFill>
            <a:srgbClr val="02BDC7"/>
          </a:solidFill>
          <a:ln w="12700">
            <a:solidFill>
              <a:srgbClr val="02BDC7"/>
            </a:solidFill>
            <a:prstDash val="solid"/>
          </a:ln>
        </p:spPr>
      </p:sp>
      <p:sp>
        <p:nvSpPr>
          <p:cNvPr id="12" name="Text 9"/>
          <p:cNvSpPr/>
          <p:nvPr/>
        </p:nvSpPr>
        <p:spPr>
          <a:xfrm>
            <a:off x="1005840" y="3337560"/>
            <a:ext cx="731520" cy="731520"/>
          </a:xfrm>
          <a:prstGeom prst="rect">
            <a:avLst/>
          </a:prstGeom>
          <a:noFill/>
          <a:ln/>
        </p:spPr>
        <p:txBody>
          <a:bodyPr wrap="square" lIns="0" tIns="0" rIns="0" bIns="0" rtlCol="0" anchor="ctr"/>
          <a:lstStyle/>
          <a:p>
            <a:pPr algn="ctr" indent="0" marL="0">
              <a:buNone/>
            </a:pPr>
            <a:r>
              <a:rPr lang="en-US" sz="3000" b="1" dirty="0">
                <a:solidFill>
                  <a:srgbClr val="FFFEFA"/>
                </a:solidFill>
                <a:latin typeface="Georgia" pitchFamily="34" charset="0"/>
                <a:ea typeface="Georgia" pitchFamily="34" charset="-122"/>
                <a:cs typeface="Georgia" pitchFamily="34" charset="-120"/>
              </a:rPr>
              <a:t>1</a:t>
            </a:r>
            <a:endParaRPr lang="en-US" sz="3000" dirty="0"/>
          </a:p>
        </p:txBody>
      </p:sp>
      <p:sp>
        <p:nvSpPr>
          <p:cNvPr id="13" name="Text 10"/>
          <p:cNvSpPr/>
          <p:nvPr/>
        </p:nvSpPr>
        <p:spPr>
          <a:xfrm>
            <a:off x="1005840" y="4251960"/>
            <a:ext cx="2753258" cy="1645920"/>
          </a:xfrm>
          <a:prstGeom prst="rect">
            <a:avLst/>
          </a:prstGeom>
          <a:noFill/>
          <a:ln/>
        </p:spPr>
        <p:txBody>
          <a:bodyPr wrap="square" lIns="0" tIns="0" rIns="0" bIns="0" rtlCol="0" anchor="t"/>
          <a:lstStyle/>
          <a:p>
            <a:pPr indent="0" marL="0">
              <a:buNone/>
            </a:pPr>
            <a:r>
              <a:rPr lang="en-US" sz="2600" dirty="0">
                <a:solidFill>
                  <a:srgbClr val="3C3828"/>
                </a:solidFill>
                <a:latin typeface="Calibri" pitchFamily="34" charset="0"/>
                <a:ea typeface="Calibri" pitchFamily="34" charset="-122"/>
                <a:cs typeface="Calibri" pitchFamily="34" charset="-120"/>
              </a:rPr>
              <a:t>I have a twin who is a blonde-haired version of me.</a:t>
            </a:r>
            <a:endParaRPr lang="en-US" sz="2600" dirty="0"/>
          </a:p>
        </p:txBody>
      </p:sp>
      <p:sp>
        <p:nvSpPr>
          <p:cNvPr id="14" name="Shape 11"/>
          <p:cNvSpPr/>
          <p:nvPr/>
        </p:nvSpPr>
        <p:spPr>
          <a:xfrm>
            <a:off x="4399178" y="2971800"/>
            <a:ext cx="3393338" cy="3108960"/>
          </a:xfrm>
          <a:prstGeom prst="roundRect">
            <a:avLst>
              <a:gd name="adj" fmla="val 4118"/>
            </a:avLst>
          </a:prstGeom>
          <a:solidFill>
            <a:srgbClr val="FFFEFA"/>
          </a:solidFill>
          <a:ln w="9525">
            <a:solidFill>
              <a:srgbClr val="D6D4CC"/>
            </a:solidFill>
            <a:prstDash val="solid"/>
          </a:ln>
          <a:effectLst>
            <a:outerShdw sx="100000" sy="100000" kx="0" ky="0" algn="bl" rotWithShape="0" blurRad="127000" dist="38100" dir="5400000">
              <a:srgbClr val="3C3828">
                <a:alpha val="12000"/>
              </a:srgbClr>
            </a:outerShdw>
          </a:effectLst>
        </p:spPr>
      </p:sp>
      <p:sp>
        <p:nvSpPr>
          <p:cNvPr id="15" name="Shape 12"/>
          <p:cNvSpPr/>
          <p:nvPr/>
        </p:nvSpPr>
        <p:spPr>
          <a:xfrm>
            <a:off x="4527194" y="2971800"/>
            <a:ext cx="3137306" cy="91440"/>
          </a:xfrm>
          <a:prstGeom prst="rect">
            <a:avLst/>
          </a:prstGeom>
          <a:solidFill>
            <a:srgbClr val="FFB600"/>
          </a:solidFill>
          <a:ln w="12700">
            <a:solidFill>
              <a:srgbClr val="FFB600"/>
            </a:solidFill>
            <a:prstDash val="solid"/>
          </a:ln>
        </p:spPr>
      </p:sp>
      <p:sp>
        <p:nvSpPr>
          <p:cNvPr id="16" name="Shape 13"/>
          <p:cNvSpPr/>
          <p:nvPr/>
        </p:nvSpPr>
        <p:spPr>
          <a:xfrm>
            <a:off x="4719218" y="3337560"/>
            <a:ext cx="731520" cy="731520"/>
          </a:xfrm>
          <a:prstGeom prst="ellipse">
            <a:avLst/>
          </a:prstGeom>
          <a:solidFill>
            <a:srgbClr val="FFB600"/>
          </a:solidFill>
          <a:ln w="12700">
            <a:solidFill>
              <a:srgbClr val="FFB600"/>
            </a:solidFill>
            <a:prstDash val="solid"/>
          </a:ln>
        </p:spPr>
      </p:sp>
      <p:sp>
        <p:nvSpPr>
          <p:cNvPr id="17" name="Text 14"/>
          <p:cNvSpPr/>
          <p:nvPr/>
        </p:nvSpPr>
        <p:spPr>
          <a:xfrm>
            <a:off x="4719218" y="3337560"/>
            <a:ext cx="731520" cy="731520"/>
          </a:xfrm>
          <a:prstGeom prst="rect">
            <a:avLst/>
          </a:prstGeom>
          <a:noFill/>
          <a:ln/>
        </p:spPr>
        <p:txBody>
          <a:bodyPr wrap="square" lIns="0" tIns="0" rIns="0" bIns="0" rtlCol="0" anchor="ctr"/>
          <a:lstStyle/>
          <a:p>
            <a:pPr algn="ctr" indent="0" marL="0">
              <a:buNone/>
            </a:pPr>
            <a:r>
              <a:rPr lang="en-US" sz="3000" b="1" dirty="0">
                <a:solidFill>
                  <a:srgbClr val="FFFEFA"/>
                </a:solidFill>
                <a:latin typeface="Georgia" pitchFamily="34" charset="0"/>
                <a:ea typeface="Georgia" pitchFamily="34" charset="-122"/>
                <a:cs typeface="Georgia" pitchFamily="34" charset="-120"/>
              </a:rPr>
              <a:t>2</a:t>
            </a:r>
            <a:endParaRPr lang="en-US" sz="3000" dirty="0"/>
          </a:p>
        </p:txBody>
      </p:sp>
      <p:sp>
        <p:nvSpPr>
          <p:cNvPr id="18" name="Text 15"/>
          <p:cNvSpPr/>
          <p:nvPr/>
        </p:nvSpPr>
        <p:spPr>
          <a:xfrm>
            <a:off x="4719218" y="4251960"/>
            <a:ext cx="2753258" cy="1645920"/>
          </a:xfrm>
          <a:prstGeom prst="rect">
            <a:avLst/>
          </a:prstGeom>
          <a:noFill/>
          <a:ln/>
        </p:spPr>
        <p:txBody>
          <a:bodyPr wrap="square" lIns="0" tIns="0" rIns="0" bIns="0" rtlCol="0" anchor="t"/>
          <a:lstStyle/>
          <a:p>
            <a:pPr indent="0" marL="0">
              <a:buNone/>
            </a:pPr>
            <a:r>
              <a:rPr lang="en-US" sz="2600" dirty="0">
                <a:solidFill>
                  <a:srgbClr val="3C3828"/>
                </a:solidFill>
                <a:latin typeface="Calibri" pitchFamily="34" charset="0"/>
                <a:ea typeface="Calibri" pitchFamily="34" charset="-122"/>
                <a:cs typeface="Calibri" pitchFamily="34" charset="-120"/>
              </a:rPr>
              <a:t>I was born in Canada.</a:t>
            </a:r>
            <a:endParaRPr lang="en-US" sz="2600" dirty="0"/>
          </a:p>
        </p:txBody>
      </p:sp>
      <p:sp>
        <p:nvSpPr>
          <p:cNvPr id="19" name="Shape 16"/>
          <p:cNvSpPr/>
          <p:nvPr/>
        </p:nvSpPr>
        <p:spPr>
          <a:xfrm>
            <a:off x="8112557" y="2971800"/>
            <a:ext cx="3393338" cy="3108960"/>
          </a:xfrm>
          <a:prstGeom prst="roundRect">
            <a:avLst>
              <a:gd name="adj" fmla="val 4118"/>
            </a:avLst>
          </a:prstGeom>
          <a:solidFill>
            <a:srgbClr val="FFFEFA"/>
          </a:solidFill>
          <a:ln w="9525">
            <a:solidFill>
              <a:srgbClr val="D6D4CC"/>
            </a:solidFill>
            <a:prstDash val="solid"/>
          </a:ln>
          <a:effectLst>
            <a:outerShdw sx="100000" sy="100000" kx="0" ky="0" algn="bl" rotWithShape="0" blurRad="127000" dist="38100" dir="5400000">
              <a:srgbClr val="3C3828">
                <a:alpha val="12000"/>
              </a:srgbClr>
            </a:outerShdw>
          </a:effectLst>
        </p:spPr>
      </p:sp>
      <p:sp>
        <p:nvSpPr>
          <p:cNvPr id="20" name="Shape 17"/>
          <p:cNvSpPr/>
          <p:nvPr/>
        </p:nvSpPr>
        <p:spPr>
          <a:xfrm>
            <a:off x="8240573" y="2971800"/>
            <a:ext cx="3137306" cy="91440"/>
          </a:xfrm>
          <a:prstGeom prst="rect">
            <a:avLst/>
          </a:prstGeom>
          <a:solidFill>
            <a:srgbClr val="FC4540"/>
          </a:solidFill>
          <a:ln w="12700">
            <a:solidFill>
              <a:srgbClr val="FC4540"/>
            </a:solidFill>
            <a:prstDash val="solid"/>
          </a:ln>
        </p:spPr>
      </p:sp>
      <p:sp>
        <p:nvSpPr>
          <p:cNvPr id="21" name="Shape 18"/>
          <p:cNvSpPr/>
          <p:nvPr/>
        </p:nvSpPr>
        <p:spPr>
          <a:xfrm>
            <a:off x="8432597" y="3337560"/>
            <a:ext cx="731520" cy="731520"/>
          </a:xfrm>
          <a:prstGeom prst="ellipse">
            <a:avLst/>
          </a:prstGeom>
          <a:solidFill>
            <a:srgbClr val="FC4540"/>
          </a:solidFill>
          <a:ln w="12700">
            <a:solidFill>
              <a:srgbClr val="FC4540"/>
            </a:solidFill>
            <a:prstDash val="solid"/>
          </a:ln>
        </p:spPr>
      </p:sp>
      <p:sp>
        <p:nvSpPr>
          <p:cNvPr id="22" name="Text 19"/>
          <p:cNvSpPr/>
          <p:nvPr/>
        </p:nvSpPr>
        <p:spPr>
          <a:xfrm>
            <a:off x="8432597" y="3337560"/>
            <a:ext cx="731520" cy="731520"/>
          </a:xfrm>
          <a:prstGeom prst="rect">
            <a:avLst/>
          </a:prstGeom>
          <a:noFill/>
          <a:ln/>
        </p:spPr>
        <p:txBody>
          <a:bodyPr wrap="square" lIns="0" tIns="0" rIns="0" bIns="0" rtlCol="0" anchor="ctr"/>
          <a:lstStyle/>
          <a:p>
            <a:pPr algn="ctr" indent="0" marL="0">
              <a:buNone/>
            </a:pPr>
            <a:r>
              <a:rPr lang="en-US" sz="3000" b="1" dirty="0">
                <a:solidFill>
                  <a:srgbClr val="FFFEFA"/>
                </a:solidFill>
                <a:latin typeface="Georgia" pitchFamily="34" charset="0"/>
                <a:ea typeface="Georgia" pitchFamily="34" charset="-122"/>
                <a:cs typeface="Georgia" pitchFamily="34" charset="-120"/>
              </a:rPr>
              <a:t>3</a:t>
            </a:r>
            <a:endParaRPr lang="en-US" sz="3000" dirty="0"/>
          </a:p>
        </p:txBody>
      </p:sp>
      <p:sp>
        <p:nvSpPr>
          <p:cNvPr id="23" name="Text 20"/>
          <p:cNvSpPr/>
          <p:nvPr/>
        </p:nvSpPr>
        <p:spPr>
          <a:xfrm>
            <a:off x="8432597" y="4251960"/>
            <a:ext cx="2753258" cy="1645920"/>
          </a:xfrm>
          <a:prstGeom prst="rect">
            <a:avLst/>
          </a:prstGeom>
          <a:noFill/>
          <a:ln/>
        </p:spPr>
        <p:txBody>
          <a:bodyPr wrap="square" lIns="0" tIns="0" rIns="0" bIns="0" rtlCol="0" anchor="t"/>
          <a:lstStyle/>
          <a:p>
            <a:pPr indent="0" marL="0">
              <a:buNone/>
            </a:pPr>
            <a:r>
              <a:rPr lang="en-US" sz="2600" dirty="0">
                <a:solidFill>
                  <a:srgbClr val="3C3828"/>
                </a:solidFill>
                <a:latin typeface="Calibri" pitchFamily="34" charset="0"/>
                <a:ea typeface="Calibri" pitchFamily="34" charset="-122"/>
                <a:cs typeface="Calibri" pitchFamily="34" charset="-120"/>
              </a:rPr>
              <a:t>I met my wife in high school.</a:t>
            </a:r>
            <a:endParaRPr lang="en-US" sz="2600" dirty="0"/>
          </a:p>
        </p:txBody>
      </p:sp>
      <p:sp>
        <p:nvSpPr>
          <p:cNvPr id="25" name="Slide Number Placeholder 0"/>
          <p:cNvSpPr>
            <a:spLocks noGrp="1"/>
          </p:cNvSpPr>
          <p:nvPr>
            <p:ph type="sldNum" sz="quarter" idx="4294967295"/>
          </p:nvPr>
        </p:nvSpPr>
        <p:spPr>
          <a:xfrm>
            <a:off x="10957255"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7E7C78"/>
                </a:solidFill>
                <a:latin typeface="Consolas"/>
                <a:ea typeface="Consolas"/>
                <a:cs typeface="Consolas"/>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85800" y="502920"/>
            <a:ext cx="9357055" cy="320040"/>
          </a:xfrm>
          <a:prstGeom prst="rect">
            <a:avLst/>
          </a:prstGeom>
          <a:noFill/>
          <a:ln/>
        </p:spPr>
        <p:txBody>
          <a:bodyPr wrap="square" lIns="0" tIns="0" rIns="0" bIns="0" rtlCol="0" anchor="b"/>
          <a:lstStyle/>
          <a:p>
            <a:pPr indent="0" marL="0">
              <a:buNone/>
            </a:pPr>
            <a:r>
              <a:rPr lang="en-US" sz="1200" b="1" spc="200" kern="0" dirty="0">
                <a:solidFill>
                  <a:srgbClr val="02BDC7"/>
                </a:solidFill>
                <a:latin typeface="Consolas" pitchFamily="34" charset="0"/>
                <a:ea typeface="Consolas" pitchFamily="34" charset="-122"/>
                <a:cs typeface="Consolas" pitchFamily="34" charset="-120"/>
              </a:rPr>
              <a:t>THE REVEAL</a:t>
            </a:r>
            <a:endParaRPr lang="en-US" sz="1200" dirty="0"/>
          </a:p>
        </p:txBody>
      </p:sp>
      <p:sp>
        <p:nvSpPr>
          <p:cNvPr id="3" name="Text 1"/>
          <p:cNvSpPr/>
          <p:nvPr/>
        </p:nvSpPr>
        <p:spPr>
          <a:xfrm>
            <a:off x="685800" y="868680"/>
            <a:ext cx="9357055" cy="960120"/>
          </a:xfrm>
          <a:prstGeom prst="rect">
            <a:avLst/>
          </a:prstGeom>
          <a:noFill/>
          <a:ln/>
        </p:spPr>
        <p:txBody>
          <a:bodyPr wrap="square" lIns="0" tIns="0" rIns="0" bIns="0" rtlCol="0" anchor="t"/>
          <a:lstStyle/>
          <a:p>
            <a:pPr indent="0" marL="0">
              <a:buNone/>
            </a:pPr>
            <a:r>
              <a:rPr lang="en-US" sz="3600" dirty="0">
                <a:solidFill>
                  <a:srgbClr val="3C3828"/>
                </a:solidFill>
                <a:latin typeface="Georgia" pitchFamily="34" charset="0"/>
                <a:ea typeface="Georgia" pitchFamily="34" charset="-122"/>
                <a:cs typeface="Georgia" pitchFamily="34" charset="-120"/>
              </a:rPr>
              <a:t>I am Brian Connell</a:t>
            </a:r>
            <a:endParaRPr lang="en-US" sz="3600" dirty="0"/>
          </a:p>
        </p:txBody>
      </p:sp>
      <p:sp>
        <p:nvSpPr>
          <p:cNvPr id="4" name="Shape 2"/>
          <p:cNvSpPr/>
          <p:nvPr/>
        </p:nvSpPr>
        <p:spPr>
          <a:xfrm>
            <a:off x="685800" y="1920240"/>
            <a:ext cx="2862813" cy="4206240"/>
          </a:xfrm>
          <a:prstGeom prst="roundRect">
            <a:avLst>
              <a:gd name="adj" fmla="val 4472"/>
            </a:avLst>
          </a:prstGeom>
          <a:solidFill>
            <a:srgbClr val="FFFEFA"/>
          </a:solidFill>
          <a:ln w="9525">
            <a:solidFill>
              <a:srgbClr val="D6D4CC"/>
            </a:solidFill>
            <a:prstDash val="solid"/>
          </a:ln>
          <a:effectLst>
            <a:outerShdw sx="100000" sy="100000" kx="0" ky="0" algn="bl" rotWithShape="0" blurRad="127000" dist="38100" dir="5400000">
              <a:srgbClr val="3C3828">
                <a:alpha val="12000"/>
              </a:srgbClr>
            </a:outerShdw>
          </a:effectLst>
        </p:spPr>
      </p:sp>
      <p:pic>
        <p:nvPicPr>
          <p:cNvPr id="5" name="Image 0" descr="A childhood photo of Brian.">    </p:cNvPr>
          <p:cNvPicPr>
            <a:picLocks noChangeAspect="1"/>
          </p:cNvPicPr>
          <p:nvPr/>
        </p:nvPicPr>
        <p:blipFill>
          <a:blip r:embed="rId1"/>
          <a:stretch>
            <a:fillRect/>
          </a:stretch>
        </p:blipFill>
        <p:spPr>
          <a:xfrm>
            <a:off x="813816" y="2048256"/>
            <a:ext cx="2606781" cy="3950208"/>
          </a:xfrm>
          <a:prstGeom prst="rect">
            <a:avLst/>
          </a:prstGeom>
        </p:spPr>
      </p:pic>
      <p:sp>
        <p:nvSpPr>
          <p:cNvPr id="6" name="Text 3"/>
          <p:cNvSpPr/>
          <p:nvPr/>
        </p:nvSpPr>
        <p:spPr>
          <a:xfrm>
            <a:off x="4051533" y="1965960"/>
            <a:ext cx="7454362" cy="4114800"/>
          </a:xfrm>
          <a:prstGeom prst="rect">
            <a:avLst/>
          </a:prstGeom>
          <a:noFill/>
          <a:ln/>
        </p:spPr>
        <p:txBody>
          <a:bodyPr wrap="square" lIns="0" tIns="0" rIns="0" bIns="0" rtlCol="0" anchor="ctr"/>
          <a:lstStyle/>
          <a:p>
            <a:pPr indent="0" marL="0">
              <a:spcAft>
                <a:spcPts val="1400"/>
              </a:spcAft>
              <a:buNone/>
            </a:pPr>
            <a:r>
              <a:rPr lang="en-US" sz="4000" dirty="0">
                <a:solidFill>
                  <a:srgbClr val="3C3828"/>
                </a:solidFill>
                <a:highlight>
                  <a:srgbClr val="FFE14D"/>
                </a:highlight>
                <a:latin typeface="Georgia" pitchFamily="34" charset="0"/>
                <a:ea typeface="Georgia" pitchFamily="34" charset="-122"/>
                <a:cs typeface="Georgia" pitchFamily="34" charset="-120"/>
              </a:rPr>
              <a:t>I’m here because I love writing and helping other people become better writers.</a:t>
            </a:r>
            <a:endParaRPr lang="en-US" sz="4000" dirty="0"/>
          </a:p>
        </p:txBody>
      </p:sp>
      <p:sp>
        <p:nvSpPr>
          <p:cNvPr id="25" name="Slide Number Placeholder 0"/>
          <p:cNvSpPr>
            <a:spLocks noGrp="1"/>
          </p:cNvSpPr>
          <p:nvPr>
            <p:ph type="sldNum" sz="quarter" idx="4294967295"/>
          </p:nvPr>
        </p:nvSpPr>
        <p:spPr>
          <a:xfrm>
            <a:off x="10957255"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7E7C78"/>
                </a:solidFill>
                <a:latin typeface="Consolas"/>
                <a:ea typeface="Consolas"/>
                <a:cs typeface="Consolas"/>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85800" y="502920"/>
            <a:ext cx="9357055" cy="320040"/>
          </a:xfrm>
          <a:prstGeom prst="rect">
            <a:avLst/>
          </a:prstGeom>
          <a:noFill/>
          <a:ln/>
        </p:spPr>
        <p:txBody>
          <a:bodyPr wrap="square" lIns="0" tIns="0" rIns="0" bIns="0" rtlCol="0" anchor="b"/>
          <a:lstStyle/>
          <a:p>
            <a:pPr indent="0" marL="0">
              <a:buNone/>
            </a:pPr>
            <a:r>
              <a:rPr lang="en-US" sz="1200" b="1" spc="200" kern="0" dirty="0">
                <a:solidFill>
                  <a:srgbClr val="FFB600"/>
                </a:solidFill>
                <a:latin typeface="Consolas" pitchFamily="34" charset="0"/>
                <a:ea typeface="Consolas" pitchFamily="34" charset="-122"/>
                <a:cs typeface="Consolas" pitchFamily="34" charset="-120"/>
              </a:rPr>
              <a:t>THE REVEAL</a:t>
            </a:r>
            <a:endParaRPr lang="en-US" sz="1200" dirty="0"/>
          </a:p>
        </p:txBody>
      </p:sp>
      <p:sp>
        <p:nvSpPr>
          <p:cNvPr id="3" name="Text 1"/>
          <p:cNvSpPr/>
          <p:nvPr/>
        </p:nvSpPr>
        <p:spPr>
          <a:xfrm>
            <a:off x="685800" y="868680"/>
            <a:ext cx="9357055" cy="960120"/>
          </a:xfrm>
          <a:prstGeom prst="rect">
            <a:avLst/>
          </a:prstGeom>
          <a:noFill/>
          <a:ln/>
        </p:spPr>
        <p:txBody>
          <a:bodyPr wrap="square" lIns="0" tIns="0" rIns="0" bIns="0" rtlCol="0" anchor="t"/>
          <a:lstStyle/>
          <a:p>
            <a:pPr indent="0" marL="0">
              <a:buNone/>
            </a:pPr>
            <a:r>
              <a:rPr lang="en-US" sz="3600" dirty="0">
                <a:solidFill>
                  <a:srgbClr val="3C3828"/>
                </a:solidFill>
                <a:latin typeface="Georgia" pitchFamily="34" charset="0"/>
                <a:ea typeface="Georgia" pitchFamily="34" charset="-122"/>
                <a:cs typeface="Georgia" pitchFamily="34" charset="-120"/>
              </a:rPr>
              <a:t>I am also Brian Connell</a:t>
            </a:r>
            <a:endParaRPr lang="en-US" sz="3600" dirty="0"/>
          </a:p>
        </p:txBody>
      </p:sp>
      <p:sp>
        <p:nvSpPr>
          <p:cNvPr id="4" name="Shape 2"/>
          <p:cNvSpPr/>
          <p:nvPr/>
        </p:nvSpPr>
        <p:spPr>
          <a:xfrm>
            <a:off x="685800" y="1920240"/>
            <a:ext cx="3141536" cy="4206240"/>
          </a:xfrm>
          <a:prstGeom prst="roundRect">
            <a:avLst>
              <a:gd name="adj" fmla="val 4075"/>
            </a:avLst>
          </a:prstGeom>
          <a:solidFill>
            <a:srgbClr val="FFFEFA"/>
          </a:solidFill>
          <a:ln w="9525">
            <a:solidFill>
              <a:srgbClr val="D6D4CC"/>
            </a:solidFill>
            <a:prstDash val="solid"/>
          </a:ln>
          <a:effectLst>
            <a:outerShdw sx="100000" sy="100000" kx="0" ky="0" algn="bl" rotWithShape="0" blurRad="127000" dist="38100" dir="5400000">
              <a:srgbClr val="3C3828">
                <a:alpha val="12000"/>
              </a:srgbClr>
            </a:outerShdw>
          </a:effectLst>
        </p:spPr>
      </p:sp>
      <p:pic>
        <p:nvPicPr>
          <p:cNvPr id="5" name="Image 0" descr="A photo of Brian from the 1990s.">    </p:cNvPr>
          <p:cNvPicPr>
            <a:picLocks noChangeAspect="1"/>
          </p:cNvPicPr>
          <p:nvPr/>
        </p:nvPicPr>
        <p:blipFill>
          <a:blip r:embed="rId1"/>
          <a:stretch>
            <a:fillRect/>
          </a:stretch>
        </p:blipFill>
        <p:spPr>
          <a:xfrm>
            <a:off x="813816" y="2048256"/>
            <a:ext cx="2885503" cy="3950208"/>
          </a:xfrm>
          <a:prstGeom prst="rect">
            <a:avLst/>
          </a:prstGeom>
        </p:spPr>
      </p:pic>
      <p:sp>
        <p:nvSpPr>
          <p:cNvPr id="6" name="Text 3"/>
          <p:cNvSpPr/>
          <p:nvPr/>
        </p:nvSpPr>
        <p:spPr>
          <a:xfrm>
            <a:off x="4330256" y="1965960"/>
            <a:ext cx="7175640" cy="4114800"/>
          </a:xfrm>
          <a:prstGeom prst="rect">
            <a:avLst/>
          </a:prstGeom>
          <a:noFill/>
          <a:ln/>
        </p:spPr>
        <p:txBody>
          <a:bodyPr wrap="square" lIns="0" tIns="0" rIns="0" bIns="0" rtlCol="0" anchor="ctr"/>
          <a:lstStyle/>
          <a:p>
            <a:pPr indent="0" marL="0">
              <a:spcAft>
                <a:spcPts val="1400"/>
              </a:spcAft>
              <a:buNone/>
            </a:pPr>
            <a:r>
              <a:rPr lang="en-US" sz="4000" dirty="0">
                <a:solidFill>
                  <a:srgbClr val="3C3828"/>
                </a:solidFill>
                <a:highlight>
                  <a:srgbClr val="FFE14D"/>
                </a:highlight>
                <a:latin typeface="Georgia" pitchFamily="34" charset="0"/>
                <a:ea typeface="Georgia" pitchFamily="34" charset="-122"/>
                <a:cs typeface="Georgia" pitchFamily="34" charset="-120"/>
              </a:rPr>
              <a:t>(The late 1900s were amazing.)</a:t>
            </a:r>
            <a:endParaRPr lang="en-US" sz="4000" dirty="0"/>
          </a:p>
        </p:txBody>
      </p:sp>
      <p:sp>
        <p:nvSpPr>
          <p:cNvPr id="25" name="Slide Number Placeholder 0"/>
          <p:cNvSpPr>
            <a:spLocks noGrp="1"/>
          </p:cNvSpPr>
          <p:nvPr>
            <p:ph type="sldNum" sz="quarter" idx="4294967295"/>
          </p:nvPr>
        </p:nvSpPr>
        <p:spPr>
          <a:xfrm>
            <a:off x="10957255"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7E7C78"/>
                </a:solidFill>
                <a:latin typeface="Consolas"/>
                <a:ea typeface="Consolas"/>
                <a:cs typeface="Consolas"/>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85800" y="502920"/>
            <a:ext cx="9357055" cy="320040"/>
          </a:xfrm>
          <a:prstGeom prst="rect">
            <a:avLst/>
          </a:prstGeom>
          <a:noFill/>
          <a:ln/>
        </p:spPr>
        <p:txBody>
          <a:bodyPr wrap="square" lIns="0" tIns="0" rIns="0" bIns="0" rtlCol="0" anchor="b"/>
          <a:lstStyle/>
          <a:p>
            <a:pPr indent="0" marL="0">
              <a:buNone/>
            </a:pPr>
            <a:r>
              <a:rPr lang="en-US" sz="1200" b="1" spc="200" kern="0" dirty="0">
                <a:solidFill>
                  <a:srgbClr val="FC4540"/>
                </a:solidFill>
                <a:latin typeface="Consolas" pitchFamily="34" charset="0"/>
                <a:ea typeface="Consolas" pitchFamily="34" charset="-122"/>
                <a:cs typeface="Consolas" pitchFamily="34" charset="-120"/>
              </a:rPr>
              <a:t>2 TRUTHS AND A LIE</a:t>
            </a:r>
            <a:endParaRPr lang="en-US" sz="1200" dirty="0"/>
          </a:p>
        </p:txBody>
      </p:sp>
      <p:sp>
        <p:nvSpPr>
          <p:cNvPr id="3" name="Text 1"/>
          <p:cNvSpPr/>
          <p:nvPr/>
        </p:nvSpPr>
        <p:spPr>
          <a:xfrm>
            <a:off x="685800" y="868680"/>
            <a:ext cx="9357055" cy="960120"/>
          </a:xfrm>
          <a:prstGeom prst="rect">
            <a:avLst/>
          </a:prstGeom>
          <a:noFill/>
          <a:ln/>
        </p:spPr>
        <p:txBody>
          <a:bodyPr wrap="square" lIns="0" tIns="0" rIns="0" bIns="0" rtlCol="0" anchor="t"/>
          <a:lstStyle/>
          <a:p>
            <a:pPr indent="0" marL="0">
              <a:buNone/>
            </a:pPr>
            <a:r>
              <a:rPr lang="en-US" sz="3600" dirty="0">
                <a:solidFill>
                  <a:srgbClr val="3C3828"/>
                </a:solidFill>
                <a:latin typeface="Georgia" pitchFamily="34" charset="0"/>
                <a:ea typeface="Georgia" pitchFamily="34" charset="-122"/>
                <a:cs typeface="Georgia" pitchFamily="34" charset="-120"/>
              </a:rPr>
              <a:t>Your turn…</a:t>
            </a:r>
            <a:endParaRPr lang="en-US" sz="3600" dirty="0"/>
          </a:p>
        </p:txBody>
      </p:sp>
      <p:sp>
        <p:nvSpPr>
          <p:cNvPr id="4" name="Shape 2"/>
          <p:cNvSpPr/>
          <p:nvPr/>
        </p:nvSpPr>
        <p:spPr>
          <a:xfrm>
            <a:off x="1051560" y="2926080"/>
            <a:ext cx="2194560" cy="2194560"/>
          </a:xfrm>
          <a:prstGeom prst="ellipse">
            <a:avLst/>
          </a:prstGeom>
          <a:solidFill>
            <a:srgbClr val="FC4540"/>
          </a:solidFill>
          <a:ln w="12700">
            <a:solidFill>
              <a:srgbClr val="FC4540"/>
            </a:solidFill>
            <a:prstDash val="solid"/>
          </a:ln>
        </p:spPr>
      </p:sp>
      <p:pic>
        <p:nvPicPr>
          <p:cNvPr id="5" name="Image 0" descr="pencil icon">    </p:cNvPr>
          <p:cNvPicPr>
            <a:picLocks noChangeAspect="1"/>
          </p:cNvPicPr>
          <p:nvPr/>
        </p:nvPicPr>
        <p:blipFill>
          <a:blip r:embed="rId1"/>
          <a:stretch>
            <a:fillRect/>
          </a:stretch>
        </p:blipFill>
        <p:spPr>
          <a:xfrm>
            <a:off x="1490472" y="3364992"/>
            <a:ext cx="1316736" cy="1316736"/>
          </a:xfrm>
          <a:prstGeom prst="rect">
            <a:avLst/>
          </a:prstGeom>
        </p:spPr>
      </p:pic>
      <p:sp>
        <p:nvSpPr>
          <p:cNvPr id="6" name="Shape 3"/>
          <p:cNvSpPr/>
          <p:nvPr/>
        </p:nvSpPr>
        <p:spPr>
          <a:xfrm>
            <a:off x="3063240" y="2834640"/>
            <a:ext cx="310896" cy="310896"/>
          </a:xfrm>
          <a:prstGeom prst="ellipse">
            <a:avLst/>
          </a:prstGeom>
          <a:solidFill>
            <a:srgbClr val="FC4067"/>
          </a:solidFill>
          <a:ln w="12700">
            <a:solidFill>
              <a:srgbClr val="FC4067"/>
            </a:solidFill>
            <a:prstDash val="solid"/>
          </a:ln>
        </p:spPr>
      </p:sp>
      <p:sp>
        <p:nvSpPr>
          <p:cNvPr id="7" name="Shape 4"/>
          <p:cNvSpPr/>
          <p:nvPr/>
        </p:nvSpPr>
        <p:spPr>
          <a:xfrm>
            <a:off x="914400" y="4800600"/>
            <a:ext cx="201168" cy="201168"/>
          </a:xfrm>
          <a:prstGeom prst="ellipse">
            <a:avLst/>
          </a:prstGeom>
          <a:solidFill>
            <a:srgbClr val="FFB600"/>
          </a:solidFill>
          <a:ln w="12700">
            <a:solidFill>
              <a:srgbClr val="FFB600"/>
            </a:solidFill>
            <a:prstDash val="solid"/>
          </a:ln>
        </p:spPr>
      </p:sp>
      <p:sp>
        <p:nvSpPr>
          <p:cNvPr id="8" name="Text 5"/>
          <p:cNvSpPr/>
          <p:nvPr/>
        </p:nvSpPr>
        <p:spPr>
          <a:xfrm>
            <a:off x="3886200" y="1965960"/>
            <a:ext cx="7619695" cy="4114800"/>
          </a:xfrm>
          <a:prstGeom prst="rect">
            <a:avLst/>
          </a:prstGeom>
          <a:noFill/>
          <a:ln/>
        </p:spPr>
        <p:txBody>
          <a:bodyPr wrap="square" lIns="0" tIns="0" rIns="0" bIns="0" rtlCol="0" anchor="ctr"/>
          <a:lstStyle/>
          <a:p>
            <a:pPr indent="0" marL="0">
              <a:lnSpc>
                <a:spcPct val="115000"/>
              </a:lnSpc>
              <a:buNone/>
            </a:pPr>
            <a:r>
              <a:rPr lang="en-US" sz="4000" dirty="0">
                <a:solidFill>
                  <a:srgbClr val="3C3828"/>
                </a:solidFill>
                <a:latin typeface="Georgia" pitchFamily="34" charset="0"/>
                <a:ea typeface="Georgia" pitchFamily="34" charset="-122"/>
                <a:cs typeface="Georgia" pitchFamily="34" charset="-120"/>
              </a:rPr>
              <a:t>Write your own. Remember, the truths have to be true, and </a:t>
            </a:r>
            <a:r>
              <a:rPr lang="en-US" sz="4000" dirty="0">
                <a:solidFill>
                  <a:srgbClr val="3C3828"/>
                </a:solidFill>
                <a:highlight>
                  <a:srgbClr val="FFE14D"/>
                </a:highlight>
                <a:latin typeface="Georgia" pitchFamily="34" charset="0"/>
                <a:ea typeface="Georgia" pitchFamily="34" charset="-122"/>
                <a:cs typeface="Georgia" pitchFamily="34" charset="-120"/>
              </a:rPr>
              <a:t>the lie has to be believable!</a:t>
            </a:r>
            <a:endParaRPr lang="en-US" sz="4000" dirty="0"/>
          </a:p>
        </p:txBody>
      </p:sp>
      <p:sp>
        <p:nvSpPr>
          <p:cNvPr id="25" name="Slide Number Placeholder 0"/>
          <p:cNvSpPr>
            <a:spLocks noGrp="1"/>
          </p:cNvSpPr>
          <p:nvPr>
            <p:ph type="sldNum" sz="quarter" idx="4294967295"/>
          </p:nvPr>
        </p:nvSpPr>
        <p:spPr>
          <a:xfrm>
            <a:off x="10957255"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7E7C78"/>
                </a:solidFill>
                <a:latin typeface="Consolas"/>
                <a:ea typeface="Consolas"/>
                <a:cs typeface="Consolas"/>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C8EEF0"/>
        </a:solidFill>
      </p:bgPr>
    </p:bg>
    <p:spTree>
      <p:nvGrpSpPr>
        <p:cNvPr id="1" name=""/>
        <p:cNvGrpSpPr/>
        <p:nvPr/>
      </p:nvGrpSpPr>
      <p:grpSpPr>
        <a:xfrm>
          <a:off x="0" y="0"/>
          <a:ext cx="0" cy="0"/>
          <a:chOff x="0" y="0"/>
          <a:chExt cx="0" cy="0"/>
        </a:xfrm>
      </p:grpSpPr>
      <p:sp>
        <p:nvSpPr>
          <p:cNvPr id="2" name="Shape 0"/>
          <p:cNvSpPr/>
          <p:nvPr/>
        </p:nvSpPr>
        <p:spPr>
          <a:xfrm>
            <a:off x="3626968" y="960120"/>
            <a:ext cx="4937760" cy="4937760"/>
          </a:xfrm>
          <a:prstGeom prst="ellipse">
            <a:avLst/>
          </a:prstGeom>
          <a:solidFill>
            <a:srgbClr val="FFFEFA"/>
          </a:solidFill>
          <a:ln w="12700">
            <a:solidFill>
              <a:srgbClr val="FFFEFA"/>
            </a:solidFill>
            <a:prstDash val="solid"/>
          </a:ln>
          <a:effectLst>
            <a:outerShdw sx="100000" sy="100000" kx="0" ky="0" algn="bl" rotWithShape="0" blurRad="203200" dist="50800" dir="5400000">
              <a:srgbClr val="3C3828">
                <a:alpha val="14000"/>
              </a:srgbClr>
            </a:outerShdw>
          </a:effectLst>
        </p:spPr>
      </p:sp>
      <p:sp>
        <p:nvSpPr>
          <p:cNvPr id="3" name="Text 1"/>
          <p:cNvSpPr/>
          <p:nvPr/>
        </p:nvSpPr>
        <p:spPr>
          <a:xfrm>
            <a:off x="3626968" y="2286000"/>
            <a:ext cx="4937760" cy="457200"/>
          </a:xfrm>
          <a:prstGeom prst="rect">
            <a:avLst/>
          </a:prstGeom>
          <a:noFill/>
          <a:ln/>
        </p:spPr>
        <p:txBody>
          <a:bodyPr wrap="square" lIns="0" tIns="0" rIns="0" bIns="0" rtlCol="0" anchor="ctr"/>
          <a:lstStyle/>
          <a:p>
            <a:pPr algn="ctr" indent="0" marL="0">
              <a:buNone/>
            </a:pPr>
            <a:r>
              <a:rPr lang="en-US" sz="1600" b="1" spc="300" kern="0" dirty="0">
                <a:solidFill>
                  <a:srgbClr val="02BDC7"/>
                </a:solidFill>
                <a:latin typeface="Consolas" pitchFamily="34" charset="0"/>
                <a:ea typeface="Consolas" pitchFamily="34" charset="-122"/>
                <a:cs typeface="Consolas" pitchFamily="34" charset="-120"/>
              </a:rPr>
              <a:t>WHAT IS A YAWP?</a:t>
            </a:r>
            <a:endParaRPr lang="en-US" sz="1600" dirty="0"/>
          </a:p>
        </p:txBody>
      </p:sp>
      <p:sp>
        <p:nvSpPr>
          <p:cNvPr id="4" name="Text 2"/>
          <p:cNvSpPr/>
          <p:nvPr/>
        </p:nvSpPr>
        <p:spPr>
          <a:xfrm>
            <a:off x="3626968" y="2743200"/>
            <a:ext cx="4937760" cy="1143000"/>
          </a:xfrm>
          <a:prstGeom prst="rect">
            <a:avLst/>
          </a:prstGeom>
          <a:noFill/>
          <a:ln/>
        </p:spPr>
        <p:txBody>
          <a:bodyPr wrap="square" lIns="0" tIns="0" rIns="0" bIns="0" rtlCol="0" anchor="ctr"/>
          <a:lstStyle/>
          <a:p>
            <a:pPr algn="ctr" indent="0" marL="0">
              <a:buNone/>
            </a:pPr>
            <a:r>
              <a:rPr lang="en-US" sz="5800" dirty="0">
                <a:solidFill>
                  <a:srgbClr val="3C3828"/>
                </a:solidFill>
                <a:highlight>
                  <a:srgbClr val="FFE14D"/>
                </a:highlight>
                <a:latin typeface="Georgia" pitchFamily="34" charset="0"/>
                <a:ea typeface="Georgia" pitchFamily="34" charset="-122"/>
                <a:cs typeface="Georgia" pitchFamily="34" charset="-120"/>
              </a:rPr>
              <a:t>YAWP!</a:t>
            </a:r>
            <a:endParaRPr lang="en-US" sz="5800" dirty="0"/>
          </a:p>
        </p:txBody>
      </p:sp>
      <p:sp>
        <p:nvSpPr>
          <p:cNvPr id="5" name="Text 3"/>
          <p:cNvSpPr/>
          <p:nvPr/>
        </p:nvSpPr>
        <p:spPr>
          <a:xfrm>
            <a:off x="4358488" y="3977640"/>
            <a:ext cx="3474720" cy="822960"/>
          </a:xfrm>
          <a:prstGeom prst="rect">
            <a:avLst/>
          </a:prstGeom>
          <a:noFill/>
          <a:ln/>
        </p:spPr>
        <p:txBody>
          <a:bodyPr wrap="square" lIns="0" tIns="0" rIns="0" bIns="0" rtlCol="0" anchor="t"/>
          <a:lstStyle/>
          <a:p>
            <a:pPr algn="ctr" indent="0" marL="0">
              <a:buNone/>
            </a:pPr>
            <a:r>
              <a:rPr lang="en-US" sz="1800" i="1" dirty="0">
                <a:solidFill>
                  <a:srgbClr val="7E7C78"/>
                </a:solidFill>
                <a:latin typeface="Calibri" pitchFamily="34" charset="0"/>
                <a:ea typeface="Calibri" pitchFamily="34" charset="-122"/>
                <a:cs typeface="Calibri" pitchFamily="34" charset="-120"/>
              </a:rPr>
              <a:t>Writing Program</a:t>
            </a:r>
            <a:endParaRPr lang="en-US" sz="1800" dirty="0"/>
          </a:p>
        </p:txBody>
      </p:sp>
      <p:sp>
        <p:nvSpPr>
          <p:cNvPr id="6" name="Shape 4"/>
          <p:cNvSpPr/>
          <p:nvPr/>
        </p:nvSpPr>
        <p:spPr>
          <a:xfrm>
            <a:off x="7558888" y="640080"/>
            <a:ext cx="1417320" cy="1417320"/>
          </a:xfrm>
          <a:prstGeom prst="ellipse">
            <a:avLst/>
          </a:prstGeom>
          <a:solidFill>
            <a:srgbClr val="FFB600"/>
          </a:solidFill>
          <a:ln w="12700">
            <a:solidFill>
              <a:srgbClr val="FFB600"/>
            </a:solidFill>
            <a:prstDash val="solid"/>
          </a:ln>
        </p:spPr>
      </p:sp>
      <p:pic>
        <p:nvPicPr>
          <p:cNvPr id="7" name="Image 0" descr="lightbulb icon">    </p:cNvPr>
          <p:cNvPicPr>
            <a:picLocks noChangeAspect="1"/>
          </p:cNvPicPr>
          <p:nvPr/>
        </p:nvPicPr>
        <p:blipFill>
          <a:blip r:embed="rId1"/>
          <a:stretch>
            <a:fillRect/>
          </a:stretch>
        </p:blipFill>
        <p:spPr>
          <a:xfrm>
            <a:off x="7842352" y="923544"/>
            <a:ext cx="850392" cy="850392"/>
          </a:xfrm>
          <a:prstGeom prst="rect">
            <a:avLst/>
          </a:prstGeom>
        </p:spPr>
      </p:pic>
      <p:sp>
        <p:nvSpPr>
          <p:cNvPr id="8" name="Shape 5"/>
          <p:cNvSpPr/>
          <p:nvPr/>
        </p:nvSpPr>
        <p:spPr>
          <a:xfrm>
            <a:off x="2941168" y="1463040"/>
            <a:ext cx="1005840" cy="1005840"/>
          </a:xfrm>
          <a:prstGeom prst="ellipse">
            <a:avLst/>
          </a:prstGeom>
          <a:solidFill>
            <a:srgbClr val="FF9755"/>
          </a:solidFill>
          <a:ln w="12700">
            <a:solidFill>
              <a:srgbClr val="FF9755"/>
            </a:solidFill>
            <a:prstDash val="solid"/>
          </a:ln>
        </p:spPr>
      </p:sp>
      <p:pic>
        <p:nvPicPr>
          <p:cNvPr id="9" name="Image 1" descr="puzzle icon">    </p:cNvPr>
          <p:cNvPicPr>
            <a:picLocks noChangeAspect="1"/>
          </p:cNvPicPr>
          <p:nvPr/>
        </p:nvPicPr>
        <p:blipFill>
          <a:blip r:embed="rId2"/>
          <a:stretch>
            <a:fillRect/>
          </a:stretch>
        </p:blipFill>
        <p:spPr>
          <a:xfrm>
            <a:off x="3142336" y="1664208"/>
            <a:ext cx="603504" cy="603504"/>
          </a:xfrm>
          <a:prstGeom prst="rect">
            <a:avLst/>
          </a:prstGeom>
        </p:spPr>
      </p:pic>
      <p:sp>
        <p:nvSpPr>
          <p:cNvPr id="10" name="Shape 6"/>
          <p:cNvSpPr/>
          <p:nvPr/>
        </p:nvSpPr>
        <p:spPr>
          <a:xfrm>
            <a:off x="3718408" y="4800600"/>
            <a:ext cx="1188720" cy="1188720"/>
          </a:xfrm>
          <a:prstGeom prst="ellipse">
            <a:avLst/>
          </a:prstGeom>
          <a:solidFill>
            <a:srgbClr val="FC4540"/>
          </a:solidFill>
          <a:ln w="12700">
            <a:solidFill>
              <a:srgbClr val="FC4540"/>
            </a:solidFill>
            <a:prstDash val="solid"/>
          </a:ln>
        </p:spPr>
      </p:sp>
      <p:pic>
        <p:nvPicPr>
          <p:cNvPr id="11" name="Image 2" descr="thumbs icon">    </p:cNvPr>
          <p:cNvPicPr>
            <a:picLocks noChangeAspect="1"/>
          </p:cNvPicPr>
          <p:nvPr/>
        </p:nvPicPr>
        <p:blipFill>
          <a:blip r:embed="rId3"/>
          <a:stretch>
            <a:fillRect/>
          </a:stretch>
        </p:blipFill>
        <p:spPr>
          <a:xfrm>
            <a:off x="3956152" y="5038344"/>
            <a:ext cx="713232" cy="713232"/>
          </a:xfrm>
          <a:prstGeom prst="rect">
            <a:avLst/>
          </a:prstGeom>
        </p:spPr>
      </p:pic>
      <p:sp>
        <p:nvSpPr>
          <p:cNvPr id="12" name="Shape 7"/>
          <p:cNvSpPr/>
          <p:nvPr/>
        </p:nvSpPr>
        <p:spPr>
          <a:xfrm>
            <a:off x="3124048" y="2743200"/>
            <a:ext cx="274320" cy="274320"/>
          </a:xfrm>
          <a:prstGeom prst="ellipse">
            <a:avLst/>
          </a:prstGeom>
          <a:solidFill>
            <a:srgbClr val="FFFEFA"/>
          </a:solidFill>
          <a:ln w="12700">
            <a:solidFill>
              <a:srgbClr val="FFFEFA"/>
            </a:solidFill>
            <a:prstDash val="solid"/>
          </a:ln>
        </p:spPr>
      </p:sp>
      <p:sp>
        <p:nvSpPr>
          <p:cNvPr id="13" name="Shape 8"/>
          <p:cNvSpPr/>
          <p:nvPr/>
        </p:nvSpPr>
        <p:spPr>
          <a:xfrm>
            <a:off x="8701888" y="2423160"/>
            <a:ext cx="438912" cy="438912"/>
          </a:xfrm>
          <a:prstGeom prst="ellipse">
            <a:avLst/>
          </a:prstGeom>
          <a:solidFill>
            <a:srgbClr val="FC4067"/>
          </a:solidFill>
          <a:ln w="12700">
            <a:solidFill>
              <a:srgbClr val="FC4067"/>
            </a:solidFill>
            <a:prstDash val="solid"/>
          </a:ln>
        </p:spPr>
      </p:sp>
      <p:sp>
        <p:nvSpPr>
          <p:cNvPr id="14" name="Shape 9"/>
          <p:cNvSpPr/>
          <p:nvPr/>
        </p:nvSpPr>
        <p:spPr>
          <a:xfrm>
            <a:off x="8976208" y="2057400"/>
            <a:ext cx="146304" cy="146304"/>
          </a:xfrm>
          <a:prstGeom prst="ellipse">
            <a:avLst/>
          </a:prstGeom>
          <a:solidFill>
            <a:srgbClr val="FFFEFA"/>
          </a:solidFill>
          <a:ln w="12700">
            <a:solidFill>
              <a:srgbClr val="FFFEFA"/>
            </a:solidFill>
            <a:prstDash val="solid"/>
          </a:ln>
        </p:spPr>
      </p:sp>
      <p:sp>
        <p:nvSpPr>
          <p:cNvPr id="15" name="Shape 10"/>
          <p:cNvSpPr/>
          <p:nvPr/>
        </p:nvSpPr>
        <p:spPr>
          <a:xfrm>
            <a:off x="7650328" y="5760720"/>
            <a:ext cx="457200" cy="457200"/>
          </a:xfrm>
          <a:prstGeom prst="ellipse">
            <a:avLst/>
          </a:prstGeom>
          <a:solidFill>
            <a:srgbClr val="FC4067"/>
          </a:solidFill>
          <a:ln w="12700">
            <a:solidFill>
              <a:srgbClr val="FC4067"/>
            </a:solidFill>
            <a:prstDash val="solid"/>
          </a:ln>
        </p:spPr>
      </p:sp>
      <p:sp>
        <p:nvSpPr>
          <p:cNvPr id="16" name="Shape 11"/>
          <p:cNvSpPr/>
          <p:nvPr/>
        </p:nvSpPr>
        <p:spPr>
          <a:xfrm>
            <a:off x="8290408" y="5989320"/>
            <a:ext cx="640080" cy="640080"/>
          </a:xfrm>
          <a:prstGeom prst="ellipse">
            <a:avLst/>
          </a:prstGeom>
          <a:solidFill>
            <a:srgbClr val="FF9755"/>
          </a:solidFill>
          <a:ln w="12700">
            <a:solidFill>
              <a:srgbClr val="FF9755"/>
            </a:solidFill>
            <a:prstDash val="solid"/>
          </a:ln>
        </p:spPr>
      </p:sp>
      <p:sp>
        <p:nvSpPr>
          <p:cNvPr id="17" name="Shape 12"/>
          <p:cNvSpPr/>
          <p:nvPr/>
        </p:nvSpPr>
        <p:spPr>
          <a:xfrm>
            <a:off x="3306928" y="4480560"/>
            <a:ext cx="365760" cy="365760"/>
          </a:xfrm>
          <a:prstGeom prst="ellipse">
            <a:avLst/>
          </a:prstGeom>
          <a:solidFill>
            <a:srgbClr val="FF9755"/>
          </a:solidFill>
          <a:ln w="12700">
            <a:solidFill>
              <a:srgbClr val="FF9755"/>
            </a:solidFill>
            <a:prstDash val="solid"/>
          </a:ln>
        </p:spPr>
      </p:sp>
      <p:sp>
        <p:nvSpPr>
          <p:cNvPr id="18" name="Shape 13"/>
          <p:cNvSpPr/>
          <p:nvPr/>
        </p:nvSpPr>
        <p:spPr>
          <a:xfrm>
            <a:off x="4815688" y="5852160"/>
            <a:ext cx="219456" cy="219456"/>
          </a:xfrm>
          <a:prstGeom prst="ellipse">
            <a:avLst/>
          </a:prstGeom>
          <a:solidFill>
            <a:srgbClr val="02BDC7"/>
          </a:solidFill>
          <a:ln w="12700">
            <a:solidFill>
              <a:srgbClr val="02BDC7"/>
            </a:solidFill>
            <a:prstDash val="solid"/>
          </a:ln>
        </p:spPr>
      </p:sp>
      <p:sp>
        <p:nvSpPr>
          <p:cNvPr id="25" name="Slide Number Placeholder 0"/>
          <p:cNvSpPr>
            <a:spLocks noGrp="1"/>
          </p:cNvSpPr>
          <p:nvPr>
            <p:ph type="sldNum" sz="quarter" idx="4294967295"/>
          </p:nvPr>
        </p:nvSpPr>
        <p:spPr>
          <a:xfrm>
            <a:off x="10957255"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7E7C78"/>
                </a:solidFill>
                <a:latin typeface="Consolas"/>
                <a:ea typeface="Consolas"/>
                <a:cs typeface="Consolas"/>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85800" y="502920"/>
            <a:ext cx="9357055" cy="320040"/>
          </a:xfrm>
          <a:prstGeom prst="rect">
            <a:avLst/>
          </a:prstGeom>
          <a:noFill/>
          <a:ln/>
        </p:spPr>
        <p:txBody>
          <a:bodyPr wrap="square" lIns="0" tIns="0" rIns="0" bIns="0" rtlCol="0" anchor="b"/>
          <a:lstStyle/>
          <a:p>
            <a:pPr indent="0" marL="0">
              <a:buNone/>
            </a:pPr>
            <a:r>
              <a:rPr lang="en-US" sz="1200" b="1" spc="200" kern="0" dirty="0">
                <a:solidFill>
                  <a:srgbClr val="FFB600"/>
                </a:solidFill>
                <a:latin typeface="Consolas" pitchFamily="34" charset="0"/>
                <a:ea typeface="Consolas" pitchFamily="34" charset="-122"/>
                <a:cs typeface="Consolas" pitchFamily="34" charset="-120"/>
              </a:rPr>
              <a:t>WALT WHITMAN</a:t>
            </a:r>
            <a:endParaRPr lang="en-US" sz="1200" dirty="0"/>
          </a:p>
        </p:txBody>
      </p:sp>
      <p:sp>
        <p:nvSpPr>
          <p:cNvPr id="3" name="Text 1"/>
          <p:cNvSpPr/>
          <p:nvPr/>
        </p:nvSpPr>
        <p:spPr>
          <a:xfrm>
            <a:off x="685800" y="868680"/>
            <a:ext cx="9357055" cy="960120"/>
          </a:xfrm>
          <a:prstGeom prst="rect">
            <a:avLst/>
          </a:prstGeom>
          <a:noFill/>
          <a:ln/>
        </p:spPr>
        <p:txBody>
          <a:bodyPr wrap="square" lIns="0" tIns="0" rIns="0" bIns="0" rtlCol="0" anchor="t"/>
          <a:lstStyle/>
          <a:p>
            <a:pPr indent="0" marL="0">
              <a:buNone/>
            </a:pPr>
            <a:r>
              <a:rPr lang="en-US" sz="3600" dirty="0">
                <a:solidFill>
                  <a:srgbClr val="3C3828"/>
                </a:solidFill>
                <a:latin typeface="Georgia" pitchFamily="34" charset="0"/>
                <a:ea typeface="Georgia" pitchFamily="34" charset="-122"/>
                <a:cs typeface="Georgia" pitchFamily="34" charset="-120"/>
              </a:rPr>
              <a:t>What do you think “yawp” means?</a:t>
            </a:r>
            <a:endParaRPr lang="en-US" sz="3600" dirty="0"/>
          </a:p>
        </p:txBody>
      </p:sp>
      <p:sp>
        <p:nvSpPr>
          <p:cNvPr id="4" name="Shape 2"/>
          <p:cNvSpPr/>
          <p:nvPr/>
        </p:nvSpPr>
        <p:spPr>
          <a:xfrm>
            <a:off x="685800" y="1920240"/>
            <a:ext cx="10820095" cy="4206240"/>
          </a:xfrm>
          <a:prstGeom prst="roundRect">
            <a:avLst>
              <a:gd name="adj" fmla="val 3043"/>
            </a:avLst>
          </a:prstGeom>
          <a:solidFill>
            <a:srgbClr val="FFFEFA"/>
          </a:solidFill>
          <a:ln w="9525">
            <a:solidFill>
              <a:srgbClr val="D6D4CC"/>
            </a:solidFill>
            <a:prstDash val="solid"/>
          </a:ln>
          <a:effectLst>
            <a:outerShdw sx="100000" sy="100000" kx="0" ky="0" algn="bl" rotWithShape="0" blurRad="127000" dist="38100" dir="5400000">
              <a:srgbClr val="3C3828">
                <a:alpha val="12000"/>
              </a:srgbClr>
            </a:outerShdw>
          </a:effectLst>
        </p:spPr>
      </p:sp>
      <p:sp>
        <p:nvSpPr>
          <p:cNvPr id="5" name="Shape 3"/>
          <p:cNvSpPr/>
          <p:nvPr/>
        </p:nvSpPr>
        <p:spPr>
          <a:xfrm>
            <a:off x="813816" y="1920240"/>
            <a:ext cx="10564063" cy="91440"/>
          </a:xfrm>
          <a:prstGeom prst="rect">
            <a:avLst/>
          </a:prstGeom>
          <a:solidFill>
            <a:srgbClr val="FFB600"/>
          </a:solidFill>
          <a:ln w="12700">
            <a:solidFill>
              <a:srgbClr val="FFB600"/>
            </a:solidFill>
            <a:prstDash val="solid"/>
          </a:ln>
        </p:spPr>
      </p:sp>
      <p:sp>
        <p:nvSpPr>
          <p:cNvPr id="6" name="Text 4"/>
          <p:cNvSpPr/>
          <p:nvPr/>
        </p:nvSpPr>
        <p:spPr>
          <a:xfrm>
            <a:off x="960120" y="2057400"/>
            <a:ext cx="1005840" cy="1097280"/>
          </a:xfrm>
          <a:prstGeom prst="rect">
            <a:avLst/>
          </a:prstGeom>
          <a:noFill/>
          <a:ln/>
        </p:spPr>
        <p:txBody>
          <a:bodyPr wrap="square" lIns="0" tIns="0" rIns="0" bIns="0" rtlCol="0" anchor="t"/>
          <a:lstStyle/>
          <a:p>
            <a:pPr indent="0" marL="0">
              <a:buNone/>
            </a:pPr>
            <a:r>
              <a:rPr lang="en-US" sz="9600" dirty="0">
                <a:solidFill>
                  <a:srgbClr val="FFB600"/>
                </a:solidFill>
                <a:latin typeface="Georgia" pitchFamily="34" charset="0"/>
                <a:ea typeface="Georgia" pitchFamily="34" charset="-122"/>
                <a:cs typeface="Georgia" pitchFamily="34" charset="-120"/>
              </a:rPr>
              <a:t>“</a:t>
            </a:r>
            <a:endParaRPr lang="en-US" sz="9600" dirty="0"/>
          </a:p>
        </p:txBody>
      </p:sp>
      <p:sp>
        <p:nvSpPr>
          <p:cNvPr id="7" name="Text 5"/>
          <p:cNvSpPr/>
          <p:nvPr/>
        </p:nvSpPr>
        <p:spPr>
          <a:xfrm>
            <a:off x="1828800" y="2286000"/>
            <a:ext cx="9219895" cy="2880360"/>
          </a:xfrm>
          <a:prstGeom prst="rect">
            <a:avLst/>
          </a:prstGeom>
          <a:noFill/>
          <a:ln/>
        </p:spPr>
        <p:txBody>
          <a:bodyPr wrap="square" lIns="0" tIns="0" rIns="0" bIns="0" rtlCol="0" anchor="ctr"/>
          <a:lstStyle/>
          <a:p>
            <a:pPr indent="0" marL="0">
              <a:lnSpc>
                <a:spcPct val="120000"/>
              </a:lnSpc>
              <a:buNone/>
            </a:pPr>
            <a:r>
              <a:rPr lang="en-US" sz="2600" i="1" dirty="0">
                <a:solidFill>
                  <a:srgbClr val="3C3828"/>
                </a:solidFill>
                <a:latin typeface="Georgia" pitchFamily="34" charset="0"/>
                <a:ea typeface="Georgia" pitchFamily="34" charset="-122"/>
                <a:cs typeface="Georgia" pitchFamily="34" charset="-120"/>
              </a:rPr>
              <a:t>I sound my barbaric yawp over the roofs of the world.</a:t>
            </a:r>
            <a:endParaRPr lang="en-US" sz="2600" dirty="0"/>
          </a:p>
        </p:txBody>
      </p:sp>
      <p:sp>
        <p:nvSpPr>
          <p:cNvPr id="8" name="Text 6"/>
          <p:cNvSpPr/>
          <p:nvPr/>
        </p:nvSpPr>
        <p:spPr>
          <a:xfrm>
            <a:off x="1828800" y="5349240"/>
            <a:ext cx="9219895" cy="457200"/>
          </a:xfrm>
          <a:prstGeom prst="rect">
            <a:avLst/>
          </a:prstGeom>
          <a:noFill/>
          <a:ln/>
        </p:spPr>
        <p:txBody>
          <a:bodyPr wrap="square" lIns="0" tIns="0" rIns="0" bIns="0" rtlCol="0" anchor="ctr"/>
          <a:lstStyle/>
          <a:p>
            <a:pPr indent="0" marL="0">
              <a:buNone/>
            </a:pPr>
            <a:r>
              <a:rPr lang="en-US" sz="1800" dirty="0">
                <a:solidFill>
                  <a:srgbClr val="7E7C78"/>
                </a:solidFill>
                <a:latin typeface="Calibri" pitchFamily="34" charset="0"/>
                <a:ea typeface="Calibri" pitchFamily="34" charset="-122"/>
                <a:cs typeface="Calibri" pitchFamily="34" charset="-120"/>
              </a:rPr>
              <a:t>— Walt Whitman, “Song of Myself”</a:t>
            </a:r>
            <a:endParaRPr lang="en-US" sz="1800" dirty="0"/>
          </a:p>
        </p:txBody>
      </p:sp>
      <p:sp>
        <p:nvSpPr>
          <p:cNvPr id="25" name="Slide Number Placeholder 0"/>
          <p:cNvSpPr>
            <a:spLocks noGrp="1"/>
          </p:cNvSpPr>
          <p:nvPr>
            <p:ph type="sldNum" sz="quarter" idx="4294967295"/>
          </p:nvPr>
        </p:nvSpPr>
        <p:spPr>
          <a:xfrm>
            <a:off x="10957255"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7E7C78"/>
                </a:solidFill>
                <a:latin typeface="Consolas"/>
                <a:ea typeface="Consolas"/>
                <a:cs typeface="Consolas"/>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85800" y="502920"/>
            <a:ext cx="9357055" cy="320040"/>
          </a:xfrm>
          <a:prstGeom prst="rect">
            <a:avLst/>
          </a:prstGeom>
          <a:noFill/>
          <a:ln/>
        </p:spPr>
        <p:txBody>
          <a:bodyPr wrap="square" lIns="0" tIns="0" rIns="0" bIns="0" rtlCol="0" anchor="b"/>
          <a:lstStyle/>
          <a:p>
            <a:pPr indent="0" marL="0">
              <a:buNone/>
            </a:pPr>
            <a:r>
              <a:rPr lang="en-US" sz="1200" b="1" spc="200" kern="0" dirty="0">
                <a:solidFill>
                  <a:srgbClr val="FC4540"/>
                </a:solidFill>
                <a:latin typeface="Consolas" pitchFamily="34" charset="0"/>
                <a:ea typeface="Consolas" pitchFamily="34" charset="-122"/>
                <a:cs typeface="Consolas" pitchFamily="34" charset="-120"/>
              </a:rPr>
              <a:t>WHY DO WE WRITE?</a:t>
            </a:r>
            <a:endParaRPr lang="en-US" sz="1200" dirty="0"/>
          </a:p>
        </p:txBody>
      </p:sp>
      <p:sp>
        <p:nvSpPr>
          <p:cNvPr id="3" name="Text 1"/>
          <p:cNvSpPr/>
          <p:nvPr/>
        </p:nvSpPr>
        <p:spPr>
          <a:xfrm>
            <a:off x="685800" y="868680"/>
            <a:ext cx="9357055" cy="960120"/>
          </a:xfrm>
          <a:prstGeom prst="rect">
            <a:avLst/>
          </a:prstGeom>
          <a:noFill/>
          <a:ln/>
        </p:spPr>
        <p:txBody>
          <a:bodyPr wrap="square" lIns="0" tIns="0" rIns="0" bIns="0" rtlCol="0" anchor="t"/>
          <a:lstStyle/>
          <a:p>
            <a:pPr indent="0" marL="0">
              <a:buNone/>
            </a:pPr>
            <a:r>
              <a:rPr lang="en-US" sz="3600" dirty="0">
                <a:solidFill>
                  <a:srgbClr val="3C3828"/>
                </a:solidFill>
                <a:latin typeface="Georgia" pitchFamily="34" charset="0"/>
                <a:ea typeface="Georgia" pitchFamily="34" charset="-122"/>
                <a:cs typeface="Georgia" pitchFamily="34" charset="-120"/>
              </a:rPr>
              <a:t>Why do we write?</a:t>
            </a:r>
            <a:endParaRPr lang="en-US" sz="3600" dirty="0"/>
          </a:p>
        </p:txBody>
      </p:sp>
      <p:sp>
        <p:nvSpPr>
          <p:cNvPr id="4" name="Shape 2"/>
          <p:cNvSpPr/>
          <p:nvPr/>
        </p:nvSpPr>
        <p:spPr>
          <a:xfrm>
            <a:off x="10637215" y="457200"/>
            <a:ext cx="868680" cy="868680"/>
          </a:xfrm>
          <a:prstGeom prst="ellipse">
            <a:avLst/>
          </a:prstGeom>
          <a:solidFill>
            <a:srgbClr val="FC4540"/>
          </a:solidFill>
          <a:ln w="12700">
            <a:solidFill>
              <a:srgbClr val="FC4540"/>
            </a:solidFill>
            <a:prstDash val="solid"/>
          </a:ln>
        </p:spPr>
      </p:sp>
      <p:pic>
        <p:nvPicPr>
          <p:cNvPr id="5" name="Image 0" descr="pencil icon">    </p:cNvPr>
          <p:cNvPicPr>
            <a:picLocks noChangeAspect="1"/>
          </p:cNvPicPr>
          <p:nvPr/>
        </p:nvPicPr>
        <p:blipFill>
          <a:blip r:embed="rId1"/>
          <a:stretch>
            <a:fillRect/>
          </a:stretch>
        </p:blipFill>
        <p:spPr>
          <a:xfrm>
            <a:off x="10810951" y="630936"/>
            <a:ext cx="521208" cy="521208"/>
          </a:xfrm>
          <a:prstGeom prst="rect">
            <a:avLst/>
          </a:prstGeom>
        </p:spPr>
      </p:pic>
      <p:sp>
        <p:nvSpPr>
          <p:cNvPr id="6" name="Shape 3"/>
          <p:cNvSpPr/>
          <p:nvPr/>
        </p:nvSpPr>
        <p:spPr>
          <a:xfrm>
            <a:off x="10344607" y="530352"/>
            <a:ext cx="182880" cy="182880"/>
          </a:xfrm>
          <a:prstGeom prst="ellipse">
            <a:avLst/>
          </a:prstGeom>
          <a:solidFill>
            <a:srgbClr val="FC4067"/>
          </a:solidFill>
          <a:ln w="12700">
            <a:solidFill>
              <a:srgbClr val="FC4067"/>
            </a:solidFill>
            <a:prstDash val="solid"/>
          </a:ln>
        </p:spPr>
      </p:sp>
      <p:sp>
        <p:nvSpPr>
          <p:cNvPr id="7" name="Shape 4"/>
          <p:cNvSpPr/>
          <p:nvPr/>
        </p:nvSpPr>
        <p:spPr>
          <a:xfrm>
            <a:off x="11460175" y="1307592"/>
            <a:ext cx="128016" cy="128016"/>
          </a:xfrm>
          <a:prstGeom prst="ellipse">
            <a:avLst/>
          </a:prstGeom>
          <a:solidFill>
            <a:srgbClr val="02BDC7"/>
          </a:solidFill>
          <a:ln w="12700">
            <a:solidFill>
              <a:srgbClr val="02BDC7"/>
            </a:solidFill>
            <a:prstDash val="solid"/>
          </a:ln>
        </p:spPr>
      </p:sp>
      <p:sp>
        <p:nvSpPr>
          <p:cNvPr id="8" name="Shape 5"/>
          <p:cNvSpPr/>
          <p:nvPr/>
        </p:nvSpPr>
        <p:spPr>
          <a:xfrm>
            <a:off x="685800" y="1965960"/>
            <a:ext cx="3393338" cy="3749040"/>
          </a:xfrm>
          <a:prstGeom prst="roundRect">
            <a:avLst>
              <a:gd name="adj" fmla="val 3773"/>
            </a:avLst>
          </a:prstGeom>
          <a:solidFill>
            <a:srgbClr val="FFFEFA"/>
          </a:solidFill>
          <a:ln w="9525">
            <a:solidFill>
              <a:srgbClr val="D6D4CC"/>
            </a:solidFill>
            <a:prstDash val="solid"/>
          </a:ln>
          <a:effectLst>
            <a:outerShdw sx="100000" sy="100000" kx="0" ky="0" algn="bl" rotWithShape="0" blurRad="127000" dist="38100" dir="5400000">
              <a:srgbClr val="3C3828">
                <a:alpha val="12000"/>
              </a:srgbClr>
            </a:outerShdw>
          </a:effectLst>
        </p:spPr>
      </p:sp>
      <p:sp>
        <p:nvSpPr>
          <p:cNvPr id="9" name="Shape 6"/>
          <p:cNvSpPr/>
          <p:nvPr/>
        </p:nvSpPr>
        <p:spPr>
          <a:xfrm>
            <a:off x="813816" y="1965960"/>
            <a:ext cx="3137306" cy="91440"/>
          </a:xfrm>
          <a:prstGeom prst="rect">
            <a:avLst/>
          </a:prstGeom>
          <a:solidFill>
            <a:srgbClr val="FC4540"/>
          </a:solidFill>
          <a:ln w="12700">
            <a:solidFill>
              <a:srgbClr val="FC4540"/>
            </a:solidFill>
            <a:prstDash val="solid"/>
          </a:ln>
        </p:spPr>
      </p:sp>
      <p:sp>
        <p:nvSpPr>
          <p:cNvPr id="10" name="Shape 7"/>
          <p:cNvSpPr/>
          <p:nvPr/>
        </p:nvSpPr>
        <p:spPr>
          <a:xfrm>
            <a:off x="1005840" y="2331720"/>
            <a:ext cx="731520" cy="731520"/>
          </a:xfrm>
          <a:prstGeom prst="ellipse">
            <a:avLst/>
          </a:prstGeom>
          <a:solidFill>
            <a:srgbClr val="FC4540"/>
          </a:solidFill>
          <a:ln w="12700">
            <a:solidFill>
              <a:srgbClr val="FC4540"/>
            </a:solidFill>
            <a:prstDash val="solid"/>
          </a:ln>
        </p:spPr>
      </p:sp>
      <p:sp>
        <p:nvSpPr>
          <p:cNvPr id="11" name="Text 8"/>
          <p:cNvSpPr/>
          <p:nvPr/>
        </p:nvSpPr>
        <p:spPr>
          <a:xfrm>
            <a:off x="1005840" y="2331720"/>
            <a:ext cx="731520" cy="731520"/>
          </a:xfrm>
          <a:prstGeom prst="rect">
            <a:avLst/>
          </a:prstGeom>
          <a:noFill/>
          <a:ln/>
        </p:spPr>
        <p:txBody>
          <a:bodyPr wrap="square" lIns="0" tIns="0" rIns="0" bIns="0" rtlCol="0" anchor="ctr"/>
          <a:lstStyle/>
          <a:p>
            <a:pPr algn="ctr" indent="0" marL="0">
              <a:buNone/>
            </a:pPr>
            <a:r>
              <a:rPr lang="en-US" sz="3000" b="1" dirty="0">
                <a:solidFill>
                  <a:srgbClr val="FFFEFA"/>
                </a:solidFill>
                <a:latin typeface="Georgia" pitchFamily="34" charset="0"/>
                <a:ea typeface="Georgia" pitchFamily="34" charset="-122"/>
                <a:cs typeface="Georgia" pitchFamily="34" charset="-120"/>
              </a:rPr>
              <a:t>1</a:t>
            </a:r>
            <a:endParaRPr lang="en-US" sz="3000" dirty="0"/>
          </a:p>
        </p:txBody>
      </p:sp>
      <p:sp>
        <p:nvSpPr>
          <p:cNvPr id="12" name="Text 9"/>
          <p:cNvSpPr/>
          <p:nvPr/>
        </p:nvSpPr>
        <p:spPr>
          <a:xfrm>
            <a:off x="1005840" y="3246120"/>
            <a:ext cx="2753258" cy="2286000"/>
          </a:xfrm>
          <a:prstGeom prst="rect">
            <a:avLst/>
          </a:prstGeom>
          <a:noFill/>
          <a:ln/>
        </p:spPr>
        <p:txBody>
          <a:bodyPr wrap="square" lIns="0" tIns="0" rIns="0" bIns="0" rtlCol="0" anchor="t"/>
          <a:lstStyle/>
          <a:p>
            <a:pPr indent="0" marL="0">
              <a:buNone/>
            </a:pPr>
            <a:r>
              <a:rPr lang="en-US" sz="2100" dirty="0">
                <a:solidFill>
                  <a:srgbClr val="3C3828"/>
                </a:solidFill>
                <a:latin typeface="Calibri" pitchFamily="34" charset="0"/>
                <a:ea typeface="Calibri" pitchFamily="34" charset="-122"/>
                <a:cs typeface="Calibri" pitchFamily="34" charset="-120"/>
              </a:rPr>
              <a:t>Because we have </a:t>
            </a:r>
            <a:r>
              <a:rPr lang="en-US" sz="2100" dirty="0">
                <a:solidFill>
                  <a:srgbClr val="3C3828"/>
                </a:solidFill>
                <a:highlight>
                  <a:srgbClr val="FFE14D"/>
                </a:highlight>
                <a:latin typeface="Calibri" pitchFamily="34" charset="0"/>
                <a:ea typeface="Calibri" pitchFamily="34" charset="-122"/>
                <a:cs typeface="Calibri" pitchFamily="34" charset="-120"/>
              </a:rPr>
              <a:t>things to say!</a:t>
            </a:r>
            <a:r>
              <a:rPr lang="en-US" sz="2100" dirty="0">
                <a:solidFill>
                  <a:srgbClr val="3C3828"/>
                </a:solidFill>
                <a:latin typeface="Calibri" pitchFamily="34" charset="0"/>
                <a:ea typeface="Calibri" pitchFamily="34" charset="-122"/>
                <a:cs typeface="Calibri" pitchFamily="34" charset="-120"/>
              </a:rPr>
              <a:t> (Our individual “yawp.”)</a:t>
            </a:r>
            <a:endParaRPr lang="en-US" sz="2100" dirty="0"/>
          </a:p>
        </p:txBody>
      </p:sp>
      <p:sp>
        <p:nvSpPr>
          <p:cNvPr id="13" name="Shape 10"/>
          <p:cNvSpPr/>
          <p:nvPr/>
        </p:nvSpPr>
        <p:spPr>
          <a:xfrm>
            <a:off x="4399178" y="1965960"/>
            <a:ext cx="3393338" cy="3749040"/>
          </a:xfrm>
          <a:prstGeom prst="roundRect">
            <a:avLst>
              <a:gd name="adj" fmla="val 3773"/>
            </a:avLst>
          </a:prstGeom>
          <a:solidFill>
            <a:srgbClr val="FFFEFA"/>
          </a:solidFill>
          <a:ln w="9525">
            <a:solidFill>
              <a:srgbClr val="D6D4CC"/>
            </a:solidFill>
            <a:prstDash val="solid"/>
          </a:ln>
          <a:effectLst>
            <a:outerShdw sx="100000" sy="100000" kx="0" ky="0" algn="bl" rotWithShape="0" blurRad="127000" dist="38100" dir="5400000">
              <a:srgbClr val="3C3828">
                <a:alpha val="12000"/>
              </a:srgbClr>
            </a:outerShdw>
          </a:effectLst>
        </p:spPr>
      </p:sp>
      <p:sp>
        <p:nvSpPr>
          <p:cNvPr id="14" name="Shape 11"/>
          <p:cNvSpPr/>
          <p:nvPr/>
        </p:nvSpPr>
        <p:spPr>
          <a:xfrm>
            <a:off x="4527194" y="1965960"/>
            <a:ext cx="3137306" cy="91440"/>
          </a:xfrm>
          <a:prstGeom prst="rect">
            <a:avLst/>
          </a:prstGeom>
          <a:solidFill>
            <a:srgbClr val="FF9755"/>
          </a:solidFill>
          <a:ln w="12700">
            <a:solidFill>
              <a:srgbClr val="FF9755"/>
            </a:solidFill>
            <a:prstDash val="solid"/>
          </a:ln>
        </p:spPr>
      </p:sp>
      <p:sp>
        <p:nvSpPr>
          <p:cNvPr id="15" name="Shape 12"/>
          <p:cNvSpPr/>
          <p:nvPr/>
        </p:nvSpPr>
        <p:spPr>
          <a:xfrm>
            <a:off x="4719218" y="2331720"/>
            <a:ext cx="731520" cy="731520"/>
          </a:xfrm>
          <a:prstGeom prst="ellipse">
            <a:avLst/>
          </a:prstGeom>
          <a:solidFill>
            <a:srgbClr val="FF9755"/>
          </a:solidFill>
          <a:ln w="12700">
            <a:solidFill>
              <a:srgbClr val="FF9755"/>
            </a:solidFill>
            <a:prstDash val="solid"/>
          </a:ln>
        </p:spPr>
      </p:sp>
      <p:sp>
        <p:nvSpPr>
          <p:cNvPr id="16" name="Text 13"/>
          <p:cNvSpPr/>
          <p:nvPr/>
        </p:nvSpPr>
        <p:spPr>
          <a:xfrm>
            <a:off x="4719218" y="2331720"/>
            <a:ext cx="731520" cy="731520"/>
          </a:xfrm>
          <a:prstGeom prst="rect">
            <a:avLst/>
          </a:prstGeom>
          <a:noFill/>
          <a:ln/>
        </p:spPr>
        <p:txBody>
          <a:bodyPr wrap="square" lIns="0" tIns="0" rIns="0" bIns="0" rtlCol="0" anchor="ctr"/>
          <a:lstStyle/>
          <a:p>
            <a:pPr algn="ctr" indent="0" marL="0">
              <a:buNone/>
            </a:pPr>
            <a:r>
              <a:rPr lang="en-US" sz="3000" b="1" dirty="0">
                <a:solidFill>
                  <a:srgbClr val="FFFEFA"/>
                </a:solidFill>
                <a:latin typeface="Georgia" pitchFamily="34" charset="0"/>
                <a:ea typeface="Georgia" pitchFamily="34" charset="-122"/>
                <a:cs typeface="Georgia" pitchFamily="34" charset="-120"/>
              </a:rPr>
              <a:t>2</a:t>
            </a:r>
            <a:endParaRPr lang="en-US" sz="3000" dirty="0"/>
          </a:p>
        </p:txBody>
      </p:sp>
      <p:sp>
        <p:nvSpPr>
          <p:cNvPr id="17" name="Text 14"/>
          <p:cNvSpPr/>
          <p:nvPr/>
        </p:nvSpPr>
        <p:spPr>
          <a:xfrm>
            <a:off x="4719218" y="3246120"/>
            <a:ext cx="2753258" cy="2286000"/>
          </a:xfrm>
          <a:prstGeom prst="rect">
            <a:avLst/>
          </a:prstGeom>
          <a:noFill/>
          <a:ln/>
        </p:spPr>
        <p:txBody>
          <a:bodyPr wrap="square" lIns="0" tIns="0" rIns="0" bIns="0" rtlCol="0" anchor="t"/>
          <a:lstStyle/>
          <a:p>
            <a:pPr indent="0" marL="0">
              <a:buNone/>
            </a:pPr>
            <a:r>
              <a:rPr lang="en-US" sz="2100" dirty="0">
                <a:solidFill>
                  <a:srgbClr val="3C3828"/>
                </a:solidFill>
                <a:latin typeface="Calibri" pitchFamily="34" charset="0"/>
                <a:ea typeface="Calibri" pitchFamily="34" charset="-122"/>
                <a:cs typeface="Calibri" pitchFamily="34" charset="-120"/>
              </a:rPr>
              <a:t>Because writing is one of the most effective ways of </a:t>
            </a:r>
            <a:r>
              <a:rPr lang="en-US" sz="2100" dirty="0">
                <a:solidFill>
                  <a:srgbClr val="3C3828"/>
                </a:solidFill>
                <a:highlight>
                  <a:srgbClr val="FFE14D"/>
                </a:highlight>
                <a:latin typeface="Calibri" pitchFamily="34" charset="0"/>
                <a:ea typeface="Calibri" pitchFamily="34" charset="-122"/>
                <a:cs typeface="Calibri" pitchFamily="34" charset="-120"/>
              </a:rPr>
              <a:t>expressing ourselves.</a:t>
            </a:r>
            <a:r>
              <a:rPr lang="en-US" sz="2100" dirty="0">
                <a:solidFill>
                  <a:srgbClr val="3C3828"/>
                </a:solidFill>
                <a:latin typeface="Calibri" pitchFamily="34" charset="0"/>
                <a:ea typeface="Calibri" pitchFamily="34" charset="-122"/>
                <a:cs typeface="Calibri" pitchFamily="34" charset="-120"/>
              </a:rPr>
              <a:t> (What other ways can we express ourselves?)</a:t>
            </a:r>
            <a:endParaRPr lang="en-US" sz="2100" dirty="0"/>
          </a:p>
        </p:txBody>
      </p:sp>
      <p:sp>
        <p:nvSpPr>
          <p:cNvPr id="18" name="Shape 15"/>
          <p:cNvSpPr/>
          <p:nvPr/>
        </p:nvSpPr>
        <p:spPr>
          <a:xfrm>
            <a:off x="8112557" y="1965960"/>
            <a:ext cx="3393338" cy="3749040"/>
          </a:xfrm>
          <a:prstGeom prst="roundRect">
            <a:avLst>
              <a:gd name="adj" fmla="val 3773"/>
            </a:avLst>
          </a:prstGeom>
          <a:solidFill>
            <a:srgbClr val="FFFEFA"/>
          </a:solidFill>
          <a:ln w="9525">
            <a:solidFill>
              <a:srgbClr val="D6D4CC"/>
            </a:solidFill>
            <a:prstDash val="solid"/>
          </a:ln>
          <a:effectLst>
            <a:outerShdw sx="100000" sy="100000" kx="0" ky="0" algn="bl" rotWithShape="0" blurRad="127000" dist="38100" dir="5400000">
              <a:srgbClr val="3C3828">
                <a:alpha val="12000"/>
              </a:srgbClr>
            </a:outerShdw>
          </a:effectLst>
        </p:spPr>
      </p:sp>
      <p:sp>
        <p:nvSpPr>
          <p:cNvPr id="19" name="Shape 16"/>
          <p:cNvSpPr/>
          <p:nvPr/>
        </p:nvSpPr>
        <p:spPr>
          <a:xfrm>
            <a:off x="8240573" y="1965960"/>
            <a:ext cx="3137306" cy="91440"/>
          </a:xfrm>
          <a:prstGeom prst="rect">
            <a:avLst/>
          </a:prstGeom>
          <a:solidFill>
            <a:srgbClr val="FC4067"/>
          </a:solidFill>
          <a:ln w="12700">
            <a:solidFill>
              <a:srgbClr val="FC4067"/>
            </a:solidFill>
            <a:prstDash val="solid"/>
          </a:ln>
        </p:spPr>
      </p:sp>
      <p:sp>
        <p:nvSpPr>
          <p:cNvPr id="20" name="Shape 17"/>
          <p:cNvSpPr/>
          <p:nvPr/>
        </p:nvSpPr>
        <p:spPr>
          <a:xfrm>
            <a:off x="8432597" y="2331720"/>
            <a:ext cx="731520" cy="731520"/>
          </a:xfrm>
          <a:prstGeom prst="ellipse">
            <a:avLst/>
          </a:prstGeom>
          <a:solidFill>
            <a:srgbClr val="FC4067"/>
          </a:solidFill>
          <a:ln w="12700">
            <a:solidFill>
              <a:srgbClr val="FC4067"/>
            </a:solidFill>
            <a:prstDash val="solid"/>
          </a:ln>
        </p:spPr>
      </p:sp>
      <p:sp>
        <p:nvSpPr>
          <p:cNvPr id="21" name="Text 18"/>
          <p:cNvSpPr/>
          <p:nvPr/>
        </p:nvSpPr>
        <p:spPr>
          <a:xfrm>
            <a:off x="8432597" y="2331720"/>
            <a:ext cx="731520" cy="731520"/>
          </a:xfrm>
          <a:prstGeom prst="rect">
            <a:avLst/>
          </a:prstGeom>
          <a:noFill/>
          <a:ln/>
        </p:spPr>
        <p:txBody>
          <a:bodyPr wrap="square" lIns="0" tIns="0" rIns="0" bIns="0" rtlCol="0" anchor="ctr"/>
          <a:lstStyle/>
          <a:p>
            <a:pPr algn="ctr" indent="0" marL="0">
              <a:buNone/>
            </a:pPr>
            <a:r>
              <a:rPr lang="en-US" sz="3000" b="1" dirty="0">
                <a:solidFill>
                  <a:srgbClr val="FFFEFA"/>
                </a:solidFill>
                <a:latin typeface="Georgia" pitchFamily="34" charset="0"/>
                <a:ea typeface="Georgia" pitchFamily="34" charset="-122"/>
                <a:cs typeface="Georgia" pitchFamily="34" charset="-120"/>
              </a:rPr>
              <a:t>3</a:t>
            </a:r>
            <a:endParaRPr lang="en-US" sz="3000" dirty="0"/>
          </a:p>
        </p:txBody>
      </p:sp>
      <p:sp>
        <p:nvSpPr>
          <p:cNvPr id="22" name="Text 19"/>
          <p:cNvSpPr/>
          <p:nvPr/>
        </p:nvSpPr>
        <p:spPr>
          <a:xfrm>
            <a:off x="8432597" y="3246120"/>
            <a:ext cx="2753258" cy="2286000"/>
          </a:xfrm>
          <a:prstGeom prst="rect">
            <a:avLst/>
          </a:prstGeom>
          <a:noFill/>
          <a:ln/>
        </p:spPr>
        <p:txBody>
          <a:bodyPr wrap="square" lIns="0" tIns="0" rIns="0" bIns="0" rtlCol="0" anchor="t"/>
          <a:lstStyle/>
          <a:p>
            <a:pPr indent="0" marL="0">
              <a:buNone/>
            </a:pPr>
            <a:r>
              <a:rPr lang="en-US" sz="2100" dirty="0">
                <a:solidFill>
                  <a:srgbClr val="3C3828"/>
                </a:solidFill>
                <a:latin typeface="Calibri" pitchFamily="34" charset="0"/>
                <a:ea typeface="Calibri" pitchFamily="34" charset="-122"/>
                <a:cs typeface="Calibri" pitchFamily="34" charset="-120"/>
              </a:rPr>
              <a:t>Because </a:t>
            </a:r>
            <a:r>
              <a:rPr lang="en-US" sz="2100" dirty="0">
                <a:solidFill>
                  <a:srgbClr val="3C3828"/>
                </a:solidFill>
                <a:highlight>
                  <a:srgbClr val="FFE14D"/>
                </a:highlight>
                <a:latin typeface="Calibri" pitchFamily="34" charset="0"/>
                <a:ea typeface="Calibri" pitchFamily="34" charset="-122"/>
                <a:cs typeface="Calibri" pitchFamily="34" charset="-120"/>
              </a:rPr>
              <a:t>writing is power.</a:t>
            </a:r>
            <a:endParaRPr lang="en-US" sz="2100" dirty="0"/>
          </a:p>
        </p:txBody>
      </p:sp>
      <p:sp>
        <p:nvSpPr>
          <p:cNvPr id="25" name="Slide Number Placeholder 0"/>
          <p:cNvSpPr>
            <a:spLocks noGrp="1"/>
          </p:cNvSpPr>
          <p:nvPr>
            <p:ph type="sldNum" sz="quarter" idx="4294967295"/>
          </p:nvPr>
        </p:nvSpPr>
        <p:spPr>
          <a:xfrm>
            <a:off x="10957255"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7E7C78"/>
                </a:solidFill>
                <a:latin typeface="Consolas"/>
                <a:ea typeface="Consolas"/>
                <a:cs typeface="Consolas"/>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C8EEF0"/>
        </a:solidFill>
      </p:bgPr>
    </p:bg>
    <p:spTree>
      <p:nvGrpSpPr>
        <p:cNvPr id="1" name=""/>
        <p:cNvGrpSpPr/>
        <p:nvPr/>
      </p:nvGrpSpPr>
      <p:grpSpPr>
        <a:xfrm>
          <a:off x="0" y="0"/>
          <a:ext cx="0" cy="0"/>
          <a:chOff x="0" y="0"/>
          <a:chExt cx="0" cy="0"/>
        </a:xfrm>
      </p:grpSpPr>
      <p:sp>
        <p:nvSpPr>
          <p:cNvPr id="2" name="Shape 0"/>
          <p:cNvSpPr/>
          <p:nvPr/>
        </p:nvSpPr>
        <p:spPr>
          <a:xfrm>
            <a:off x="3626968" y="960120"/>
            <a:ext cx="4937760" cy="4937760"/>
          </a:xfrm>
          <a:prstGeom prst="ellipse">
            <a:avLst/>
          </a:prstGeom>
          <a:solidFill>
            <a:srgbClr val="FFFEFA"/>
          </a:solidFill>
          <a:ln w="12700">
            <a:solidFill>
              <a:srgbClr val="FFFEFA"/>
            </a:solidFill>
            <a:prstDash val="solid"/>
          </a:ln>
          <a:effectLst>
            <a:outerShdw sx="100000" sy="100000" kx="0" ky="0" algn="bl" rotWithShape="0" blurRad="203200" dist="50800" dir="5400000">
              <a:srgbClr val="3C3828">
                <a:alpha val="14000"/>
              </a:srgbClr>
            </a:outerShdw>
          </a:effectLst>
        </p:spPr>
      </p:sp>
      <p:sp>
        <p:nvSpPr>
          <p:cNvPr id="3" name="Text 1"/>
          <p:cNvSpPr/>
          <p:nvPr/>
        </p:nvSpPr>
        <p:spPr>
          <a:xfrm>
            <a:off x="3626968" y="2286000"/>
            <a:ext cx="4937760" cy="457200"/>
          </a:xfrm>
          <a:prstGeom prst="rect">
            <a:avLst/>
          </a:prstGeom>
          <a:noFill/>
          <a:ln/>
        </p:spPr>
        <p:txBody>
          <a:bodyPr wrap="square" lIns="0" tIns="0" rIns="0" bIns="0" rtlCol="0" anchor="ctr"/>
          <a:lstStyle/>
          <a:p>
            <a:pPr algn="ctr" indent="0" marL="0">
              <a:buNone/>
            </a:pPr>
            <a:r>
              <a:rPr lang="en-US" sz="1600" b="1" spc="300" kern="0" dirty="0">
                <a:solidFill>
                  <a:srgbClr val="02BDC7"/>
                </a:solidFill>
                <a:latin typeface="Consolas" pitchFamily="34" charset="0"/>
                <a:ea typeface="Consolas" pitchFamily="34" charset="-122"/>
                <a:cs typeface="Consolas" pitchFamily="34" charset="-120"/>
              </a:rPr>
              <a:t>SAMPLE ESSAY</a:t>
            </a:r>
            <a:endParaRPr lang="en-US" sz="1600" dirty="0"/>
          </a:p>
        </p:txBody>
      </p:sp>
      <p:sp>
        <p:nvSpPr>
          <p:cNvPr id="4" name="Text 2"/>
          <p:cNvSpPr/>
          <p:nvPr/>
        </p:nvSpPr>
        <p:spPr>
          <a:xfrm>
            <a:off x="3626968" y="2743200"/>
            <a:ext cx="4937760" cy="1143000"/>
          </a:xfrm>
          <a:prstGeom prst="rect">
            <a:avLst/>
          </a:prstGeom>
          <a:noFill/>
          <a:ln/>
        </p:spPr>
        <p:txBody>
          <a:bodyPr wrap="square" lIns="0" tIns="0" rIns="0" bIns="0" rtlCol="0" anchor="ctr"/>
          <a:lstStyle/>
          <a:p>
            <a:pPr algn="ctr" indent="0" marL="0">
              <a:buNone/>
            </a:pPr>
            <a:r>
              <a:rPr lang="en-US" sz="4000" dirty="0">
                <a:solidFill>
                  <a:srgbClr val="3C3828"/>
                </a:solidFill>
                <a:highlight>
                  <a:srgbClr val="FFE14D"/>
                </a:highlight>
                <a:latin typeface="Georgia" pitchFamily="34" charset="0"/>
                <a:ea typeface="Georgia" pitchFamily="34" charset="-122"/>
                <a:cs typeface="Georgia" pitchFamily="34" charset="-120"/>
              </a:rPr>
              <a:t>“Bored in the USA”</a:t>
            </a:r>
            <a:endParaRPr lang="en-US" sz="4000" dirty="0"/>
          </a:p>
        </p:txBody>
      </p:sp>
      <p:sp>
        <p:nvSpPr>
          <p:cNvPr id="5" name="Text 3"/>
          <p:cNvSpPr/>
          <p:nvPr/>
        </p:nvSpPr>
        <p:spPr>
          <a:xfrm>
            <a:off x="4358488" y="3977640"/>
            <a:ext cx="3474720" cy="822960"/>
          </a:xfrm>
          <a:prstGeom prst="rect">
            <a:avLst/>
          </a:prstGeom>
          <a:noFill/>
          <a:ln/>
        </p:spPr>
        <p:txBody>
          <a:bodyPr wrap="square" lIns="0" tIns="0" rIns="0" bIns="0" rtlCol="0" anchor="t"/>
          <a:lstStyle/>
          <a:p>
            <a:pPr algn="ctr" indent="0" marL="0">
              <a:buNone/>
            </a:pPr>
            <a:r>
              <a:rPr lang="en-US" sz="1800" i="1" dirty="0">
                <a:solidFill>
                  <a:srgbClr val="7E7C78"/>
                </a:solidFill>
                <a:latin typeface="Calibri" pitchFamily="34" charset="0"/>
                <a:ea typeface="Calibri" pitchFamily="34" charset="-122"/>
                <a:cs typeface="Calibri" pitchFamily="34" charset="-120"/>
              </a:rPr>
              <a:t>Highlight anything you find interesting.</a:t>
            </a:r>
            <a:endParaRPr lang="en-US" sz="1800" dirty="0"/>
          </a:p>
        </p:txBody>
      </p:sp>
      <p:sp>
        <p:nvSpPr>
          <p:cNvPr id="6" name="Shape 4"/>
          <p:cNvSpPr/>
          <p:nvPr/>
        </p:nvSpPr>
        <p:spPr>
          <a:xfrm>
            <a:off x="7558888" y="640080"/>
            <a:ext cx="1417320" cy="1417320"/>
          </a:xfrm>
          <a:prstGeom prst="ellipse">
            <a:avLst/>
          </a:prstGeom>
          <a:solidFill>
            <a:srgbClr val="FFB600"/>
          </a:solidFill>
          <a:ln w="12700">
            <a:solidFill>
              <a:srgbClr val="FFB600"/>
            </a:solidFill>
            <a:prstDash val="solid"/>
          </a:ln>
        </p:spPr>
      </p:sp>
      <p:pic>
        <p:nvPicPr>
          <p:cNvPr id="7" name="Image 0" descr="lightbulb icon">    </p:cNvPr>
          <p:cNvPicPr>
            <a:picLocks noChangeAspect="1"/>
          </p:cNvPicPr>
          <p:nvPr/>
        </p:nvPicPr>
        <p:blipFill>
          <a:blip r:embed="rId1"/>
          <a:stretch>
            <a:fillRect/>
          </a:stretch>
        </p:blipFill>
        <p:spPr>
          <a:xfrm>
            <a:off x="7842352" y="923544"/>
            <a:ext cx="850392" cy="850392"/>
          </a:xfrm>
          <a:prstGeom prst="rect">
            <a:avLst/>
          </a:prstGeom>
        </p:spPr>
      </p:pic>
      <p:sp>
        <p:nvSpPr>
          <p:cNvPr id="8" name="Shape 5"/>
          <p:cNvSpPr/>
          <p:nvPr/>
        </p:nvSpPr>
        <p:spPr>
          <a:xfrm>
            <a:off x="2941168" y="1463040"/>
            <a:ext cx="1005840" cy="1005840"/>
          </a:xfrm>
          <a:prstGeom prst="ellipse">
            <a:avLst/>
          </a:prstGeom>
          <a:solidFill>
            <a:srgbClr val="FF9755"/>
          </a:solidFill>
          <a:ln w="12700">
            <a:solidFill>
              <a:srgbClr val="FF9755"/>
            </a:solidFill>
            <a:prstDash val="solid"/>
          </a:ln>
        </p:spPr>
      </p:sp>
      <p:pic>
        <p:nvPicPr>
          <p:cNvPr id="9" name="Image 1" descr="puzzle icon">    </p:cNvPr>
          <p:cNvPicPr>
            <a:picLocks noChangeAspect="1"/>
          </p:cNvPicPr>
          <p:nvPr/>
        </p:nvPicPr>
        <p:blipFill>
          <a:blip r:embed="rId2"/>
          <a:stretch>
            <a:fillRect/>
          </a:stretch>
        </p:blipFill>
        <p:spPr>
          <a:xfrm>
            <a:off x="3142336" y="1664208"/>
            <a:ext cx="603504" cy="603504"/>
          </a:xfrm>
          <a:prstGeom prst="rect">
            <a:avLst/>
          </a:prstGeom>
        </p:spPr>
      </p:pic>
      <p:sp>
        <p:nvSpPr>
          <p:cNvPr id="10" name="Shape 6"/>
          <p:cNvSpPr/>
          <p:nvPr/>
        </p:nvSpPr>
        <p:spPr>
          <a:xfrm>
            <a:off x="3718408" y="4800600"/>
            <a:ext cx="1188720" cy="1188720"/>
          </a:xfrm>
          <a:prstGeom prst="ellipse">
            <a:avLst/>
          </a:prstGeom>
          <a:solidFill>
            <a:srgbClr val="FC4540"/>
          </a:solidFill>
          <a:ln w="12700">
            <a:solidFill>
              <a:srgbClr val="FC4540"/>
            </a:solidFill>
            <a:prstDash val="solid"/>
          </a:ln>
        </p:spPr>
      </p:sp>
      <p:pic>
        <p:nvPicPr>
          <p:cNvPr id="11" name="Image 2" descr="thumbs icon">    </p:cNvPr>
          <p:cNvPicPr>
            <a:picLocks noChangeAspect="1"/>
          </p:cNvPicPr>
          <p:nvPr/>
        </p:nvPicPr>
        <p:blipFill>
          <a:blip r:embed="rId3"/>
          <a:stretch>
            <a:fillRect/>
          </a:stretch>
        </p:blipFill>
        <p:spPr>
          <a:xfrm>
            <a:off x="3956152" y="5038344"/>
            <a:ext cx="713232" cy="713232"/>
          </a:xfrm>
          <a:prstGeom prst="rect">
            <a:avLst/>
          </a:prstGeom>
        </p:spPr>
      </p:pic>
      <p:sp>
        <p:nvSpPr>
          <p:cNvPr id="12" name="Shape 7"/>
          <p:cNvSpPr/>
          <p:nvPr/>
        </p:nvSpPr>
        <p:spPr>
          <a:xfrm>
            <a:off x="3124048" y="2743200"/>
            <a:ext cx="274320" cy="274320"/>
          </a:xfrm>
          <a:prstGeom prst="ellipse">
            <a:avLst/>
          </a:prstGeom>
          <a:solidFill>
            <a:srgbClr val="FFFEFA"/>
          </a:solidFill>
          <a:ln w="12700">
            <a:solidFill>
              <a:srgbClr val="FFFEFA"/>
            </a:solidFill>
            <a:prstDash val="solid"/>
          </a:ln>
        </p:spPr>
      </p:sp>
      <p:sp>
        <p:nvSpPr>
          <p:cNvPr id="13" name="Shape 8"/>
          <p:cNvSpPr/>
          <p:nvPr/>
        </p:nvSpPr>
        <p:spPr>
          <a:xfrm>
            <a:off x="8701888" y="2423160"/>
            <a:ext cx="438912" cy="438912"/>
          </a:xfrm>
          <a:prstGeom prst="ellipse">
            <a:avLst/>
          </a:prstGeom>
          <a:solidFill>
            <a:srgbClr val="FC4067"/>
          </a:solidFill>
          <a:ln w="12700">
            <a:solidFill>
              <a:srgbClr val="FC4067"/>
            </a:solidFill>
            <a:prstDash val="solid"/>
          </a:ln>
        </p:spPr>
      </p:sp>
      <p:sp>
        <p:nvSpPr>
          <p:cNvPr id="14" name="Shape 9"/>
          <p:cNvSpPr/>
          <p:nvPr/>
        </p:nvSpPr>
        <p:spPr>
          <a:xfrm>
            <a:off x="8976208" y="2057400"/>
            <a:ext cx="146304" cy="146304"/>
          </a:xfrm>
          <a:prstGeom prst="ellipse">
            <a:avLst/>
          </a:prstGeom>
          <a:solidFill>
            <a:srgbClr val="FFFEFA"/>
          </a:solidFill>
          <a:ln w="12700">
            <a:solidFill>
              <a:srgbClr val="FFFEFA"/>
            </a:solidFill>
            <a:prstDash val="solid"/>
          </a:ln>
        </p:spPr>
      </p:sp>
      <p:sp>
        <p:nvSpPr>
          <p:cNvPr id="15" name="Shape 10"/>
          <p:cNvSpPr/>
          <p:nvPr/>
        </p:nvSpPr>
        <p:spPr>
          <a:xfrm>
            <a:off x="7650328" y="5760720"/>
            <a:ext cx="457200" cy="457200"/>
          </a:xfrm>
          <a:prstGeom prst="ellipse">
            <a:avLst/>
          </a:prstGeom>
          <a:solidFill>
            <a:srgbClr val="FC4067"/>
          </a:solidFill>
          <a:ln w="12700">
            <a:solidFill>
              <a:srgbClr val="FC4067"/>
            </a:solidFill>
            <a:prstDash val="solid"/>
          </a:ln>
        </p:spPr>
      </p:sp>
      <p:sp>
        <p:nvSpPr>
          <p:cNvPr id="16" name="Shape 11"/>
          <p:cNvSpPr/>
          <p:nvPr/>
        </p:nvSpPr>
        <p:spPr>
          <a:xfrm>
            <a:off x="8290408" y="5989320"/>
            <a:ext cx="640080" cy="640080"/>
          </a:xfrm>
          <a:prstGeom prst="ellipse">
            <a:avLst/>
          </a:prstGeom>
          <a:solidFill>
            <a:srgbClr val="FF9755"/>
          </a:solidFill>
          <a:ln w="12700">
            <a:solidFill>
              <a:srgbClr val="FF9755"/>
            </a:solidFill>
            <a:prstDash val="solid"/>
          </a:ln>
        </p:spPr>
      </p:sp>
      <p:sp>
        <p:nvSpPr>
          <p:cNvPr id="17" name="Shape 12"/>
          <p:cNvSpPr/>
          <p:nvPr/>
        </p:nvSpPr>
        <p:spPr>
          <a:xfrm>
            <a:off x="3306928" y="4480560"/>
            <a:ext cx="365760" cy="365760"/>
          </a:xfrm>
          <a:prstGeom prst="ellipse">
            <a:avLst/>
          </a:prstGeom>
          <a:solidFill>
            <a:srgbClr val="FF9755"/>
          </a:solidFill>
          <a:ln w="12700">
            <a:solidFill>
              <a:srgbClr val="FF9755"/>
            </a:solidFill>
            <a:prstDash val="solid"/>
          </a:ln>
        </p:spPr>
      </p:sp>
      <p:sp>
        <p:nvSpPr>
          <p:cNvPr id="18" name="Shape 13"/>
          <p:cNvSpPr/>
          <p:nvPr/>
        </p:nvSpPr>
        <p:spPr>
          <a:xfrm>
            <a:off x="4815688" y="5852160"/>
            <a:ext cx="219456" cy="219456"/>
          </a:xfrm>
          <a:prstGeom prst="ellipse">
            <a:avLst/>
          </a:prstGeom>
          <a:solidFill>
            <a:srgbClr val="02BDC7"/>
          </a:solidFill>
          <a:ln w="12700">
            <a:solidFill>
              <a:srgbClr val="02BDC7"/>
            </a:solidFill>
            <a:prstDash val="solid"/>
          </a:ln>
        </p:spPr>
      </p:sp>
      <p:sp>
        <p:nvSpPr>
          <p:cNvPr id="25" name="Slide Number Placeholder 0"/>
          <p:cNvSpPr>
            <a:spLocks noGrp="1"/>
          </p:cNvSpPr>
          <p:nvPr>
            <p:ph type="sldNum" sz="quarter" idx="4294967295"/>
          </p:nvPr>
        </p:nvSpPr>
        <p:spPr>
          <a:xfrm>
            <a:off x="10957255"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7E7C78"/>
                </a:solidFill>
                <a:latin typeface="Consolas"/>
                <a:ea typeface="Consolas"/>
                <a:cs typeface="Consolas"/>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685800" y="502920"/>
            <a:ext cx="9357055" cy="320040"/>
          </a:xfrm>
          <a:prstGeom prst="rect">
            <a:avLst/>
          </a:prstGeom>
          <a:noFill/>
          <a:ln/>
        </p:spPr>
        <p:txBody>
          <a:bodyPr wrap="square" lIns="0" tIns="0" rIns="0" bIns="0" rtlCol="0" anchor="b"/>
          <a:lstStyle/>
          <a:p>
            <a:pPr indent="0" marL="0">
              <a:buNone/>
            </a:pPr>
            <a:r>
              <a:rPr lang="en-US" sz="1200" b="1" spc="200" kern="0" dirty="0">
                <a:solidFill>
                  <a:srgbClr val="02BDC7"/>
                </a:solidFill>
                <a:latin typeface="Consolas" pitchFamily="34" charset="0"/>
                <a:ea typeface="Consolas" pitchFamily="34" charset="-122"/>
                <a:cs typeface="Consolas" pitchFamily="34" charset="-120"/>
              </a:rPr>
              <a:t>CLASS DISCUSSION</a:t>
            </a:r>
            <a:endParaRPr lang="en-US" sz="1200" dirty="0"/>
          </a:p>
        </p:txBody>
      </p:sp>
      <p:sp>
        <p:nvSpPr>
          <p:cNvPr id="3" name="Text 1"/>
          <p:cNvSpPr/>
          <p:nvPr/>
        </p:nvSpPr>
        <p:spPr>
          <a:xfrm>
            <a:off x="685800" y="868680"/>
            <a:ext cx="9357055" cy="960120"/>
          </a:xfrm>
          <a:prstGeom prst="rect">
            <a:avLst/>
          </a:prstGeom>
          <a:noFill/>
          <a:ln/>
        </p:spPr>
        <p:txBody>
          <a:bodyPr wrap="square" lIns="0" tIns="0" rIns="0" bIns="0" rtlCol="0" anchor="t"/>
          <a:lstStyle/>
          <a:p>
            <a:pPr indent="0" marL="0">
              <a:buNone/>
            </a:pPr>
            <a:r>
              <a:rPr lang="en-US" sz="3600" dirty="0">
                <a:solidFill>
                  <a:srgbClr val="3C3828"/>
                </a:solidFill>
                <a:latin typeface="Georgia" pitchFamily="34" charset="0"/>
                <a:ea typeface="Georgia" pitchFamily="34" charset="-122"/>
                <a:cs typeface="Georgia" pitchFamily="34" charset="-120"/>
              </a:rPr>
              <a:t>Class discussion</a:t>
            </a:r>
            <a:endParaRPr lang="en-US" sz="3600" dirty="0"/>
          </a:p>
        </p:txBody>
      </p:sp>
      <p:sp>
        <p:nvSpPr>
          <p:cNvPr id="4" name="Shape 2"/>
          <p:cNvSpPr/>
          <p:nvPr/>
        </p:nvSpPr>
        <p:spPr>
          <a:xfrm>
            <a:off x="10637215" y="457200"/>
            <a:ext cx="868680" cy="868680"/>
          </a:xfrm>
          <a:prstGeom prst="ellipse">
            <a:avLst/>
          </a:prstGeom>
          <a:solidFill>
            <a:srgbClr val="02BDC7"/>
          </a:solidFill>
          <a:ln w="12700">
            <a:solidFill>
              <a:srgbClr val="02BDC7"/>
            </a:solidFill>
            <a:prstDash val="solid"/>
          </a:ln>
        </p:spPr>
      </p:sp>
      <p:pic>
        <p:nvPicPr>
          <p:cNvPr id="5" name="Image 0" descr="pencil icon">    </p:cNvPr>
          <p:cNvPicPr>
            <a:picLocks noChangeAspect="1"/>
          </p:cNvPicPr>
          <p:nvPr/>
        </p:nvPicPr>
        <p:blipFill>
          <a:blip r:embed="rId1"/>
          <a:stretch>
            <a:fillRect/>
          </a:stretch>
        </p:blipFill>
        <p:spPr>
          <a:xfrm>
            <a:off x="10810951" y="630936"/>
            <a:ext cx="521208" cy="521208"/>
          </a:xfrm>
          <a:prstGeom prst="rect">
            <a:avLst/>
          </a:prstGeom>
        </p:spPr>
      </p:pic>
      <p:sp>
        <p:nvSpPr>
          <p:cNvPr id="6" name="Shape 3"/>
          <p:cNvSpPr/>
          <p:nvPr/>
        </p:nvSpPr>
        <p:spPr>
          <a:xfrm>
            <a:off x="10344607" y="530352"/>
            <a:ext cx="182880" cy="182880"/>
          </a:xfrm>
          <a:prstGeom prst="ellipse">
            <a:avLst/>
          </a:prstGeom>
          <a:solidFill>
            <a:srgbClr val="FC4540"/>
          </a:solidFill>
          <a:ln w="12700">
            <a:solidFill>
              <a:srgbClr val="FC4540"/>
            </a:solidFill>
            <a:prstDash val="solid"/>
          </a:ln>
        </p:spPr>
      </p:sp>
      <p:sp>
        <p:nvSpPr>
          <p:cNvPr id="7" name="Shape 4"/>
          <p:cNvSpPr/>
          <p:nvPr/>
        </p:nvSpPr>
        <p:spPr>
          <a:xfrm>
            <a:off x="11460175" y="1307592"/>
            <a:ext cx="128016" cy="128016"/>
          </a:xfrm>
          <a:prstGeom prst="ellipse">
            <a:avLst/>
          </a:prstGeom>
          <a:solidFill>
            <a:srgbClr val="FF9755"/>
          </a:solidFill>
          <a:ln w="12700">
            <a:solidFill>
              <a:srgbClr val="FF9755"/>
            </a:solidFill>
            <a:prstDash val="solid"/>
          </a:ln>
        </p:spPr>
      </p:sp>
      <p:sp>
        <p:nvSpPr>
          <p:cNvPr id="8" name="Shape 5"/>
          <p:cNvSpPr/>
          <p:nvPr/>
        </p:nvSpPr>
        <p:spPr>
          <a:xfrm>
            <a:off x="685800" y="1965960"/>
            <a:ext cx="3393338" cy="3749040"/>
          </a:xfrm>
          <a:prstGeom prst="roundRect">
            <a:avLst>
              <a:gd name="adj" fmla="val 3773"/>
            </a:avLst>
          </a:prstGeom>
          <a:solidFill>
            <a:srgbClr val="FFFEFA"/>
          </a:solidFill>
          <a:ln w="9525">
            <a:solidFill>
              <a:srgbClr val="D6D4CC"/>
            </a:solidFill>
            <a:prstDash val="solid"/>
          </a:ln>
          <a:effectLst>
            <a:outerShdw sx="100000" sy="100000" kx="0" ky="0" algn="bl" rotWithShape="0" blurRad="127000" dist="38100" dir="5400000">
              <a:srgbClr val="3C3828">
                <a:alpha val="12000"/>
              </a:srgbClr>
            </a:outerShdw>
          </a:effectLst>
        </p:spPr>
      </p:sp>
      <p:sp>
        <p:nvSpPr>
          <p:cNvPr id="9" name="Shape 6"/>
          <p:cNvSpPr/>
          <p:nvPr/>
        </p:nvSpPr>
        <p:spPr>
          <a:xfrm>
            <a:off x="813816" y="1965960"/>
            <a:ext cx="3137306" cy="91440"/>
          </a:xfrm>
          <a:prstGeom prst="rect">
            <a:avLst/>
          </a:prstGeom>
          <a:solidFill>
            <a:srgbClr val="02BDC7"/>
          </a:solidFill>
          <a:ln w="12700">
            <a:solidFill>
              <a:srgbClr val="02BDC7"/>
            </a:solidFill>
            <a:prstDash val="solid"/>
          </a:ln>
        </p:spPr>
      </p:sp>
      <p:sp>
        <p:nvSpPr>
          <p:cNvPr id="10" name="Shape 7"/>
          <p:cNvSpPr/>
          <p:nvPr/>
        </p:nvSpPr>
        <p:spPr>
          <a:xfrm>
            <a:off x="1005840" y="2331720"/>
            <a:ext cx="731520" cy="731520"/>
          </a:xfrm>
          <a:prstGeom prst="ellipse">
            <a:avLst/>
          </a:prstGeom>
          <a:solidFill>
            <a:srgbClr val="02BDC7"/>
          </a:solidFill>
          <a:ln w="12700">
            <a:solidFill>
              <a:srgbClr val="02BDC7"/>
            </a:solidFill>
            <a:prstDash val="solid"/>
          </a:ln>
        </p:spPr>
      </p:sp>
      <p:sp>
        <p:nvSpPr>
          <p:cNvPr id="11" name="Text 8"/>
          <p:cNvSpPr/>
          <p:nvPr/>
        </p:nvSpPr>
        <p:spPr>
          <a:xfrm>
            <a:off x="1005840" y="2331720"/>
            <a:ext cx="731520" cy="731520"/>
          </a:xfrm>
          <a:prstGeom prst="rect">
            <a:avLst/>
          </a:prstGeom>
          <a:noFill/>
          <a:ln/>
        </p:spPr>
        <p:txBody>
          <a:bodyPr wrap="square" lIns="0" tIns="0" rIns="0" bIns="0" rtlCol="0" anchor="ctr"/>
          <a:lstStyle/>
          <a:p>
            <a:pPr algn="ctr" indent="0" marL="0">
              <a:buNone/>
            </a:pPr>
            <a:r>
              <a:rPr lang="en-US" sz="3000" b="1" dirty="0">
                <a:solidFill>
                  <a:srgbClr val="FFFEFA"/>
                </a:solidFill>
                <a:latin typeface="Georgia" pitchFamily="34" charset="0"/>
                <a:ea typeface="Georgia" pitchFamily="34" charset="-122"/>
                <a:cs typeface="Georgia" pitchFamily="34" charset="-120"/>
              </a:rPr>
              <a:t>1</a:t>
            </a:r>
            <a:endParaRPr lang="en-US" sz="3000" dirty="0"/>
          </a:p>
        </p:txBody>
      </p:sp>
      <p:sp>
        <p:nvSpPr>
          <p:cNvPr id="12" name="Text 9"/>
          <p:cNvSpPr/>
          <p:nvPr/>
        </p:nvSpPr>
        <p:spPr>
          <a:xfrm>
            <a:off x="1005840" y="3246120"/>
            <a:ext cx="2753258" cy="2286000"/>
          </a:xfrm>
          <a:prstGeom prst="rect">
            <a:avLst/>
          </a:prstGeom>
          <a:noFill/>
          <a:ln/>
        </p:spPr>
        <p:txBody>
          <a:bodyPr wrap="square" lIns="0" tIns="0" rIns="0" bIns="0" rtlCol="0" anchor="t"/>
          <a:lstStyle/>
          <a:p>
            <a:pPr indent="0" marL="0">
              <a:buNone/>
            </a:pPr>
            <a:r>
              <a:rPr lang="en-US" sz="2600" dirty="0">
                <a:solidFill>
                  <a:srgbClr val="3C3828"/>
                </a:solidFill>
                <a:latin typeface="Calibri" pitchFamily="34" charset="0"/>
                <a:ea typeface="Calibri" pitchFamily="34" charset="-122"/>
                <a:cs typeface="Calibri" pitchFamily="34" charset="-120"/>
              </a:rPr>
              <a:t>What do you like about this essay?</a:t>
            </a:r>
            <a:endParaRPr lang="en-US" sz="2600" dirty="0"/>
          </a:p>
        </p:txBody>
      </p:sp>
      <p:sp>
        <p:nvSpPr>
          <p:cNvPr id="13" name="Shape 10"/>
          <p:cNvSpPr/>
          <p:nvPr/>
        </p:nvSpPr>
        <p:spPr>
          <a:xfrm>
            <a:off x="4399178" y="1965960"/>
            <a:ext cx="3393338" cy="3749040"/>
          </a:xfrm>
          <a:prstGeom prst="roundRect">
            <a:avLst>
              <a:gd name="adj" fmla="val 3773"/>
            </a:avLst>
          </a:prstGeom>
          <a:solidFill>
            <a:srgbClr val="FFFEFA"/>
          </a:solidFill>
          <a:ln w="9525">
            <a:solidFill>
              <a:srgbClr val="D6D4CC"/>
            </a:solidFill>
            <a:prstDash val="solid"/>
          </a:ln>
          <a:effectLst>
            <a:outerShdw sx="100000" sy="100000" kx="0" ky="0" algn="bl" rotWithShape="0" blurRad="127000" dist="38100" dir="5400000">
              <a:srgbClr val="3C3828">
                <a:alpha val="12000"/>
              </a:srgbClr>
            </a:outerShdw>
          </a:effectLst>
        </p:spPr>
      </p:sp>
      <p:sp>
        <p:nvSpPr>
          <p:cNvPr id="14" name="Shape 11"/>
          <p:cNvSpPr/>
          <p:nvPr/>
        </p:nvSpPr>
        <p:spPr>
          <a:xfrm>
            <a:off x="4527194" y="1965960"/>
            <a:ext cx="3137306" cy="91440"/>
          </a:xfrm>
          <a:prstGeom prst="rect">
            <a:avLst/>
          </a:prstGeom>
          <a:solidFill>
            <a:srgbClr val="FFB600"/>
          </a:solidFill>
          <a:ln w="12700">
            <a:solidFill>
              <a:srgbClr val="FFB600"/>
            </a:solidFill>
            <a:prstDash val="solid"/>
          </a:ln>
        </p:spPr>
      </p:sp>
      <p:sp>
        <p:nvSpPr>
          <p:cNvPr id="15" name="Shape 12"/>
          <p:cNvSpPr/>
          <p:nvPr/>
        </p:nvSpPr>
        <p:spPr>
          <a:xfrm>
            <a:off x="4719218" y="2331720"/>
            <a:ext cx="731520" cy="731520"/>
          </a:xfrm>
          <a:prstGeom prst="ellipse">
            <a:avLst/>
          </a:prstGeom>
          <a:solidFill>
            <a:srgbClr val="FFB600"/>
          </a:solidFill>
          <a:ln w="12700">
            <a:solidFill>
              <a:srgbClr val="FFB600"/>
            </a:solidFill>
            <a:prstDash val="solid"/>
          </a:ln>
        </p:spPr>
      </p:sp>
      <p:sp>
        <p:nvSpPr>
          <p:cNvPr id="16" name="Text 13"/>
          <p:cNvSpPr/>
          <p:nvPr/>
        </p:nvSpPr>
        <p:spPr>
          <a:xfrm>
            <a:off x="4719218" y="2331720"/>
            <a:ext cx="731520" cy="731520"/>
          </a:xfrm>
          <a:prstGeom prst="rect">
            <a:avLst/>
          </a:prstGeom>
          <a:noFill/>
          <a:ln/>
        </p:spPr>
        <p:txBody>
          <a:bodyPr wrap="square" lIns="0" tIns="0" rIns="0" bIns="0" rtlCol="0" anchor="ctr"/>
          <a:lstStyle/>
          <a:p>
            <a:pPr algn="ctr" indent="0" marL="0">
              <a:buNone/>
            </a:pPr>
            <a:r>
              <a:rPr lang="en-US" sz="3000" b="1" dirty="0">
                <a:solidFill>
                  <a:srgbClr val="FFFEFA"/>
                </a:solidFill>
                <a:latin typeface="Georgia" pitchFamily="34" charset="0"/>
                <a:ea typeface="Georgia" pitchFamily="34" charset="-122"/>
                <a:cs typeface="Georgia" pitchFamily="34" charset="-120"/>
              </a:rPr>
              <a:t>2</a:t>
            </a:r>
            <a:endParaRPr lang="en-US" sz="3000" dirty="0"/>
          </a:p>
        </p:txBody>
      </p:sp>
      <p:sp>
        <p:nvSpPr>
          <p:cNvPr id="17" name="Text 14"/>
          <p:cNvSpPr/>
          <p:nvPr/>
        </p:nvSpPr>
        <p:spPr>
          <a:xfrm>
            <a:off x="4719218" y="3246120"/>
            <a:ext cx="2753258" cy="2286000"/>
          </a:xfrm>
          <a:prstGeom prst="rect">
            <a:avLst/>
          </a:prstGeom>
          <a:noFill/>
          <a:ln/>
        </p:spPr>
        <p:txBody>
          <a:bodyPr wrap="square" lIns="0" tIns="0" rIns="0" bIns="0" rtlCol="0" anchor="t"/>
          <a:lstStyle/>
          <a:p>
            <a:pPr indent="0" marL="0">
              <a:buNone/>
            </a:pPr>
            <a:r>
              <a:rPr lang="en-US" sz="2600" dirty="0">
                <a:solidFill>
                  <a:srgbClr val="3C3828"/>
                </a:solidFill>
                <a:latin typeface="Calibri" pitchFamily="34" charset="0"/>
                <a:ea typeface="Calibri" pitchFamily="34" charset="-122"/>
                <a:cs typeface="Calibri" pitchFamily="34" charset="-120"/>
              </a:rPr>
              <a:t>Do you agree with the writer?</a:t>
            </a:r>
            <a:endParaRPr lang="en-US" sz="2600" dirty="0"/>
          </a:p>
        </p:txBody>
      </p:sp>
      <p:sp>
        <p:nvSpPr>
          <p:cNvPr id="18" name="Shape 15"/>
          <p:cNvSpPr/>
          <p:nvPr/>
        </p:nvSpPr>
        <p:spPr>
          <a:xfrm>
            <a:off x="8112557" y="1965960"/>
            <a:ext cx="3393338" cy="3749040"/>
          </a:xfrm>
          <a:prstGeom prst="roundRect">
            <a:avLst>
              <a:gd name="adj" fmla="val 3773"/>
            </a:avLst>
          </a:prstGeom>
          <a:solidFill>
            <a:srgbClr val="FFFEFA"/>
          </a:solidFill>
          <a:ln w="9525">
            <a:solidFill>
              <a:srgbClr val="D6D4CC"/>
            </a:solidFill>
            <a:prstDash val="solid"/>
          </a:ln>
          <a:effectLst>
            <a:outerShdw sx="100000" sy="100000" kx="0" ky="0" algn="bl" rotWithShape="0" blurRad="127000" dist="38100" dir="5400000">
              <a:srgbClr val="3C3828">
                <a:alpha val="12000"/>
              </a:srgbClr>
            </a:outerShdw>
          </a:effectLst>
        </p:spPr>
      </p:sp>
      <p:sp>
        <p:nvSpPr>
          <p:cNvPr id="19" name="Shape 16"/>
          <p:cNvSpPr/>
          <p:nvPr/>
        </p:nvSpPr>
        <p:spPr>
          <a:xfrm>
            <a:off x="8240573" y="1965960"/>
            <a:ext cx="3137306" cy="91440"/>
          </a:xfrm>
          <a:prstGeom prst="rect">
            <a:avLst/>
          </a:prstGeom>
          <a:solidFill>
            <a:srgbClr val="FC4540"/>
          </a:solidFill>
          <a:ln w="12700">
            <a:solidFill>
              <a:srgbClr val="FC4540"/>
            </a:solidFill>
            <a:prstDash val="solid"/>
          </a:ln>
        </p:spPr>
      </p:sp>
      <p:sp>
        <p:nvSpPr>
          <p:cNvPr id="20" name="Shape 17"/>
          <p:cNvSpPr/>
          <p:nvPr/>
        </p:nvSpPr>
        <p:spPr>
          <a:xfrm>
            <a:off x="8432597" y="2331720"/>
            <a:ext cx="731520" cy="731520"/>
          </a:xfrm>
          <a:prstGeom prst="ellipse">
            <a:avLst/>
          </a:prstGeom>
          <a:solidFill>
            <a:srgbClr val="FC4540"/>
          </a:solidFill>
          <a:ln w="12700">
            <a:solidFill>
              <a:srgbClr val="FC4540"/>
            </a:solidFill>
            <a:prstDash val="solid"/>
          </a:ln>
        </p:spPr>
      </p:sp>
      <p:sp>
        <p:nvSpPr>
          <p:cNvPr id="21" name="Text 18"/>
          <p:cNvSpPr/>
          <p:nvPr/>
        </p:nvSpPr>
        <p:spPr>
          <a:xfrm>
            <a:off x="8432597" y="2331720"/>
            <a:ext cx="731520" cy="731520"/>
          </a:xfrm>
          <a:prstGeom prst="rect">
            <a:avLst/>
          </a:prstGeom>
          <a:noFill/>
          <a:ln/>
        </p:spPr>
        <p:txBody>
          <a:bodyPr wrap="square" lIns="0" tIns="0" rIns="0" bIns="0" rtlCol="0" anchor="ctr"/>
          <a:lstStyle/>
          <a:p>
            <a:pPr algn="ctr" indent="0" marL="0">
              <a:buNone/>
            </a:pPr>
            <a:r>
              <a:rPr lang="en-US" sz="3000" b="1" dirty="0">
                <a:solidFill>
                  <a:srgbClr val="FFFEFA"/>
                </a:solidFill>
                <a:latin typeface="Georgia" pitchFamily="34" charset="0"/>
                <a:ea typeface="Georgia" pitchFamily="34" charset="-122"/>
                <a:cs typeface="Georgia" pitchFamily="34" charset="-120"/>
              </a:rPr>
              <a:t>3</a:t>
            </a:r>
            <a:endParaRPr lang="en-US" sz="3000" dirty="0"/>
          </a:p>
        </p:txBody>
      </p:sp>
      <p:sp>
        <p:nvSpPr>
          <p:cNvPr id="22" name="Text 19"/>
          <p:cNvSpPr/>
          <p:nvPr/>
        </p:nvSpPr>
        <p:spPr>
          <a:xfrm>
            <a:off x="8432597" y="3246120"/>
            <a:ext cx="2753258" cy="2286000"/>
          </a:xfrm>
          <a:prstGeom prst="rect">
            <a:avLst/>
          </a:prstGeom>
          <a:noFill/>
          <a:ln/>
        </p:spPr>
        <p:txBody>
          <a:bodyPr wrap="square" lIns="0" tIns="0" rIns="0" bIns="0" rtlCol="0" anchor="t"/>
          <a:lstStyle/>
          <a:p>
            <a:pPr indent="0" marL="0">
              <a:buNone/>
            </a:pPr>
            <a:r>
              <a:rPr lang="en-US" sz="2600" dirty="0">
                <a:solidFill>
                  <a:srgbClr val="3C3828"/>
                </a:solidFill>
                <a:latin typeface="Calibri" pitchFamily="34" charset="0"/>
                <a:ea typeface="Calibri" pitchFamily="34" charset="-122"/>
                <a:cs typeface="Calibri" pitchFamily="34" charset="-120"/>
              </a:rPr>
              <a:t>What is the </a:t>
            </a:r>
            <a:r>
              <a:rPr lang="en-US" sz="2600" dirty="0">
                <a:solidFill>
                  <a:srgbClr val="3C3828"/>
                </a:solidFill>
                <a:highlight>
                  <a:srgbClr val="FFE14D"/>
                </a:highlight>
                <a:latin typeface="Calibri" pitchFamily="34" charset="0"/>
                <a:ea typeface="Calibri" pitchFamily="34" charset="-122"/>
                <a:cs typeface="Calibri" pitchFamily="34" charset="-120"/>
              </a:rPr>
              <a:t>main point or argument?</a:t>
            </a:r>
            <a:endParaRPr lang="en-US" sz="2600" dirty="0"/>
          </a:p>
        </p:txBody>
      </p:sp>
      <p:sp>
        <p:nvSpPr>
          <p:cNvPr id="25" name="Slide Number Placeholder 0"/>
          <p:cNvSpPr>
            <a:spLocks noGrp="1"/>
          </p:cNvSpPr>
          <p:nvPr>
            <p:ph type="sldNum" sz="quarter" idx="4294967295"/>
          </p:nvPr>
        </p:nvSpPr>
        <p:spPr>
          <a:xfrm>
            <a:off x="10957255"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7E7C78"/>
                </a:solidFill>
                <a:latin typeface="Consolas"/>
                <a:ea typeface="Consolas"/>
                <a:cs typeface="Consolas"/>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685800" y="502920"/>
            <a:ext cx="9357055" cy="320040"/>
          </a:xfrm>
          <a:prstGeom prst="rect">
            <a:avLst/>
          </a:prstGeom>
          <a:noFill/>
          <a:ln/>
        </p:spPr>
        <p:txBody>
          <a:bodyPr wrap="square" lIns="0" tIns="0" rIns="0" bIns="0" rtlCol="0" anchor="b"/>
          <a:lstStyle/>
          <a:p>
            <a:pPr indent="0" marL="0">
              <a:buNone/>
            </a:pPr>
            <a:r>
              <a:rPr lang="en-US" sz="1200" b="1" spc="200" kern="0" dirty="0">
                <a:solidFill>
                  <a:srgbClr val="02BDC7"/>
                </a:solidFill>
                <a:latin typeface="Consolas" pitchFamily="34" charset="0"/>
                <a:ea typeface="Consolas" pitchFamily="34" charset="-122"/>
                <a:cs typeface="Consolas" pitchFamily="34" charset="-120"/>
              </a:rPr>
              <a:t>THE FORM</a:t>
            </a:r>
            <a:endParaRPr lang="en-US" sz="1200" dirty="0"/>
          </a:p>
        </p:txBody>
      </p:sp>
      <p:sp>
        <p:nvSpPr>
          <p:cNvPr id="3" name="Text 1"/>
          <p:cNvSpPr/>
          <p:nvPr/>
        </p:nvSpPr>
        <p:spPr>
          <a:xfrm>
            <a:off x="685800" y="868680"/>
            <a:ext cx="9357055" cy="960120"/>
          </a:xfrm>
          <a:prstGeom prst="rect">
            <a:avLst/>
          </a:prstGeom>
          <a:noFill/>
          <a:ln/>
        </p:spPr>
        <p:txBody>
          <a:bodyPr wrap="square" lIns="0" tIns="0" rIns="0" bIns="0" rtlCol="0" anchor="t"/>
          <a:lstStyle/>
          <a:p>
            <a:pPr indent="0" marL="0">
              <a:buNone/>
            </a:pPr>
            <a:r>
              <a:rPr lang="en-US" sz="3600" dirty="0">
                <a:solidFill>
                  <a:srgbClr val="3C3828"/>
                </a:solidFill>
                <a:latin typeface="Georgia" pitchFamily="34" charset="0"/>
                <a:ea typeface="Georgia" pitchFamily="34" charset="-122"/>
                <a:cs typeface="Georgia" pitchFamily="34" charset="-120"/>
              </a:rPr>
              <a:t>The Critical Essay Form</a:t>
            </a:r>
            <a:endParaRPr lang="en-US" sz="3600" dirty="0"/>
          </a:p>
        </p:txBody>
      </p:sp>
      <p:sp>
        <p:nvSpPr>
          <p:cNvPr id="4" name="Shape 2"/>
          <p:cNvSpPr/>
          <p:nvPr/>
        </p:nvSpPr>
        <p:spPr>
          <a:xfrm>
            <a:off x="685800" y="1828800"/>
            <a:ext cx="3355277" cy="4343400"/>
          </a:xfrm>
          <a:prstGeom prst="roundRect">
            <a:avLst>
              <a:gd name="adj" fmla="val 3815"/>
            </a:avLst>
          </a:prstGeom>
          <a:solidFill>
            <a:srgbClr val="FFFEFA"/>
          </a:solidFill>
          <a:ln w="9525">
            <a:solidFill>
              <a:srgbClr val="D6D4CC"/>
            </a:solidFill>
            <a:prstDash val="solid"/>
          </a:ln>
          <a:effectLst>
            <a:outerShdw sx="100000" sy="100000" kx="0" ky="0" algn="bl" rotWithShape="0" blurRad="127000" dist="38100" dir="5400000">
              <a:srgbClr val="3C3828">
                <a:alpha val="12000"/>
              </a:srgbClr>
            </a:outerShdw>
          </a:effectLst>
        </p:spPr>
      </p:sp>
      <p:pic>
        <p:nvPicPr>
          <p:cNvPr id="5" name="Image 0" descr="The critical essay form: introduction, body paragraphs and conclusion.">    </p:cNvPr>
          <p:cNvPicPr>
            <a:picLocks noChangeAspect="1"/>
          </p:cNvPicPr>
          <p:nvPr/>
        </p:nvPicPr>
        <p:blipFill>
          <a:blip r:embed="rId1"/>
          <a:stretch>
            <a:fillRect/>
          </a:stretch>
        </p:blipFill>
        <p:spPr>
          <a:xfrm>
            <a:off x="813816" y="1956816"/>
            <a:ext cx="3099245" cy="4087368"/>
          </a:xfrm>
          <a:prstGeom prst="rect">
            <a:avLst/>
          </a:prstGeom>
        </p:spPr>
      </p:pic>
      <p:sp>
        <p:nvSpPr>
          <p:cNvPr id="6" name="Shape 3"/>
          <p:cNvSpPr/>
          <p:nvPr/>
        </p:nvSpPr>
        <p:spPr>
          <a:xfrm>
            <a:off x="4589717" y="2505456"/>
            <a:ext cx="292608" cy="292608"/>
          </a:xfrm>
          <a:prstGeom prst="ellipse">
            <a:avLst/>
          </a:prstGeom>
          <a:solidFill>
            <a:srgbClr val="02BDC7"/>
          </a:solidFill>
          <a:ln w="12700">
            <a:solidFill>
              <a:srgbClr val="02BDC7"/>
            </a:solidFill>
            <a:prstDash val="solid"/>
          </a:ln>
        </p:spPr>
      </p:sp>
      <p:sp>
        <p:nvSpPr>
          <p:cNvPr id="7" name="Text 4"/>
          <p:cNvSpPr/>
          <p:nvPr/>
        </p:nvSpPr>
        <p:spPr>
          <a:xfrm>
            <a:off x="5065205" y="2194560"/>
            <a:ext cx="6440691" cy="914400"/>
          </a:xfrm>
          <a:prstGeom prst="rect">
            <a:avLst/>
          </a:prstGeom>
          <a:noFill/>
          <a:ln/>
        </p:spPr>
        <p:txBody>
          <a:bodyPr wrap="square" lIns="0" tIns="0" rIns="0" bIns="0" rtlCol="0" anchor="ctr"/>
          <a:lstStyle/>
          <a:p>
            <a:pPr indent="0" marL="0">
              <a:buNone/>
            </a:pPr>
            <a:r>
              <a:rPr lang="en-US" sz="2400" dirty="0">
                <a:solidFill>
                  <a:srgbClr val="3C3828"/>
                </a:solidFill>
                <a:latin typeface="Calibri" pitchFamily="34" charset="0"/>
                <a:ea typeface="Calibri" pitchFamily="34" charset="-122"/>
                <a:cs typeface="Calibri" pitchFamily="34" charset="-120"/>
              </a:rPr>
              <a:t>Introduction</a:t>
            </a:r>
            <a:endParaRPr lang="en-US" sz="2400" dirty="0"/>
          </a:p>
        </p:txBody>
      </p:sp>
      <p:sp>
        <p:nvSpPr>
          <p:cNvPr id="8" name="Shape 5"/>
          <p:cNvSpPr/>
          <p:nvPr/>
        </p:nvSpPr>
        <p:spPr>
          <a:xfrm>
            <a:off x="4589717" y="3419856"/>
            <a:ext cx="292608" cy="292608"/>
          </a:xfrm>
          <a:prstGeom prst="ellipse">
            <a:avLst/>
          </a:prstGeom>
          <a:solidFill>
            <a:srgbClr val="FFB600"/>
          </a:solidFill>
          <a:ln w="12700">
            <a:solidFill>
              <a:srgbClr val="FFB600"/>
            </a:solidFill>
            <a:prstDash val="solid"/>
          </a:ln>
        </p:spPr>
      </p:sp>
      <p:sp>
        <p:nvSpPr>
          <p:cNvPr id="9" name="Text 6"/>
          <p:cNvSpPr/>
          <p:nvPr/>
        </p:nvSpPr>
        <p:spPr>
          <a:xfrm>
            <a:off x="5065205" y="3108960"/>
            <a:ext cx="6440691" cy="914400"/>
          </a:xfrm>
          <a:prstGeom prst="rect">
            <a:avLst/>
          </a:prstGeom>
          <a:noFill/>
          <a:ln/>
        </p:spPr>
        <p:txBody>
          <a:bodyPr wrap="square" lIns="0" tIns="0" rIns="0" bIns="0" rtlCol="0" anchor="ctr"/>
          <a:lstStyle/>
          <a:p>
            <a:pPr indent="0" marL="0">
              <a:buNone/>
            </a:pPr>
            <a:r>
              <a:rPr lang="en-US" sz="2400" dirty="0">
                <a:solidFill>
                  <a:srgbClr val="3C3828"/>
                </a:solidFill>
                <a:highlight>
                  <a:srgbClr val="FFE14D"/>
                </a:highlight>
                <a:latin typeface="Calibri" pitchFamily="34" charset="0"/>
                <a:ea typeface="Calibri" pitchFamily="34" charset="-122"/>
                <a:cs typeface="Calibri" pitchFamily="34" charset="-120"/>
              </a:rPr>
              <a:t>Thesis statement</a:t>
            </a:r>
            <a:r>
              <a:rPr lang="en-US" sz="2400" dirty="0">
                <a:solidFill>
                  <a:srgbClr val="3C3828"/>
                </a:solidFill>
                <a:latin typeface="Calibri" pitchFamily="34" charset="0"/>
                <a:ea typeface="Calibri" pitchFamily="34" charset="-122"/>
                <a:cs typeface="Calibri" pitchFamily="34" charset="-120"/>
              </a:rPr>
              <a:t> ★ the sentence you just underlined</a:t>
            </a:r>
            <a:endParaRPr lang="en-US" sz="2400" dirty="0"/>
          </a:p>
        </p:txBody>
      </p:sp>
      <p:sp>
        <p:nvSpPr>
          <p:cNvPr id="10" name="Shape 7"/>
          <p:cNvSpPr/>
          <p:nvPr/>
        </p:nvSpPr>
        <p:spPr>
          <a:xfrm>
            <a:off x="4589717" y="4334256"/>
            <a:ext cx="292608" cy="292608"/>
          </a:xfrm>
          <a:prstGeom prst="ellipse">
            <a:avLst/>
          </a:prstGeom>
          <a:solidFill>
            <a:srgbClr val="FC4540"/>
          </a:solidFill>
          <a:ln w="12700">
            <a:solidFill>
              <a:srgbClr val="FC4540"/>
            </a:solidFill>
            <a:prstDash val="solid"/>
          </a:ln>
        </p:spPr>
      </p:sp>
      <p:sp>
        <p:nvSpPr>
          <p:cNvPr id="11" name="Text 8"/>
          <p:cNvSpPr/>
          <p:nvPr/>
        </p:nvSpPr>
        <p:spPr>
          <a:xfrm>
            <a:off x="5065205" y="4023360"/>
            <a:ext cx="6440691" cy="914400"/>
          </a:xfrm>
          <a:prstGeom prst="rect">
            <a:avLst/>
          </a:prstGeom>
          <a:noFill/>
          <a:ln/>
        </p:spPr>
        <p:txBody>
          <a:bodyPr wrap="square" lIns="0" tIns="0" rIns="0" bIns="0" rtlCol="0" anchor="ctr"/>
          <a:lstStyle/>
          <a:p>
            <a:pPr indent="0" marL="0">
              <a:buNone/>
            </a:pPr>
            <a:r>
              <a:rPr lang="en-US" sz="2400" dirty="0">
                <a:solidFill>
                  <a:srgbClr val="3C3828"/>
                </a:solidFill>
                <a:latin typeface="Calibri" pitchFamily="34" charset="0"/>
                <a:ea typeface="Calibri" pitchFamily="34" charset="-122"/>
                <a:cs typeface="Calibri" pitchFamily="34" charset="-120"/>
              </a:rPr>
              <a:t>Body paragraphs</a:t>
            </a:r>
            <a:endParaRPr lang="en-US" sz="2400" dirty="0"/>
          </a:p>
        </p:txBody>
      </p:sp>
      <p:sp>
        <p:nvSpPr>
          <p:cNvPr id="12" name="Shape 9"/>
          <p:cNvSpPr/>
          <p:nvPr/>
        </p:nvSpPr>
        <p:spPr>
          <a:xfrm>
            <a:off x="4589717" y="5248656"/>
            <a:ext cx="292608" cy="292608"/>
          </a:xfrm>
          <a:prstGeom prst="ellipse">
            <a:avLst/>
          </a:prstGeom>
          <a:solidFill>
            <a:srgbClr val="FF9755"/>
          </a:solidFill>
          <a:ln w="12700">
            <a:solidFill>
              <a:srgbClr val="FF9755"/>
            </a:solidFill>
            <a:prstDash val="solid"/>
          </a:ln>
        </p:spPr>
      </p:sp>
      <p:sp>
        <p:nvSpPr>
          <p:cNvPr id="13" name="Text 10"/>
          <p:cNvSpPr/>
          <p:nvPr/>
        </p:nvSpPr>
        <p:spPr>
          <a:xfrm>
            <a:off x="5065205" y="4937760"/>
            <a:ext cx="6440691" cy="914400"/>
          </a:xfrm>
          <a:prstGeom prst="rect">
            <a:avLst/>
          </a:prstGeom>
          <a:noFill/>
          <a:ln/>
        </p:spPr>
        <p:txBody>
          <a:bodyPr wrap="square" lIns="0" tIns="0" rIns="0" bIns="0" rtlCol="0" anchor="ctr"/>
          <a:lstStyle/>
          <a:p>
            <a:pPr indent="0" marL="0">
              <a:buNone/>
            </a:pPr>
            <a:r>
              <a:rPr lang="en-US" sz="2400" dirty="0">
                <a:solidFill>
                  <a:srgbClr val="3C3828"/>
                </a:solidFill>
                <a:latin typeface="Calibri" pitchFamily="34" charset="0"/>
                <a:ea typeface="Calibri" pitchFamily="34" charset="-122"/>
                <a:cs typeface="Calibri" pitchFamily="34" charset="-120"/>
              </a:rPr>
              <a:t>Conclusion</a:t>
            </a:r>
            <a:endParaRPr lang="en-US" sz="2400" dirty="0"/>
          </a:p>
        </p:txBody>
      </p:sp>
      <p:sp>
        <p:nvSpPr>
          <p:cNvPr id="25" name="Slide Number Placeholder 0"/>
          <p:cNvSpPr>
            <a:spLocks noGrp="1"/>
          </p:cNvSpPr>
          <p:nvPr>
            <p:ph type="sldNum" sz="quarter" idx="4294967295"/>
          </p:nvPr>
        </p:nvSpPr>
        <p:spPr>
          <a:xfrm>
            <a:off x="10957255"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7E7C78"/>
                </a:solidFill>
                <a:latin typeface="Consolas"/>
                <a:ea typeface="Consolas"/>
                <a:cs typeface="Consolas"/>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685800" y="502920"/>
            <a:ext cx="9357055" cy="320040"/>
          </a:xfrm>
          <a:prstGeom prst="rect">
            <a:avLst/>
          </a:prstGeom>
          <a:noFill/>
          <a:ln/>
        </p:spPr>
        <p:txBody>
          <a:bodyPr wrap="square" lIns="0" tIns="0" rIns="0" bIns="0" rtlCol="0" anchor="b"/>
          <a:lstStyle/>
          <a:p>
            <a:pPr indent="0" marL="0">
              <a:buNone/>
            </a:pPr>
            <a:r>
              <a:rPr lang="en-US" sz="1200" b="1" spc="200" kern="0" dirty="0">
                <a:solidFill>
                  <a:srgbClr val="FF9755"/>
                </a:solidFill>
                <a:latin typeface="Consolas" pitchFamily="34" charset="0"/>
                <a:ea typeface="Consolas" pitchFamily="34" charset="-122"/>
                <a:cs typeface="Consolas" pitchFamily="34" charset="-120"/>
              </a:rPr>
              <a:t>WHY WE’RE HERE</a:t>
            </a:r>
            <a:endParaRPr lang="en-US" sz="1200" dirty="0"/>
          </a:p>
        </p:txBody>
      </p:sp>
      <p:sp>
        <p:nvSpPr>
          <p:cNvPr id="3" name="Text 1"/>
          <p:cNvSpPr/>
          <p:nvPr/>
        </p:nvSpPr>
        <p:spPr>
          <a:xfrm>
            <a:off x="685800" y="868680"/>
            <a:ext cx="9357055" cy="960120"/>
          </a:xfrm>
          <a:prstGeom prst="rect">
            <a:avLst/>
          </a:prstGeom>
          <a:noFill/>
          <a:ln/>
        </p:spPr>
        <p:txBody>
          <a:bodyPr wrap="square" lIns="0" tIns="0" rIns="0" bIns="0" rtlCol="0" anchor="t"/>
          <a:lstStyle/>
          <a:p>
            <a:pPr indent="0" marL="0">
              <a:buNone/>
            </a:pPr>
            <a:r>
              <a:rPr lang="en-US" sz="3600" dirty="0">
                <a:solidFill>
                  <a:srgbClr val="3C3828"/>
                </a:solidFill>
                <a:latin typeface="Georgia" pitchFamily="34" charset="0"/>
                <a:ea typeface="Georgia" pitchFamily="34" charset="-122"/>
                <a:cs typeface="Georgia" pitchFamily="34" charset="-120"/>
              </a:rPr>
              <a:t>What are we doing here?</a:t>
            </a:r>
            <a:endParaRPr lang="en-US" sz="3600" dirty="0"/>
          </a:p>
        </p:txBody>
      </p:sp>
      <p:sp>
        <p:nvSpPr>
          <p:cNvPr id="4" name="Shape 2"/>
          <p:cNvSpPr/>
          <p:nvPr/>
        </p:nvSpPr>
        <p:spPr>
          <a:xfrm>
            <a:off x="10637215" y="457200"/>
            <a:ext cx="868680" cy="868680"/>
          </a:xfrm>
          <a:prstGeom prst="ellipse">
            <a:avLst/>
          </a:prstGeom>
          <a:solidFill>
            <a:srgbClr val="FF9755"/>
          </a:solidFill>
          <a:ln w="12700">
            <a:solidFill>
              <a:srgbClr val="FF9755"/>
            </a:solidFill>
            <a:prstDash val="solid"/>
          </a:ln>
        </p:spPr>
      </p:sp>
      <p:pic>
        <p:nvPicPr>
          <p:cNvPr id="5" name="Image 0" descr="pencil icon">    </p:cNvPr>
          <p:cNvPicPr>
            <a:picLocks noChangeAspect="1"/>
          </p:cNvPicPr>
          <p:nvPr/>
        </p:nvPicPr>
        <p:blipFill>
          <a:blip r:embed="rId1"/>
          <a:stretch>
            <a:fillRect/>
          </a:stretch>
        </p:blipFill>
        <p:spPr>
          <a:xfrm>
            <a:off x="10810951" y="630936"/>
            <a:ext cx="521208" cy="521208"/>
          </a:xfrm>
          <a:prstGeom prst="rect">
            <a:avLst/>
          </a:prstGeom>
        </p:spPr>
      </p:pic>
      <p:sp>
        <p:nvSpPr>
          <p:cNvPr id="6" name="Shape 3"/>
          <p:cNvSpPr/>
          <p:nvPr/>
        </p:nvSpPr>
        <p:spPr>
          <a:xfrm>
            <a:off x="10344607" y="530352"/>
            <a:ext cx="182880" cy="182880"/>
          </a:xfrm>
          <a:prstGeom prst="ellipse">
            <a:avLst/>
          </a:prstGeom>
          <a:solidFill>
            <a:srgbClr val="02BDC7"/>
          </a:solidFill>
          <a:ln w="12700">
            <a:solidFill>
              <a:srgbClr val="02BDC7"/>
            </a:solidFill>
            <a:prstDash val="solid"/>
          </a:ln>
        </p:spPr>
      </p:sp>
      <p:sp>
        <p:nvSpPr>
          <p:cNvPr id="7" name="Shape 4"/>
          <p:cNvSpPr/>
          <p:nvPr/>
        </p:nvSpPr>
        <p:spPr>
          <a:xfrm>
            <a:off x="11460175" y="1307592"/>
            <a:ext cx="128016" cy="128016"/>
          </a:xfrm>
          <a:prstGeom prst="ellipse">
            <a:avLst/>
          </a:prstGeom>
          <a:solidFill>
            <a:srgbClr val="FFB600"/>
          </a:solidFill>
          <a:ln w="12700">
            <a:solidFill>
              <a:srgbClr val="FFB600"/>
            </a:solidFill>
            <a:prstDash val="solid"/>
          </a:ln>
        </p:spPr>
      </p:sp>
      <p:sp>
        <p:nvSpPr>
          <p:cNvPr id="8" name="Text 5"/>
          <p:cNvSpPr/>
          <p:nvPr/>
        </p:nvSpPr>
        <p:spPr>
          <a:xfrm>
            <a:off x="685800" y="1920240"/>
            <a:ext cx="10820095" cy="868680"/>
          </a:xfrm>
          <a:prstGeom prst="rect">
            <a:avLst/>
          </a:prstGeom>
          <a:noFill/>
          <a:ln/>
        </p:spPr>
        <p:txBody>
          <a:bodyPr wrap="square" lIns="0" tIns="0" rIns="0" bIns="0" rtlCol="0" anchor="t"/>
          <a:lstStyle/>
          <a:p>
            <a:pPr indent="0" marL="0">
              <a:buNone/>
            </a:pPr>
            <a:r>
              <a:rPr lang="en-US" sz="2200" dirty="0">
                <a:solidFill>
                  <a:srgbClr val="3C3828"/>
                </a:solidFill>
                <a:latin typeface="Calibri" pitchFamily="34" charset="0"/>
                <a:ea typeface="Calibri" pitchFamily="34" charset="-122"/>
                <a:cs typeface="Calibri" pitchFamily="34" charset="-120"/>
              </a:rPr>
              <a:t>Over the course of our sessions, you will learn how to write a </a:t>
            </a:r>
            <a:r>
              <a:rPr lang="en-US" sz="2200" dirty="0">
                <a:solidFill>
                  <a:srgbClr val="3C3828"/>
                </a:solidFill>
                <a:highlight>
                  <a:srgbClr val="FFE14D"/>
                </a:highlight>
                <a:latin typeface="Calibri" pitchFamily="34" charset="0"/>
                <a:ea typeface="Calibri" pitchFamily="34" charset="-122"/>
                <a:cs typeface="Calibri" pitchFamily="34" charset="-120"/>
              </a:rPr>
              <a:t>thoughtful, original, critical essay</a:t>
            </a:r>
            <a:r>
              <a:rPr lang="en-US" sz="2200" dirty="0">
                <a:solidFill>
                  <a:srgbClr val="3C3828"/>
                </a:solidFill>
                <a:latin typeface="Calibri" pitchFamily="34" charset="0"/>
                <a:ea typeface="Calibri" pitchFamily="34" charset="-122"/>
                <a:cs typeface="Calibri" pitchFamily="34" charset="-120"/>
              </a:rPr>
              <a:t> like the one we just read. To accomplish this, we will:</a:t>
            </a:r>
            <a:endParaRPr lang="en-US" sz="2200" dirty="0"/>
          </a:p>
        </p:txBody>
      </p:sp>
      <p:sp>
        <p:nvSpPr>
          <p:cNvPr id="9" name="Shape 6"/>
          <p:cNvSpPr/>
          <p:nvPr/>
        </p:nvSpPr>
        <p:spPr>
          <a:xfrm>
            <a:off x="685800" y="2971800"/>
            <a:ext cx="3393338" cy="3108960"/>
          </a:xfrm>
          <a:prstGeom prst="roundRect">
            <a:avLst>
              <a:gd name="adj" fmla="val 4118"/>
            </a:avLst>
          </a:prstGeom>
          <a:solidFill>
            <a:srgbClr val="FFFEFA"/>
          </a:solidFill>
          <a:ln w="9525">
            <a:solidFill>
              <a:srgbClr val="D6D4CC"/>
            </a:solidFill>
            <a:prstDash val="solid"/>
          </a:ln>
          <a:effectLst>
            <a:outerShdw sx="100000" sy="100000" kx="0" ky="0" algn="bl" rotWithShape="0" blurRad="127000" dist="38100" dir="5400000">
              <a:srgbClr val="3C3828">
                <a:alpha val="12000"/>
              </a:srgbClr>
            </a:outerShdw>
          </a:effectLst>
        </p:spPr>
      </p:sp>
      <p:sp>
        <p:nvSpPr>
          <p:cNvPr id="10" name="Shape 7"/>
          <p:cNvSpPr/>
          <p:nvPr/>
        </p:nvSpPr>
        <p:spPr>
          <a:xfrm>
            <a:off x="813816" y="2971800"/>
            <a:ext cx="3137306" cy="91440"/>
          </a:xfrm>
          <a:prstGeom prst="rect">
            <a:avLst/>
          </a:prstGeom>
          <a:solidFill>
            <a:srgbClr val="FF9755"/>
          </a:solidFill>
          <a:ln w="12700">
            <a:solidFill>
              <a:srgbClr val="FF9755"/>
            </a:solidFill>
            <a:prstDash val="solid"/>
          </a:ln>
        </p:spPr>
      </p:sp>
      <p:sp>
        <p:nvSpPr>
          <p:cNvPr id="11" name="Shape 8"/>
          <p:cNvSpPr/>
          <p:nvPr/>
        </p:nvSpPr>
        <p:spPr>
          <a:xfrm>
            <a:off x="1005840" y="3337560"/>
            <a:ext cx="731520" cy="731520"/>
          </a:xfrm>
          <a:prstGeom prst="ellipse">
            <a:avLst/>
          </a:prstGeom>
          <a:solidFill>
            <a:srgbClr val="FF9755"/>
          </a:solidFill>
          <a:ln w="12700">
            <a:solidFill>
              <a:srgbClr val="FF9755"/>
            </a:solidFill>
            <a:prstDash val="solid"/>
          </a:ln>
        </p:spPr>
      </p:sp>
      <p:sp>
        <p:nvSpPr>
          <p:cNvPr id="12" name="Text 9"/>
          <p:cNvSpPr/>
          <p:nvPr/>
        </p:nvSpPr>
        <p:spPr>
          <a:xfrm>
            <a:off x="1005840" y="3337560"/>
            <a:ext cx="731520" cy="731520"/>
          </a:xfrm>
          <a:prstGeom prst="rect">
            <a:avLst/>
          </a:prstGeom>
          <a:noFill/>
          <a:ln/>
        </p:spPr>
        <p:txBody>
          <a:bodyPr wrap="square" lIns="0" tIns="0" rIns="0" bIns="0" rtlCol="0" anchor="ctr"/>
          <a:lstStyle/>
          <a:p>
            <a:pPr algn="ctr" indent="0" marL="0">
              <a:buNone/>
            </a:pPr>
            <a:r>
              <a:rPr lang="en-US" sz="3000" b="1" dirty="0">
                <a:solidFill>
                  <a:srgbClr val="FFFEFA"/>
                </a:solidFill>
                <a:latin typeface="Georgia" pitchFamily="34" charset="0"/>
                <a:ea typeface="Georgia" pitchFamily="34" charset="-122"/>
                <a:cs typeface="Georgia" pitchFamily="34" charset="-120"/>
              </a:rPr>
              <a:t>1</a:t>
            </a:r>
            <a:endParaRPr lang="en-US" sz="3000" dirty="0"/>
          </a:p>
        </p:txBody>
      </p:sp>
      <p:sp>
        <p:nvSpPr>
          <p:cNvPr id="13" name="Text 10"/>
          <p:cNvSpPr/>
          <p:nvPr/>
        </p:nvSpPr>
        <p:spPr>
          <a:xfrm>
            <a:off x="1005840" y="4251960"/>
            <a:ext cx="2753258" cy="1645920"/>
          </a:xfrm>
          <a:prstGeom prst="rect">
            <a:avLst/>
          </a:prstGeom>
          <a:noFill/>
          <a:ln/>
        </p:spPr>
        <p:txBody>
          <a:bodyPr wrap="square" lIns="0" tIns="0" rIns="0" bIns="0" rtlCol="0" anchor="t"/>
          <a:lstStyle/>
          <a:p>
            <a:pPr indent="0" marL="0">
              <a:buNone/>
            </a:pPr>
            <a:r>
              <a:rPr lang="en-US" sz="2600" dirty="0">
                <a:solidFill>
                  <a:srgbClr val="3C3828"/>
                </a:solidFill>
                <a:latin typeface="Calibri" pitchFamily="34" charset="0"/>
                <a:ea typeface="Calibri" pitchFamily="34" charset="-122"/>
                <a:cs typeface="Calibri" pitchFamily="34" charset="-120"/>
              </a:rPr>
              <a:t>Analyze and discuss our opinions about the topic</a:t>
            </a:r>
            <a:endParaRPr lang="en-US" sz="2600" dirty="0"/>
          </a:p>
        </p:txBody>
      </p:sp>
      <p:sp>
        <p:nvSpPr>
          <p:cNvPr id="14" name="Shape 11"/>
          <p:cNvSpPr/>
          <p:nvPr/>
        </p:nvSpPr>
        <p:spPr>
          <a:xfrm>
            <a:off x="4399178" y="2971800"/>
            <a:ext cx="3393338" cy="3108960"/>
          </a:xfrm>
          <a:prstGeom prst="roundRect">
            <a:avLst>
              <a:gd name="adj" fmla="val 4118"/>
            </a:avLst>
          </a:prstGeom>
          <a:solidFill>
            <a:srgbClr val="FFFEFA"/>
          </a:solidFill>
          <a:ln w="9525">
            <a:solidFill>
              <a:srgbClr val="D6D4CC"/>
            </a:solidFill>
            <a:prstDash val="solid"/>
          </a:ln>
          <a:effectLst>
            <a:outerShdw sx="100000" sy="100000" kx="0" ky="0" algn="bl" rotWithShape="0" blurRad="127000" dist="38100" dir="5400000">
              <a:srgbClr val="3C3828">
                <a:alpha val="12000"/>
              </a:srgbClr>
            </a:outerShdw>
          </a:effectLst>
        </p:spPr>
      </p:sp>
      <p:sp>
        <p:nvSpPr>
          <p:cNvPr id="15" name="Shape 12"/>
          <p:cNvSpPr/>
          <p:nvPr/>
        </p:nvSpPr>
        <p:spPr>
          <a:xfrm>
            <a:off x="4527194" y="2971800"/>
            <a:ext cx="3137306" cy="91440"/>
          </a:xfrm>
          <a:prstGeom prst="rect">
            <a:avLst/>
          </a:prstGeom>
          <a:solidFill>
            <a:srgbClr val="FC4067"/>
          </a:solidFill>
          <a:ln w="12700">
            <a:solidFill>
              <a:srgbClr val="FC4067"/>
            </a:solidFill>
            <a:prstDash val="solid"/>
          </a:ln>
        </p:spPr>
      </p:sp>
      <p:sp>
        <p:nvSpPr>
          <p:cNvPr id="16" name="Shape 13"/>
          <p:cNvSpPr/>
          <p:nvPr/>
        </p:nvSpPr>
        <p:spPr>
          <a:xfrm>
            <a:off x="4719218" y="3337560"/>
            <a:ext cx="731520" cy="731520"/>
          </a:xfrm>
          <a:prstGeom prst="ellipse">
            <a:avLst/>
          </a:prstGeom>
          <a:solidFill>
            <a:srgbClr val="FC4067"/>
          </a:solidFill>
          <a:ln w="12700">
            <a:solidFill>
              <a:srgbClr val="FC4067"/>
            </a:solidFill>
            <a:prstDash val="solid"/>
          </a:ln>
        </p:spPr>
      </p:sp>
      <p:sp>
        <p:nvSpPr>
          <p:cNvPr id="17" name="Text 14"/>
          <p:cNvSpPr/>
          <p:nvPr/>
        </p:nvSpPr>
        <p:spPr>
          <a:xfrm>
            <a:off x="4719218" y="3337560"/>
            <a:ext cx="731520" cy="731520"/>
          </a:xfrm>
          <a:prstGeom prst="rect">
            <a:avLst/>
          </a:prstGeom>
          <a:noFill/>
          <a:ln/>
        </p:spPr>
        <p:txBody>
          <a:bodyPr wrap="square" lIns="0" tIns="0" rIns="0" bIns="0" rtlCol="0" anchor="ctr"/>
          <a:lstStyle/>
          <a:p>
            <a:pPr algn="ctr" indent="0" marL="0">
              <a:buNone/>
            </a:pPr>
            <a:r>
              <a:rPr lang="en-US" sz="3000" b="1" dirty="0">
                <a:solidFill>
                  <a:srgbClr val="FFFEFA"/>
                </a:solidFill>
                <a:latin typeface="Georgia" pitchFamily="34" charset="0"/>
                <a:ea typeface="Georgia" pitchFamily="34" charset="-122"/>
                <a:cs typeface="Georgia" pitchFamily="34" charset="-120"/>
              </a:rPr>
              <a:t>2</a:t>
            </a:r>
            <a:endParaRPr lang="en-US" sz="3000" dirty="0"/>
          </a:p>
        </p:txBody>
      </p:sp>
      <p:sp>
        <p:nvSpPr>
          <p:cNvPr id="18" name="Text 15"/>
          <p:cNvSpPr/>
          <p:nvPr/>
        </p:nvSpPr>
        <p:spPr>
          <a:xfrm>
            <a:off x="4719218" y="4251960"/>
            <a:ext cx="2753258" cy="1645920"/>
          </a:xfrm>
          <a:prstGeom prst="rect">
            <a:avLst/>
          </a:prstGeom>
          <a:noFill/>
          <a:ln/>
        </p:spPr>
        <p:txBody>
          <a:bodyPr wrap="square" lIns="0" tIns="0" rIns="0" bIns="0" rtlCol="0" anchor="t"/>
          <a:lstStyle/>
          <a:p>
            <a:pPr indent="0" marL="0">
              <a:buNone/>
            </a:pPr>
            <a:r>
              <a:rPr lang="en-US" sz="2600" dirty="0">
                <a:solidFill>
                  <a:srgbClr val="3C3828"/>
                </a:solidFill>
                <a:latin typeface="Calibri" pitchFamily="34" charset="0"/>
                <a:ea typeface="Calibri" pitchFamily="34" charset="-122"/>
                <a:cs typeface="Calibri" pitchFamily="34" charset="-120"/>
              </a:rPr>
              <a:t>Learn a writing process</a:t>
            </a:r>
            <a:endParaRPr lang="en-US" sz="2600" dirty="0"/>
          </a:p>
        </p:txBody>
      </p:sp>
      <p:sp>
        <p:nvSpPr>
          <p:cNvPr id="19" name="Shape 16"/>
          <p:cNvSpPr/>
          <p:nvPr/>
        </p:nvSpPr>
        <p:spPr>
          <a:xfrm>
            <a:off x="8112557" y="2971800"/>
            <a:ext cx="3393338" cy="3108960"/>
          </a:xfrm>
          <a:prstGeom prst="roundRect">
            <a:avLst>
              <a:gd name="adj" fmla="val 4118"/>
            </a:avLst>
          </a:prstGeom>
          <a:solidFill>
            <a:srgbClr val="FFFEFA"/>
          </a:solidFill>
          <a:ln w="9525">
            <a:solidFill>
              <a:srgbClr val="D6D4CC"/>
            </a:solidFill>
            <a:prstDash val="solid"/>
          </a:ln>
          <a:effectLst>
            <a:outerShdw sx="100000" sy="100000" kx="0" ky="0" algn="bl" rotWithShape="0" blurRad="127000" dist="38100" dir="5400000">
              <a:srgbClr val="3C3828">
                <a:alpha val="12000"/>
              </a:srgbClr>
            </a:outerShdw>
          </a:effectLst>
        </p:spPr>
      </p:sp>
      <p:sp>
        <p:nvSpPr>
          <p:cNvPr id="20" name="Shape 17"/>
          <p:cNvSpPr/>
          <p:nvPr/>
        </p:nvSpPr>
        <p:spPr>
          <a:xfrm>
            <a:off x="8240573" y="2971800"/>
            <a:ext cx="3137306" cy="91440"/>
          </a:xfrm>
          <a:prstGeom prst="rect">
            <a:avLst/>
          </a:prstGeom>
          <a:solidFill>
            <a:srgbClr val="02BDC7"/>
          </a:solidFill>
          <a:ln w="12700">
            <a:solidFill>
              <a:srgbClr val="02BDC7"/>
            </a:solidFill>
            <a:prstDash val="solid"/>
          </a:ln>
        </p:spPr>
      </p:sp>
      <p:sp>
        <p:nvSpPr>
          <p:cNvPr id="21" name="Shape 18"/>
          <p:cNvSpPr/>
          <p:nvPr/>
        </p:nvSpPr>
        <p:spPr>
          <a:xfrm>
            <a:off x="8432597" y="3337560"/>
            <a:ext cx="731520" cy="731520"/>
          </a:xfrm>
          <a:prstGeom prst="ellipse">
            <a:avLst/>
          </a:prstGeom>
          <a:solidFill>
            <a:srgbClr val="02BDC7"/>
          </a:solidFill>
          <a:ln w="12700">
            <a:solidFill>
              <a:srgbClr val="02BDC7"/>
            </a:solidFill>
            <a:prstDash val="solid"/>
          </a:ln>
        </p:spPr>
      </p:sp>
      <p:sp>
        <p:nvSpPr>
          <p:cNvPr id="22" name="Text 19"/>
          <p:cNvSpPr/>
          <p:nvPr/>
        </p:nvSpPr>
        <p:spPr>
          <a:xfrm>
            <a:off x="8432597" y="3337560"/>
            <a:ext cx="731520" cy="731520"/>
          </a:xfrm>
          <a:prstGeom prst="rect">
            <a:avLst/>
          </a:prstGeom>
          <a:noFill/>
          <a:ln/>
        </p:spPr>
        <p:txBody>
          <a:bodyPr wrap="square" lIns="0" tIns="0" rIns="0" bIns="0" rtlCol="0" anchor="ctr"/>
          <a:lstStyle/>
          <a:p>
            <a:pPr algn="ctr" indent="0" marL="0">
              <a:buNone/>
            </a:pPr>
            <a:r>
              <a:rPr lang="en-US" sz="3000" b="1" dirty="0">
                <a:solidFill>
                  <a:srgbClr val="FFFEFA"/>
                </a:solidFill>
                <a:latin typeface="Georgia" pitchFamily="34" charset="0"/>
                <a:ea typeface="Georgia" pitchFamily="34" charset="-122"/>
                <a:cs typeface="Georgia" pitchFamily="34" charset="-120"/>
              </a:rPr>
              <a:t>3</a:t>
            </a:r>
            <a:endParaRPr lang="en-US" sz="3000" dirty="0"/>
          </a:p>
        </p:txBody>
      </p:sp>
      <p:sp>
        <p:nvSpPr>
          <p:cNvPr id="23" name="Text 20"/>
          <p:cNvSpPr/>
          <p:nvPr/>
        </p:nvSpPr>
        <p:spPr>
          <a:xfrm>
            <a:off x="8432597" y="4251960"/>
            <a:ext cx="2753258" cy="1645920"/>
          </a:xfrm>
          <a:prstGeom prst="rect">
            <a:avLst/>
          </a:prstGeom>
          <a:noFill/>
          <a:ln/>
        </p:spPr>
        <p:txBody>
          <a:bodyPr wrap="square" lIns="0" tIns="0" rIns="0" bIns="0" rtlCol="0" anchor="t"/>
          <a:lstStyle/>
          <a:p>
            <a:pPr indent="0" marL="0">
              <a:buNone/>
            </a:pPr>
            <a:r>
              <a:rPr lang="en-US" sz="2600" dirty="0">
                <a:solidFill>
                  <a:srgbClr val="3C3828"/>
                </a:solidFill>
                <a:latin typeface="Calibri" pitchFamily="34" charset="0"/>
                <a:ea typeface="Calibri" pitchFamily="34" charset="-122"/>
                <a:cs typeface="Calibri" pitchFamily="34" charset="-120"/>
              </a:rPr>
              <a:t>Write a lot</a:t>
            </a:r>
            <a:endParaRPr lang="en-US" sz="2600" dirty="0"/>
          </a:p>
        </p:txBody>
      </p:sp>
      <p:sp>
        <p:nvSpPr>
          <p:cNvPr id="25" name="Slide Number Placeholder 0"/>
          <p:cNvSpPr>
            <a:spLocks noGrp="1"/>
          </p:cNvSpPr>
          <p:nvPr>
            <p:ph type="sldNum" sz="quarter" idx="4294967295"/>
          </p:nvPr>
        </p:nvSpPr>
        <p:spPr>
          <a:xfrm>
            <a:off x="10957255"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7E7C78"/>
                </a:solidFill>
                <a:latin typeface="Consolas"/>
                <a:ea typeface="Consolas"/>
                <a:cs typeface="Consolas"/>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685800" y="502920"/>
            <a:ext cx="9357055" cy="320040"/>
          </a:xfrm>
          <a:prstGeom prst="rect">
            <a:avLst/>
          </a:prstGeom>
          <a:noFill/>
          <a:ln/>
        </p:spPr>
        <p:txBody>
          <a:bodyPr wrap="square" lIns="0" tIns="0" rIns="0" bIns="0" rtlCol="0" anchor="b"/>
          <a:lstStyle/>
          <a:p>
            <a:pPr indent="0" marL="0">
              <a:buNone/>
            </a:pPr>
            <a:r>
              <a:rPr lang="en-US" sz="1200" b="1" spc="200" kern="0" dirty="0">
                <a:solidFill>
                  <a:srgbClr val="02BDC7"/>
                </a:solidFill>
                <a:latin typeface="Consolas" pitchFamily="34" charset="0"/>
                <a:ea typeface="Consolas" pitchFamily="34" charset="-122"/>
                <a:cs typeface="Consolas" pitchFamily="34" charset="-120"/>
              </a:rPr>
              <a:t>GET EVERYONE IN</a:t>
            </a:r>
            <a:endParaRPr lang="en-US" sz="1200" dirty="0"/>
          </a:p>
        </p:txBody>
      </p:sp>
      <p:sp>
        <p:nvSpPr>
          <p:cNvPr id="3" name="Text 1"/>
          <p:cNvSpPr/>
          <p:nvPr/>
        </p:nvSpPr>
        <p:spPr>
          <a:xfrm>
            <a:off x="685800" y="868680"/>
            <a:ext cx="9357055" cy="960120"/>
          </a:xfrm>
          <a:prstGeom prst="rect">
            <a:avLst/>
          </a:prstGeom>
          <a:noFill/>
          <a:ln/>
        </p:spPr>
        <p:txBody>
          <a:bodyPr wrap="square" lIns="0" tIns="0" rIns="0" bIns="0" rtlCol="0" anchor="t"/>
          <a:lstStyle/>
          <a:p>
            <a:pPr indent="0" marL="0">
              <a:buNone/>
            </a:pPr>
            <a:r>
              <a:rPr lang="en-US" sz="3600" dirty="0">
                <a:solidFill>
                  <a:srgbClr val="3C3828"/>
                </a:solidFill>
                <a:latin typeface="Georgia" pitchFamily="34" charset="0"/>
                <a:ea typeface="Georgia" pitchFamily="34" charset="-122"/>
                <a:cs typeface="Georgia" pitchFamily="34" charset="-120"/>
              </a:rPr>
              <a:t>Share your class’s join link</a:t>
            </a:r>
            <a:endParaRPr lang="en-US" sz="3600" dirty="0"/>
          </a:p>
        </p:txBody>
      </p:sp>
      <p:sp>
        <p:nvSpPr>
          <p:cNvPr id="4" name="Shape 2"/>
          <p:cNvSpPr/>
          <p:nvPr/>
        </p:nvSpPr>
        <p:spPr>
          <a:xfrm>
            <a:off x="10637215" y="457200"/>
            <a:ext cx="868680" cy="868680"/>
          </a:xfrm>
          <a:prstGeom prst="ellipse">
            <a:avLst/>
          </a:prstGeom>
          <a:solidFill>
            <a:srgbClr val="02BDC7"/>
          </a:solidFill>
          <a:ln w="12700">
            <a:solidFill>
              <a:srgbClr val="02BDC7"/>
            </a:solidFill>
            <a:prstDash val="solid"/>
          </a:ln>
        </p:spPr>
      </p:sp>
      <p:pic>
        <p:nvPicPr>
          <p:cNvPr id="5" name="Image 0" descr="pencil icon">    </p:cNvPr>
          <p:cNvPicPr>
            <a:picLocks noChangeAspect="1"/>
          </p:cNvPicPr>
          <p:nvPr/>
        </p:nvPicPr>
        <p:blipFill>
          <a:blip r:embed="rId1"/>
          <a:stretch>
            <a:fillRect/>
          </a:stretch>
        </p:blipFill>
        <p:spPr>
          <a:xfrm>
            <a:off x="10810951" y="630936"/>
            <a:ext cx="521208" cy="521208"/>
          </a:xfrm>
          <a:prstGeom prst="rect">
            <a:avLst/>
          </a:prstGeom>
        </p:spPr>
      </p:pic>
      <p:sp>
        <p:nvSpPr>
          <p:cNvPr id="6" name="Shape 3"/>
          <p:cNvSpPr/>
          <p:nvPr/>
        </p:nvSpPr>
        <p:spPr>
          <a:xfrm>
            <a:off x="10344607" y="530352"/>
            <a:ext cx="182880" cy="182880"/>
          </a:xfrm>
          <a:prstGeom prst="ellipse">
            <a:avLst/>
          </a:prstGeom>
          <a:solidFill>
            <a:srgbClr val="FC4540"/>
          </a:solidFill>
          <a:ln w="12700">
            <a:solidFill>
              <a:srgbClr val="FC4540"/>
            </a:solidFill>
            <a:prstDash val="solid"/>
          </a:ln>
        </p:spPr>
      </p:sp>
      <p:sp>
        <p:nvSpPr>
          <p:cNvPr id="7" name="Shape 4"/>
          <p:cNvSpPr/>
          <p:nvPr/>
        </p:nvSpPr>
        <p:spPr>
          <a:xfrm>
            <a:off x="11460175" y="1307592"/>
            <a:ext cx="128016" cy="128016"/>
          </a:xfrm>
          <a:prstGeom prst="ellipse">
            <a:avLst/>
          </a:prstGeom>
          <a:solidFill>
            <a:srgbClr val="FF9755"/>
          </a:solidFill>
          <a:ln w="12700">
            <a:solidFill>
              <a:srgbClr val="FF9755"/>
            </a:solidFill>
            <a:prstDash val="solid"/>
          </a:ln>
        </p:spPr>
      </p:sp>
      <p:sp>
        <p:nvSpPr>
          <p:cNvPr id="8" name="Shape 5"/>
          <p:cNvSpPr/>
          <p:nvPr/>
        </p:nvSpPr>
        <p:spPr>
          <a:xfrm>
            <a:off x="685800" y="2075688"/>
            <a:ext cx="548640" cy="548640"/>
          </a:xfrm>
          <a:prstGeom prst="ellipse">
            <a:avLst/>
          </a:prstGeom>
          <a:solidFill>
            <a:srgbClr val="02BDC7"/>
          </a:solidFill>
          <a:ln w="12700">
            <a:solidFill>
              <a:srgbClr val="02BDC7"/>
            </a:solidFill>
            <a:prstDash val="solid"/>
          </a:ln>
        </p:spPr>
      </p:sp>
      <p:sp>
        <p:nvSpPr>
          <p:cNvPr id="9" name="Text 6"/>
          <p:cNvSpPr/>
          <p:nvPr/>
        </p:nvSpPr>
        <p:spPr>
          <a:xfrm>
            <a:off x="685800" y="2075688"/>
            <a:ext cx="548640" cy="548640"/>
          </a:xfrm>
          <a:prstGeom prst="rect">
            <a:avLst/>
          </a:prstGeom>
          <a:noFill/>
          <a:ln/>
        </p:spPr>
        <p:txBody>
          <a:bodyPr wrap="square" lIns="0" tIns="0" rIns="0" bIns="0" rtlCol="0" anchor="ctr"/>
          <a:lstStyle/>
          <a:p>
            <a:pPr algn="ctr" indent="0" marL="0">
              <a:buNone/>
            </a:pPr>
            <a:r>
              <a:rPr lang="en-US" sz="2200" b="1" dirty="0">
                <a:solidFill>
                  <a:srgbClr val="FFFEFA"/>
                </a:solidFill>
                <a:latin typeface="Georgia" pitchFamily="34" charset="0"/>
                <a:ea typeface="Georgia" pitchFamily="34" charset="-122"/>
                <a:cs typeface="Georgia" pitchFamily="34" charset="-120"/>
              </a:rPr>
              <a:t>1</a:t>
            </a:r>
            <a:endParaRPr lang="en-US" sz="2200" dirty="0"/>
          </a:p>
        </p:txBody>
      </p:sp>
      <p:sp>
        <p:nvSpPr>
          <p:cNvPr id="10" name="Text 7"/>
          <p:cNvSpPr/>
          <p:nvPr/>
        </p:nvSpPr>
        <p:spPr>
          <a:xfrm>
            <a:off x="1417320" y="1965960"/>
            <a:ext cx="4449928" cy="822960"/>
          </a:xfrm>
          <a:prstGeom prst="rect">
            <a:avLst/>
          </a:prstGeom>
          <a:noFill/>
          <a:ln/>
        </p:spPr>
        <p:txBody>
          <a:bodyPr wrap="square" lIns="0" tIns="0" rIns="0" bIns="0" rtlCol="0" anchor="ctr"/>
          <a:lstStyle/>
          <a:p>
            <a:pPr indent="0" marL="0">
              <a:buNone/>
            </a:pPr>
            <a:r>
              <a:rPr lang="en-US" sz="2000" dirty="0">
                <a:solidFill>
                  <a:srgbClr val="3C3828"/>
                </a:solidFill>
                <a:latin typeface="Calibri" pitchFamily="34" charset="0"/>
                <a:ea typeface="Calibri" pitchFamily="34" charset="-122"/>
                <a:cs typeface="Calibri" pitchFamily="34" charset="-120"/>
              </a:rPr>
              <a:t>Open your class in YAWP! and go to its </a:t>
            </a:r>
            <a:r>
              <a:rPr lang="en-US" sz="2000" dirty="0">
                <a:solidFill>
                  <a:srgbClr val="3C3828"/>
                </a:solidFill>
                <a:highlight>
                  <a:srgbClr val="FFE14D"/>
                </a:highlight>
                <a:latin typeface="Calibri" pitchFamily="34" charset="0"/>
                <a:ea typeface="Calibri" pitchFamily="34" charset="-122"/>
                <a:cs typeface="Calibri" pitchFamily="34" charset="-120"/>
              </a:rPr>
              <a:t>Students</a:t>
            </a:r>
            <a:r>
              <a:rPr lang="en-US" sz="2000" dirty="0">
                <a:solidFill>
                  <a:srgbClr val="3C3828"/>
                </a:solidFill>
                <a:latin typeface="Calibri" pitchFamily="34" charset="0"/>
                <a:ea typeface="Calibri" pitchFamily="34" charset="-122"/>
                <a:cs typeface="Calibri" pitchFamily="34" charset="-120"/>
              </a:rPr>
              <a:t> tab</a:t>
            </a:r>
            <a:endParaRPr lang="en-US" sz="2000" dirty="0"/>
          </a:p>
        </p:txBody>
      </p:sp>
      <p:sp>
        <p:nvSpPr>
          <p:cNvPr id="11" name="Shape 8"/>
          <p:cNvSpPr/>
          <p:nvPr/>
        </p:nvSpPr>
        <p:spPr>
          <a:xfrm>
            <a:off x="6324448" y="2075688"/>
            <a:ext cx="548640" cy="548640"/>
          </a:xfrm>
          <a:prstGeom prst="ellipse">
            <a:avLst/>
          </a:prstGeom>
          <a:solidFill>
            <a:srgbClr val="FFB600"/>
          </a:solidFill>
          <a:ln w="12700">
            <a:solidFill>
              <a:srgbClr val="FFB600"/>
            </a:solidFill>
            <a:prstDash val="solid"/>
          </a:ln>
        </p:spPr>
      </p:sp>
      <p:sp>
        <p:nvSpPr>
          <p:cNvPr id="12" name="Text 9"/>
          <p:cNvSpPr/>
          <p:nvPr/>
        </p:nvSpPr>
        <p:spPr>
          <a:xfrm>
            <a:off x="6324448" y="2075688"/>
            <a:ext cx="548640" cy="548640"/>
          </a:xfrm>
          <a:prstGeom prst="rect">
            <a:avLst/>
          </a:prstGeom>
          <a:noFill/>
          <a:ln/>
        </p:spPr>
        <p:txBody>
          <a:bodyPr wrap="square" lIns="0" tIns="0" rIns="0" bIns="0" rtlCol="0" anchor="ctr"/>
          <a:lstStyle/>
          <a:p>
            <a:pPr algn="ctr" indent="0" marL="0">
              <a:buNone/>
            </a:pPr>
            <a:r>
              <a:rPr lang="en-US" sz="2200" b="1" dirty="0">
                <a:solidFill>
                  <a:srgbClr val="FFFEFA"/>
                </a:solidFill>
                <a:latin typeface="Georgia" pitchFamily="34" charset="0"/>
                <a:ea typeface="Georgia" pitchFamily="34" charset="-122"/>
                <a:cs typeface="Georgia" pitchFamily="34" charset="-120"/>
              </a:rPr>
              <a:t>2</a:t>
            </a:r>
            <a:endParaRPr lang="en-US" sz="2200" dirty="0"/>
          </a:p>
        </p:txBody>
      </p:sp>
      <p:sp>
        <p:nvSpPr>
          <p:cNvPr id="13" name="Text 10"/>
          <p:cNvSpPr/>
          <p:nvPr/>
        </p:nvSpPr>
        <p:spPr>
          <a:xfrm>
            <a:off x="7055968" y="1965960"/>
            <a:ext cx="4449928" cy="822960"/>
          </a:xfrm>
          <a:prstGeom prst="rect">
            <a:avLst/>
          </a:prstGeom>
          <a:noFill/>
          <a:ln/>
        </p:spPr>
        <p:txBody>
          <a:bodyPr wrap="square" lIns="0" tIns="0" rIns="0" bIns="0" rtlCol="0" anchor="ctr"/>
          <a:lstStyle/>
          <a:p>
            <a:pPr indent="0" marL="0">
              <a:buNone/>
            </a:pPr>
            <a:r>
              <a:rPr lang="en-US" sz="2000" dirty="0">
                <a:solidFill>
                  <a:srgbClr val="3C3828"/>
                </a:solidFill>
                <a:latin typeface="Calibri" pitchFamily="34" charset="0"/>
                <a:ea typeface="Calibri" pitchFamily="34" charset="-122"/>
                <a:cs typeface="Calibri" pitchFamily="34" charset="-120"/>
              </a:rPr>
              <a:t>Copy the </a:t>
            </a:r>
            <a:r>
              <a:rPr lang="en-US" sz="2000" dirty="0">
                <a:solidFill>
                  <a:srgbClr val="3C3828"/>
                </a:solidFill>
                <a:highlight>
                  <a:srgbClr val="FFE14D"/>
                </a:highlight>
                <a:latin typeface="Calibri" pitchFamily="34" charset="0"/>
                <a:ea typeface="Calibri" pitchFamily="34" charset="-122"/>
                <a:cs typeface="Calibri" pitchFamily="34" charset="-120"/>
              </a:rPr>
              <a:t>join link</a:t>
            </a:r>
            <a:r>
              <a:rPr lang="en-US" sz="2000" dirty="0">
                <a:solidFill>
                  <a:srgbClr val="3C3828"/>
                </a:solidFill>
                <a:latin typeface="Calibri" pitchFamily="34" charset="0"/>
                <a:ea typeface="Calibri" pitchFamily="34" charset="-122"/>
                <a:cs typeface="Calibri" pitchFamily="34" charset="-120"/>
              </a:rPr>
              <a:t>, or put the QR code up on the board</a:t>
            </a:r>
            <a:endParaRPr lang="en-US" sz="2000" dirty="0"/>
          </a:p>
        </p:txBody>
      </p:sp>
      <p:sp>
        <p:nvSpPr>
          <p:cNvPr id="14" name="Shape 11"/>
          <p:cNvSpPr/>
          <p:nvPr/>
        </p:nvSpPr>
        <p:spPr>
          <a:xfrm>
            <a:off x="685800" y="2944368"/>
            <a:ext cx="548640" cy="548640"/>
          </a:xfrm>
          <a:prstGeom prst="ellipse">
            <a:avLst/>
          </a:prstGeom>
          <a:solidFill>
            <a:srgbClr val="FC4540"/>
          </a:solidFill>
          <a:ln w="12700">
            <a:solidFill>
              <a:srgbClr val="FC4540"/>
            </a:solidFill>
            <a:prstDash val="solid"/>
          </a:ln>
        </p:spPr>
      </p:sp>
      <p:sp>
        <p:nvSpPr>
          <p:cNvPr id="15" name="Text 12"/>
          <p:cNvSpPr/>
          <p:nvPr/>
        </p:nvSpPr>
        <p:spPr>
          <a:xfrm>
            <a:off x="685800" y="2944368"/>
            <a:ext cx="548640" cy="548640"/>
          </a:xfrm>
          <a:prstGeom prst="rect">
            <a:avLst/>
          </a:prstGeom>
          <a:noFill/>
          <a:ln/>
        </p:spPr>
        <p:txBody>
          <a:bodyPr wrap="square" lIns="0" tIns="0" rIns="0" bIns="0" rtlCol="0" anchor="ctr"/>
          <a:lstStyle/>
          <a:p>
            <a:pPr algn="ctr" indent="0" marL="0">
              <a:buNone/>
            </a:pPr>
            <a:r>
              <a:rPr lang="en-US" sz="2200" b="1" dirty="0">
                <a:solidFill>
                  <a:srgbClr val="FFFEFA"/>
                </a:solidFill>
                <a:latin typeface="Georgia" pitchFamily="34" charset="0"/>
                <a:ea typeface="Georgia" pitchFamily="34" charset="-122"/>
                <a:cs typeface="Georgia" pitchFamily="34" charset="-120"/>
              </a:rPr>
              <a:t>3</a:t>
            </a:r>
            <a:endParaRPr lang="en-US" sz="2200" dirty="0"/>
          </a:p>
        </p:txBody>
      </p:sp>
      <p:sp>
        <p:nvSpPr>
          <p:cNvPr id="16" name="Text 13"/>
          <p:cNvSpPr/>
          <p:nvPr/>
        </p:nvSpPr>
        <p:spPr>
          <a:xfrm>
            <a:off x="1417320" y="2834640"/>
            <a:ext cx="4449928" cy="822960"/>
          </a:xfrm>
          <a:prstGeom prst="rect">
            <a:avLst/>
          </a:prstGeom>
          <a:noFill/>
          <a:ln/>
        </p:spPr>
        <p:txBody>
          <a:bodyPr wrap="square" lIns="0" tIns="0" rIns="0" bIns="0" rtlCol="0" anchor="ctr"/>
          <a:lstStyle/>
          <a:p>
            <a:pPr indent="0" marL="0">
              <a:buNone/>
            </a:pPr>
            <a:r>
              <a:rPr lang="en-US" sz="2000" dirty="0">
                <a:solidFill>
                  <a:srgbClr val="3C3828"/>
                </a:solidFill>
                <a:latin typeface="Calibri" pitchFamily="34" charset="0"/>
                <a:ea typeface="Calibri" pitchFamily="34" charset="-122"/>
                <a:cs typeface="Calibri" pitchFamily="34" charset="-120"/>
              </a:rPr>
              <a:t>Students open it on their device and create an account</a:t>
            </a:r>
            <a:endParaRPr lang="en-US" sz="2000" dirty="0"/>
          </a:p>
        </p:txBody>
      </p:sp>
      <p:sp>
        <p:nvSpPr>
          <p:cNvPr id="17" name="Shape 14"/>
          <p:cNvSpPr/>
          <p:nvPr/>
        </p:nvSpPr>
        <p:spPr>
          <a:xfrm>
            <a:off x="6324448" y="2944368"/>
            <a:ext cx="548640" cy="548640"/>
          </a:xfrm>
          <a:prstGeom prst="ellipse">
            <a:avLst/>
          </a:prstGeom>
          <a:solidFill>
            <a:srgbClr val="FF9755"/>
          </a:solidFill>
          <a:ln w="12700">
            <a:solidFill>
              <a:srgbClr val="FF9755"/>
            </a:solidFill>
            <a:prstDash val="solid"/>
          </a:ln>
        </p:spPr>
      </p:sp>
      <p:sp>
        <p:nvSpPr>
          <p:cNvPr id="18" name="Text 15"/>
          <p:cNvSpPr/>
          <p:nvPr/>
        </p:nvSpPr>
        <p:spPr>
          <a:xfrm>
            <a:off x="6324448" y="2944368"/>
            <a:ext cx="548640" cy="548640"/>
          </a:xfrm>
          <a:prstGeom prst="rect">
            <a:avLst/>
          </a:prstGeom>
          <a:noFill/>
          <a:ln/>
        </p:spPr>
        <p:txBody>
          <a:bodyPr wrap="square" lIns="0" tIns="0" rIns="0" bIns="0" rtlCol="0" anchor="ctr"/>
          <a:lstStyle/>
          <a:p>
            <a:pPr algn="ctr" indent="0" marL="0">
              <a:buNone/>
            </a:pPr>
            <a:r>
              <a:rPr lang="en-US" sz="2200" b="1" dirty="0">
                <a:solidFill>
                  <a:srgbClr val="FFFEFA"/>
                </a:solidFill>
                <a:latin typeface="Georgia" pitchFamily="34" charset="0"/>
                <a:ea typeface="Georgia" pitchFamily="34" charset="-122"/>
                <a:cs typeface="Georgia" pitchFamily="34" charset="-120"/>
              </a:rPr>
              <a:t>4</a:t>
            </a:r>
            <a:endParaRPr lang="en-US" sz="2200" dirty="0"/>
          </a:p>
        </p:txBody>
      </p:sp>
      <p:sp>
        <p:nvSpPr>
          <p:cNvPr id="19" name="Text 16"/>
          <p:cNvSpPr/>
          <p:nvPr/>
        </p:nvSpPr>
        <p:spPr>
          <a:xfrm>
            <a:off x="7055968" y="2834640"/>
            <a:ext cx="4449928" cy="822960"/>
          </a:xfrm>
          <a:prstGeom prst="rect">
            <a:avLst/>
          </a:prstGeom>
          <a:noFill/>
          <a:ln/>
        </p:spPr>
        <p:txBody>
          <a:bodyPr wrap="square" lIns="0" tIns="0" rIns="0" bIns="0" rtlCol="0" anchor="ctr"/>
          <a:lstStyle/>
          <a:p>
            <a:pPr indent="0" marL="0">
              <a:buNone/>
            </a:pPr>
            <a:r>
              <a:rPr lang="en-US" sz="2000" dirty="0">
                <a:solidFill>
                  <a:srgbClr val="3C3828"/>
                </a:solidFill>
                <a:latin typeface="Calibri" pitchFamily="34" charset="0"/>
                <a:ea typeface="Calibri" pitchFamily="34" charset="-122"/>
                <a:cs typeface="Calibri" pitchFamily="34" charset="-120"/>
              </a:rPr>
              <a:t>No email needed: just a </a:t>
            </a:r>
            <a:r>
              <a:rPr lang="en-US" sz="2000" dirty="0">
                <a:solidFill>
                  <a:srgbClr val="3C3828"/>
                </a:solidFill>
                <a:highlight>
                  <a:srgbClr val="FFE14D"/>
                </a:highlight>
                <a:latin typeface="Calibri" pitchFamily="34" charset="0"/>
                <a:ea typeface="Calibri" pitchFamily="34" charset="-122"/>
                <a:cs typeface="Calibri" pitchFamily="34" charset="-120"/>
              </a:rPr>
              <a:t>handle</a:t>
            </a:r>
            <a:r>
              <a:rPr lang="en-US" sz="2000" dirty="0">
                <a:solidFill>
                  <a:srgbClr val="3C3828"/>
                </a:solidFill>
                <a:latin typeface="Calibri" pitchFamily="34" charset="0"/>
                <a:ea typeface="Calibri" pitchFamily="34" charset="-122"/>
                <a:cs typeface="Calibri" pitchFamily="34" charset="-120"/>
              </a:rPr>
              <a:t> and a password</a:t>
            </a:r>
            <a:endParaRPr lang="en-US" sz="2000" dirty="0"/>
          </a:p>
        </p:txBody>
      </p:sp>
      <p:sp>
        <p:nvSpPr>
          <p:cNvPr id="20" name="Shape 17"/>
          <p:cNvSpPr/>
          <p:nvPr/>
        </p:nvSpPr>
        <p:spPr>
          <a:xfrm>
            <a:off x="2063915" y="3931920"/>
            <a:ext cx="8063865" cy="2148840"/>
          </a:xfrm>
          <a:prstGeom prst="roundRect">
            <a:avLst>
              <a:gd name="adj" fmla="val 5957"/>
            </a:avLst>
          </a:prstGeom>
          <a:solidFill>
            <a:srgbClr val="FFFEFA"/>
          </a:solidFill>
          <a:ln w="9525">
            <a:solidFill>
              <a:srgbClr val="D6D4CC"/>
            </a:solidFill>
            <a:prstDash val="solid"/>
          </a:ln>
          <a:effectLst>
            <a:outerShdw sx="100000" sy="100000" kx="0" ky="0" algn="bl" rotWithShape="0" blurRad="127000" dist="38100" dir="5400000">
              <a:srgbClr val="3C3828">
                <a:alpha val="12000"/>
              </a:srgbClr>
            </a:outerShdw>
          </a:effectLst>
        </p:spPr>
      </p:sp>
      <p:pic>
        <p:nvPicPr>
          <p:cNvPr id="21" name="Image 1" descr="The class's join link and QR code on the Students tab.">    </p:cNvPr>
          <p:cNvPicPr>
            <a:picLocks noChangeAspect="1"/>
          </p:cNvPicPr>
          <p:nvPr/>
        </p:nvPicPr>
        <p:blipFill>
          <a:blip r:embed="rId2"/>
          <a:stretch>
            <a:fillRect/>
          </a:stretch>
        </p:blipFill>
        <p:spPr>
          <a:xfrm>
            <a:off x="2191931" y="4059936"/>
            <a:ext cx="7807833" cy="1892808"/>
          </a:xfrm>
          <a:prstGeom prst="rect">
            <a:avLst/>
          </a:prstGeom>
        </p:spPr>
      </p:pic>
      <p:sp>
        <p:nvSpPr>
          <p:cNvPr id="25" name="Slide Number Placeholder 0"/>
          <p:cNvSpPr>
            <a:spLocks noGrp="1"/>
          </p:cNvSpPr>
          <p:nvPr>
            <p:ph type="sldNum" sz="quarter" idx="4294967295"/>
          </p:nvPr>
        </p:nvSpPr>
        <p:spPr>
          <a:xfrm>
            <a:off x="10957255"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7E7C78"/>
                </a:solidFill>
                <a:latin typeface="Consolas"/>
                <a:ea typeface="Consolas"/>
                <a:cs typeface="Consolas"/>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685800" y="502920"/>
            <a:ext cx="9357055" cy="320040"/>
          </a:xfrm>
          <a:prstGeom prst="rect">
            <a:avLst/>
          </a:prstGeom>
          <a:noFill/>
          <a:ln/>
        </p:spPr>
        <p:txBody>
          <a:bodyPr wrap="square" lIns="0" tIns="0" rIns="0" bIns="0" rtlCol="0" anchor="b"/>
          <a:lstStyle/>
          <a:p>
            <a:pPr indent="0" marL="0">
              <a:buNone/>
            </a:pPr>
            <a:r>
              <a:rPr lang="en-US" sz="1200" b="1" spc="200" kern="0" dirty="0">
                <a:solidFill>
                  <a:srgbClr val="FFB600"/>
                </a:solidFill>
                <a:latin typeface="Consolas" pitchFamily="34" charset="0"/>
                <a:ea typeface="Consolas" pitchFamily="34" charset="-122"/>
                <a:cs typeface="Consolas" pitchFamily="34" charset="-120"/>
              </a:rPr>
              <a:t>FOR STUDENTS</a:t>
            </a:r>
            <a:endParaRPr lang="en-US" sz="1200" dirty="0"/>
          </a:p>
        </p:txBody>
      </p:sp>
      <p:sp>
        <p:nvSpPr>
          <p:cNvPr id="3" name="Text 1"/>
          <p:cNvSpPr/>
          <p:nvPr/>
        </p:nvSpPr>
        <p:spPr>
          <a:xfrm>
            <a:off x="685800" y="868680"/>
            <a:ext cx="9357055" cy="960120"/>
          </a:xfrm>
          <a:prstGeom prst="rect">
            <a:avLst/>
          </a:prstGeom>
          <a:noFill/>
          <a:ln/>
        </p:spPr>
        <p:txBody>
          <a:bodyPr wrap="square" lIns="0" tIns="0" rIns="0" bIns="0" rtlCol="0" anchor="t"/>
          <a:lstStyle/>
          <a:p>
            <a:pPr indent="0" marL="0">
              <a:buNone/>
            </a:pPr>
            <a:r>
              <a:rPr lang="en-US" sz="3600" dirty="0">
                <a:solidFill>
                  <a:srgbClr val="3C3828"/>
                </a:solidFill>
                <a:latin typeface="Georgia" pitchFamily="34" charset="0"/>
                <a:ea typeface="Georgia" pitchFamily="34" charset="-122"/>
                <a:cs typeface="Georgia" pitchFamily="34" charset="-120"/>
              </a:rPr>
              <a:t>Create your student account</a:t>
            </a:r>
            <a:endParaRPr lang="en-US" sz="3600" dirty="0"/>
          </a:p>
        </p:txBody>
      </p:sp>
      <p:sp>
        <p:nvSpPr>
          <p:cNvPr id="4" name="Shape 2"/>
          <p:cNvSpPr/>
          <p:nvPr/>
        </p:nvSpPr>
        <p:spPr>
          <a:xfrm>
            <a:off x="685800" y="1828800"/>
            <a:ext cx="1786999" cy="4343400"/>
          </a:xfrm>
          <a:prstGeom prst="roundRect">
            <a:avLst>
              <a:gd name="adj" fmla="val 7164"/>
            </a:avLst>
          </a:prstGeom>
          <a:solidFill>
            <a:srgbClr val="FFFEFA"/>
          </a:solidFill>
          <a:ln w="9525">
            <a:solidFill>
              <a:srgbClr val="D6D4CC"/>
            </a:solidFill>
            <a:prstDash val="solid"/>
          </a:ln>
          <a:effectLst>
            <a:outerShdw sx="100000" sy="100000" kx="0" ky="0" algn="bl" rotWithShape="0" blurRad="127000" dist="38100" dir="5400000">
              <a:srgbClr val="3C3828">
                <a:alpha val="12000"/>
              </a:srgbClr>
            </a:outerShdw>
          </a:effectLst>
        </p:spPr>
      </p:sp>
      <p:pic>
        <p:nvPicPr>
          <p:cNvPr id="5" name="Image 0" descr="The YAWP! &quot;Create your student account&quot; page.">    </p:cNvPr>
          <p:cNvPicPr>
            <a:picLocks noChangeAspect="1"/>
          </p:cNvPicPr>
          <p:nvPr/>
        </p:nvPicPr>
        <p:blipFill>
          <a:blip r:embed="rId1"/>
          <a:stretch>
            <a:fillRect/>
          </a:stretch>
        </p:blipFill>
        <p:spPr>
          <a:xfrm>
            <a:off x="813816" y="1956816"/>
            <a:ext cx="1530967" cy="4087368"/>
          </a:xfrm>
          <a:prstGeom prst="rect">
            <a:avLst/>
          </a:prstGeom>
        </p:spPr>
      </p:pic>
      <p:sp>
        <p:nvSpPr>
          <p:cNvPr id="6" name="Shape 3"/>
          <p:cNvSpPr/>
          <p:nvPr/>
        </p:nvSpPr>
        <p:spPr>
          <a:xfrm>
            <a:off x="3021439" y="2505456"/>
            <a:ext cx="292608" cy="292608"/>
          </a:xfrm>
          <a:prstGeom prst="ellipse">
            <a:avLst/>
          </a:prstGeom>
          <a:solidFill>
            <a:srgbClr val="FFB600"/>
          </a:solidFill>
          <a:ln w="12700">
            <a:solidFill>
              <a:srgbClr val="FFB600"/>
            </a:solidFill>
            <a:prstDash val="solid"/>
          </a:ln>
        </p:spPr>
      </p:sp>
      <p:sp>
        <p:nvSpPr>
          <p:cNvPr id="7" name="Text 4"/>
          <p:cNvSpPr/>
          <p:nvPr/>
        </p:nvSpPr>
        <p:spPr>
          <a:xfrm>
            <a:off x="3496927" y="2194560"/>
            <a:ext cx="8008968" cy="914400"/>
          </a:xfrm>
          <a:prstGeom prst="rect">
            <a:avLst/>
          </a:prstGeom>
          <a:noFill/>
          <a:ln/>
        </p:spPr>
        <p:txBody>
          <a:bodyPr wrap="square" lIns="0" tIns="0" rIns="0" bIns="0" rtlCol="0" anchor="ctr"/>
          <a:lstStyle/>
          <a:p>
            <a:pPr indent="0" marL="0">
              <a:buNone/>
            </a:pPr>
            <a:r>
              <a:rPr lang="en-US" sz="2400" dirty="0">
                <a:solidFill>
                  <a:srgbClr val="3C3828"/>
                </a:solidFill>
                <a:latin typeface="Calibri" pitchFamily="34" charset="0"/>
                <a:ea typeface="Calibri" pitchFamily="34" charset="-122"/>
                <a:cs typeface="Calibri" pitchFamily="34" charset="-120"/>
              </a:rPr>
              <a:t>Open the link or scan the QR code</a:t>
            </a:r>
            <a:endParaRPr lang="en-US" sz="2400" dirty="0"/>
          </a:p>
        </p:txBody>
      </p:sp>
      <p:sp>
        <p:nvSpPr>
          <p:cNvPr id="8" name="Shape 5"/>
          <p:cNvSpPr/>
          <p:nvPr/>
        </p:nvSpPr>
        <p:spPr>
          <a:xfrm>
            <a:off x="3021439" y="3419856"/>
            <a:ext cx="292608" cy="292608"/>
          </a:xfrm>
          <a:prstGeom prst="ellipse">
            <a:avLst/>
          </a:prstGeom>
          <a:solidFill>
            <a:srgbClr val="FC4540"/>
          </a:solidFill>
          <a:ln w="12700">
            <a:solidFill>
              <a:srgbClr val="FC4540"/>
            </a:solidFill>
            <a:prstDash val="solid"/>
          </a:ln>
        </p:spPr>
      </p:sp>
      <p:sp>
        <p:nvSpPr>
          <p:cNvPr id="9" name="Text 6"/>
          <p:cNvSpPr/>
          <p:nvPr/>
        </p:nvSpPr>
        <p:spPr>
          <a:xfrm>
            <a:off x="3496927" y="3108960"/>
            <a:ext cx="8008968" cy="914400"/>
          </a:xfrm>
          <a:prstGeom prst="rect">
            <a:avLst/>
          </a:prstGeom>
          <a:noFill/>
          <a:ln/>
        </p:spPr>
        <p:txBody>
          <a:bodyPr wrap="square" lIns="0" tIns="0" rIns="0" bIns="0" rtlCol="0" anchor="ctr"/>
          <a:lstStyle/>
          <a:p>
            <a:pPr indent="0" marL="0">
              <a:buNone/>
            </a:pPr>
            <a:r>
              <a:rPr lang="en-US" sz="2400" dirty="0">
                <a:solidFill>
                  <a:srgbClr val="3C3828"/>
                </a:solidFill>
                <a:latin typeface="Calibri" pitchFamily="34" charset="0"/>
                <a:ea typeface="Calibri" pitchFamily="34" charset="-122"/>
                <a:cs typeface="Calibri" pitchFamily="34" charset="-120"/>
              </a:rPr>
              <a:t>Your </a:t>
            </a:r>
            <a:r>
              <a:rPr lang="en-US" sz="2400" dirty="0">
                <a:solidFill>
                  <a:srgbClr val="3C3828"/>
                </a:solidFill>
                <a:highlight>
                  <a:srgbClr val="FFE14D"/>
                </a:highlight>
                <a:latin typeface="Calibri" pitchFamily="34" charset="0"/>
                <a:ea typeface="Calibri" pitchFamily="34" charset="-122"/>
                <a:cs typeface="Calibri" pitchFamily="34" charset="-120"/>
              </a:rPr>
              <a:t>display name</a:t>
            </a:r>
            <a:r>
              <a:rPr lang="en-US" sz="2400" dirty="0">
                <a:solidFill>
                  <a:srgbClr val="3C3828"/>
                </a:solidFill>
                <a:latin typeface="Calibri" pitchFamily="34" charset="0"/>
                <a:ea typeface="Calibri" pitchFamily="34" charset="-122"/>
                <a:cs typeface="Calibri" pitchFamily="34" charset="-120"/>
              </a:rPr>
              <a:t>: what your teacher sees</a:t>
            </a:r>
            <a:endParaRPr lang="en-US" sz="2400" dirty="0"/>
          </a:p>
        </p:txBody>
      </p:sp>
      <p:sp>
        <p:nvSpPr>
          <p:cNvPr id="10" name="Shape 7"/>
          <p:cNvSpPr/>
          <p:nvPr/>
        </p:nvSpPr>
        <p:spPr>
          <a:xfrm>
            <a:off x="3021439" y="4334256"/>
            <a:ext cx="292608" cy="292608"/>
          </a:xfrm>
          <a:prstGeom prst="ellipse">
            <a:avLst/>
          </a:prstGeom>
          <a:solidFill>
            <a:srgbClr val="FF9755"/>
          </a:solidFill>
          <a:ln w="12700">
            <a:solidFill>
              <a:srgbClr val="FF9755"/>
            </a:solidFill>
            <a:prstDash val="solid"/>
          </a:ln>
        </p:spPr>
      </p:sp>
      <p:sp>
        <p:nvSpPr>
          <p:cNvPr id="11" name="Text 8"/>
          <p:cNvSpPr/>
          <p:nvPr/>
        </p:nvSpPr>
        <p:spPr>
          <a:xfrm>
            <a:off x="3496927" y="4023360"/>
            <a:ext cx="8008968" cy="914400"/>
          </a:xfrm>
          <a:prstGeom prst="rect">
            <a:avLst/>
          </a:prstGeom>
          <a:noFill/>
          <a:ln/>
        </p:spPr>
        <p:txBody>
          <a:bodyPr wrap="square" lIns="0" tIns="0" rIns="0" bIns="0" rtlCol="0" anchor="ctr"/>
          <a:lstStyle/>
          <a:p>
            <a:pPr indent="0" marL="0">
              <a:buNone/>
            </a:pPr>
            <a:r>
              <a:rPr lang="en-US" sz="2400" dirty="0">
                <a:solidFill>
                  <a:srgbClr val="3C3828"/>
                </a:solidFill>
                <a:latin typeface="Calibri" pitchFamily="34" charset="0"/>
                <a:ea typeface="Calibri" pitchFamily="34" charset="-122"/>
                <a:cs typeface="Calibri" pitchFamily="34" charset="-120"/>
              </a:rPr>
              <a:t>A </a:t>
            </a:r>
            <a:r>
              <a:rPr lang="en-US" sz="2400" dirty="0">
                <a:solidFill>
                  <a:srgbClr val="3C3828"/>
                </a:solidFill>
                <a:highlight>
                  <a:srgbClr val="FFE14D"/>
                </a:highlight>
                <a:latin typeface="Calibri" pitchFamily="34" charset="0"/>
                <a:ea typeface="Calibri" pitchFamily="34" charset="-122"/>
                <a:cs typeface="Calibri" pitchFamily="34" charset="-120"/>
              </a:rPr>
              <a:t>handle</a:t>
            </a:r>
            <a:r>
              <a:rPr lang="en-US" sz="2400" dirty="0">
                <a:solidFill>
                  <a:srgbClr val="3C3828"/>
                </a:solidFill>
                <a:latin typeface="Calibri" pitchFamily="34" charset="0"/>
                <a:ea typeface="Calibri" pitchFamily="34" charset="-122"/>
                <a:cs typeface="Calibri" pitchFamily="34" charset="-120"/>
              </a:rPr>
              <a:t>: how you log in</a:t>
            </a:r>
            <a:endParaRPr lang="en-US" sz="2400" dirty="0"/>
          </a:p>
        </p:txBody>
      </p:sp>
      <p:sp>
        <p:nvSpPr>
          <p:cNvPr id="12" name="Shape 9"/>
          <p:cNvSpPr/>
          <p:nvPr/>
        </p:nvSpPr>
        <p:spPr>
          <a:xfrm>
            <a:off x="3021439" y="5248656"/>
            <a:ext cx="292608" cy="292608"/>
          </a:xfrm>
          <a:prstGeom prst="ellipse">
            <a:avLst/>
          </a:prstGeom>
          <a:solidFill>
            <a:srgbClr val="FC4067"/>
          </a:solidFill>
          <a:ln w="12700">
            <a:solidFill>
              <a:srgbClr val="FC4067"/>
            </a:solidFill>
            <a:prstDash val="solid"/>
          </a:ln>
        </p:spPr>
      </p:sp>
      <p:sp>
        <p:nvSpPr>
          <p:cNvPr id="13" name="Text 10"/>
          <p:cNvSpPr/>
          <p:nvPr/>
        </p:nvSpPr>
        <p:spPr>
          <a:xfrm>
            <a:off x="3496927" y="4937760"/>
            <a:ext cx="8008968" cy="914400"/>
          </a:xfrm>
          <a:prstGeom prst="rect">
            <a:avLst/>
          </a:prstGeom>
          <a:noFill/>
          <a:ln/>
        </p:spPr>
        <p:txBody>
          <a:bodyPr wrap="square" lIns="0" tIns="0" rIns="0" bIns="0" rtlCol="0" anchor="ctr"/>
          <a:lstStyle/>
          <a:p>
            <a:pPr indent="0" marL="0">
              <a:buNone/>
            </a:pPr>
            <a:r>
              <a:rPr lang="en-US" sz="2400" dirty="0">
                <a:solidFill>
                  <a:srgbClr val="3C3828"/>
                </a:solidFill>
                <a:latin typeface="Calibri" pitchFamily="34" charset="0"/>
                <a:ea typeface="Calibri" pitchFamily="34" charset="-122"/>
                <a:cs typeface="Calibri" pitchFamily="34" charset="-120"/>
              </a:rPr>
              <a:t>A password, twice, then </a:t>
            </a:r>
            <a:r>
              <a:rPr lang="en-US" sz="2400" dirty="0">
                <a:solidFill>
                  <a:srgbClr val="3C3828"/>
                </a:solidFill>
                <a:highlight>
                  <a:srgbClr val="FFE14D"/>
                </a:highlight>
                <a:latin typeface="Calibri" pitchFamily="34" charset="0"/>
                <a:ea typeface="Calibri" pitchFamily="34" charset="-122"/>
                <a:cs typeface="Calibri" pitchFamily="34" charset="-120"/>
              </a:rPr>
              <a:t>Join class</a:t>
            </a:r>
            <a:endParaRPr lang="en-US" sz="2400" dirty="0"/>
          </a:p>
        </p:txBody>
      </p:sp>
      <p:sp>
        <p:nvSpPr>
          <p:cNvPr id="25" name="Slide Number Placeholder 0"/>
          <p:cNvSpPr>
            <a:spLocks noGrp="1"/>
          </p:cNvSpPr>
          <p:nvPr>
            <p:ph type="sldNum" sz="quarter" idx="4294967295"/>
          </p:nvPr>
        </p:nvSpPr>
        <p:spPr>
          <a:xfrm>
            <a:off x="10957255"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7E7C78"/>
                </a:solidFill>
                <a:latin typeface="Consolas"/>
                <a:ea typeface="Consolas"/>
                <a:cs typeface="Consolas"/>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685800" y="502920"/>
            <a:ext cx="9357055" cy="320040"/>
          </a:xfrm>
          <a:prstGeom prst="rect">
            <a:avLst/>
          </a:prstGeom>
          <a:noFill/>
          <a:ln/>
        </p:spPr>
        <p:txBody>
          <a:bodyPr wrap="square" lIns="0" tIns="0" rIns="0" bIns="0" rtlCol="0" anchor="b"/>
          <a:lstStyle/>
          <a:p>
            <a:pPr indent="0" marL="0">
              <a:buNone/>
            </a:pPr>
            <a:r>
              <a:rPr lang="en-US" sz="1200" b="1" spc="200" kern="0" dirty="0">
                <a:solidFill>
                  <a:srgbClr val="FC4540"/>
                </a:solidFill>
                <a:latin typeface="Consolas" pitchFamily="34" charset="0"/>
                <a:ea typeface="Consolas" pitchFamily="34" charset="-122"/>
                <a:cs typeface="Consolas" pitchFamily="34" charset="-120"/>
              </a:rPr>
              <a:t>YOU’RE IN</a:t>
            </a:r>
            <a:endParaRPr lang="en-US" sz="1200" dirty="0"/>
          </a:p>
        </p:txBody>
      </p:sp>
      <p:sp>
        <p:nvSpPr>
          <p:cNvPr id="3" name="Text 1"/>
          <p:cNvSpPr/>
          <p:nvPr/>
        </p:nvSpPr>
        <p:spPr>
          <a:xfrm>
            <a:off x="685800" y="868680"/>
            <a:ext cx="9357055" cy="960120"/>
          </a:xfrm>
          <a:prstGeom prst="rect">
            <a:avLst/>
          </a:prstGeom>
          <a:noFill/>
          <a:ln/>
        </p:spPr>
        <p:txBody>
          <a:bodyPr wrap="square" lIns="0" tIns="0" rIns="0" bIns="0" rtlCol="0" anchor="t"/>
          <a:lstStyle/>
          <a:p>
            <a:pPr indent="0" marL="0">
              <a:buNone/>
            </a:pPr>
            <a:r>
              <a:rPr lang="en-US" sz="3600" dirty="0">
                <a:solidFill>
                  <a:srgbClr val="3C3828"/>
                </a:solidFill>
                <a:latin typeface="Georgia" pitchFamily="34" charset="0"/>
                <a:ea typeface="Georgia" pitchFamily="34" charset="-122"/>
                <a:cs typeface="Georgia" pitchFamily="34" charset="-120"/>
              </a:rPr>
              <a:t>Your YAWP! dashboard</a:t>
            </a:r>
            <a:endParaRPr lang="en-US" sz="3600" dirty="0"/>
          </a:p>
        </p:txBody>
      </p:sp>
      <p:sp>
        <p:nvSpPr>
          <p:cNvPr id="4" name="Shape 2"/>
          <p:cNvSpPr/>
          <p:nvPr/>
        </p:nvSpPr>
        <p:spPr>
          <a:xfrm>
            <a:off x="685800" y="1828800"/>
            <a:ext cx="6949440" cy="4283901"/>
          </a:xfrm>
          <a:prstGeom prst="roundRect">
            <a:avLst>
              <a:gd name="adj" fmla="val 2988"/>
            </a:avLst>
          </a:prstGeom>
          <a:solidFill>
            <a:srgbClr val="FFFEFA"/>
          </a:solidFill>
          <a:ln w="9525">
            <a:solidFill>
              <a:srgbClr val="D6D4CC"/>
            </a:solidFill>
            <a:prstDash val="solid"/>
          </a:ln>
          <a:effectLst>
            <a:outerShdw sx="100000" sy="100000" kx="0" ky="0" algn="bl" rotWithShape="0" blurRad="127000" dist="38100" dir="5400000">
              <a:srgbClr val="3C3828">
                <a:alpha val="12000"/>
              </a:srgbClr>
            </a:outerShdw>
          </a:effectLst>
        </p:spPr>
      </p:sp>
      <p:pic>
        <p:nvPicPr>
          <p:cNvPr id="5" name="Image 0" descr="The YAWP! student dashboard after joining.">    </p:cNvPr>
          <p:cNvPicPr>
            <a:picLocks noChangeAspect="1"/>
          </p:cNvPicPr>
          <p:nvPr/>
        </p:nvPicPr>
        <p:blipFill>
          <a:blip r:embed="rId1"/>
          <a:stretch>
            <a:fillRect/>
          </a:stretch>
        </p:blipFill>
        <p:spPr>
          <a:xfrm>
            <a:off x="813816" y="1956816"/>
            <a:ext cx="6693408" cy="4027869"/>
          </a:xfrm>
          <a:prstGeom prst="rect">
            <a:avLst/>
          </a:prstGeom>
        </p:spPr>
      </p:pic>
      <p:sp>
        <p:nvSpPr>
          <p:cNvPr id="6" name="Shape 3"/>
          <p:cNvSpPr/>
          <p:nvPr/>
        </p:nvSpPr>
        <p:spPr>
          <a:xfrm>
            <a:off x="8183880" y="2505456"/>
            <a:ext cx="292608" cy="292608"/>
          </a:xfrm>
          <a:prstGeom prst="ellipse">
            <a:avLst/>
          </a:prstGeom>
          <a:solidFill>
            <a:srgbClr val="FC4540"/>
          </a:solidFill>
          <a:ln w="12700">
            <a:solidFill>
              <a:srgbClr val="FC4540"/>
            </a:solidFill>
            <a:prstDash val="solid"/>
          </a:ln>
        </p:spPr>
      </p:sp>
      <p:sp>
        <p:nvSpPr>
          <p:cNvPr id="7" name="Text 4"/>
          <p:cNvSpPr/>
          <p:nvPr/>
        </p:nvSpPr>
        <p:spPr>
          <a:xfrm>
            <a:off x="8659368" y="2194560"/>
            <a:ext cx="2846527" cy="914400"/>
          </a:xfrm>
          <a:prstGeom prst="rect">
            <a:avLst/>
          </a:prstGeom>
          <a:noFill/>
          <a:ln/>
        </p:spPr>
        <p:txBody>
          <a:bodyPr wrap="square" lIns="0" tIns="0" rIns="0" bIns="0" rtlCol="0" anchor="ctr"/>
          <a:lstStyle/>
          <a:p>
            <a:pPr indent="0" marL="0">
              <a:buNone/>
            </a:pPr>
            <a:r>
              <a:rPr lang="en-US" sz="2000" dirty="0">
                <a:solidFill>
                  <a:srgbClr val="3C3828"/>
                </a:solidFill>
                <a:latin typeface="Calibri" pitchFamily="34" charset="0"/>
                <a:ea typeface="Calibri" pitchFamily="34" charset="-122"/>
                <a:cs typeface="Calibri" pitchFamily="34" charset="-120"/>
              </a:rPr>
              <a:t>Your class is on your dashboard</a:t>
            </a:r>
            <a:endParaRPr lang="en-US" sz="2000" dirty="0"/>
          </a:p>
        </p:txBody>
      </p:sp>
      <p:sp>
        <p:nvSpPr>
          <p:cNvPr id="8" name="Shape 5"/>
          <p:cNvSpPr/>
          <p:nvPr/>
        </p:nvSpPr>
        <p:spPr>
          <a:xfrm>
            <a:off x="8183880" y="3419856"/>
            <a:ext cx="292608" cy="292608"/>
          </a:xfrm>
          <a:prstGeom prst="ellipse">
            <a:avLst/>
          </a:prstGeom>
          <a:solidFill>
            <a:srgbClr val="FF9755"/>
          </a:solidFill>
          <a:ln w="12700">
            <a:solidFill>
              <a:srgbClr val="FF9755"/>
            </a:solidFill>
            <a:prstDash val="solid"/>
          </a:ln>
        </p:spPr>
      </p:sp>
      <p:sp>
        <p:nvSpPr>
          <p:cNvPr id="9" name="Text 6"/>
          <p:cNvSpPr/>
          <p:nvPr/>
        </p:nvSpPr>
        <p:spPr>
          <a:xfrm>
            <a:off x="8659368" y="3108960"/>
            <a:ext cx="2846527" cy="914400"/>
          </a:xfrm>
          <a:prstGeom prst="rect">
            <a:avLst/>
          </a:prstGeom>
          <a:noFill/>
          <a:ln/>
        </p:spPr>
        <p:txBody>
          <a:bodyPr wrap="square" lIns="0" tIns="0" rIns="0" bIns="0" rtlCol="0" anchor="ctr"/>
          <a:lstStyle/>
          <a:p>
            <a:pPr indent="0" marL="0">
              <a:buNone/>
            </a:pPr>
            <a:r>
              <a:rPr lang="en-US" sz="2000" dirty="0">
                <a:solidFill>
                  <a:srgbClr val="3C3828"/>
                </a:solidFill>
                <a:latin typeface="Calibri" pitchFamily="34" charset="0"/>
                <a:ea typeface="Calibri" pitchFamily="34" charset="-122"/>
                <a:cs typeface="Calibri" pitchFamily="34" charset="-120"/>
              </a:rPr>
              <a:t>Open it to see your assignments</a:t>
            </a:r>
            <a:endParaRPr lang="en-US" sz="2000" dirty="0"/>
          </a:p>
        </p:txBody>
      </p:sp>
      <p:sp>
        <p:nvSpPr>
          <p:cNvPr id="10" name="Shape 7"/>
          <p:cNvSpPr/>
          <p:nvPr/>
        </p:nvSpPr>
        <p:spPr>
          <a:xfrm>
            <a:off x="8183880" y="4334256"/>
            <a:ext cx="292608" cy="292608"/>
          </a:xfrm>
          <a:prstGeom prst="ellipse">
            <a:avLst/>
          </a:prstGeom>
          <a:solidFill>
            <a:srgbClr val="FC4067"/>
          </a:solidFill>
          <a:ln w="12700">
            <a:solidFill>
              <a:srgbClr val="FC4067"/>
            </a:solidFill>
            <a:prstDash val="solid"/>
          </a:ln>
        </p:spPr>
      </p:sp>
      <p:sp>
        <p:nvSpPr>
          <p:cNvPr id="11" name="Text 8"/>
          <p:cNvSpPr/>
          <p:nvPr/>
        </p:nvSpPr>
        <p:spPr>
          <a:xfrm>
            <a:off x="8659368" y="4023360"/>
            <a:ext cx="2846527" cy="914400"/>
          </a:xfrm>
          <a:prstGeom prst="rect">
            <a:avLst/>
          </a:prstGeom>
          <a:noFill/>
          <a:ln/>
        </p:spPr>
        <p:txBody>
          <a:bodyPr wrap="square" lIns="0" tIns="0" rIns="0" bIns="0" rtlCol="0" anchor="ctr"/>
          <a:lstStyle/>
          <a:p>
            <a:pPr indent="0" marL="0">
              <a:buNone/>
            </a:pPr>
            <a:r>
              <a:rPr lang="en-US" sz="2000" dirty="0">
                <a:solidFill>
                  <a:srgbClr val="3C3828"/>
                </a:solidFill>
                <a:latin typeface="Calibri" pitchFamily="34" charset="0"/>
                <a:ea typeface="Calibri" pitchFamily="34" charset="-122"/>
                <a:cs typeface="Calibri" pitchFamily="34" charset="-120"/>
              </a:rPr>
              <a:t>Start an assignment to open your document</a:t>
            </a:r>
            <a:endParaRPr lang="en-US" sz="2000" dirty="0"/>
          </a:p>
        </p:txBody>
      </p:sp>
      <p:sp>
        <p:nvSpPr>
          <p:cNvPr id="12" name="Shape 9"/>
          <p:cNvSpPr/>
          <p:nvPr/>
        </p:nvSpPr>
        <p:spPr>
          <a:xfrm>
            <a:off x="8183880" y="5248656"/>
            <a:ext cx="292608" cy="292608"/>
          </a:xfrm>
          <a:prstGeom prst="ellipse">
            <a:avLst/>
          </a:prstGeom>
          <a:solidFill>
            <a:srgbClr val="02BDC7"/>
          </a:solidFill>
          <a:ln w="12700">
            <a:solidFill>
              <a:srgbClr val="02BDC7"/>
            </a:solidFill>
            <a:prstDash val="solid"/>
          </a:ln>
        </p:spPr>
      </p:sp>
      <p:sp>
        <p:nvSpPr>
          <p:cNvPr id="13" name="Text 10"/>
          <p:cNvSpPr/>
          <p:nvPr/>
        </p:nvSpPr>
        <p:spPr>
          <a:xfrm>
            <a:off x="8659368" y="4937760"/>
            <a:ext cx="2846527" cy="914400"/>
          </a:xfrm>
          <a:prstGeom prst="rect">
            <a:avLst/>
          </a:prstGeom>
          <a:noFill/>
          <a:ln/>
        </p:spPr>
        <p:txBody>
          <a:bodyPr wrap="square" lIns="0" tIns="0" rIns="0" bIns="0" rtlCol="0" anchor="ctr"/>
          <a:lstStyle/>
          <a:p>
            <a:pPr indent="0" marL="0">
              <a:buNone/>
            </a:pPr>
            <a:r>
              <a:rPr lang="en-US" sz="2000" dirty="0">
                <a:solidFill>
                  <a:srgbClr val="3C3828"/>
                </a:solidFill>
                <a:latin typeface="Calibri" pitchFamily="34" charset="0"/>
                <a:ea typeface="Calibri" pitchFamily="34" charset="-122"/>
                <a:cs typeface="Calibri" pitchFamily="34" charset="-120"/>
              </a:rPr>
              <a:t>The </a:t>
            </a:r>
            <a:r>
              <a:rPr lang="en-US" sz="2000" dirty="0">
                <a:solidFill>
                  <a:srgbClr val="3C3828"/>
                </a:solidFill>
                <a:highlight>
                  <a:srgbClr val="FFE14D"/>
                </a:highlight>
                <a:latin typeface="Calibri" pitchFamily="34" charset="0"/>
                <a:ea typeface="Calibri" pitchFamily="34" charset="-122"/>
                <a:cs typeface="Calibri" pitchFamily="34" charset="-120"/>
              </a:rPr>
              <a:t>Tutor</a:t>
            </a:r>
            <a:r>
              <a:rPr lang="en-US" sz="2000" dirty="0">
                <a:solidFill>
                  <a:srgbClr val="3C3828"/>
                </a:solidFill>
                <a:latin typeface="Calibri" pitchFamily="34" charset="0"/>
                <a:ea typeface="Calibri" pitchFamily="34" charset="-122"/>
                <a:cs typeface="Calibri" pitchFamily="34" charset="-120"/>
              </a:rPr>
              <a:t> guides you from the left</a:t>
            </a:r>
            <a:endParaRPr lang="en-US" sz="2000" dirty="0"/>
          </a:p>
        </p:txBody>
      </p:sp>
      <p:sp>
        <p:nvSpPr>
          <p:cNvPr id="25" name="Slide Number Placeholder 0"/>
          <p:cNvSpPr>
            <a:spLocks noGrp="1"/>
          </p:cNvSpPr>
          <p:nvPr>
            <p:ph type="sldNum" sz="quarter" idx="4294967295"/>
          </p:nvPr>
        </p:nvSpPr>
        <p:spPr>
          <a:xfrm>
            <a:off x="10957255"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7E7C78"/>
                </a:solidFill>
                <a:latin typeface="Consolas"/>
                <a:ea typeface="Consolas"/>
                <a:cs typeface="Consolas"/>
              </a:defRPr>
            </a:lvl1pPr>
          </a:lstStyle>
          <a:p>
            <a:pPr algn="r"/>
            <a:fld id="{F7021451-1387-4CA6-816F-3879F97B5CBC}" type="slidenum">
              <a:rPr b="0" lang="en-US"/>
              <a:t>15</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YAWP!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Introduce Students to YAWP!</dc:title>
  <dc:subject>Thesis-Driven Essay · Lesson 1</dc:subject>
  <dc:creator>PptxGenJS</dc:creator>
  <cp:lastModifiedBy>PptxGenJS</cp:lastModifiedBy>
  <cp:revision>1</cp:revision>
  <dcterms:created xsi:type="dcterms:W3CDTF">2026-10-13T22:56:19Z</dcterms:created>
  <dcterms:modified xsi:type="dcterms:W3CDTF">2026-10-13T22:56:19Z</dcterms:modified>
</cp:coreProperties>
</file>