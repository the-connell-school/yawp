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light day of definition and context: what we are doing and why. Brian takes a full class period; you can also fold it into another lesson. Goals: students understand the purpose of YAWP!, read a sample essay, and create their YAWP! accounts. Have the sample essay (“Bored in the USA,” or your own) printed or shared, and your class’s join link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How Brian plays it: let students ask questions and "vibe it out," take guesses, then a vote by show of hands for each one. The reveal: he was not born in Canada.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"Here’s my blonde-haired, blue-eyed twin brother Patrick and me, on our first day of kindergarten at a school that made us wear these uniforms. I’m obviously the handsome fella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Brian’s own slides, left as an example. Make your own the same way: three statements about you, two true and one believable lie, and a photo or two that make you human (self-deprecating works best). Or delete these slides and play the game without them. Brian’s line: "A short 12 or 13 years later, I looked like this. My wife and I did in fact meet in high school; this is us in our freshman year of college."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write three statements at their desks. Keep the lies believable ("I have eight children" or "I can fly" won’t work). Then share with a neighbor or table and guess. Watch the room come to life. Invite a few to try to stump the whole class, or you. The point is to disarm the room and have fun together at the top of the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introduce the program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think "yawp" means. A yell, a sound, a scream from a rooftop: all good. Say "yes, and" to every answer; how you respond matters to the whole room, not just the student who spoke. Then Brian’s framing: your yawp is your voice. Imagine everything inside you, your thoughts, opinions, experiences, relationships, the music in your head, and give it all one big, mighty sound. That is your yawp, and it is unique to you. In this program we unleash it through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a quick discussion. How might a happy person express it without words? (Smile, laugh.) An angry one? Then: writing articulates something for yourself and others, and it lasts. That permanence is why writing is power. Most students hear this and think, "I want some of that." Day 1 is about getting them to buy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"Bored in the USA" (the Sample essay handout, next to this deck in the Modules), or your own sample, as long as it follows our form (intro ending in a thesis, body paragraphs, conclusion). Everyone has a copy. Before reading, ask everyone to underline or highlight anything interesting, at least one thing per paragraph. Volunteers read aloud, a paragraph each. Don’t overanalyze.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simple: "Tell me one thing you underlined and why." The point is that they’re talking. The question you must land is the third: the main point is the thesis statement, the last sentence of the introduction. Have everyone underline it. It’s one sentence that captures the main argument of the whole essay, and you’ll come back to it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essay they just read and the one they are about to write. Point at the thesis: the most important part, the last sentence of the intro. Don’t spend long here; it’s also a handout, and you’ll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tell them the topic is coming later. This is a writing class: they’ll spend real time writing and thinking about what they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sign-up flow. Each class has its own join link and QR code on its Students tab. The class code shown there is for your reference only; it is not enough to join. Students pick a display name, a handle and a password. Keep a note of handles and passwords, or give the class a pattern to follow, to avoid the inevitable forgotten passwords; you can reset a student’s password from the Students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students sign up. Handles are 3 to 30 characters: letters, numbers, dots, underscores and hyphens. Already have an account? They can log in from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they’re in, have them open the class and start the first assignment you’ve given them, which creates their document. Next class they open the same document (not a new one) and begin pre-writing.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students leave, make sure everyone has joined your class and started the assignment. Collect any forgotten handles now; it saves time next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1</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Day 1</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Introduce students to YAWP!</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2 Truths and a Lie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The rules: the </a:t>
            </a:r>
            <a:r>
              <a:rPr lang="en-US" sz="2200" dirty="0">
                <a:solidFill>
                  <a:srgbClr val="3C3828"/>
                </a:solidFill>
                <a:highlight>
                  <a:srgbClr val="FFE14D"/>
                </a:highlight>
                <a:latin typeface="Calibri" pitchFamily="34" charset="0"/>
                <a:ea typeface="Calibri" pitchFamily="34" charset="-122"/>
                <a:cs typeface="Calibri" pitchFamily="34" charset="-120"/>
              </a:rPr>
              <a:t>truths have to be true,</a:t>
            </a:r>
            <a:r>
              <a:rPr lang="en-US" sz="2200" dirty="0">
                <a:solidFill>
                  <a:srgbClr val="3C3828"/>
                </a:solidFill>
                <a:latin typeface="Calibri" pitchFamily="34" charset="0"/>
                <a:ea typeface="Calibri" pitchFamily="34" charset="-122"/>
                <a:cs typeface="Calibri" pitchFamily="34" charset="-120"/>
              </a:rPr>
              <a:t> and the </a:t>
            </a:r>
            <a:r>
              <a:rPr lang="en-US" sz="2200" dirty="0">
                <a:solidFill>
                  <a:srgbClr val="3C3828"/>
                </a:solidFill>
                <a:highlight>
                  <a:srgbClr val="FFE14D"/>
                </a:highlight>
                <a:latin typeface="Calibri" pitchFamily="34" charset="0"/>
                <a:ea typeface="Calibri" pitchFamily="34" charset="-122"/>
                <a:cs typeface="Calibri" pitchFamily="34" charset="-120"/>
              </a:rPr>
              <a:t>lie has to be believable.</a:t>
            </a:r>
            <a:r>
              <a:rPr lang="en-US" sz="2200" dirty="0">
                <a:solidFill>
                  <a:srgbClr val="3C3828"/>
                </a:solidFill>
                <a:latin typeface="Calibri" pitchFamily="34" charset="0"/>
                <a:ea typeface="Calibri" pitchFamily="34" charset="-122"/>
                <a:cs typeface="Calibri" pitchFamily="34" charset="-120"/>
              </a:rPr>
              <a:t> Which one is the lie?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02BDC7"/>
          </a:solidFill>
          <a:ln w="12700">
            <a:solidFill>
              <a:srgbClr val="02BDC7"/>
            </a:solidFill>
            <a:prstDash val="solid"/>
          </a:ln>
        </p:spPr>
      </p:sp>
      <p:sp>
        <p:nvSpPr>
          <p:cNvPr id="11" name="Shape 8"/>
          <p:cNvSpPr/>
          <p:nvPr/>
        </p:nvSpPr>
        <p:spPr>
          <a:xfrm>
            <a:off x="1005840" y="3337560"/>
            <a:ext cx="731520" cy="731520"/>
          </a:xfrm>
          <a:prstGeom prst="ellipse">
            <a:avLst/>
          </a:prstGeom>
          <a:solidFill>
            <a:srgbClr val="02BDC7"/>
          </a:solidFill>
          <a:ln w="12700">
            <a:solidFill>
              <a:srgbClr val="02BDC7"/>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have a twin who is a blonde-haired version of me.</a:t>
            </a:r>
            <a:endParaRPr lang="en-US" sz="28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FB600"/>
          </a:solidFill>
          <a:ln w="12700">
            <a:solidFill>
              <a:srgbClr val="FFB600"/>
            </a:solidFill>
            <a:prstDash val="solid"/>
          </a:ln>
        </p:spPr>
      </p:sp>
      <p:sp>
        <p:nvSpPr>
          <p:cNvPr id="16" name="Shape 13"/>
          <p:cNvSpPr/>
          <p:nvPr/>
        </p:nvSpPr>
        <p:spPr>
          <a:xfrm>
            <a:off x="4719218" y="3337560"/>
            <a:ext cx="731520" cy="731520"/>
          </a:xfrm>
          <a:prstGeom prst="ellipse">
            <a:avLst/>
          </a:prstGeom>
          <a:solidFill>
            <a:srgbClr val="FFB600"/>
          </a:solidFill>
          <a:ln w="12700">
            <a:solidFill>
              <a:srgbClr val="FFB60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was born in Canada.</a:t>
            </a:r>
            <a:endParaRPr lang="en-US" sz="28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C4540"/>
          </a:solidFill>
          <a:ln w="12700">
            <a:solidFill>
              <a:srgbClr val="FC4540"/>
            </a:solidFill>
            <a:prstDash val="solid"/>
          </a:ln>
        </p:spPr>
      </p:sp>
      <p:sp>
        <p:nvSpPr>
          <p:cNvPr id="21" name="Shape 18"/>
          <p:cNvSpPr/>
          <p:nvPr/>
        </p:nvSpPr>
        <p:spPr>
          <a:xfrm>
            <a:off x="8432597" y="3337560"/>
            <a:ext cx="731520" cy="731520"/>
          </a:xfrm>
          <a:prstGeom prst="ellipse">
            <a:avLst/>
          </a:prstGeom>
          <a:solidFill>
            <a:srgbClr val="FC4540"/>
          </a:solidFill>
          <a:ln w="12700">
            <a:solidFill>
              <a:srgbClr val="FC4540"/>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 met my wife in high school.</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Brian Connell</a:t>
            </a:r>
            <a:endParaRPr lang="en-US" sz="3600" dirty="0"/>
          </a:p>
        </p:txBody>
      </p:sp>
      <p:sp>
        <p:nvSpPr>
          <p:cNvPr id="4" name="Shape 2"/>
          <p:cNvSpPr/>
          <p:nvPr/>
        </p:nvSpPr>
        <p:spPr>
          <a:xfrm>
            <a:off x="685800" y="1920240"/>
            <a:ext cx="2862813" cy="4206240"/>
          </a:xfrm>
          <a:prstGeom prst="roundRect">
            <a:avLst>
              <a:gd name="adj" fmla="val 447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childhood photo of Brian.">    </p:cNvPr>
          <p:cNvPicPr>
            <a:picLocks noChangeAspect="1"/>
          </p:cNvPicPr>
          <p:nvPr/>
        </p:nvPicPr>
        <p:blipFill>
          <a:blip r:embed="rId1"/>
          <a:stretch>
            <a:fillRect/>
          </a:stretch>
        </p:blipFill>
        <p:spPr>
          <a:xfrm>
            <a:off x="813816" y="2048256"/>
            <a:ext cx="2606781" cy="3950208"/>
          </a:xfrm>
          <a:prstGeom prst="rect">
            <a:avLst/>
          </a:prstGeom>
        </p:spPr>
      </p:pic>
      <p:sp>
        <p:nvSpPr>
          <p:cNvPr id="6" name="Text 3"/>
          <p:cNvSpPr/>
          <p:nvPr/>
        </p:nvSpPr>
        <p:spPr>
          <a:xfrm>
            <a:off x="4051533" y="1965960"/>
            <a:ext cx="745436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I’m here because I love writing and helping other people become better writers.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 am also Brian Connell</a:t>
            </a:r>
            <a:endParaRPr lang="en-US" sz="3600" dirty="0"/>
          </a:p>
        </p:txBody>
      </p:sp>
      <p:sp>
        <p:nvSpPr>
          <p:cNvPr id="4" name="Shape 2"/>
          <p:cNvSpPr/>
          <p:nvPr/>
        </p:nvSpPr>
        <p:spPr>
          <a:xfrm>
            <a:off x="685800" y="1920240"/>
            <a:ext cx="3141536" cy="4206240"/>
          </a:xfrm>
          <a:prstGeom prst="roundRect">
            <a:avLst>
              <a:gd name="adj" fmla="val 407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A photo of Brian from the 1990s.">    </p:cNvPr>
          <p:cNvPicPr>
            <a:picLocks noChangeAspect="1"/>
          </p:cNvPicPr>
          <p:nvPr/>
        </p:nvPicPr>
        <p:blipFill>
          <a:blip r:embed="rId1"/>
          <a:stretch>
            <a:fillRect/>
          </a:stretch>
        </p:blipFill>
        <p:spPr>
          <a:xfrm>
            <a:off x="813816" y="2048256"/>
            <a:ext cx="2885503" cy="3950208"/>
          </a:xfrm>
          <a:prstGeom prst="rect">
            <a:avLst/>
          </a:prstGeom>
        </p:spPr>
      </p:pic>
      <p:sp>
        <p:nvSpPr>
          <p:cNvPr id="6" name="Text 3"/>
          <p:cNvSpPr/>
          <p:nvPr/>
        </p:nvSpPr>
        <p:spPr>
          <a:xfrm>
            <a:off x="4330256" y="1965960"/>
            <a:ext cx="7175640"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(The late 1900s were amazing.)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2 TRUTHS AND A LIE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turn…</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Write your own. Remember, the truths have to be true, and </a:t>
            </a:r>
            <a:r>
              <a:rPr lang="en-US" sz="4000" dirty="0">
                <a:solidFill>
                  <a:srgbClr val="3C3828"/>
                </a:solidFill>
                <a:highlight>
                  <a:srgbClr val="FFE14D"/>
                </a:highlight>
                <a:latin typeface="Georgia" pitchFamily="34" charset="0"/>
                <a:ea typeface="Georgia" pitchFamily="34" charset="-122"/>
                <a:cs typeface="Georgia" pitchFamily="34" charset="-120"/>
              </a:rPr>
              <a:t>the lie has to be believable!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WHAT IS A YAWP?</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YAWP!</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Writing Program</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WALT WHITMAN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you think “yawp” means?</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9219895" cy="2880360"/>
          </a:xfrm>
          <a:prstGeom prst="rect">
            <a:avLst/>
          </a:prstGeom>
          <a:noFill/>
          <a:ln/>
        </p:spPr>
        <p:txBody>
          <a:bodyPr wrap="square" lIns="0" tIns="0" rIns="0" bIns="0" rtlCol="0" anchor="ctr"/>
          <a:lstStyle/>
          <a:p>
            <a:pPr indent="0" marL="0">
              <a:lnSpc>
                <a:spcPct val="120000"/>
              </a:lnSpc>
              <a:buNone/>
            </a:pPr>
            <a:r>
              <a:rPr lang="en-US" sz="3000" i="1" dirty="0">
                <a:solidFill>
                  <a:srgbClr val="3C3828"/>
                </a:solidFill>
                <a:latin typeface="Georgia" pitchFamily="34" charset="0"/>
                <a:ea typeface="Georgia" pitchFamily="34" charset="-122"/>
                <a:cs typeface="Georgia" pitchFamily="34" charset="-120"/>
              </a:rPr>
              <a:t>I sound my barbaric yawp over the roofs of the world.</a:t>
            </a:r>
            <a:endParaRPr lang="en-US" sz="3000" dirty="0"/>
          </a:p>
        </p:txBody>
      </p:sp>
      <p:sp>
        <p:nvSpPr>
          <p:cNvPr id="8" name="Text 6"/>
          <p:cNvSpPr/>
          <p:nvPr/>
        </p:nvSpPr>
        <p:spPr>
          <a:xfrm>
            <a:off x="1828800" y="5349240"/>
            <a:ext cx="9219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Walt Whitman, “Song of Myself”</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WHY DO WE 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Why do we write?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06349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42925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we have </a:t>
            </a:r>
            <a:r>
              <a:rPr lang="en-US" sz="2200" dirty="0">
                <a:solidFill>
                  <a:srgbClr val="3C3828"/>
                </a:solidFill>
                <a:highlight>
                  <a:srgbClr val="FFE14D"/>
                </a:highlight>
                <a:latin typeface="Calibri" pitchFamily="34" charset="0"/>
                <a:ea typeface="Calibri" pitchFamily="34" charset="-122"/>
                <a:cs typeface="Calibri" pitchFamily="34" charset="-120"/>
              </a:rPr>
              <a:t>things to say!</a:t>
            </a:r>
            <a:r>
              <a:rPr lang="en-US" sz="2200" dirty="0">
                <a:solidFill>
                  <a:srgbClr val="3C3828"/>
                </a:solidFill>
                <a:latin typeface="Calibri" pitchFamily="34" charset="0"/>
                <a:ea typeface="Calibri" pitchFamily="34" charset="-122"/>
                <a:cs typeface="Calibri" pitchFamily="34" charset="-120"/>
              </a:rPr>
              <a:t> (Our individual “yawp.”)</a:t>
            </a:r>
            <a:endParaRPr lang="en-US" sz="2200" dirty="0"/>
          </a:p>
        </p:txBody>
      </p:sp>
      <p:sp>
        <p:nvSpPr>
          <p:cNvPr id="13" name="Shape 10"/>
          <p:cNvSpPr/>
          <p:nvPr/>
        </p:nvSpPr>
        <p:spPr>
          <a:xfrm>
            <a:off x="4399178"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06349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42925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writing is one of the most effective ways of </a:t>
            </a:r>
            <a:r>
              <a:rPr lang="en-US" sz="2200" dirty="0">
                <a:solidFill>
                  <a:srgbClr val="3C3828"/>
                </a:solidFill>
                <a:highlight>
                  <a:srgbClr val="FFE14D"/>
                </a:highlight>
                <a:latin typeface="Calibri" pitchFamily="34" charset="0"/>
                <a:ea typeface="Calibri" pitchFamily="34" charset="-122"/>
                <a:cs typeface="Calibri" pitchFamily="34" charset="-120"/>
              </a:rPr>
              <a:t>expressing ourselves.</a:t>
            </a:r>
            <a:r>
              <a:rPr lang="en-US" sz="2200" dirty="0">
                <a:solidFill>
                  <a:srgbClr val="3C3828"/>
                </a:solidFill>
                <a:latin typeface="Calibri" pitchFamily="34" charset="0"/>
                <a:ea typeface="Calibri" pitchFamily="34" charset="-122"/>
                <a:cs typeface="Calibri" pitchFamily="34" charset="-120"/>
              </a:rPr>
              <a:t> (What other ways can we express ourselves?)</a:t>
            </a:r>
            <a:endParaRPr lang="en-US" sz="2200" dirty="0"/>
          </a:p>
        </p:txBody>
      </p:sp>
      <p:sp>
        <p:nvSpPr>
          <p:cNvPr id="18" name="Shape 15"/>
          <p:cNvSpPr/>
          <p:nvPr/>
        </p:nvSpPr>
        <p:spPr>
          <a:xfrm>
            <a:off x="8112557" y="2063496"/>
            <a:ext cx="3393338" cy="391972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06349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42925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42925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343656"/>
            <a:ext cx="2753258" cy="2456688"/>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Because </a:t>
            </a:r>
            <a:r>
              <a:rPr lang="en-US" sz="2200" dirty="0">
                <a:solidFill>
                  <a:srgbClr val="3C3828"/>
                </a:solidFill>
                <a:highlight>
                  <a:srgbClr val="FFE14D"/>
                </a:highlight>
                <a:latin typeface="Calibri" pitchFamily="34" charset="0"/>
                <a:ea typeface="Calibri" pitchFamily="34" charset="-122"/>
                <a:cs typeface="Calibri" pitchFamily="34" charset="-120"/>
              </a:rPr>
              <a:t>writing is power.</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SAMPLE ESSAY</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“Bored in the USA”</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Highlight anything you find interesting.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CLASS DISCUSSION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Class discussion</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652268"/>
            <a:ext cx="3137306" cy="91440"/>
          </a:xfrm>
          <a:prstGeom prst="rect">
            <a:avLst/>
          </a:prstGeom>
          <a:solidFill>
            <a:srgbClr val="02BDC7"/>
          </a:solidFill>
          <a:ln w="12700">
            <a:solidFill>
              <a:srgbClr val="02BDC7"/>
            </a:solidFill>
            <a:prstDash val="solid"/>
          </a:ln>
        </p:spPr>
      </p:sp>
      <p:sp>
        <p:nvSpPr>
          <p:cNvPr id="10" name="Shape 7"/>
          <p:cNvSpPr/>
          <p:nvPr/>
        </p:nvSpPr>
        <p:spPr>
          <a:xfrm>
            <a:off x="1005840" y="3018028"/>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do you like about this essay?</a:t>
            </a:r>
            <a:endParaRPr lang="en-US" sz="2800" dirty="0"/>
          </a:p>
        </p:txBody>
      </p:sp>
      <p:sp>
        <p:nvSpPr>
          <p:cNvPr id="13" name="Shape 10"/>
          <p:cNvSpPr/>
          <p:nvPr/>
        </p:nvSpPr>
        <p:spPr>
          <a:xfrm>
            <a:off x="4399178"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652268"/>
            <a:ext cx="3137306" cy="91440"/>
          </a:xfrm>
          <a:prstGeom prst="rect">
            <a:avLst/>
          </a:prstGeom>
          <a:solidFill>
            <a:srgbClr val="FFB600"/>
          </a:solidFill>
          <a:ln w="12700">
            <a:solidFill>
              <a:srgbClr val="FFB600"/>
            </a:solidFill>
            <a:prstDash val="solid"/>
          </a:ln>
        </p:spPr>
      </p:sp>
      <p:sp>
        <p:nvSpPr>
          <p:cNvPr id="15" name="Shape 12"/>
          <p:cNvSpPr/>
          <p:nvPr/>
        </p:nvSpPr>
        <p:spPr>
          <a:xfrm>
            <a:off x="4719218" y="3018028"/>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Do you agree with the writer?</a:t>
            </a:r>
            <a:endParaRPr lang="en-US" sz="2800" dirty="0"/>
          </a:p>
        </p:txBody>
      </p:sp>
      <p:sp>
        <p:nvSpPr>
          <p:cNvPr id="18" name="Shape 15"/>
          <p:cNvSpPr/>
          <p:nvPr/>
        </p:nvSpPr>
        <p:spPr>
          <a:xfrm>
            <a:off x="8112557" y="2652268"/>
            <a:ext cx="3393338" cy="2742184"/>
          </a:xfrm>
          <a:prstGeom prst="roundRect">
            <a:avLst>
              <a:gd name="adj" fmla="val 46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652268"/>
            <a:ext cx="3137306" cy="91440"/>
          </a:xfrm>
          <a:prstGeom prst="rect">
            <a:avLst/>
          </a:prstGeom>
          <a:solidFill>
            <a:srgbClr val="FC4540"/>
          </a:solidFill>
          <a:ln w="12700">
            <a:solidFill>
              <a:srgbClr val="FC4540"/>
            </a:solidFill>
            <a:prstDash val="solid"/>
          </a:ln>
        </p:spPr>
      </p:sp>
      <p:sp>
        <p:nvSpPr>
          <p:cNvPr id="20" name="Shape 17"/>
          <p:cNvSpPr/>
          <p:nvPr/>
        </p:nvSpPr>
        <p:spPr>
          <a:xfrm>
            <a:off x="8432597" y="3018028"/>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3018028"/>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932428"/>
            <a:ext cx="2753258" cy="1279144"/>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What is the </a:t>
            </a:r>
            <a:r>
              <a:rPr lang="en-US" sz="2800" dirty="0">
                <a:solidFill>
                  <a:srgbClr val="3C3828"/>
                </a:solidFill>
                <a:highlight>
                  <a:srgbClr val="FFE14D"/>
                </a:highlight>
                <a:latin typeface="Calibri" pitchFamily="34" charset="0"/>
                <a:ea typeface="Calibri" pitchFamily="34" charset="-122"/>
                <a:cs typeface="Calibri" pitchFamily="34" charset="-120"/>
              </a:rPr>
              <a:t>main point or argument?</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348484"/>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34848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211324"/>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2942844"/>
            <a:ext cx="6014352" cy="1018032"/>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sentence you just underlined</a:t>
            </a:r>
            <a:endParaRPr lang="en-US" sz="2400" dirty="0"/>
          </a:p>
        </p:txBody>
      </p:sp>
      <p:sp>
        <p:nvSpPr>
          <p:cNvPr id="20" name="Shape 17"/>
          <p:cNvSpPr/>
          <p:nvPr/>
        </p:nvSpPr>
        <p:spPr>
          <a:xfrm>
            <a:off x="4851464" y="4098036"/>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409803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96087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23" name="Shape 20"/>
          <p:cNvSpPr/>
          <p:nvPr/>
        </p:nvSpPr>
        <p:spPr>
          <a:xfrm>
            <a:off x="4851464" y="4829556"/>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82955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692396"/>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r>
              <a:rPr lang="en-US" sz="2200" dirty="0">
                <a:solidFill>
                  <a:srgbClr val="3C3828"/>
                </a:solidFill>
                <a:latin typeface="Calibri" pitchFamily="34" charset="0"/>
                <a:ea typeface="Calibri" pitchFamily="34" charset="-122"/>
                <a:cs typeface="Calibri" pitchFamily="34" charset="-120"/>
              </a:rPr>
              <a:t> like the one we just read. To accomplish this, we will:</a:t>
            </a:r>
            <a:endParaRPr lang="en-US" sz="2200" dirty="0"/>
          </a:p>
        </p:txBody>
      </p:sp>
      <p:sp>
        <p:nvSpPr>
          <p:cNvPr id="9" name="Shape 6"/>
          <p:cNvSpPr/>
          <p:nvPr/>
        </p:nvSpPr>
        <p:spPr>
          <a:xfrm>
            <a:off x="685800"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84754"/>
            <a:ext cx="3137306" cy="91440"/>
          </a:xfrm>
          <a:prstGeom prst="rect">
            <a:avLst/>
          </a:prstGeom>
          <a:solidFill>
            <a:srgbClr val="FF9755"/>
          </a:solidFill>
          <a:ln w="12700">
            <a:solidFill>
              <a:srgbClr val="FF9755"/>
            </a:solidFill>
            <a:prstDash val="solid"/>
          </a:ln>
        </p:spPr>
      </p:sp>
      <p:sp>
        <p:nvSpPr>
          <p:cNvPr id="11" name="Shape 8"/>
          <p:cNvSpPr/>
          <p:nvPr/>
        </p:nvSpPr>
        <p:spPr>
          <a:xfrm>
            <a:off x="1005840" y="3350514"/>
            <a:ext cx="731520" cy="731520"/>
          </a:xfrm>
          <a:prstGeom prst="ellipse">
            <a:avLst/>
          </a:prstGeom>
          <a:solidFill>
            <a:srgbClr val="FF9755"/>
          </a:solidFill>
          <a:ln w="12700">
            <a:solidFill>
              <a:srgbClr val="FF9755"/>
            </a:solidFill>
            <a:prstDash val="solid"/>
          </a:ln>
        </p:spPr>
      </p:sp>
      <p:sp>
        <p:nvSpPr>
          <p:cNvPr id="12" name="Text 9"/>
          <p:cNvSpPr/>
          <p:nvPr/>
        </p:nvSpPr>
        <p:spPr>
          <a:xfrm>
            <a:off x="1005840"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84754"/>
            <a:ext cx="3137306" cy="91440"/>
          </a:xfrm>
          <a:prstGeom prst="rect">
            <a:avLst/>
          </a:prstGeom>
          <a:solidFill>
            <a:srgbClr val="FC4067"/>
          </a:solidFill>
          <a:ln w="12700">
            <a:solidFill>
              <a:srgbClr val="FC4067"/>
            </a:solidFill>
            <a:prstDash val="solid"/>
          </a:ln>
        </p:spPr>
      </p:sp>
      <p:sp>
        <p:nvSpPr>
          <p:cNvPr id="16" name="Shape 13"/>
          <p:cNvSpPr/>
          <p:nvPr/>
        </p:nvSpPr>
        <p:spPr>
          <a:xfrm>
            <a:off x="4719218" y="3350514"/>
            <a:ext cx="731520" cy="731520"/>
          </a:xfrm>
          <a:prstGeom prst="ellipse">
            <a:avLst/>
          </a:prstGeom>
          <a:solidFill>
            <a:srgbClr val="FC4067"/>
          </a:solidFill>
          <a:ln w="12700">
            <a:solidFill>
              <a:srgbClr val="FC4067"/>
            </a:solidFill>
            <a:prstDash val="solid"/>
          </a:ln>
        </p:spPr>
      </p:sp>
      <p:sp>
        <p:nvSpPr>
          <p:cNvPr id="17" name="Text 14"/>
          <p:cNvSpPr/>
          <p:nvPr/>
        </p:nvSpPr>
        <p:spPr>
          <a:xfrm>
            <a:off x="4719218"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84754"/>
            <a:ext cx="3393338" cy="3083052"/>
          </a:xfrm>
          <a:prstGeom prst="roundRect">
            <a:avLst>
              <a:gd name="adj" fmla="val 41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84754"/>
            <a:ext cx="3137306" cy="91440"/>
          </a:xfrm>
          <a:prstGeom prst="rect">
            <a:avLst/>
          </a:prstGeom>
          <a:solidFill>
            <a:srgbClr val="02BDC7"/>
          </a:solidFill>
          <a:ln w="12700">
            <a:solidFill>
              <a:srgbClr val="02BDC7"/>
            </a:solidFill>
            <a:prstDash val="solid"/>
          </a:ln>
        </p:spPr>
      </p:sp>
      <p:sp>
        <p:nvSpPr>
          <p:cNvPr id="21" name="Shape 18"/>
          <p:cNvSpPr/>
          <p:nvPr/>
        </p:nvSpPr>
        <p:spPr>
          <a:xfrm>
            <a:off x="8432597" y="3350514"/>
            <a:ext cx="731520" cy="731520"/>
          </a:xfrm>
          <a:prstGeom prst="ellipse">
            <a:avLst/>
          </a:prstGeom>
          <a:solidFill>
            <a:srgbClr val="02BDC7"/>
          </a:solidFill>
          <a:ln w="12700">
            <a:solidFill>
              <a:srgbClr val="02BDC7"/>
            </a:solidFill>
            <a:prstDash val="solid"/>
          </a:ln>
        </p:spPr>
      </p:sp>
      <p:sp>
        <p:nvSpPr>
          <p:cNvPr id="22" name="Text 19"/>
          <p:cNvSpPr/>
          <p:nvPr/>
        </p:nvSpPr>
        <p:spPr>
          <a:xfrm>
            <a:off x="8432597" y="3350514"/>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64914"/>
            <a:ext cx="2753258" cy="1620012"/>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GET EVERYONE IN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Share your class’s join link</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your class in YAWP! and go to its </a:t>
            </a:r>
            <a:r>
              <a:rPr lang="en-US" sz="2000" dirty="0">
                <a:solidFill>
                  <a:srgbClr val="3C3828"/>
                </a:solidFill>
                <a:highlight>
                  <a:srgbClr val="FFE14D"/>
                </a:highlight>
                <a:latin typeface="Calibri" pitchFamily="34" charset="0"/>
                <a:ea typeface="Calibri" pitchFamily="34" charset="-122"/>
                <a:cs typeface="Calibri" pitchFamily="34" charset="-120"/>
              </a:rPr>
              <a:t>Students</a:t>
            </a:r>
            <a:r>
              <a:rPr lang="en-US" sz="2000" dirty="0">
                <a:solidFill>
                  <a:srgbClr val="3C3828"/>
                </a:solidFill>
                <a:latin typeface="Calibri" pitchFamily="34" charset="0"/>
                <a:ea typeface="Calibri" pitchFamily="34" charset="-122"/>
                <a:cs typeface="Calibri" pitchFamily="34" charset="-120"/>
              </a:rPr>
              <a:t> tab</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Copy the </a:t>
            </a:r>
            <a:r>
              <a:rPr lang="en-US" sz="2000" dirty="0">
                <a:solidFill>
                  <a:srgbClr val="3C3828"/>
                </a:solidFill>
                <a:highlight>
                  <a:srgbClr val="FFE14D"/>
                </a:highlight>
                <a:latin typeface="Calibri" pitchFamily="34" charset="0"/>
                <a:ea typeface="Calibri" pitchFamily="34" charset="-122"/>
                <a:cs typeface="Calibri" pitchFamily="34" charset="-120"/>
              </a:rPr>
              <a:t>join link</a:t>
            </a:r>
            <a:r>
              <a:rPr lang="en-US" sz="2000" dirty="0">
                <a:solidFill>
                  <a:srgbClr val="3C3828"/>
                </a:solidFill>
                <a:latin typeface="Calibri" pitchFamily="34" charset="0"/>
                <a:ea typeface="Calibri" pitchFamily="34" charset="-122"/>
                <a:cs typeface="Calibri" pitchFamily="34" charset="-120"/>
              </a:rPr>
              <a:t>, or put the QR code up on the board</a:t>
            </a:r>
            <a:endParaRPr lang="en-US" sz="2000" dirty="0"/>
          </a:p>
        </p:txBody>
      </p:sp>
      <p:sp>
        <p:nvSpPr>
          <p:cNvPr id="14" name="Shape 11"/>
          <p:cNvSpPr/>
          <p:nvPr/>
        </p:nvSpPr>
        <p:spPr>
          <a:xfrm>
            <a:off x="685800" y="280720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Students open it on their device and create an account</a:t>
            </a:r>
            <a:endParaRPr lang="en-US" sz="2000" dirty="0"/>
          </a:p>
        </p:txBody>
      </p:sp>
      <p:sp>
        <p:nvSpPr>
          <p:cNvPr id="17" name="Shape 14"/>
          <p:cNvSpPr/>
          <p:nvPr/>
        </p:nvSpPr>
        <p:spPr>
          <a:xfrm>
            <a:off x="6324448" y="280720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80720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697480"/>
            <a:ext cx="4449928" cy="6858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No email needed: just a </a:t>
            </a:r>
            <a:r>
              <a:rPr lang="en-US" sz="2000" dirty="0">
                <a:solidFill>
                  <a:srgbClr val="3C3828"/>
                </a:solidFill>
                <a:highlight>
                  <a:srgbClr val="FFE14D"/>
                </a:highlight>
                <a:latin typeface="Calibri" pitchFamily="34" charset="0"/>
                <a:ea typeface="Calibri" pitchFamily="34" charset="-122"/>
                <a:cs typeface="Calibri" pitchFamily="34" charset="-120"/>
              </a:rPr>
              <a:t>handle</a:t>
            </a:r>
            <a:r>
              <a:rPr lang="en-US" sz="2000" dirty="0">
                <a:solidFill>
                  <a:srgbClr val="3C3828"/>
                </a:solidFill>
                <a:latin typeface="Calibri" pitchFamily="34" charset="0"/>
                <a:ea typeface="Calibri" pitchFamily="34" charset="-122"/>
                <a:cs typeface="Calibri" pitchFamily="34" charset="-120"/>
              </a:rPr>
              <a:t> and a password</a:t>
            </a:r>
            <a:endParaRPr lang="en-US" sz="2000" dirty="0"/>
          </a:p>
        </p:txBody>
      </p:sp>
      <p:sp>
        <p:nvSpPr>
          <p:cNvPr id="20" name="Shape 17"/>
          <p:cNvSpPr/>
          <p:nvPr/>
        </p:nvSpPr>
        <p:spPr>
          <a:xfrm>
            <a:off x="1120940" y="3611880"/>
            <a:ext cx="9949815" cy="2606040"/>
          </a:xfrm>
          <a:prstGeom prst="roundRect">
            <a:avLst>
              <a:gd name="adj" fmla="val 491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The class's join link and QR code on the Students tab.">    </p:cNvPr>
          <p:cNvPicPr>
            <a:picLocks noChangeAspect="1"/>
          </p:cNvPicPr>
          <p:nvPr/>
        </p:nvPicPr>
        <p:blipFill>
          <a:blip r:embed="rId2"/>
          <a:stretch>
            <a:fillRect/>
          </a:stretch>
        </p:blipFill>
        <p:spPr>
          <a:xfrm>
            <a:off x="1248956" y="3739896"/>
            <a:ext cx="9693783" cy="23500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FOR STUDENTS</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Create your student account</a:t>
            </a:r>
            <a:endParaRPr lang="en-US" sz="3200" dirty="0"/>
          </a:p>
        </p:txBody>
      </p:sp>
      <p:sp>
        <p:nvSpPr>
          <p:cNvPr id="4" name="Shape 2"/>
          <p:cNvSpPr/>
          <p:nvPr/>
        </p:nvSpPr>
        <p:spPr>
          <a:xfrm>
            <a:off x="685800" y="1417320"/>
            <a:ext cx="1975104" cy="4800600"/>
          </a:xfrm>
          <a:prstGeom prst="roundRect">
            <a:avLst>
              <a:gd name="adj" fmla="val 648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quot;Create your student account&quot; page.">    </p:cNvPr>
          <p:cNvPicPr>
            <a:picLocks noChangeAspect="1"/>
          </p:cNvPicPr>
          <p:nvPr/>
        </p:nvPicPr>
        <p:blipFill>
          <a:blip r:embed="rId1"/>
          <a:stretch>
            <a:fillRect/>
          </a:stretch>
        </p:blipFill>
        <p:spPr>
          <a:xfrm>
            <a:off x="813816" y="1545336"/>
            <a:ext cx="1719072" cy="4544568"/>
          </a:xfrm>
          <a:prstGeom prst="rect">
            <a:avLst/>
          </a:prstGeom>
        </p:spPr>
      </p:pic>
      <p:sp>
        <p:nvSpPr>
          <p:cNvPr id="6" name="Shape 3"/>
          <p:cNvSpPr/>
          <p:nvPr/>
        </p:nvSpPr>
        <p:spPr>
          <a:xfrm>
            <a:off x="2132381" y="283916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132381" y="283916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080809" y="37480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080809" y="37480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080809" y="4179814"/>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080809" y="417981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2080809" y="558863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2080809" y="558863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3118104" y="249174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311810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3758184" y="235458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Open the link or scan the QR code</a:t>
            </a:r>
            <a:endParaRPr lang="en-US" sz="2400" dirty="0"/>
          </a:p>
        </p:txBody>
      </p:sp>
      <p:sp>
        <p:nvSpPr>
          <p:cNvPr id="17" name="Shape 14"/>
          <p:cNvSpPr/>
          <p:nvPr/>
        </p:nvSpPr>
        <p:spPr>
          <a:xfrm>
            <a:off x="3118104" y="322326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311810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3758184" y="308610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Your </a:t>
            </a:r>
            <a:r>
              <a:rPr lang="en-US" sz="2400" dirty="0">
                <a:solidFill>
                  <a:srgbClr val="3C3828"/>
                </a:solidFill>
                <a:highlight>
                  <a:srgbClr val="FFE14D"/>
                </a:highlight>
                <a:latin typeface="Calibri" pitchFamily="34" charset="0"/>
                <a:ea typeface="Calibri" pitchFamily="34" charset="-122"/>
                <a:cs typeface="Calibri" pitchFamily="34" charset="-120"/>
              </a:rPr>
              <a:t>display name</a:t>
            </a:r>
            <a:r>
              <a:rPr lang="en-US" sz="2400" dirty="0">
                <a:solidFill>
                  <a:srgbClr val="3C3828"/>
                </a:solidFill>
                <a:latin typeface="Calibri" pitchFamily="34" charset="0"/>
                <a:ea typeface="Calibri" pitchFamily="34" charset="-122"/>
                <a:cs typeface="Calibri" pitchFamily="34" charset="-120"/>
              </a:rPr>
              <a:t>: what your teacher sees</a:t>
            </a:r>
            <a:endParaRPr lang="en-US" sz="2400" dirty="0"/>
          </a:p>
        </p:txBody>
      </p:sp>
      <p:sp>
        <p:nvSpPr>
          <p:cNvPr id="20" name="Shape 17"/>
          <p:cNvSpPr/>
          <p:nvPr/>
        </p:nvSpPr>
        <p:spPr>
          <a:xfrm>
            <a:off x="3118104" y="39547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311810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3758184" y="381762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a:t>
            </a:r>
            <a:r>
              <a:rPr lang="en-US" sz="2400" dirty="0">
                <a:solidFill>
                  <a:srgbClr val="3C3828"/>
                </a:solidFill>
                <a:highlight>
                  <a:srgbClr val="FFE14D"/>
                </a:highlight>
                <a:latin typeface="Calibri" pitchFamily="34" charset="0"/>
                <a:ea typeface="Calibri" pitchFamily="34" charset="-122"/>
                <a:cs typeface="Calibri" pitchFamily="34" charset="-120"/>
              </a:rPr>
              <a:t>handle</a:t>
            </a:r>
            <a:r>
              <a:rPr lang="en-US" sz="2400" dirty="0">
                <a:solidFill>
                  <a:srgbClr val="3C3828"/>
                </a:solidFill>
                <a:latin typeface="Calibri" pitchFamily="34" charset="0"/>
                <a:ea typeface="Calibri" pitchFamily="34" charset="-122"/>
                <a:cs typeface="Calibri" pitchFamily="34" charset="-120"/>
              </a:rPr>
              <a:t>: how you log in</a:t>
            </a:r>
            <a:endParaRPr lang="en-US" sz="2400" dirty="0"/>
          </a:p>
        </p:txBody>
      </p:sp>
      <p:sp>
        <p:nvSpPr>
          <p:cNvPr id="23" name="Shape 20"/>
          <p:cNvSpPr/>
          <p:nvPr/>
        </p:nvSpPr>
        <p:spPr>
          <a:xfrm>
            <a:off x="3118104" y="4686300"/>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311810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3758184" y="4549140"/>
            <a:ext cx="7747711"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A password, twice, then </a:t>
            </a:r>
            <a:r>
              <a:rPr lang="en-US" sz="2400" dirty="0">
                <a:solidFill>
                  <a:srgbClr val="3C3828"/>
                </a:solidFill>
                <a:highlight>
                  <a:srgbClr val="FFE14D"/>
                </a:highlight>
                <a:latin typeface="Calibri" pitchFamily="34" charset="0"/>
                <a:ea typeface="Calibri" pitchFamily="34" charset="-122"/>
                <a:cs typeface="Calibri" pitchFamily="34" charset="-120"/>
              </a:rPr>
              <a:t>Join class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YOU’RE IN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YAWP! dashboard</a:t>
            </a:r>
            <a:endParaRPr lang="en-US" sz="3200" dirty="0"/>
          </a:p>
        </p:txBody>
      </p:sp>
      <p:sp>
        <p:nvSpPr>
          <p:cNvPr id="4" name="Shape 2"/>
          <p:cNvSpPr/>
          <p:nvPr/>
        </p:nvSpPr>
        <p:spPr>
          <a:xfrm>
            <a:off x="685800" y="1525451"/>
            <a:ext cx="7436815" cy="4584338"/>
          </a:xfrm>
          <a:prstGeom prst="roundRect">
            <a:avLst>
              <a:gd name="adj" fmla="val 279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student dashboard after joining.">    </p:cNvPr>
          <p:cNvPicPr>
            <a:picLocks noChangeAspect="1"/>
          </p:cNvPicPr>
          <p:nvPr/>
        </p:nvPicPr>
        <p:blipFill>
          <a:blip r:embed="rId1"/>
          <a:stretch>
            <a:fillRect/>
          </a:stretch>
        </p:blipFill>
        <p:spPr>
          <a:xfrm>
            <a:off x="813816" y="1653467"/>
            <a:ext cx="7180783" cy="4328306"/>
          </a:xfrm>
          <a:prstGeom prst="rect">
            <a:avLst/>
          </a:prstGeom>
        </p:spPr>
      </p:pic>
      <p:sp>
        <p:nvSpPr>
          <p:cNvPr id="6" name="Shape 3"/>
          <p:cNvSpPr/>
          <p:nvPr/>
        </p:nvSpPr>
        <p:spPr>
          <a:xfrm>
            <a:off x="8579815" y="2330196"/>
            <a:ext cx="292608" cy="292608"/>
          </a:xfrm>
          <a:prstGeom prst="ellipse">
            <a:avLst/>
          </a:prstGeom>
          <a:solidFill>
            <a:srgbClr val="FC4540"/>
          </a:solidFill>
          <a:ln w="12700">
            <a:solidFill>
              <a:srgbClr val="FC4540"/>
            </a:solidFill>
            <a:prstDash val="solid"/>
          </a:ln>
        </p:spPr>
      </p:sp>
      <p:sp>
        <p:nvSpPr>
          <p:cNvPr id="7" name="Text 4"/>
          <p:cNvSpPr/>
          <p:nvPr/>
        </p:nvSpPr>
        <p:spPr>
          <a:xfrm>
            <a:off x="9055303" y="202946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class is on your dashboard</a:t>
            </a:r>
            <a:endParaRPr lang="en-US" sz="2000" dirty="0"/>
          </a:p>
        </p:txBody>
      </p:sp>
      <p:sp>
        <p:nvSpPr>
          <p:cNvPr id="8" name="Shape 5"/>
          <p:cNvSpPr/>
          <p:nvPr/>
        </p:nvSpPr>
        <p:spPr>
          <a:xfrm>
            <a:off x="8579815" y="3224276"/>
            <a:ext cx="292608" cy="292608"/>
          </a:xfrm>
          <a:prstGeom prst="ellipse">
            <a:avLst/>
          </a:prstGeom>
          <a:solidFill>
            <a:srgbClr val="FF9755"/>
          </a:solidFill>
          <a:ln w="12700">
            <a:solidFill>
              <a:srgbClr val="FF9755"/>
            </a:solidFill>
            <a:prstDash val="solid"/>
          </a:ln>
        </p:spPr>
      </p:sp>
      <p:sp>
        <p:nvSpPr>
          <p:cNvPr id="9" name="Text 6"/>
          <p:cNvSpPr/>
          <p:nvPr/>
        </p:nvSpPr>
        <p:spPr>
          <a:xfrm>
            <a:off x="9055303" y="292354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it to see your assignments</a:t>
            </a:r>
            <a:endParaRPr lang="en-US" sz="2000" dirty="0"/>
          </a:p>
        </p:txBody>
      </p:sp>
      <p:sp>
        <p:nvSpPr>
          <p:cNvPr id="10" name="Shape 7"/>
          <p:cNvSpPr/>
          <p:nvPr/>
        </p:nvSpPr>
        <p:spPr>
          <a:xfrm>
            <a:off x="8579815" y="4118356"/>
            <a:ext cx="292608" cy="292608"/>
          </a:xfrm>
          <a:prstGeom prst="ellipse">
            <a:avLst/>
          </a:prstGeom>
          <a:solidFill>
            <a:srgbClr val="FC4067"/>
          </a:solidFill>
          <a:ln w="12700">
            <a:solidFill>
              <a:srgbClr val="FC4067"/>
            </a:solidFill>
            <a:prstDash val="solid"/>
          </a:ln>
        </p:spPr>
      </p:sp>
      <p:sp>
        <p:nvSpPr>
          <p:cNvPr id="11" name="Text 8"/>
          <p:cNvSpPr/>
          <p:nvPr/>
        </p:nvSpPr>
        <p:spPr>
          <a:xfrm>
            <a:off x="9055303" y="381762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Start an assignment to open your document</a:t>
            </a:r>
            <a:endParaRPr lang="en-US" sz="2000" dirty="0"/>
          </a:p>
        </p:txBody>
      </p:sp>
      <p:sp>
        <p:nvSpPr>
          <p:cNvPr id="12" name="Shape 9"/>
          <p:cNvSpPr/>
          <p:nvPr/>
        </p:nvSpPr>
        <p:spPr>
          <a:xfrm>
            <a:off x="8579815" y="5012436"/>
            <a:ext cx="292608" cy="292608"/>
          </a:xfrm>
          <a:prstGeom prst="ellipse">
            <a:avLst/>
          </a:prstGeom>
          <a:solidFill>
            <a:srgbClr val="02BDC7"/>
          </a:solidFill>
          <a:ln w="12700">
            <a:solidFill>
              <a:srgbClr val="02BDC7"/>
            </a:solidFill>
            <a:prstDash val="solid"/>
          </a:ln>
        </p:spPr>
      </p:sp>
      <p:sp>
        <p:nvSpPr>
          <p:cNvPr id="13" name="Text 10"/>
          <p:cNvSpPr/>
          <p:nvPr/>
        </p:nvSpPr>
        <p:spPr>
          <a:xfrm>
            <a:off x="9055303" y="4711700"/>
            <a:ext cx="2450592" cy="89408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a:t>
            </a:r>
            <a:r>
              <a:rPr lang="en-US" sz="2000" dirty="0">
                <a:solidFill>
                  <a:srgbClr val="3C3828"/>
                </a:solidFill>
                <a:highlight>
                  <a:srgbClr val="FFE14D"/>
                </a:highlight>
                <a:latin typeface="Calibri" pitchFamily="34" charset="0"/>
                <a:ea typeface="Calibri" pitchFamily="34" charset="-122"/>
                <a:cs typeface="Calibri" pitchFamily="34" charset="-120"/>
              </a:rPr>
              <a:t>Tutor</a:t>
            </a:r>
            <a:r>
              <a:rPr lang="en-US" sz="2000" dirty="0">
                <a:solidFill>
                  <a:srgbClr val="3C3828"/>
                </a:solidFill>
                <a:latin typeface="Calibri" pitchFamily="34" charset="0"/>
                <a:ea typeface="Calibri" pitchFamily="34" charset="-122"/>
                <a:cs typeface="Calibri" pitchFamily="34" charset="-120"/>
              </a:rPr>
              <a:t> guides you from the left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pre-writing.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Introduce Students to YAWP!</dc:title>
  <dc:subject>Thesis-Driven Essay · Lesson 1</dc:subject>
  <dc:creator>PptxGenJS</dc:creator>
  <cp:lastModifiedBy>PptxGenJS</cp:lastModifiedBy>
  <cp:revision>1</cp:revision>
  <dcterms:created xsi:type="dcterms:W3CDTF">2026-10-17T13:52:30Z</dcterms:created>
  <dcterms:modified xsi:type="dcterms:W3CDTF">2026-10-17T13:52:30Z</dcterms:modified>
</cp:coreProperties>
</file>