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C4540"/>
          </a:solidFill>
          <a:ln w="12700">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r>
              <a:rPr lang="en-US" sz="2600" dirty="0">
                <a:solidFill>
                  <a:srgbClr val="3C3828"/>
                </a:solidFill>
                <a:highlight>
                  <a:srgbClr val="FFE14D"/>
                </a:highlight>
                <a:latin typeface="Georgia" pitchFamily="34" charset="0"/>
                <a:ea typeface="Georgia" pitchFamily="34" charset="-122"/>
                <a:cs typeface="Georgia" pitchFamily="34" charset="-120"/>
              </a:rPr>
              <a:t>deduction</a:t>
            </a: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r>
              <a:rPr lang="en-US" sz="26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your essay discusses a problem, this could be a great place to discuss </a:t>
            </a:r>
            <a:r>
              <a:rPr lang="en-US" sz="3200" dirty="0">
                <a:solidFill>
                  <a:srgbClr val="3C3828"/>
                </a:solidFill>
                <a:highlight>
                  <a:srgbClr val="FFE14D"/>
                </a:highlight>
                <a:latin typeface="Georgia" pitchFamily="34" charset="0"/>
                <a:ea typeface="Georgia" pitchFamily="34" charset="-122"/>
                <a:cs typeface="Georgia" pitchFamily="34" charset="-120"/>
              </a:rPr>
              <a:t>solutions</a:t>
            </a:r>
            <a:r>
              <a:rPr lang="en-US" sz="3200" dirty="0">
                <a:solidFill>
                  <a:srgbClr val="3C3828"/>
                </a:solidFill>
                <a:latin typeface="Georgia" pitchFamily="34" charset="0"/>
                <a:ea typeface="Georgia" pitchFamily="34" charset="-122"/>
                <a:cs typeface="Georgia" pitchFamily="34" charset="-120"/>
              </a:rPr>
              <a:t> to that problem.</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Rhetorical questions can create a nice </a:t>
            </a:r>
            <a:r>
              <a:rPr lang="en-US" sz="3200" dirty="0">
                <a:solidFill>
                  <a:srgbClr val="3C3828"/>
                </a:solidFill>
                <a:highlight>
                  <a:srgbClr val="FFE14D"/>
                </a:highlight>
                <a:latin typeface="Georgia" pitchFamily="34" charset="0"/>
                <a:ea typeface="Georgia" pitchFamily="34" charset="-122"/>
                <a:cs typeface="Georgia" pitchFamily="34" charset="-120"/>
              </a:rPr>
              <a:t>shift</a:t>
            </a:r>
            <a:r>
              <a:rPr lang="en-US" sz="32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r>
              <a:rPr lang="en-US" sz="2600" dirty="0">
                <a:solidFill>
                  <a:srgbClr val="3C3828"/>
                </a:solidFill>
                <a:highlight>
                  <a:srgbClr val="FFE14D"/>
                </a:highlight>
                <a:latin typeface="Georgia" pitchFamily="34" charset="0"/>
                <a:ea typeface="Georgia" pitchFamily="34" charset="-122"/>
                <a:cs typeface="Georgia" pitchFamily="34" charset="-120"/>
              </a:rPr>
              <a:t>comfortable and confident.</a:t>
            </a:r>
            <a:r>
              <a:rPr lang="en-US" sz="26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question, then “perhaps”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4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r>
              <a:rPr lang="en-US" sz="2400" dirty="0">
                <a:solidFill>
                  <a:srgbClr val="3C3828"/>
                </a:solidFill>
                <a:latin typeface="Georgia" pitchFamily="34" charset="0"/>
                <a:ea typeface="Georgia" pitchFamily="34" charset="-122"/>
                <a:cs typeface="Georgia" pitchFamily="34" charset="-120"/>
              </a:rPr>
              <a:t>
</a:t>
            </a:r>
            <a:r>
              <a:rPr lang="en-US" sz="24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4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r>
              <a:rPr lang="en-US" sz="2200" dirty="0">
                <a:solidFill>
                  <a:srgbClr val="3C3828"/>
                </a:solidFill>
                <a:highlight>
                  <a:srgbClr val="FFE14D"/>
                </a:highlight>
                <a:latin typeface="Calibri" pitchFamily="34" charset="0"/>
                <a:ea typeface="Calibri" pitchFamily="34" charset="-122"/>
                <a:cs typeface="Calibri" pitchFamily="34" charset="-120"/>
              </a:rPr>
              <a:t>“Perhaps…”</a:t>
            </a: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conclusion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r>
              <a:rPr lang="en-US" sz="2000" dirty="0">
                <a:solidFill>
                  <a:srgbClr val="3C3828"/>
                </a:solidFill>
                <a:latin typeface="Georgia" pitchFamily="34" charset="0"/>
                <a:ea typeface="Georgia" pitchFamily="34" charset="-122"/>
                <a:cs typeface="Georgia" pitchFamily="34" charset="-120"/>
              </a:rPr>
              <a:t> </a:t>
            </a:r>
            <a:r>
              <a:rPr lang="en-US" sz="20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0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r>
              <a:rPr lang="en-US" sz="20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A graceful exit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Conclusion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2026-10-13T22:56:20Z</dcterms:created>
  <dcterms:modified xsi:type="dcterms:W3CDTF">2026-10-13T22:56:20Z</dcterms:modified>
</cp:coreProperties>
</file>