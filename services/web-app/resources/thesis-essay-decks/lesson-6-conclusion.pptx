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should be near or at the end of their body paragraphs; make sure they’ve moved their documents to the "Conclusion Paragraph" step. Some will still be on body paragraphs, and that’s fine: teach this now so they know what to do when they get here. Students move at different paces at this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quiz starts here: this divider and the question-and-reveal pairs after it. Brian: "If that’s not your gig, delete the slides." Delete them together, or skip ahead to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Welcome the reader in and state the thesis. A, C and D are styles an intro can use, not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Your thesis statement. It lives at the end of the introduction; the body paragraphs support, define and illustrate its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False. Restating can feel very repetitive. A good conclusion offers final reflection, arguments, or a call to action based on everything you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False. Restating can feel very repetitive. A good conclusion offers final reflection, arguments, or a call to action based on everything you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 the conclusion. So difficult and annoying for so many students, largely because we were all taught to restate the thesis and main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if you were taught this (or taught it yourself), accept that it’s a bland, unimaginative ending. It makes sense for a speech or a sales pitch, where an audience retains a fraction of what they hear: "my floors look better, cost less, and are greener… so in conclusion, my floors are the best." A critical essay is on the page, for an intelligent reader who can reread.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"Yeah, man, I was there with you. I just read your whole essay, and now you’re repeating it to make sure I got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conclusion paragraph does mark the end of the essay, but it’s more than an ending: it’s a deduction from everything we just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class sit with the question for a moment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Especially relevant for the "problem in your community"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them what a rhetorical question really is: a question asked so the writer can supply the answer they want the reader to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Haley’s whole conclusion together: a shared reference point for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"Perhaps this… but maybe not. I’m just throwing it out there." Students may introduce a new idea here as food for thought on the way out; they don’t need to write a whole new essay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Haley hasn’t talked about how teachers are taught anywhere in her essay. It’s a new idea, offered as she exits. She could write a separate essay about it; she doesn’t have to. Really thoughtful.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moves, in order. The question creates a shift; "Perhaps" lets students offer a deduction (even a new idea) confidently without having to prove it all over again; then two sentences of their own analysis, a quote if they have a text, and one big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structure: the rhetorical question; the "perhaps"; a few sentences of opinion and reaction; the solution ("if administrators and teachers prioritized creative lessons…"), the antidote to everything she has argued; then the big final sentence. On the Critical Essay Form the conclusion is the upside-down funnel: specific back out to big. "Imagine the impact this could have on student learning and the teaching profession!"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You’ve toured them through the living room, the kitchen, the bedrooms. You wouldn’t scream and run away (what many students do), and you wouldn’t repeat the tour. Instead, a back deck: there’s a little bit more. Or the front door, pointing at the neighborhood: some ideas, even new ones, you acknowledge without exploring, placing your house in the greater neighborhood and world. Leave this slide up while students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YAWP! editor on the Conclusion Paragraph step. This part usually goes fast: once body paragraphs are done they’re in the home stretch. As you work the room, watch the rhetorical questions. Some will be too simple or lead nowhere; help them find a relevant question that springboards their final thoughts. For many students this is the first conclusion like this they have ever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who finish can reread their whole essay from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2.xml"/><Relationship Id="rId5"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Thesis-Driven Essay · Lesson 6</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6600" dirty="0">
                <a:solidFill>
                  <a:srgbClr val="3C3828"/>
                </a:solidFill>
                <a:highlight>
                  <a:srgbClr val="FFE14D"/>
                </a:highlight>
                <a:latin typeface="Georgia" pitchFamily="34" charset="0"/>
                <a:ea typeface="Georgia" pitchFamily="34" charset="-122"/>
                <a:cs typeface="Georgia" pitchFamily="34" charset="-120"/>
              </a:rPr>
              <a:t>Conclusion</a:t>
            </a:r>
            <a:endParaRPr lang="en-US" sz="6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Go beyond restating: draw a conclusion</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OPTIONAL</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Quick Review</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What we’ve learned so far, one question at a time.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Review · 1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54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54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Review · 1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9755"/>
          </a:solidFill>
          <a:ln w="12700">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067"/>
                </a:solidFill>
                <a:latin typeface="Consolas" pitchFamily="34" charset="0"/>
                <a:ea typeface="Consolas" pitchFamily="34" charset="-122"/>
                <a:cs typeface="Consolas" pitchFamily="34" charset="-120"/>
              </a:rPr>
              <a:t>Review · 2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06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06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06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Review · 2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02BDC7"/>
          </a:solidFill>
          <a:ln w="12700">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Review · 3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Review · 3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Review · 4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9755"/>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9755"/>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9755"/>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9755"/>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9755"/>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067"/>
                </a:solidFill>
                <a:latin typeface="Consolas" pitchFamily="34" charset="0"/>
                <a:ea typeface="Consolas" pitchFamily="34" charset="-122"/>
                <a:cs typeface="Consolas" pitchFamily="34" charset="-120"/>
              </a:rPr>
              <a:t>Review · 4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introduction paragraph’s MAIN function is to:</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Tell a story that illustrates the topic of your essay</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Give specific examples that support your thesis</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Define important terms that your reader may need to know</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Present questions that your essay will answer</a:t>
            </a:r>
            <a:endParaRPr lang="en-US" sz="2200" dirty="0"/>
          </a:p>
        </p:txBody>
      </p:sp>
      <p:sp>
        <p:nvSpPr>
          <p:cNvPr id="22" name="Shape 19"/>
          <p:cNvSpPr/>
          <p:nvPr/>
        </p:nvSpPr>
        <p:spPr>
          <a:xfrm>
            <a:off x="1097280" y="5257800"/>
            <a:ext cx="457200" cy="457200"/>
          </a:xfrm>
          <a:prstGeom prst="ellipse">
            <a:avLst/>
          </a:prstGeom>
          <a:solidFill>
            <a:srgbClr val="FC4067"/>
          </a:solidFill>
          <a:ln w="12700">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Welcome your reader into your discussion and state the thesis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Review · 5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02BDC7"/>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02BDC7"/>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FEFA"/>
          </a:solidFill>
          <a:ln w="15875">
            <a:solidFill>
              <a:srgbClr val="02BDC7"/>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02BDC7"/>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02BDC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Review · 5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would probably NOT show up in your body paragraphs?</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42316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4231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Supporting quotations about specific points</a:t>
            </a:r>
            <a:endParaRPr lang="en-US" sz="2800" dirty="0"/>
          </a:p>
        </p:txBody>
      </p:sp>
      <p:sp>
        <p:nvSpPr>
          <p:cNvPr id="13" name="Shape 10"/>
          <p:cNvSpPr/>
          <p:nvPr/>
        </p:nvSpPr>
        <p:spPr>
          <a:xfrm>
            <a:off x="1097280" y="333756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Your opinions</a:t>
            </a:r>
            <a:endParaRPr lang="en-US" sz="2800" dirty="0"/>
          </a:p>
        </p:txBody>
      </p:sp>
      <p:sp>
        <p:nvSpPr>
          <p:cNvPr id="16" name="Shape 13"/>
          <p:cNvSpPr/>
          <p:nvPr/>
        </p:nvSpPr>
        <p:spPr>
          <a:xfrm>
            <a:off x="1097280" y="4251960"/>
            <a:ext cx="457200" cy="457200"/>
          </a:xfrm>
          <a:prstGeom prst="ellipse">
            <a:avLst/>
          </a:prstGeom>
          <a:solidFill>
            <a:srgbClr val="FFB600"/>
          </a:solidFill>
          <a:ln w="12700">
            <a:solidFill>
              <a:srgbClr val="FFB600"/>
            </a:solidFill>
            <a:prstDash val="solid"/>
          </a:ln>
        </p:spPr>
      </p:sp>
      <p:sp>
        <p:nvSpPr>
          <p:cNvPr id="17" name="Text 14"/>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b="1" dirty="0">
                <a:solidFill>
                  <a:srgbClr val="3C3828"/>
                </a:solidFill>
                <a:highlight>
                  <a:srgbClr val="FFE14D"/>
                </a:highlight>
                <a:latin typeface="Calibri" pitchFamily="34" charset="0"/>
                <a:ea typeface="Calibri" pitchFamily="34" charset="-122"/>
                <a:cs typeface="Calibri" pitchFamily="34" charset="-120"/>
              </a:rPr>
              <a:t>Your thesis statement</a:t>
            </a:r>
            <a:endParaRPr lang="en-US" sz="2800" dirty="0"/>
          </a:p>
        </p:txBody>
      </p:sp>
      <p:sp>
        <p:nvSpPr>
          <p:cNvPr id="19" name="Shape 16"/>
          <p:cNvSpPr/>
          <p:nvPr/>
        </p:nvSpPr>
        <p:spPr>
          <a:xfrm>
            <a:off x="1097280" y="516636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51663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9377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Analysis of other people’s arguments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Review · 6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True or False: a good conclusion restates your thesis and main ideas.</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333756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True</a:t>
            </a:r>
            <a:endParaRPr lang="en-US" sz="2800" dirty="0"/>
          </a:p>
        </p:txBody>
      </p:sp>
      <p:sp>
        <p:nvSpPr>
          <p:cNvPr id="13" name="Shape 10"/>
          <p:cNvSpPr/>
          <p:nvPr/>
        </p:nvSpPr>
        <p:spPr>
          <a:xfrm>
            <a:off x="1097280" y="425196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dirty="0">
                <a:solidFill>
                  <a:srgbClr val="3C3828"/>
                </a:solidFill>
                <a:latin typeface="Calibri" pitchFamily="34" charset="0"/>
                <a:ea typeface="Calibri" pitchFamily="34" charset="-122"/>
                <a:cs typeface="Calibri" pitchFamily="34" charset="-120"/>
              </a:rPr>
              <a:t>False</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Review · 6 of 6</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True or False: a good conclusion restates your thesis and main ideas.</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333756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33375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3108960"/>
            <a:ext cx="9357055" cy="914400"/>
          </a:xfrm>
          <a:prstGeom prst="rect">
            <a:avLst/>
          </a:prstGeom>
          <a:noFill/>
          <a:ln/>
        </p:spPr>
        <p:txBody>
          <a:bodyPr wrap="square" lIns="0" tIns="0" rIns="0" bIns="0" rtlCol="0" anchor="ctr"/>
          <a:lstStyle/>
          <a:p>
            <a:pPr indent="0" marL="0">
              <a:buNone/>
            </a:pPr>
            <a:r>
              <a:rPr lang="en-US" sz="2800" dirty="0">
                <a:solidFill>
                  <a:srgbClr val="7E7C78"/>
                </a:solidFill>
                <a:latin typeface="Calibri" pitchFamily="34" charset="0"/>
                <a:ea typeface="Calibri" pitchFamily="34" charset="-122"/>
                <a:cs typeface="Calibri" pitchFamily="34" charset="-120"/>
              </a:rPr>
              <a:t>True</a:t>
            </a:r>
            <a:endParaRPr lang="en-US" sz="2800" dirty="0"/>
          </a:p>
        </p:txBody>
      </p:sp>
      <p:sp>
        <p:nvSpPr>
          <p:cNvPr id="13" name="Shape 10"/>
          <p:cNvSpPr/>
          <p:nvPr/>
        </p:nvSpPr>
        <p:spPr>
          <a:xfrm>
            <a:off x="1097280" y="4251960"/>
            <a:ext cx="457200" cy="457200"/>
          </a:xfrm>
          <a:prstGeom prst="ellipse">
            <a:avLst/>
          </a:prstGeom>
          <a:solidFill>
            <a:srgbClr val="FF9755"/>
          </a:solidFill>
          <a:ln w="12700">
            <a:solidFill>
              <a:srgbClr val="FF9755"/>
            </a:solidFill>
            <a:prstDash val="solid"/>
          </a:ln>
        </p:spPr>
      </p:sp>
      <p:sp>
        <p:nvSpPr>
          <p:cNvPr id="14" name="Text 11"/>
          <p:cNvSpPr/>
          <p:nvPr/>
        </p:nvSpPr>
        <p:spPr>
          <a:xfrm>
            <a:off x="1097280" y="42519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4023360"/>
            <a:ext cx="9357055" cy="914400"/>
          </a:xfrm>
          <a:prstGeom prst="rect">
            <a:avLst/>
          </a:prstGeom>
          <a:noFill/>
          <a:ln/>
        </p:spPr>
        <p:txBody>
          <a:bodyPr wrap="square" lIns="0" tIns="0" rIns="0" bIns="0" rtlCol="0" anchor="ctr"/>
          <a:lstStyle/>
          <a:p>
            <a:pPr indent="0" marL="0">
              <a:buNone/>
            </a:pPr>
            <a:r>
              <a:rPr lang="en-US" sz="2800" b="1" dirty="0">
                <a:solidFill>
                  <a:srgbClr val="3C3828"/>
                </a:solidFill>
                <a:highlight>
                  <a:srgbClr val="FFE14D"/>
                </a:highlight>
                <a:latin typeface="Calibri" pitchFamily="34" charset="0"/>
                <a:ea typeface="Calibri" pitchFamily="34" charset="-122"/>
                <a:cs typeface="Calibri" pitchFamily="34" charset="-120"/>
              </a:rPr>
              <a:t>False</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5</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Conclusion Paragraph</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A graceful exit.</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Myth</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Myth</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 good conclusion </a:t>
            </a:r>
            <a:r>
              <a:rPr lang="en-US" sz="4000" dirty="0">
                <a:solidFill>
                  <a:srgbClr val="3C3828"/>
                </a:solidFill>
                <a:highlight>
                  <a:srgbClr val="FFE14D"/>
                </a:highlight>
                <a:latin typeface="Georgia" pitchFamily="34" charset="0"/>
                <a:ea typeface="Georgia" pitchFamily="34" charset="-122"/>
                <a:cs typeface="Georgia" pitchFamily="34" charset="-120"/>
              </a:rPr>
              <a:t>restates the thesis and main ideas</a:t>
            </a:r>
            <a:r>
              <a:rPr lang="en-US" sz="4000" dirty="0">
                <a:solidFill>
                  <a:srgbClr val="3C3828"/>
                </a:solidFill>
                <a:latin typeface="Georgia" pitchFamily="34" charset="0"/>
                <a:ea typeface="Georgia" pitchFamily="34" charset="-122"/>
                <a:cs typeface="Georgia" pitchFamily="34" charset="-120"/>
              </a:rPr>
              <a:t> of the essay.</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Fact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Fact</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Restating your thesis and main ideas can make you seem like </a:t>
            </a:r>
            <a:r>
              <a:rPr lang="en-US" sz="4000" dirty="0">
                <a:solidFill>
                  <a:srgbClr val="3C3828"/>
                </a:solidFill>
                <a:highlight>
                  <a:srgbClr val="FFE14D"/>
                </a:highlight>
                <a:latin typeface="Georgia" pitchFamily="34" charset="0"/>
                <a:ea typeface="Georgia" pitchFamily="34" charset="-122"/>
                <a:cs typeface="Georgia" pitchFamily="34" charset="-120"/>
              </a:rPr>
              <a:t>an alien.</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C4540"/>
                </a:solidFill>
                <a:latin typeface="Consolas" pitchFamily="34" charset="0"/>
                <a:ea typeface="Consolas" pitchFamily="34" charset="-122"/>
                <a:cs typeface="Consolas" pitchFamily="34" charset="-120"/>
              </a:rPr>
              <a:t>Let’s reassess the word</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Conclusion (noun)</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FB600"/>
          </a:solidFill>
          <a:ln w="12700">
            <a:solidFill>
              <a:srgbClr val="FFB600"/>
            </a:solidFill>
            <a:prstDash val="solid"/>
          </a:ln>
        </p:spPr>
      </p:sp>
      <p:sp>
        <p:nvSpPr>
          <p:cNvPr id="6" name="Shape 4"/>
          <p:cNvSpPr/>
          <p:nvPr/>
        </p:nvSpPr>
        <p:spPr>
          <a:xfrm>
            <a:off x="685800" y="2423160"/>
            <a:ext cx="5181448" cy="256032"/>
          </a:xfrm>
          <a:prstGeom prst="rect">
            <a:avLst/>
          </a:prstGeom>
          <a:solidFill>
            <a:srgbClr val="FFB600"/>
          </a:solidFill>
          <a:ln w="12700">
            <a:solidFill>
              <a:srgbClr val="FFB60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DEFINITION 1</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An ending.</a:t>
            </a:r>
            <a:endParaRPr lang="en-US" sz="26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DEFINITION 2</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A </a:t>
            </a:r>
            <a:r>
              <a:rPr lang="en-US" sz="2600" dirty="0">
                <a:solidFill>
                  <a:srgbClr val="3C3828"/>
                </a:solidFill>
                <a:highlight>
                  <a:srgbClr val="FFE14D"/>
                </a:highlight>
                <a:latin typeface="Georgia" pitchFamily="34" charset="0"/>
                <a:ea typeface="Georgia" pitchFamily="34" charset="-122"/>
                <a:cs typeface="Georgia" pitchFamily="34" charset="-120"/>
              </a:rPr>
              <a:t>deduction</a:t>
            </a:r>
            <a:r>
              <a:rPr lang="en-US" sz="2600" dirty="0">
                <a:solidFill>
                  <a:srgbClr val="3C3828"/>
                </a:solidFill>
                <a:latin typeface="Georgia" pitchFamily="34" charset="0"/>
                <a:ea typeface="Georgia" pitchFamily="34" charset="-122"/>
                <a:cs typeface="Georgia" pitchFamily="34" charset="-120"/>
              </a:rPr>
              <a:t> drawn from available information.</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Conclusion paragraph</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So, what can you deduce?</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By the end of your essay, you should have exhaustively defined, illustrated, and proven the elements of your thesis. And your reader should be right there with you. So if everything you just said is true, then </a:t>
            </a:r>
            <a:r>
              <a:rPr lang="en-US" sz="3200" dirty="0">
                <a:solidFill>
                  <a:srgbClr val="3C3828"/>
                </a:solidFill>
                <a:highlight>
                  <a:srgbClr val="FFE14D"/>
                </a:highlight>
                <a:latin typeface="Georgia" pitchFamily="34" charset="0"/>
                <a:ea typeface="Georgia" pitchFamily="34" charset="-122"/>
                <a:cs typeface="Georgia" pitchFamily="34" charset="-120"/>
              </a:rPr>
              <a:t>what deductions, or conclusions, can you draw from it all?</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9755"/>
                </a:solidFill>
                <a:latin typeface="Consolas" pitchFamily="34" charset="0"/>
                <a:ea typeface="Consolas" pitchFamily="34" charset="-122"/>
                <a:cs typeface="Consolas" pitchFamily="34" charset="-120"/>
              </a:rPr>
              <a:t>Conclusion paragraph</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Is your essay about a problem?</a:t>
            </a:r>
            <a:endParaRPr lang="en-US" sz="3600" dirty="0"/>
          </a:p>
        </p:txBody>
      </p:sp>
      <p:sp>
        <p:nvSpPr>
          <p:cNvPr id="4" name="Shape 2"/>
          <p:cNvSpPr/>
          <p:nvPr/>
        </p:nvSpPr>
        <p:spPr>
          <a:xfrm>
            <a:off x="1051560" y="2926080"/>
            <a:ext cx="2194560" cy="2194560"/>
          </a:xfrm>
          <a:prstGeom prst="ellipse">
            <a:avLst/>
          </a:prstGeom>
          <a:solidFill>
            <a:srgbClr val="FF9755"/>
          </a:solidFill>
          <a:ln w="12700">
            <a:solidFill>
              <a:srgbClr val="FF9755"/>
            </a:solidFill>
            <a:prstDash val="solid"/>
          </a:ln>
        </p:spPr>
      </p:sp>
      <p:pic>
        <p:nvPicPr>
          <p:cNvPr id="5" name="Image 0" descr="puzzl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02BDC7"/>
          </a:solidFill>
          <a:ln w="12700">
            <a:solidFill>
              <a:srgbClr val="02BDC7"/>
            </a:solidFill>
            <a:prstDash val="solid"/>
          </a:ln>
        </p:spPr>
      </p:sp>
      <p:sp>
        <p:nvSpPr>
          <p:cNvPr id="7" name="Shape 4"/>
          <p:cNvSpPr/>
          <p:nvPr/>
        </p:nvSpPr>
        <p:spPr>
          <a:xfrm>
            <a:off x="914400" y="4800600"/>
            <a:ext cx="201168" cy="201168"/>
          </a:xfrm>
          <a:prstGeom prst="ellipse">
            <a:avLst/>
          </a:prstGeom>
          <a:solidFill>
            <a:srgbClr val="FC4540"/>
          </a:solidFill>
          <a:ln w="12700">
            <a:solidFill>
              <a:srgbClr val="FC454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If your essay discusses a problem, this could be a great place to discuss </a:t>
            </a:r>
            <a:r>
              <a:rPr lang="en-US" sz="4000" dirty="0">
                <a:solidFill>
                  <a:srgbClr val="3C3828"/>
                </a:solidFill>
                <a:highlight>
                  <a:srgbClr val="FFE14D"/>
                </a:highlight>
                <a:latin typeface="Georgia" pitchFamily="34" charset="0"/>
                <a:ea typeface="Georgia" pitchFamily="34" charset="-122"/>
                <a:cs typeface="Georgia" pitchFamily="34" charset="-120"/>
              </a:rPr>
              <a:t>solutions</a:t>
            </a:r>
            <a:r>
              <a:rPr lang="en-US" sz="4000" dirty="0">
                <a:solidFill>
                  <a:srgbClr val="3C3828"/>
                </a:solidFill>
                <a:latin typeface="Georgia" pitchFamily="34" charset="0"/>
                <a:ea typeface="Georgia" pitchFamily="34" charset="-122"/>
                <a:cs typeface="Georgia" pitchFamily="34" charset="-120"/>
              </a:rPr>
              <a:t> to that problem.</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Pro-tip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Begin with a rhetorical question</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600" dirty="0">
                <a:solidFill>
                  <a:srgbClr val="3C3828"/>
                </a:solidFill>
                <a:latin typeface="Georgia" pitchFamily="34" charset="0"/>
                <a:ea typeface="Georgia" pitchFamily="34" charset="-122"/>
                <a:cs typeface="Georgia" pitchFamily="34" charset="-120"/>
              </a:rPr>
              <a:t>Rhetorical questions can create a nice </a:t>
            </a:r>
            <a:r>
              <a:rPr lang="en-US" sz="3600" dirty="0">
                <a:solidFill>
                  <a:srgbClr val="3C3828"/>
                </a:solidFill>
                <a:highlight>
                  <a:srgbClr val="FFE14D"/>
                </a:highlight>
                <a:latin typeface="Georgia" pitchFamily="34" charset="0"/>
                <a:ea typeface="Georgia" pitchFamily="34" charset="-122"/>
                <a:cs typeface="Georgia" pitchFamily="34" charset="-120"/>
              </a:rPr>
              <a:t>shift</a:t>
            </a:r>
            <a:r>
              <a:rPr lang="en-US" sz="3600" dirty="0">
                <a:solidFill>
                  <a:srgbClr val="3C3828"/>
                </a:solidFill>
                <a:latin typeface="Georgia" pitchFamily="34" charset="0"/>
                <a:ea typeface="Georgia" pitchFamily="34" charset="-122"/>
                <a:cs typeface="Georgia" pitchFamily="34" charset="-120"/>
              </a:rPr>
              <a:t> in a discussion or argument. For example, in the sample essay on education, Haley began her conclusion paragraph with the following…</a:t>
            </a:r>
            <a:endParaRPr lang="en-US" sz="3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Haley’s question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How the sample essay’s conclusion begins</a:t>
            </a:r>
            <a:endParaRPr lang="en-US" sz="3000" dirty="0"/>
          </a:p>
        </p:txBody>
      </p:sp>
      <p:sp>
        <p:nvSpPr>
          <p:cNvPr id="4" name="Shape 2"/>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10564063" cy="91440"/>
          </a:xfrm>
          <a:prstGeom prst="rect">
            <a:avLst/>
          </a:prstGeom>
          <a:solidFill>
            <a:srgbClr val="02BDC7"/>
          </a:solidFill>
          <a:ln w="12700">
            <a:solidFill>
              <a:srgbClr val="02BDC7"/>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02BDC7"/>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9219895" cy="2880360"/>
          </a:xfrm>
          <a:prstGeom prst="rect">
            <a:avLst/>
          </a:prstGeom>
          <a:noFill/>
          <a:ln/>
        </p:spPr>
        <p:txBody>
          <a:bodyPr wrap="square" lIns="0" tIns="0" rIns="0" bIns="0" rtlCol="0" anchor="ctr"/>
          <a:lstStyle/>
          <a:p>
            <a:pPr indent="0" marL="0">
              <a:lnSpc>
                <a:spcPct val="120000"/>
              </a:lnSpc>
              <a:buNone/>
            </a:pPr>
            <a:r>
              <a:rPr lang="en-US" sz="3000" i="1" dirty="0">
                <a:solidFill>
                  <a:srgbClr val="3C3828"/>
                </a:solidFill>
                <a:latin typeface="Georgia" pitchFamily="34" charset="0"/>
                <a:ea typeface="Georgia" pitchFamily="34" charset="-122"/>
                <a:cs typeface="Georgia" pitchFamily="34" charset="-120"/>
              </a:rPr>
              <a:t>If we assume that teachers don’t like to be boring, then why doesn’t the education system teach them how to prioritize creative thinking in classrooms?</a:t>
            </a:r>
            <a:endParaRPr lang="en-US" sz="3000" dirty="0"/>
          </a:p>
        </p:txBody>
      </p:sp>
      <p:sp>
        <p:nvSpPr>
          <p:cNvPr id="8" name="Text 6"/>
          <p:cNvSpPr/>
          <p:nvPr/>
        </p:nvSpPr>
        <p:spPr>
          <a:xfrm>
            <a:off x="1828800" y="5349240"/>
            <a:ext cx="9219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Haley, “Bored in the USA” (read the conclusion together)</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Pro-tip</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Many a good conclusion begins with “Perhaps”</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It’s assertive and smart without being aggressive, and it fits a conclusion’s tone: </a:t>
            </a:r>
            <a:r>
              <a:rPr lang="en-US" sz="3200" dirty="0">
                <a:solidFill>
                  <a:srgbClr val="3C3828"/>
                </a:solidFill>
                <a:highlight>
                  <a:srgbClr val="FFE14D"/>
                </a:highlight>
                <a:latin typeface="Georgia" pitchFamily="34" charset="0"/>
                <a:ea typeface="Georgia" pitchFamily="34" charset="-122"/>
                <a:cs typeface="Georgia" pitchFamily="34" charset="-120"/>
              </a:rPr>
              <a:t>comfortable and confident.</a:t>
            </a:r>
            <a:r>
              <a:rPr lang="en-US" sz="3200" dirty="0">
                <a:solidFill>
                  <a:srgbClr val="3C3828"/>
                </a:solidFill>
                <a:latin typeface="Georgia" pitchFamily="34" charset="0"/>
                <a:ea typeface="Georgia" pitchFamily="34" charset="-122"/>
                <a:cs typeface="Georgia" pitchFamily="34" charset="-120"/>
              </a:rPr>
              <a:t> With “perhaps,” you can offer ideas (even new ones) without new support. The support is already in your essay.</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Statement of “perhaps”: example</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The question, then “perhaps”</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FFB600"/>
          </a:solidFill>
          <a:ln w="12700">
            <a:solidFill>
              <a:srgbClr val="FFB600"/>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FROM THE SAMPLE ESSAY</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2600" b="1" dirty="0">
                <a:solidFill>
                  <a:srgbClr val="FFB600"/>
                </a:solidFill>
                <a:latin typeface="Georgia" pitchFamily="34" charset="0"/>
                <a:ea typeface="Georgia" pitchFamily="34" charset="-122"/>
                <a:cs typeface="Georgia" pitchFamily="34" charset="-120"/>
              </a:rPr>
              <a:t>If we assume that teachers don’t like to be boring, then why doesn’t the education system teach them how to prioritize creative thinking in classrooms?</a:t>
            </a:r>
            <a:endParaRPr lang="en-US" sz="2600" dirty="0"/>
          </a:p>
          <a:p>
            <a:pPr indent="0" marL="0">
              <a:lnSpc>
                <a:spcPct val="112000"/>
              </a:lnSpc>
              <a:buNone/>
            </a:pPr>
            <a:endParaRPr lang="en-US" sz="2600" dirty="0"/>
          </a:p>
          <a:p>
            <a:pPr indent="0" marL="0">
              <a:lnSpc>
                <a:spcPct val="112000"/>
              </a:lnSpc>
              <a:buNone/>
            </a:pPr>
            <a:r>
              <a:rPr lang="en-US" sz="2600" dirty="0">
                <a:solidFill>
                  <a:srgbClr val="3C3828"/>
                </a:solidFill>
                <a:highlight>
                  <a:srgbClr val="FFE14D"/>
                </a:highlight>
                <a:latin typeface="Georgia" pitchFamily="34" charset="0"/>
                <a:ea typeface="Georgia" pitchFamily="34" charset="-122"/>
                <a:cs typeface="Georgia" pitchFamily="34" charset="-120"/>
              </a:rPr>
              <a:t>Perhaps the way teachers are taught today is wrong.</a:t>
            </a:r>
            <a:r>
              <a:rPr lang="en-US" sz="2600" dirty="0">
                <a:solidFill>
                  <a:srgbClr val="3C3828"/>
                </a:solidFill>
                <a:latin typeface="Georgia" pitchFamily="34" charset="0"/>
                <a:ea typeface="Georgia" pitchFamily="34" charset="-122"/>
                <a:cs typeface="Georgia" pitchFamily="34" charset="-120"/>
              </a:rPr>
              <a:t> They put too much pressure on teachers to increase scores, and this trickles down to the students, and suddenly everything we do in school is about “the test.”</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Suggested conclusion structure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 conclusion that works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uzzl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1752448" y="2121408"/>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1981048" y="2258568"/>
            <a:ext cx="384048" cy="384048"/>
          </a:xfrm>
          <a:prstGeom prst="ellipse">
            <a:avLst/>
          </a:prstGeom>
          <a:solidFill>
            <a:srgbClr val="02BDC7"/>
          </a:solidFill>
          <a:ln w="12700">
            <a:solidFill>
              <a:srgbClr val="02BDC7"/>
            </a:solidFill>
            <a:prstDash val="solid"/>
          </a:ln>
        </p:spPr>
      </p:sp>
      <p:sp>
        <p:nvSpPr>
          <p:cNvPr id="10" name="Text 7"/>
          <p:cNvSpPr/>
          <p:nvPr/>
        </p:nvSpPr>
        <p:spPr>
          <a:xfrm>
            <a:off x="1981048" y="2258568"/>
            <a:ext cx="384048" cy="384048"/>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1" name="Text 8"/>
          <p:cNvSpPr/>
          <p:nvPr/>
        </p:nvSpPr>
        <p:spPr>
          <a:xfrm>
            <a:off x="2575408" y="2121408"/>
            <a:ext cx="7589520" cy="658368"/>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Rhetorical question</a:t>
            </a:r>
            <a:endParaRPr lang="en-US" sz="2400" dirty="0"/>
          </a:p>
        </p:txBody>
      </p:sp>
      <p:sp>
        <p:nvSpPr>
          <p:cNvPr id="12" name="Shape 9"/>
          <p:cNvSpPr/>
          <p:nvPr/>
        </p:nvSpPr>
        <p:spPr>
          <a:xfrm>
            <a:off x="1752448" y="2907792"/>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3" name="Shape 10"/>
          <p:cNvSpPr/>
          <p:nvPr/>
        </p:nvSpPr>
        <p:spPr>
          <a:xfrm>
            <a:off x="1981048" y="3044952"/>
            <a:ext cx="384048" cy="384048"/>
          </a:xfrm>
          <a:prstGeom prst="ellipse">
            <a:avLst/>
          </a:prstGeom>
          <a:solidFill>
            <a:srgbClr val="FFB600"/>
          </a:solidFill>
          <a:ln w="12700">
            <a:solidFill>
              <a:srgbClr val="FFB600"/>
            </a:solidFill>
            <a:prstDash val="solid"/>
          </a:ln>
        </p:spPr>
      </p:sp>
      <p:sp>
        <p:nvSpPr>
          <p:cNvPr id="14" name="Text 11"/>
          <p:cNvSpPr/>
          <p:nvPr/>
        </p:nvSpPr>
        <p:spPr>
          <a:xfrm>
            <a:off x="1981048" y="3044952"/>
            <a:ext cx="384048" cy="384048"/>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5" name="Text 12"/>
          <p:cNvSpPr/>
          <p:nvPr/>
        </p:nvSpPr>
        <p:spPr>
          <a:xfrm>
            <a:off x="2575408" y="2907792"/>
            <a:ext cx="7589520" cy="658368"/>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Answer it directly (</a:t>
            </a:r>
            <a:r>
              <a:rPr lang="en-US" sz="2400" dirty="0">
                <a:solidFill>
                  <a:srgbClr val="3C3828"/>
                </a:solidFill>
                <a:highlight>
                  <a:srgbClr val="FFE14D"/>
                </a:highlight>
                <a:latin typeface="Calibri" pitchFamily="34" charset="0"/>
                <a:ea typeface="Calibri" pitchFamily="34" charset="-122"/>
                <a:cs typeface="Calibri" pitchFamily="34" charset="-120"/>
              </a:rPr>
              <a:t>“Perhaps…”</a:t>
            </a:r>
            <a:r>
              <a:rPr lang="en-US" sz="2400" dirty="0">
                <a:solidFill>
                  <a:srgbClr val="3C3828"/>
                </a:solidFill>
                <a:latin typeface="Calibri" pitchFamily="34" charset="0"/>
                <a:ea typeface="Calibri" pitchFamily="34" charset="-122"/>
                <a:cs typeface="Calibri" pitchFamily="34" charset="-120"/>
              </a:rPr>
              <a:t>)</a:t>
            </a:r>
            <a:endParaRPr lang="en-US" sz="2400" dirty="0"/>
          </a:p>
        </p:txBody>
      </p:sp>
      <p:sp>
        <p:nvSpPr>
          <p:cNvPr id="16" name="Shape 13"/>
          <p:cNvSpPr/>
          <p:nvPr/>
        </p:nvSpPr>
        <p:spPr>
          <a:xfrm>
            <a:off x="1752448" y="3694176"/>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7" name="Shape 14"/>
          <p:cNvSpPr/>
          <p:nvPr/>
        </p:nvSpPr>
        <p:spPr>
          <a:xfrm>
            <a:off x="1981048" y="3831336"/>
            <a:ext cx="384048" cy="384048"/>
          </a:xfrm>
          <a:prstGeom prst="ellipse">
            <a:avLst/>
          </a:prstGeom>
          <a:solidFill>
            <a:srgbClr val="FC4540"/>
          </a:solidFill>
          <a:ln w="12700">
            <a:solidFill>
              <a:srgbClr val="FC4540"/>
            </a:solidFill>
            <a:prstDash val="solid"/>
          </a:ln>
        </p:spPr>
      </p:sp>
      <p:sp>
        <p:nvSpPr>
          <p:cNvPr id="18" name="Text 15"/>
          <p:cNvSpPr/>
          <p:nvPr/>
        </p:nvSpPr>
        <p:spPr>
          <a:xfrm>
            <a:off x="1981048" y="3831336"/>
            <a:ext cx="384048" cy="384048"/>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9" name="Text 16"/>
          <p:cNvSpPr/>
          <p:nvPr/>
        </p:nvSpPr>
        <p:spPr>
          <a:xfrm>
            <a:off x="2575408" y="3694176"/>
            <a:ext cx="7589520" cy="658368"/>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2 sentences of opinion or analysis</a:t>
            </a:r>
            <a:endParaRPr lang="en-US" sz="2400" dirty="0"/>
          </a:p>
        </p:txBody>
      </p:sp>
      <p:sp>
        <p:nvSpPr>
          <p:cNvPr id="20" name="Shape 17"/>
          <p:cNvSpPr/>
          <p:nvPr/>
        </p:nvSpPr>
        <p:spPr>
          <a:xfrm>
            <a:off x="1752448" y="4480560"/>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1" name="Shape 18"/>
          <p:cNvSpPr/>
          <p:nvPr/>
        </p:nvSpPr>
        <p:spPr>
          <a:xfrm>
            <a:off x="1981048" y="4617720"/>
            <a:ext cx="384048" cy="384048"/>
          </a:xfrm>
          <a:prstGeom prst="ellipse">
            <a:avLst/>
          </a:prstGeom>
          <a:solidFill>
            <a:srgbClr val="FF9755"/>
          </a:solidFill>
          <a:ln w="12700">
            <a:solidFill>
              <a:srgbClr val="FF9755"/>
            </a:solidFill>
            <a:prstDash val="solid"/>
          </a:ln>
        </p:spPr>
      </p:sp>
      <p:sp>
        <p:nvSpPr>
          <p:cNvPr id="22" name="Text 19"/>
          <p:cNvSpPr/>
          <p:nvPr/>
        </p:nvSpPr>
        <p:spPr>
          <a:xfrm>
            <a:off x="1981048" y="4617720"/>
            <a:ext cx="384048" cy="384048"/>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3" name="Text 20"/>
          <p:cNvSpPr/>
          <p:nvPr/>
        </p:nvSpPr>
        <p:spPr>
          <a:xfrm>
            <a:off x="2575408" y="4480560"/>
            <a:ext cx="7589520" cy="658368"/>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Supporting quote (if working with a text)</a:t>
            </a:r>
            <a:endParaRPr lang="en-US" sz="2400" dirty="0"/>
          </a:p>
        </p:txBody>
      </p:sp>
      <p:sp>
        <p:nvSpPr>
          <p:cNvPr id="24" name="Shape 21"/>
          <p:cNvSpPr/>
          <p:nvPr/>
        </p:nvSpPr>
        <p:spPr>
          <a:xfrm>
            <a:off x="1752448" y="5266944"/>
            <a:ext cx="8686800" cy="658368"/>
          </a:xfrm>
          <a:prstGeom prst="roundRect">
            <a:avLst>
              <a:gd name="adj" fmla="val 19444"/>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25" name="Shape 22"/>
          <p:cNvSpPr/>
          <p:nvPr/>
        </p:nvSpPr>
        <p:spPr>
          <a:xfrm>
            <a:off x="1981048" y="5404104"/>
            <a:ext cx="384048" cy="384048"/>
          </a:xfrm>
          <a:prstGeom prst="ellipse">
            <a:avLst/>
          </a:prstGeom>
          <a:solidFill>
            <a:srgbClr val="FC4067"/>
          </a:solidFill>
          <a:ln w="12700">
            <a:solidFill>
              <a:srgbClr val="FC4067"/>
            </a:solidFill>
            <a:prstDash val="solid"/>
          </a:ln>
        </p:spPr>
      </p:sp>
      <p:sp>
        <p:nvSpPr>
          <p:cNvPr id="26" name="Text 23"/>
          <p:cNvSpPr/>
          <p:nvPr/>
        </p:nvSpPr>
        <p:spPr>
          <a:xfrm>
            <a:off x="1981048" y="5404104"/>
            <a:ext cx="384048" cy="384048"/>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5</a:t>
            </a:r>
            <a:endParaRPr lang="en-US" sz="1800" dirty="0"/>
          </a:p>
        </p:txBody>
      </p:sp>
      <p:sp>
        <p:nvSpPr>
          <p:cNvPr id="27" name="Text 24"/>
          <p:cNvSpPr/>
          <p:nvPr/>
        </p:nvSpPr>
        <p:spPr>
          <a:xfrm>
            <a:off x="2575408" y="5266944"/>
            <a:ext cx="7589520" cy="658368"/>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Final, concluding sentence: the big, final point</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02BDC7"/>
                </a:solidFill>
                <a:latin typeface="Consolas" pitchFamily="34" charset="0"/>
                <a:ea typeface="Consolas" pitchFamily="34" charset="-122"/>
                <a:cs typeface="Consolas" pitchFamily="34" charset="-120"/>
              </a:rPr>
              <a:t>Putting it together</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Haley’s conclusion</a:t>
            </a:r>
            <a:endParaRPr lang="en-US" sz="3200" dirty="0"/>
          </a:p>
        </p:txBody>
      </p:sp>
      <p:sp>
        <p:nvSpPr>
          <p:cNvPr id="4" name="Shape 2"/>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417320"/>
            <a:ext cx="10564063" cy="91440"/>
          </a:xfrm>
          <a:prstGeom prst="rect">
            <a:avLst/>
          </a:prstGeom>
          <a:solidFill>
            <a:srgbClr val="02BDC7"/>
          </a:solidFill>
          <a:ln w="12700">
            <a:solidFill>
              <a:srgbClr val="02BDC7"/>
            </a:solidFill>
            <a:prstDash val="solid"/>
          </a:ln>
        </p:spPr>
      </p:sp>
      <p:sp>
        <p:nvSpPr>
          <p:cNvPr id="6" name="Text 4"/>
          <p:cNvSpPr/>
          <p:nvPr/>
        </p:nvSpPr>
        <p:spPr>
          <a:xfrm>
            <a:off x="1143000" y="1691640"/>
            <a:ext cx="9905695"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QUESTION AND BIG FINAL POINT IN COLOUR · “PERHAPS” HIGHLIGHTED</a:t>
            </a:r>
            <a:endParaRPr lang="en-US" sz="1200" dirty="0"/>
          </a:p>
        </p:txBody>
      </p:sp>
      <p:sp>
        <p:nvSpPr>
          <p:cNvPr id="7" name="Text 5"/>
          <p:cNvSpPr/>
          <p:nvPr/>
        </p:nvSpPr>
        <p:spPr>
          <a:xfrm>
            <a:off x="1143000" y="2057400"/>
            <a:ext cx="9905695" cy="3886200"/>
          </a:xfrm>
          <a:prstGeom prst="rect">
            <a:avLst/>
          </a:prstGeom>
          <a:noFill/>
          <a:ln/>
        </p:spPr>
        <p:txBody>
          <a:bodyPr wrap="square" lIns="0" tIns="0" rIns="0" bIns="0" rtlCol="0" anchor="t"/>
          <a:lstStyle/>
          <a:p>
            <a:pPr indent="0" marL="0">
              <a:lnSpc>
                <a:spcPct val="112000"/>
              </a:lnSpc>
              <a:buNone/>
            </a:pPr>
            <a:r>
              <a:rPr lang="en-US" sz="2200" b="1" dirty="0">
                <a:solidFill>
                  <a:srgbClr val="02BDC7"/>
                </a:solidFill>
                <a:latin typeface="Georgia" pitchFamily="34" charset="0"/>
                <a:ea typeface="Georgia" pitchFamily="34" charset="-122"/>
                <a:cs typeface="Georgia" pitchFamily="34" charset="-120"/>
              </a:rPr>
              <a:t>If we assume that teachers don’t like to be boring, then why doesn’t the education system teach them how to prioritize creative thinking in classrooms?</a:t>
            </a:r>
            <a:r>
              <a:rPr lang="en-US" sz="2200" dirty="0">
                <a:solidFill>
                  <a:srgbClr val="3C3828"/>
                </a:solidFill>
                <a:latin typeface="Georgia" pitchFamily="34" charset="0"/>
                <a:ea typeface="Georgia" pitchFamily="34" charset="-122"/>
                <a:cs typeface="Georgia" pitchFamily="34" charset="-120"/>
              </a:rPr>
              <a:t> </a:t>
            </a:r>
            <a:r>
              <a:rPr lang="en-US" sz="2200" dirty="0">
                <a:solidFill>
                  <a:srgbClr val="3C3828"/>
                </a:solidFill>
                <a:highlight>
                  <a:srgbClr val="FFE14D"/>
                </a:highlight>
                <a:latin typeface="Georgia" pitchFamily="34" charset="0"/>
                <a:ea typeface="Georgia" pitchFamily="34" charset="-122"/>
                <a:cs typeface="Georgia" pitchFamily="34" charset="-120"/>
              </a:rPr>
              <a:t>Perhaps the way teachers are taught today is wrong.</a:t>
            </a:r>
            <a:r>
              <a:rPr lang="en-US" sz="2200" dirty="0">
                <a:solidFill>
                  <a:srgbClr val="3C3828"/>
                </a:solidFill>
                <a:latin typeface="Georgia" pitchFamily="34" charset="0"/>
                <a:ea typeface="Georgia" pitchFamily="34" charset="-122"/>
                <a:cs typeface="Georgia" pitchFamily="34" charset="-120"/>
              </a:rPr>
              <a:t> They put too much pressure on teachers to increase scores, and this trickles down to the students, and suddenly everything we do in school is about “the test.” No one can learn under those conditions. However, if administrators and teachers prioritized creative lessons, we could build engagement and excitement between the teachers and students. </a:t>
            </a:r>
            <a:r>
              <a:rPr lang="en-US" sz="2200" b="1" dirty="0">
                <a:solidFill>
                  <a:srgbClr val="02BDC7"/>
                </a:solidFill>
                <a:latin typeface="Georgia" pitchFamily="34" charset="0"/>
                <a:ea typeface="Georgia" pitchFamily="34" charset="-122"/>
                <a:cs typeface="Georgia" pitchFamily="34" charset="-120"/>
              </a:rPr>
              <a:t>Imagine the impact this could have on student learning and the teaching profession!</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The house analogy</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End the tour gracefully</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C4540"/>
          </a:solidFill>
          <a:ln w="12700">
            <a:solidFill>
              <a:srgbClr val="FC4540"/>
            </a:solidFill>
            <a:prstDash val="solid"/>
          </a:ln>
        </p:spPr>
      </p:sp>
      <p:sp>
        <p:nvSpPr>
          <p:cNvPr id="6" name="Shape 4"/>
          <p:cNvSpPr/>
          <p:nvPr/>
        </p:nvSpPr>
        <p:spPr>
          <a:xfrm>
            <a:off x="685800" y="2423160"/>
            <a:ext cx="5181448" cy="256032"/>
          </a:xfrm>
          <a:prstGeom prst="rect">
            <a:avLst/>
          </a:prstGeom>
          <a:solidFill>
            <a:srgbClr val="FC4540"/>
          </a:solidFill>
          <a:ln w="12700">
            <a:solidFill>
              <a:srgbClr val="FC454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DON’T</a:t>
            </a:r>
            <a:endParaRPr lang="en-US" sz="1500" dirty="0"/>
          </a:p>
        </p:txBody>
      </p:sp>
      <p:sp>
        <p:nvSpPr>
          <p:cNvPr id="8" name="Text 6"/>
          <p:cNvSpPr/>
          <p:nvPr/>
        </p:nvSpPr>
        <p:spPr>
          <a:xfrm>
            <a:off x="1051560" y="2926080"/>
            <a:ext cx="4449928" cy="237744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Walk them back through every room: “Remember the kitchen?”</a:t>
            </a:r>
            <a:endParaRPr lang="en-US" sz="2600" dirty="0"/>
          </a:p>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Push them out a second-floor window and yell “Tour’s over!”</a:t>
            </a:r>
            <a:endParaRPr lang="en-US" sz="26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DO</a:t>
            </a:r>
            <a:endParaRPr lang="en-US" sz="1500" dirty="0"/>
          </a:p>
        </p:txBody>
      </p:sp>
      <p:sp>
        <p:nvSpPr>
          <p:cNvPr id="13" name="Text 11"/>
          <p:cNvSpPr/>
          <p:nvPr/>
        </p:nvSpPr>
        <p:spPr>
          <a:xfrm>
            <a:off x="6690208" y="2926080"/>
            <a:ext cx="4449928" cy="237744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Take them out to the back deck, or back to the front door.</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Point out the neighborhood, maybe a house next door you won’t visit. Then say a thoughtful goodbye.</a:t>
            </a:r>
            <a:endParaRPr lang="en-US" sz="2100" dirty="0"/>
          </a:p>
        </p:txBody>
      </p:sp>
      <p:sp>
        <p:nvSpPr>
          <p:cNvPr id="14" name="Shape 12"/>
          <p:cNvSpPr/>
          <p:nvPr/>
        </p:nvSpPr>
        <p:spPr>
          <a:xfrm>
            <a:off x="9859975" y="4572000"/>
            <a:ext cx="1828800" cy="1828800"/>
          </a:xfrm>
          <a:prstGeom prst="ellipse">
            <a:avLst/>
          </a:prstGeom>
          <a:solidFill>
            <a:srgbClr val="FFB600"/>
          </a:solidFill>
          <a:ln w="38100">
            <a:solidFill>
              <a:srgbClr val="FFFEFA"/>
            </a:solidFill>
            <a:prstDash val="solid"/>
          </a:ln>
          <a:effectLst>
            <a:outerShdw sx="100000" sy="100000" kx="0" ky="0" algn="bl" rotWithShape="0" blurRad="101600" dist="38100" dir="5400000">
              <a:srgbClr val="3C3828">
                <a:alpha val="18000"/>
              </a:srgbClr>
            </a:outerShdw>
          </a:effectLst>
        </p:spPr>
      </p:sp>
      <p:sp>
        <p:nvSpPr>
          <p:cNvPr id="15" name="Text 13"/>
          <p:cNvSpPr/>
          <p:nvPr/>
        </p:nvSpPr>
        <p:spPr>
          <a:xfrm rot="-600000">
            <a:off x="10042855" y="4754880"/>
            <a:ext cx="1463040" cy="1463040"/>
          </a:xfrm>
          <a:prstGeom prst="rect">
            <a:avLst/>
          </a:prstGeom>
          <a:noFill/>
          <a:ln/>
        </p:spPr>
        <p:txBody>
          <a:bodyPr wrap="square" lIns="0" tIns="0" rIns="0" bIns="0" rtlCol="0" anchor="ctr"/>
          <a:lstStyle/>
          <a:p>
            <a:pPr algn="ctr" indent="0" marL="0">
              <a:buNone/>
            </a:pPr>
            <a:r>
              <a:rPr lang="en-US" sz="1800" b="1" dirty="0">
                <a:solidFill>
                  <a:srgbClr val="3C3828"/>
                </a:solidFill>
                <a:latin typeface="Calibri" pitchFamily="34" charset="0"/>
                <a:ea typeface="Calibri" pitchFamily="34" charset="-122"/>
                <a:cs typeface="Calibri" pitchFamily="34" charset="-120"/>
              </a:rPr>
              <a:t>A graceful exit</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What it looks like</a:t>
            </a:r>
            <a:endParaRPr lang="en-US" sz="3200" dirty="0"/>
          </a:p>
        </p:txBody>
      </p:sp>
      <p:sp>
        <p:nvSpPr>
          <p:cNvPr id="4" name="Shape 2"/>
          <p:cNvSpPr/>
          <p:nvPr/>
        </p:nvSpPr>
        <p:spPr>
          <a:xfrm>
            <a:off x="685800" y="1596904"/>
            <a:ext cx="7436815" cy="4441431"/>
          </a:xfrm>
          <a:prstGeom prst="roundRect">
            <a:avLst>
              <a:gd name="adj" fmla="val 288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editor on the Conclusion step.">    </p:cNvPr>
          <p:cNvPicPr>
            <a:picLocks noChangeAspect="1"/>
          </p:cNvPicPr>
          <p:nvPr/>
        </p:nvPicPr>
        <p:blipFill>
          <a:blip r:embed="rId1"/>
          <a:stretch>
            <a:fillRect/>
          </a:stretch>
        </p:blipFill>
        <p:spPr>
          <a:xfrm>
            <a:off x="813816" y="1724920"/>
            <a:ext cx="7180783" cy="4185399"/>
          </a:xfrm>
          <a:prstGeom prst="rect">
            <a:avLst/>
          </a:prstGeom>
        </p:spPr>
      </p:pic>
      <p:sp>
        <p:nvSpPr>
          <p:cNvPr id="6" name="Shape 3"/>
          <p:cNvSpPr/>
          <p:nvPr/>
        </p:nvSpPr>
        <p:spPr>
          <a:xfrm>
            <a:off x="2129084" y="1822781"/>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2129084" y="182278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5934899" y="2521743"/>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5934899" y="2521743"/>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5934899" y="2877502"/>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5934899" y="2877502"/>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3170298" y="3233261"/>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3170298" y="323326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8579815" y="2329180"/>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8579815" y="232918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9219895" y="211074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The Tutor says </a:t>
            </a:r>
            <a:r>
              <a:rPr lang="en-US" sz="2000" dirty="0">
                <a:solidFill>
                  <a:srgbClr val="3C3828"/>
                </a:solidFill>
                <a:highlight>
                  <a:srgbClr val="FFE14D"/>
                </a:highlight>
                <a:latin typeface="Calibri" pitchFamily="34" charset="0"/>
                <a:ea typeface="Calibri" pitchFamily="34" charset="-122"/>
                <a:cs typeface="Calibri" pitchFamily="34" charset="-120"/>
              </a:rPr>
              <a:t>Conclusion Paragraph</a:t>
            </a:r>
            <a:endParaRPr lang="en-US" sz="2000" dirty="0"/>
          </a:p>
        </p:txBody>
      </p:sp>
      <p:sp>
        <p:nvSpPr>
          <p:cNvPr id="17" name="Shape 14"/>
          <p:cNvSpPr/>
          <p:nvPr/>
        </p:nvSpPr>
        <p:spPr>
          <a:xfrm>
            <a:off x="8579815" y="3223260"/>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8" name="Text 15"/>
          <p:cNvSpPr/>
          <p:nvPr/>
        </p:nvSpPr>
        <p:spPr>
          <a:xfrm>
            <a:off x="8579815" y="32232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9219895" y="300482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Start with a rhetorical question</a:t>
            </a:r>
            <a:endParaRPr lang="en-US" sz="2000" dirty="0"/>
          </a:p>
        </p:txBody>
      </p:sp>
      <p:sp>
        <p:nvSpPr>
          <p:cNvPr id="20" name="Shape 17"/>
          <p:cNvSpPr/>
          <p:nvPr/>
        </p:nvSpPr>
        <p:spPr>
          <a:xfrm>
            <a:off x="8579815" y="403606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1" name="Text 18"/>
          <p:cNvSpPr/>
          <p:nvPr/>
        </p:nvSpPr>
        <p:spPr>
          <a:xfrm>
            <a:off x="8579815" y="40360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2" name="Text 19"/>
          <p:cNvSpPr/>
          <p:nvPr/>
        </p:nvSpPr>
        <p:spPr>
          <a:xfrm>
            <a:off x="9219895" y="3898900"/>
            <a:ext cx="2286000" cy="73152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Answer it: “Perhaps…”</a:t>
            </a:r>
            <a:endParaRPr lang="en-US" sz="2000" dirty="0"/>
          </a:p>
        </p:txBody>
      </p:sp>
      <p:sp>
        <p:nvSpPr>
          <p:cNvPr id="23" name="Shape 20"/>
          <p:cNvSpPr/>
          <p:nvPr/>
        </p:nvSpPr>
        <p:spPr>
          <a:xfrm>
            <a:off x="8579815" y="4848860"/>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4" name="Text 21"/>
          <p:cNvSpPr/>
          <p:nvPr/>
        </p:nvSpPr>
        <p:spPr>
          <a:xfrm>
            <a:off x="8579815" y="48488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5" name="Text 22"/>
          <p:cNvSpPr/>
          <p:nvPr/>
        </p:nvSpPr>
        <p:spPr>
          <a:xfrm>
            <a:off x="9219895" y="4630420"/>
            <a:ext cx="2286000" cy="894080"/>
          </a:xfrm>
          <a:prstGeom prst="rect">
            <a:avLst/>
          </a:prstGeom>
          <a:noFill/>
          <a:ln/>
        </p:spPr>
        <p:txBody>
          <a:bodyPr wrap="square" lIns="0" tIns="0" rIns="0" bIns="0" rtlCol="0" anchor="ctr"/>
          <a:lstStyle/>
          <a:p>
            <a:pPr indent="0" marL="0">
              <a:buNone/>
            </a:pPr>
            <a:r>
              <a:rPr lang="en-US" sz="2000" dirty="0">
                <a:solidFill>
                  <a:srgbClr val="3C3828"/>
                </a:solidFill>
                <a:latin typeface="Calibri" pitchFamily="34" charset="0"/>
                <a:ea typeface="Calibri" pitchFamily="34" charset="-122"/>
                <a:cs typeface="Calibri" pitchFamily="34" charset="-120"/>
              </a:rPr>
              <a:t>End on your big, final point</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2BDC7"/>
        </a:solidFill>
      </p:bgPr>
    </p:bg>
    <p:spTree>
      <p:nvGrpSpPr>
        <p:cNvPr id="1" name=""/>
        <p:cNvGrpSpPr/>
        <p:nvPr/>
      </p:nvGrpSpPr>
      <p:grpSpPr>
        <a:xfrm>
          <a:off x="0" y="0"/>
          <a:ext cx="0" cy="0"/>
          <a:chOff x="0" y="0"/>
          <a:chExt cx="0" cy="0"/>
        </a:xfrm>
      </p:grpSpPr>
      <p:sp>
        <p:nvSpPr>
          <p:cNvPr id="2" name="Shape 0"/>
          <p:cNvSpPr/>
          <p:nvPr/>
        </p:nvSpPr>
        <p:spPr>
          <a:xfrm>
            <a:off x="4175608" y="1234440"/>
            <a:ext cx="3840480" cy="384048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3" name="Text 1"/>
          <p:cNvSpPr/>
          <p:nvPr/>
        </p:nvSpPr>
        <p:spPr>
          <a:xfrm>
            <a:off x="4175608" y="2377440"/>
            <a:ext cx="3840480" cy="1097280"/>
          </a:xfrm>
          <a:prstGeom prst="rect">
            <a:avLst/>
          </a:prstGeom>
          <a:noFill/>
          <a:ln/>
        </p:spPr>
        <p:txBody>
          <a:bodyPr wrap="square" lIns="0" tIns="0" rIns="0" bIns="0" rtlCol="0" anchor="ctr"/>
          <a:lstStyle/>
          <a:p>
            <a:pPr algn="ctr" indent="0" marL="0">
              <a:buNone/>
            </a:pPr>
            <a:r>
              <a:rPr lang="en-US" sz="7200" b="1" dirty="0">
                <a:solidFill>
                  <a:srgbClr val="3C3828"/>
                </a:solidFill>
                <a:latin typeface="Georgia" pitchFamily="34" charset="0"/>
                <a:ea typeface="Georgia" pitchFamily="34" charset="-122"/>
                <a:cs typeface="Georgia" pitchFamily="34" charset="-120"/>
              </a:rPr>
              <a:t>YAWP!</a:t>
            </a:r>
            <a:endParaRPr lang="en-US" sz="7200" dirty="0"/>
          </a:p>
        </p:txBody>
      </p:sp>
      <p:sp>
        <p:nvSpPr>
          <p:cNvPr id="4" name="Text 2"/>
          <p:cNvSpPr/>
          <p:nvPr/>
        </p:nvSpPr>
        <p:spPr>
          <a:xfrm>
            <a:off x="4175608" y="3520440"/>
            <a:ext cx="3840480" cy="365760"/>
          </a:xfrm>
          <a:prstGeom prst="rect">
            <a:avLst/>
          </a:prstGeom>
          <a:noFill/>
          <a:ln/>
        </p:spPr>
        <p:txBody>
          <a:bodyPr wrap="square" lIns="0" tIns="0" rIns="0" bIns="0" rtlCol="0" anchor="ctr"/>
          <a:lstStyle/>
          <a:p>
            <a:pPr algn="ctr" indent="0" marL="0">
              <a:buNone/>
            </a:pPr>
            <a:r>
              <a:rPr lang="en-US" sz="1300" b="1" spc="300" kern="0" dirty="0">
                <a:solidFill>
                  <a:srgbClr val="D27151"/>
                </a:solidFill>
                <a:latin typeface="Consolas" pitchFamily="34" charset="0"/>
                <a:ea typeface="Consolas" pitchFamily="34" charset="-122"/>
                <a:cs typeface="Consolas" pitchFamily="34" charset="-120"/>
              </a:rPr>
              <a:t>WRITING PROGRAM</a:t>
            </a:r>
            <a:endParaRPr lang="en-US" sz="1300" dirty="0"/>
          </a:p>
        </p:txBody>
      </p:sp>
      <p:sp>
        <p:nvSpPr>
          <p:cNvPr id="5" name="Shape 3"/>
          <p:cNvSpPr/>
          <p:nvPr/>
        </p:nvSpPr>
        <p:spPr>
          <a:xfrm>
            <a:off x="6918808" y="777240"/>
            <a:ext cx="1463040" cy="1463040"/>
          </a:xfrm>
          <a:prstGeom prst="ellipse">
            <a:avLst/>
          </a:prstGeom>
          <a:solidFill>
            <a:srgbClr val="FFB600"/>
          </a:solidFill>
          <a:ln w="12700">
            <a:solidFill>
              <a:srgbClr val="FFB600"/>
            </a:solidFill>
            <a:prstDash val="solid"/>
          </a:ln>
        </p:spPr>
      </p:sp>
      <p:pic>
        <p:nvPicPr>
          <p:cNvPr id="6" name="Image 0" descr="lightbulb icon">    </p:cNvPr>
          <p:cNvPicPr>
            <a:picLocks noChangeAspect="1"/>
          </p:cNvPicPr>
          <p:nvPr/>
        </p:nvPicPr>
        <p:blipFill>
          <a:blip r:embed="rId1"/>
          <a:stretch>
            <a:fillRect/>
          </a:stretch>
        </p:blipFill>
        <p:spPr>
          <a:xfrm>
            <a:off x="7211416" y="1069848"/>
            <a:ext cx="877824" cy="877824"/>
          </a:xfrm>
          <a:prstGeom prst="rect">
            <a:avLst/>
          </a:prstGeom>
        </p:spPr>
      </p:pic>
      <p:sp>
        <p:nvSpPr>
          <p:cNvPr id="7" name="Shape 4"/>
          <p:cNvSpPr/>
          <p:nvPr/>
        </p:nvSpPr>
        <p:spPr>
          <a:xfrm>
            <a:off x="3626968" y="1508760"/>
            <a:ext cx="1005840" cy="1005840"/>
          </a:xfrm>
          <a:prstGeom prst="ellipse">
            <a:avLst/>
          </a:prstGeom>
          <a:solidFill>
            <a:srgbClr val="FF9755"/>
          </a:solidFill>
          <a:ln w="12700">
            <a:solidFill>
              <a:srgbClr val="FF9755"/>
            </a:solidFill>
            <a:prstDash val="solid"/>
          </a:ln>
        </p:spPr>
      </p:sp>
      <p:pic>
        <p:nvPicPr>
          <p:cNvPr id="8" name="Image 1" descr="puzzle icon">    </p:cNvPr>
          <p:cNvPicPr>
            <a:picLocks noChangeAspect="1"/>
          </p:cNvPicPr>
          <p:nvPr/>
        </p:nvPicPr>
        <p:blipFill>
          <a:blip r:embed="rId2"/>
          <a:stretch>
            <a:fillRect/>
          </a:stretch>
        </p:blipFill>
        <p:spPr>
          <a:xfrm>
            <a:off x="3828136" y="1709928"/>
            <a:ext cx="603504" cy="603504"/>
          </a:xfrm>
          <a:prstGeom prst="rect">
            <a:avLst/>
          </a:prstGeom>
        </p:spPr>
      </p:pic>
      <p:sp>
        <p:nvSpPr>
          <p:cNvPr id="9" name="Shape 5"/>
          <p:cNvSpPr/>
          <p:nvPr/>
        </p:nvSpPr>
        <p:spPr>
          <a:xfrm>
            <a:off x="4267048" y="4069080"/>
            <a:ext cx="1188720" cy="1188720"/>
          </a:xfrm>
          <a:prstGeom prst="ellipse">
            <a:avLst/>
          </a:prstGeom>
          <a:solidFill>
            <a:srgbClr val="FC4540"/>
          </a:solidFill>
          <a:ln w="12700">
            <a:solidFill>
              <a:srgbClr val="FC4540"/>
            </a:solidFill>
            <a:prstDash val="solid"/>
          </a:ln>
        </p:spPr>
      </p:sp>
      <p:pic>
        <p:nvPicPr>
          <p:cNvPr id="10" name="Image 2" descr="thumbs icon">    </p:cNvPr>
          <p:cNvPicPr>
            <a:picLocks noChangeAspect="1"/>
          </p:cNvPicPr>
          <p:nvPr/>
        </p:nvPicPr>
        <p:blipFill>
          <a:blip r:embed="rId3"/>
          <a:stretch>
            <a:fillRect/>
          </a:stretch>
        </p:blipFill>
        <p:spPr>
          <a:xfrm>
            <a:off x="4504792" y="4306824"/>
            <a:ext cx="713232" cy="713232"/>
          </a:xfrm>
          <a:prstGeom prst="rect">
            <a:avLst/>
          </a:prstGeom>
        </p:spPr>
      </p:pic>
      <p:sp>
        <p:nvSpPr>
          <p:cNvPr id="11" name="Shape 6"/>
          <p:cNvSpPr/>
          <p:nvPr/>
        </p:nvSpPr>
        <p:spPr>
          <a:xfrm>
            <a:off x="3855568" y="2971800"/>
            <a:ext cx="274320" cy="274320"/>
          </a:xfrm>
          <a:prstGeom prst="ellipse">
            <a:avLst/>
          </a:prstGeom>
          <a:solidFill>
            <a:srgbClr val="FFFEFA"/>
          </a:solidFill>
          <a:ln w="12700">
            <a:solidFill>
              <a:srgbClr val="FFFEFA"/>
            </a:solidFill>
            <a:prstDash val="solid"/>
          </a:ln>
        </p:spPr>
      </p:sp>
      <p:sp>
        <p:nvSpPr>
          <p:cNvPr id="12" name="Shape 7"/>
          <p:cNvSpPr/>
          <p:nvPr/>
        </p:nvSpPr>
        <p:spPr>
          <a:xfrm>
            <a:off x="8107528" y="2606040"/>
            <a:ext cx="411480" cy="411480"/>
          </a:xfrm>
          <a:prstGeom prst="ellipse">
            <a:avLst/>
          </a:prstGeom>
          <a:solidFill>
            <a:srgbClr val="FC4067"/>
          </a:solidFill>
          <a:ln w="12700">
            <a:solidFill>
              <a:srgbClr val="FC4067"/>
            </a:solidFill>
            <a:prstDash val="solid"/>
          </a:ln>
        </p:spPr>
      </p:sp>
      <p:sp>
        <p:nvSpPr>
          <p:cNvPr id="13" name="Shape 8"/>
          <p:cNvSpPr/>
          <p:nvPr/>
        </p:nvSpPr>
        <p:spPr>
          <a:xfrm>
            <a:off x="7558888" y="5120640"/>
            <a:ext cx="548640" cy="548640"/>
          </a:xfrm>
          <a:prstGeom prst="ellipse">
            <a:avLst/>
          </a:prstGeom>
          <a:solidFill>
            <a:srgbClr val="FF9755"/>
          </a:solidFill>
          <a:ln w="12700">
            <a:solidFill>
              <a:srgbClr val="FF9755"/>
            </a:solidFill>
            <a:prstDash val="solid"/>
          </a:ln>
        </p:spPr>
      </p:sp>
      <p:sp>
        <p:nvSpPr>
          <p:cNvPr id="14" name="Shape 9"/>
          <p:cNvSpPr/>
          <p:nvPr/>
        </p:nvSpPr>
        <p:spPr>
          <a:xfrm>
            <a:off x="6735928" y="5349240"/>
            <a:ext cx="164592" cy="164592"/>
          </a:xfrm>
          <a:prstGeom prst="ellipse">
            <a:avLst/>
          </a:prstGeom>
          <a:solidFill>
            <a:srgbClr val="FFB600"/>
          </a:solidFill>
          <a:ln w="12700">
            <a:solidFill>
              <a:srgbClr val="FFB600"/>
            </a:solidFill>
            <a:prstDash val="solid"/>
          </a:ln>
        </p:spPr>
      </p:sp>
      <p:sp>
        <p:nvSpPr>
          <p:cNvPr id="15" name="Shape 10"/>
          <p:cNvSpPr/>
          <p:nvPr/>
        </p:nvSpPr>
        <p:spPr>
          <a:xfrm>
            <a:off x="5455768" y="5257800"/>
            <a:ext cx="201168" cy="201168"/>
          </a:xfrm>
          <a:prstGeom prst="ellipse">
            <a:avLst/>
          </a:prstGeom>
          <a:solidFill>
            <a:srgbClr val="FFFEFA"/>
          </a:solidFill>
          <a:ln w="12700">
            <a:solidFill>
              <a:srgbClr val="FFFEFA"/>
            </a:solidFill>
            <a:prstDash val="solid"/>
          </a:ln>
        </p:spPr>
      </p:sp>
      <p:sp>
        <p:nvSpPr>
          <p:cNvPr id="16" name="Text 11"/>
          <p:cNvSpPr/>
          <p:nvPr/>
        </p:nvSpPr>
        <p:spPr>
          <a:xfrm>
            <a:off x="685800" y="5577840"/>
            <a:ext cx="10820095" cy="548640"/>
          </a:xfrm>
          <a:prstGeom prst="rect">
            <a:avLst/>
          </a:prstGeom>
          <a:noFill/>
          <a:ln/>
        </p:spPr>
        <p:txBody>
          <a:bodyPr wrap="square" lIns="0" tIns="0" rIns="0" bIns="0" rtlCol="0" anchor="ctr"/>
          <a:lstStyle/>
          <a:p>
            <a:pPr algn="ctr" indent="0" marL="0">
              <a:buNone/>
            </a:pPr>
            <a:r>
              <a:rPr lang="en-US" sz="2200" dirty="0">
                <a:solidFill>
                  <a:srgbClr val="FFFEFA"/>
                </a:solidFill>
                <a:latin typeface="Calibri" pitchFamily="34" charset="0"/>
                <a:ea typeface="Calibri" pitchFamily="34" charset="-122"/>
                <a:cs typeface="Calibri" pitchFamily="34" charset="-120"/>
              </a:rPr>
              <a:t>Next time: titles and finishing touches.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Conclusion Paragraph</dc:title>
  <dc:subject>Thesis-Driven Essay · Lesson 6</dc:subject>
  <dc:creator>PptxGenJS</dc:creator>
  <cp:lastModifiedBy>PptxGenJS</cp:lastModifiedBy>
  <cp:revision>1</cp:revision>
  <dcterms:created xsi:type="dcterms:W3CDTF">2026-10-18T15:59:21Z</dcterms:created>
  <dcterms:modified xsi:type="dcterms:W3CDTF">2026-10-18T15:59:21Z</dcterms:modified>
</cp:coreProperties>
</file>