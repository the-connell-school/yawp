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should be near or at the end of their body paragraphs; make sure they’ve moved their documents to the "Conclusion Paragraph" step. Some will still be on body paragraphs, and that’s fine: teach this now so they know what to do when they get here. Students move at different paces at this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 the conclusion. So difficult and annoying for so many students, largely because we were all taught to restate the thesis and main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if you were taught this (or taught it yourself), accept that it’s a bland, unimaginative ending. It makes sense for a speech or a sales pitch, where an audience retains a fraction of what they hear: "my floors look better, cost less, and are greener… so in conclusion, my floors are the best." A critical essay is on the page, for an intelligent reader who can reread.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man, I was there with you. I just read your whole essay, and now you’re repeating it to make sure I got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conclusion paragraph does mark the end of the essay, but it’s more than an ending: it’s a deduction from everything we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class sit with the question for a moment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Especially relevant for the "problem in your community"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them what a rhetorical question really is: a question asked so the writer can supply the answer they want the reader to hear.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Haley’s whole conclusion together: a shared reference point for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"Perhaps this… but maybe not. I’m just throwing it out there." Students may introduce a new idea here as food for thought on the way out; they don’t need to write a whole new essay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 hasn’t talked about how teachers are taught anywhere in her essay. It’s a new idea, offered as she exits. She could write a separate essay about it; she doesn’t have to. Really thoughtful.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moves, in order. The question creates a shift; "Perhaps" lets students offer a deduction (even a new idea) confidently without having to prove it all over again; then two sentences of their own analysis, a quote if they have a text, and one big closing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structure: the rhetorical question; the "perhaps"; a few sentences of opinion and reaction; the solution ("if administrators and teachers prioritized creative lessons…"), the antidote to everything she has argued; then the big final sentence. On the Critical Essay Form the conclusion is the upside-down funnel: specific back out to big. "Imagine the impact this could have on student learning and the teaching profession!"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toured them through the living room, the kitchen, the bedrooms. You wouldn’t scream and run away (what many students do), and you wouldn’t repeat the tour. Instead, a back deck: there’s a little bit more. Or the front door, pointing at the neighborhood: some ideas, even new ones, you acknowledge without exploring, placing your house in the greater neighborhood and world. Leave this slide up while students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Conclusion Paragraph step. This part usually goes fast: once body paragraphs are done they’re in the home stretch. As you work the room, watch the rhetorical questions. Some will be too simple or lead nowhere; help them find a relevant question that springboards their final thoughts. For many students this is the first conclusion like this they have ever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who finish can reread their whole essay from the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6</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Conclusion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Go beyond restating: draw a conclusion</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02BDC7"/>
          </a:solidFill>
          <a:ln w="12700">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C4540"/>
          </a:solidFill>
          <a:ln w="12700">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5</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Conclusion Paragraph</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A graceful exit.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MYTH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Myth</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 good conclusion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restates the thesis and main ideas</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of the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FACT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Fact</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Restating your thesis and main ideas can make you seem like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an alien.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LET’S REASSESS THE WORD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Conclusion (noun)</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423160"/>
            <a:ext cx="5181448" cy="256032"/>
          </a:xfrm>
          <a:prstGeom prst="rect">
            <a:avLst/>
          </a:prstGeom>
          <a:solidFill>
            <a:srgbClr val="FFB600"/>
          </a:solidFill>
          <a:ln w="12700">
            <a:solidFill>
              <a:srgbClr val="FFB60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1</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An ending.</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DEFINITION 2</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A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deduction</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drawn from available information.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 can you deduce?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By the end of your essay, you should have exhaustively defined, illustrated, and proven the elements of your thesis. And your reader should be right there with you. So if everything you just said is true, then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what deductions, or conclusions, can you draw from it all?</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CONCLUSION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Is your essay about a problem?</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If your essay discusses a problem, this could be a great place to discuss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solutions</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to that problem.</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Begin with a rhetorical question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Rhetorical questions can create a nice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shift</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 a discussion or argument. For example, in the sample essay on education, Haley began her conclusion paragraph with the following…</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HALEY’S QUESTION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How the sample essay’s conclusion begins</a:t>
            </a:r>
            <a:endParaRPr lang="en-US" sz="30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02BDC7"/>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2600" i="1" dirty="0">
                <a:solidFill>
                  <a:srgbClr val="3C3828"/>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endParaRPr lang="en-US" sz="26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Haley, “Bored in the USA” (read the conclusion together)</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PRO-TIP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Many a good conclusion begins with “Perhaps”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It’s assertive and smart without being aggressive, and it fits a conclusion’s tone: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comfortable and confident.</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With “perhaps,” you can offer ideas (even new ones) without new support. The support is already in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STATEMENT OF “PERHAPS”: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question, then “perhaps”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FROM THE SAMPLE ESSAY</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400" b="1" dirty="0">
                <a:solidFill>
                  <a:srgbClr val="FFB600"/>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4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“Perhaps…”</a:t>
            </a:r>
            <a:pPr indent="0" marL="0">
              <a:buNone/>
            </a:pP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PUTTING IT TOGETHER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Haley’s conclusion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QUESTION AND BIG FINAL POINT IN COLOUR · “PERHAPS” HIGHLIGHTED</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If we assume that teachers don’t like to be boring, then why doesn’t the education system teach them how to prioritize creative thinking in classrooms?</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a:t>
            </a:r>
            <a:pPr indent="0" marL="0">
              <a:lnSpc>
                <a:spcPct val="120000"/>
              </a:lnSpc>
              <a:buNone/>
            </a:pPr>
            <a:r>
              <a:rPr lang="en-US" sz="2000" dirty="0">
                <a:solidFill>
                  <a:srgbClr val="3C3828"/>
                </a:solidFill>
                <a:highlight>
                  <a:srgbClr val="FFE14D"/>
                </a:highlight>
                <a:latin typeface="Georgia" pitchFamily="34" charset="0"/>
                <a:ea typeface="Georgia" pitchFamily="34" charset="-122"/>
                <a:cs typeface="Georgia" pitchFamily="34" charset="-120"/>
              </a:rPr>
              <a:t>Perhaps the way teachers are taught today is wrong.</a:t>
            </a:r>
            <a:pPr indent="0" marL="0">
              <a:lnSpc>
                <a:spcPct val="120000"/>
              </a:lnSpc>
              <a:buNone/>
            </a:pPr>
            <a:r>
              <a:rPr lang="en-US" sz="2000" dirty="0">
                <a:solidFill>
                  <a:srgbClr val="3C3828"/>
                </a:solidFill>
                <a:latin typeface="Georgia" pitchFamily="34" charset="0"/>
                <a:ea typeface="Georgia" pitchFamily="34" charset="-122"/>
                <a:cs typeface="Georgia" pitchFamily="34" charset="-120"/>
              </a:rPr>
              <a:t> They put too much pressure on teachers to increase scores, and this trickles down to the students, and suddenly everything we do in school is about “the test.” No one can learn under those conditions. However, if administrators and teachers prioritized creative lessons, we could build engagement and excitement between the teachers and students. </a:t>
            </a:r>
            <a:pPr indent="0" marL="0">
              <a:lnSpc>
                <a:spcPct val="120000"/>
              </a:lnSpc>
              <a:buNone/>
            </a:pPr>
            <a:r>
              <a:rPr lang="en-US" sz="2000" b="1" dirty="0">
                <a:solidFill>
                  <a:srgbClr val="02BDC7"/>
                </a:solidFill>
                <a:latin typeface="Georgia" pitchFamily="34" charset="0"/>
                <a:ea typeface="Georgia" pitchFamily="34" charset="-122"/>
                <a:cs typeface="Georgia" pitchFamily="34" charset="-120"/>
              </a:rPr>
              <a:t>Imagine the impact this could have on student learning and the teaching profession!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HOUSE ANALOGY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End the tour gracefully</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Walk them back through every room: “Remember the kitchen?”</a:t>
            </a:r>
            <a:endParaRPr lang="en-US" sz="2600" dirty="0"/>
          </a:p>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Push them out a second-floor window and yell “Tour’s over!”</a:t>
            </a:r>
            <a:endParaRPr lang="en-US" sz="26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them out to the back deck, or back to the front door.</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Point out the neighborhood, maybe a house next door you won’t visit. Then say a thoughtful goodbye.</a:t>
            </a:r>
            <a:endParaRPr lang="en-US" sz="21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A graceful exit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conclus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Conclusion Paragraph</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with a rhetorical question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Answer it: “Perhaps…”</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End on your big, final point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titles and finishing touches.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Conclusion Paragraph</dc:title>
  <dc:subject>Thesis-Driven Essay · Lesson 6</dc:subject>
  <dc:creator>PptxGenJS</dc:creator>
  <cp:lastModifiedBy>PptxGenJS</cp:lastModifiedBy>
  <cp:revision>1</cp:revision>
  <dcterms:created xsi:type="dcterms:W3CDTF">2026-10-12T23:00:39Z</dcterms:created>
  <dcterms:modified xsi:type="dcterms:W3CDTF">2026-10-12T23:00:39Z</dcterms:modified>
</cp:coreProperties>
</file>