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r>
              <a:rPr lang="en-US" sz="2600" dirty="0">
                <a:solidFill>
                  <a:srgbClr val="3C3828"/>
                </a:solidFill>
                <a:highlight>
                  <a:srgbClr val="FFE14D"/>
                </a:highlight>
                <a:latin typeface="Georgia" pitchFamily="34" charset="0"/>
                <a:ea typeface="Georgia" pitchFamily="34" charset="-122"/>
                <a:cs typeface="Georgia" pitchFamily="34" charset="-120"/>
              </a:rPr>
              <a:t>deduction</a:t>
            </a: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r>
              <a:rPr lang="en-US" sz="32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If your essay discusses a problem, this could be a great place to discuss </a:t>
            </a:r>
            <a:r>
              <a:rPr lang="en-US" sz="4000" dirty="0">
                <a:solidFill>
                  <a:srgbClr val="3C3828"/>
                </a:solidFill>
                <a:highlight>
                  <a:srgbClr val="FFE14D"/>
                </a:highlight>
                <a:latin typeface="Georgia" pitchFamily="34" charset="0"/>
                <a:ea typeface="Georgia" pitchFamily="34" charset="-122"/>
                <a:cs typeface="Georgia" pitchFamily="34" charset="-120"/>
              </a:rPr>
              <a:t>solutions</a:t>
            </a:r>
            <a:r>
              <a:rPr lang="en-US" sz="4000" dirty="0">
                <a:solidFill>
                  <a:srgbClr val="3C3828"/>
                </a:solidFill>
                <a:latin typeface="Georgia" pitchFamily="34" charset="0"/>
                <a:ea typeface="Georgia" pitchFamily="34" charset="-122"/>
                <a:cs typeface="Georgia" pitchFamily="34" charset="-120"/>
              </a:rPr>
              <a:t> to that problem.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Rhetorical questions can create a nice </a:t>
            </a:r>
            <a:r>
              <a:rPr lang="en-US" sz="3600" dirty="0">
                <a:solidFill>
                  <a:srgbClr val="3C3828"/>
                </a:solidFill>
                <a:highlight>
                  <a:srgbClr val="FFE14D"/>
                </a:highlight>
                <a:latin typeface="Georgia" pitchFamily="34" charset="0"/>
                <a:ea typeface="Georgia" pitchFamily="34" charset="-122"/>
                <a:cs typeface="Georgia" pitchFamily="34" charset="-120"/>
              </a:rPr>
              <a:t>shift</a:t>
            </a:r>
            <a:r>
              <a:rPr lang="en-US" sz="36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r>
              <a:rPr lang="en-US" sz="3200" dirty="0">
                <a:solidFill>
                  <a:srgbClr val="3C3828"/>
                </a:solidFill>
                <a:highlight>
                  <a:srgbClr val="FFE14D"/>
                </a:highlight>
                <a:latin typeface="Georgia" pitchFamily="34" charset="0"/>
                <a:ea typeface="Georgia" pitchFamily="34" charset="-122"/>
                <a:cs typeface="Georgia" pitchFamily="34" charset="-120"/>
              </a:rPr>
              <a:t>comfortable and confident.</a:t>
            </a:r>
            <a:r>
              <a:rPr lang="en-US" sz="32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question, then “perhaps”</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FB600"/>
          </a:solidFill>
          <a:ln w="12700">
            <a:solidFill>
              <a:srgbClr val="FFB60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6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a:p>
            <a:pPr indent="0" marL="0">
              <a:lnSpc>
                <a:spcPct val="112000"/>
              </a:lnSpc>
              <a:buNone/>
            </a:pPr>
            <a:endParaRPr lang="en-US" sz="2600" dirty="0"/>
          </a:p>
          <a:p>
            <a:pPr indent="0" marL="0">
              <a:lnSpc>
                <a:spcPct val="112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6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Rhetorical question</a:t>
            </a:r>
            <a:endParaRPr lang="en-US" sz="24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Answer it directly (</a:t>
            </a:r>
            <a:r>
              <a:rPr lang="en-US" sz="2400" dirty="0">
                <a:solidFill>
                  <a:srgbClr val="3C3828"/>
                </a:solidFill>
                <a:highlight>
                  <a:srgbClr val="FFE14D"/>
                </a:highlight>
                <a:latin typeface="Calibri" pitchFamily="34" charset="0"/>
                <a:ea typeface="Calibri" pitchFamily="34" charset="-122"/>
                <a:cs typeface="Calibri" pitchFamily="34" charset="-120"/>
              </a:rPr>
              <a:t>“Perhaps…”</a:t>
            </a:r>
            <a:r>
              <a:rPr lang="en-US" sz="2400" dirty="0">
                <a:solidFill>
                  <a:srgbClr val="3C3828"/>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 sentences of opinion or analysis</a:t>
            </a:r>
            <a:endParaRPr lang="en-US" sz="24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Supporting quote (if working with a text)</a:t>
            </a:r>
            <a:endParaRPr lang="en-US" sz="24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Final, concluding sentence: the big, final point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Haley’s conclusion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r>
              <a:rPr lang="en-US" sz="2200" dirty="0">
                <a:solidFill>
                  <a:srgbClr val="3C3828"/>
                </a:solidFill>
                <a:latin typeface="Georgia" pitchFamily="34" charset="0"/>
                <a:ea typeface="Georgia" pitchFamily="34" charset="-122"/>
                <a:cs typeface="Georgia" pitchFamily="34" charset="-120"/>
              </a:rPr>
              <a:t> </a:t>
            </a:r>
            <a:r>
              <a:rPr lang="en-US" sz="22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2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r>
              <a:rPr lang="en-US" sz="22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800" b="1" dirty="0">
                <a:solidFill>
                  <a:srgbClr val="3C3828"/>
                </a:solidFill>
                <a:latin typeface="Calibri" pitchFamily="34" charset="0"/>
                <a:ea typeface="Calibri" pitchFamily="34" charset="-122"/>
                <a:cs typeface="Calibri" pitchFamily="34" charset="-120"/>
              </a:rPr>
              <a:t>A graceful exit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Conclusion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129084"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29084"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934899" y="2521743"/>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934899" y="252174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934899" y="287750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934899" y="287750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70298" y="3233261"/>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70298" y="323326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32918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3291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1107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17" name="Shape 14"/>
          <p:cNvSpPr/>
          <p:nvPr/>
        </p:nvSpPr>
        <p:spPr>
          <a:xfrm>
            <a:off x="8579815" y="322326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30048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98900"/>
            <a:ext cx="2286000" cy="73152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23" name="Shape 20"/>
          <p:cNvSpPr/>
          <p:nvPr/>
        </p:nvSpPr>
        <p:spPr>
          <a:xfrm>
            <a:off x="8579815" y="484886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8488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6304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2026-10-17T11:40:45Z</dcterms:created>
  <dcterms:modified xsi:type="dcterms:W3CDTF">2026-10-17T11:40:45Z</dcterms:modified>
</cp:coreProperties>
</file>