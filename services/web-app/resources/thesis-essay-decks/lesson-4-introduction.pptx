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students begin, and some finish, their introductions, which end with their thesis statement. Before you start: everyone who has been in class should have a working thesis (absent students can catch up). The thesis is the first real milestone, and once it works the essay almost writes itself. Celebrate it; have a few students share theirs aloud or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Individually, in pairs or in teams. The instructions are deliberately vague. If they ask "what order?", just say "an order that works." Don’t tell them it’s largest to smallest. Most get there fast (smallest to largest works too); the odd one will go alphabetical.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they chose that order. Brian’s Google Earth picture: type in an address and it starts you out in space, then zooms to the planet, the continent, the country, the state, and down into the neighborhood. Boop: there’s your address. That is the mentality for an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sentences aloud so everyone is together. Students only need to write the numbers, not the sentences. They usually need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 team share, then break it down: very broad (29 movies) to very specific (two relationships). Point out that each sentence reaches up to the one above and brings down a thread: nine of those 29; across these nine; however, two relationships; one of those two. Each one logically leads to the next. That is what their introduction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never start writing an essay until you have your thesis statement. Now they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nice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it. We would never begin with the thesis: it’s too complex. Tell students their theses are so beautiful and pack such a punch that the reader needs to be prepared for them. There’s a handout in the resources with the next few slides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All four examples that follow end on the same thesis, the one from the sample essay. Make sure students know they will write their own intro today; raising the stakes helps them pay attention to the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A story or scene feels like a story: description, maybe a character, even dialogue. It brings the reader into a shared scene you can refer back to later, and it gives a really good example of the thing you’re talking about. Point out that it starts general and narrows, and that the thesis (in italics) is the last sentence. If you used a different sample essay, consider writing your own example of each style that ends on that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Most students will say a rhetorical question is one that isn’t supposed to be answered. True, but the real idea: the writer asks it so they can supply the answer they want the reader to hear. Haley asks about learning to ride a bike, then answers: exciting, blood rushing, challenging, but worth it. That answer is exactly what she wants us to believe school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relevant quote is a strong opener. If students are writing about a book, article or essay, a quote from that text is a great start; teach the TAG method (title, author, genre) to set it up: "In the essay The American Scholar, Ralph Waldo Emerson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definition brings the reader in and gets everyone agreeing on what we’re talking about. It doesn’t have to be literal ("Dictionary.com defines…"). It can be useful for a term that really needs it, like duality, but warn students not to define what doesn’t need defining: "Dictionary.com defines student as a person who learns."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is decision making: this is the moment they decide how to start. On their document, a heading ("Introduction"), and they can paste their thesis below it so they know where they’re heading. Combining styles is fine if it’s intentional; ask students which style they chose as you walk around. Decide your policy on "I": a personal story may need it. They can ask the Tutor for feedback; it won’t write the intro for them, but it may suggest, say, a transition sentence before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Introduction step with a sample introduction leading into its thesis. Students are always amazed how fast the intro comes once they know their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next class, read through the introductions and comment. Some will need a transition sentence linking the intro to the thesis; help with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4</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Introduction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Welcome your reader in, then hand them your thesis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196596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City</a:t>
            </a:r>
            <a:endParaRPr lang="en-US" sz="2200" dirty="0"/>
          </a:p>
        </p:txBody>
      </p:sp>
      <p:sp>
        <p:nvSpPr>
          <p:cNvPr id="11" name="Shape 8"/>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2619103"/>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572077"/>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Continent</a:t>
            </a:r>
            <a:endParaRPr lang="en-US" sz="2200" dirty="0"/>
          </a:p>
        </p:txBody>
      </p:sp>
      <p:sp>
        <p:nvSpPr>
          <p:cNvPr id="14" name="Shape 11"/>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225219"/>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17819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Neighborhood</a:t>
            </a:r>
            <a:endParaRPr lang="en-US" sz="2200" dirty="0"/>
          </a:p>
        </p:txBody>
      </p:sp>
      <p:sp>
        <p:nvSpPr>
          <p:cNvPr id="17" name="Shape 14"/>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3831336"/>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378431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Country</a:t>
            </a:r>
            <a:endParaRPr lang="en-US" sz="2200" dirty="0"/>
          </a:p>
        </p:txBody>
      </p:sp>
      <p:sp>
        <p:nvSpPr>
          <p:cNvPr id="20" name="Shape 17"/>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437453"/>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4390426"/>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Universe</a:t>
            </a:r>
            <a:endParaRPr lang="en-US" sz="2200" dirty="0"/>
          </a:p>
        </p:txBody>
      </p:sp>
      <p:sp>
        <p:nvSpPr>
          <p:cNvPr id="23" name="Shape 20"/>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1981048" y="5043569"/>
            <a:ext cx="384048" cy="384048"/>
          </a:xfrm>
          <a:prstGeom prst="ellipse">
            <a:avLst/>
          </a:prstGeom>
          <a:solidFill>
            <a:srgbClr val="FFFEFA"/>
          </a:solidFill>
          <a:ln w="15875">
            <a:solidFill>
              <a:srgbClr val="D6D4CC"/>
            </a:solidFill>
            <a:prstDash val="solid"/>
          </a:ln>
        </p:spPr>
      </p:sp>
      <p:sp>
        <p:nvSpPr>
          <p:cNvPr id="25" name="Text 22"/>
          <p:cNvSpPr/>
          <p:nvPr/>
        </p:nvSpPr>
        <p:spPr>
          <a:xfrm>
            <a:off x="2575408" y="499654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State</a:t>
            </a:r>
            <a:endParaRPr lang="en-US" sz="2200" dirty="0"/>
          </a:p>
        </p:txBody>
      </p:sp>
      <p:sp>
        <p:nvSpPr>
          <p:cNvPr id="26" name="Shape 23"/>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7" name="Shape 24"/>
          <p:cNvSpPr/>
          <p:nvPr/>
        </p:nvSpPr>
        <p:spPr>
          <a:xfrm>
            <a:off x="1981048" y="5649686"/>
            <a:ext cx="384048" cy="384048"/>
          </a:xfrm>
          <a:prstGeom prst="ellipse">
            <a:avLst/>
          </a:prstGeom>
          <a:solidFill>
            <a:srgbClr val="FFFEFA"/>
          </a:solidFill>
          <a:ln w="15875">
            <a:solidFill>
              <a:srgbClr val="D6D4CC"/>
            </a:solidFill>
            <a:prstDash val="solid"/>
          </a:ln>
        </p:spPr>
      </p:sp>
      <p:sp>
        <p:nvSpPr>
          <p:cNvPr id="28" name="Text 25"/>
          <p:cNvSpPr/>
          <p:nvPr/>
        </p:nvSpPr>
        <p:spPr>
          <a:xfrm>
            <a:off x="2575408" y="5602659"/>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Planet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7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01298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196596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Universe</a:t>
            </a:r>
            <a:endParaRPr lang="en-US" sz="2200" dirty="0"/>
          </a:p>
        </p:txBody>
      </p:sp>
      <p:sp>
        <p:nvSpPr>
          <p:cNvPr id="12" name="Shape 9"/>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2619103"/>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2619103"/>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572077"/>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Planet</a:t>
            </a:r>
            <a:endParaRPr lang="en-US" sz="2200" dirty="0"/>
          </a:p>
        </p:txBody>
      </p:sp>
      <p:sp>
        <p:nvSpPr>
          <p:cNvPr id="16" name="Shape 13"/>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225219"/>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225219"/>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17819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Continent</a:t>
            </a:r>
            <a:endParaRPr lang="en-US" sz="2200" dirty="0"/>
          </a:p>
        </p:txBody>
      </p:sp>
      <p:sp>
        <p:nvSpPr>
          <p:cNvPr id="20" name="Shape 17"/>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3831336"/>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378431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Country</a:t>
            </a:r>
            <a:endParaRPr lang="en-US" sz="2200" dirty="0"/>
          </a:p>
        </p:txBody>
      </p:sp>
      <p:sp>
        <p:nvSpPr>
          <p:cNvPr id="24" name="Shape 21"/>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4437453"/>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4437453"/>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4390426"/>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State</a:t>
            </a:r>
            <a:endParaRPr lang="en-US" sz="2200" dirty="0"/>
          </a:p>
        </p:txBody>
      </p:sp>
      <p:sp>
        <p:nvSpPr>
          <p:cNvPr id="28" name="Shape 25"/>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9" name="Shape 26"/>
          <p:cNvSpPr/>
          <p:nvPr/>
        </p:nvSpPr>
        <p:spPr>
          <a:xfrm>
            <a:off x="1981048" y="5043569"/>
            <a:ext cx="384048" cy="384048"/>
          </a:xfrm>
          <a:prstGeom prst="ellipse">
            <a:avLst/>
          </a:prstGeom>
          <a:solidFill>
            <a:srgbClr val="02BDC7"/>
          </a:solidFill>
          <a:ln w="12700">
            <a:solidFill>
              <a:srgbClr val="02BDC7"/>
            </a:solidFill>
            <a:prstDash val="solid"/>
          </a:ln>
        </p:spPr>
      </p:sp>
      <p:sp>
        <p:nvSpPr>
          <p:cNvPr id="30" name="Text 27"/>
          <p:cNvSpPr/>
          <p:nvPr/>
        </p:nvSpPr>
        <p:spPr>
          <a:xfrm>
            <a:off x="1981048" y="5043569"/>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6</a:t>
            </a:r>
            <a:endParaRPr lang="en-US" sz="1600" dirty="0"/>
          </a:p>
        </p:txBody>
      </p:sp>
      <p:sp>
        <p:nvSpPr>
          <p:cNvPr id="31" name="Text 28"/>
          <p:cNvSpPr/>
          <p:nvPr/>
        </p:nvSpPr>
        <p:spPr>
          <a:xfrm>
            <a:off x="2575408" y="499654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City</a:t>
            </a:r>
            <a:endParaRPr lang="en-US" sz="2200" dirty="0"/>
          </a:p>
        </p:txBody>
      </p:sp>
      <p:sp>
        <p:nvSpPr>
          <p:cNvPr id="32" name="Shape 29"/>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33" name="Shape 30"/>
          <p:cNvSpPr/>
          <p:nvPr/>
        </p:nvSpPr>
        <p:spPr>
          <a:xfrm>
            <a:off x="1981048" y="5649686"/>
            <a:ext cx="384048" cy="384048"/>
          </a:xfrm>
          <a:prstGeom prst="ellipse">
            <a:avLst/>
          </a:prstGeom>
          <a:solidFill>
            <a:srgbClr val="FFB600"/>
          </a:solidFill>
          <a:ln w="12700">
            <a:solidFill>
              <a:srgbClr val="FFB600"/>
            </a:solidFill>
            <a:prstDash val="solid"/>
          </a:ln>
        </p:spPr>
      </p:sp>
      <p:sp>
        <p:nvSpPr>
          <p:cNvPr id="34" name="Text 31"/>
          <p:cNvSpPr/>
          <p:nvPr/>
        </p:nvSpPr>
        <p:spPr>
          <a:xfrm>
            <a:off x="1981048" y="564968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7</a:t>
            </a:r>
            <a:endParaRPr lang="en-US" sz="1600" dirty="0"/>
          </a:p>
        </p:txBody>
      </p:sp>
      <p:sp>
        <p:nvSpPr>
          <p:cNvPr id="35" name="Text 32"/>
          <p:cNvSpPr/>
          <p:nvPr/>
        </p:nvSpPr>
        <p:spPr>
          <a:xfrm>
            <a:off x="2575408" y="5602659"/>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Neighborhood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sentences in order:</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2121408"/>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1700" dirty="0"/>
          </a:p>
        </p:txBody>
      </p:sp>
      <p:sp>
        <p:nvSpPr>
          <p:cNvPr id="11" name="Shape 8"/>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3044952"/>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907792"/>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1700" dirty="0"/>
          </a:p>
        </p:txBody>
      </p:sp>
      <p:sp>
        <p:nvSpPr>
          <p:cNvPr id="14" name="Shape 11"/>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831336"/>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694176"/>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Iron Man is featured in 9 MCU movies.</a:t>
            </a:r>
            <a:endParaRPr lang="en-US" sz="2200" dirty="0"/>
          </a:p>
        </p:txBody>
      </p:sp>
      <p:sp>
        <p:nvSpPr>
          <p:cNvPr id="17" name="Shape 14"/>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4617720"/>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4480560"/>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1700" dirty="0"/>
          </a:p>
        </p:txBody>
      </p:sp>
      <p:sp>
        <p:nvSpPr>
          <p:cNvPr id="20" name="Shape 17"/>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5404104"/>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5266944"/>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There are 29 movies in the Marvel Cinematic Universe.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Broad to specific, one thread at a time</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There are 29 movies in the Marvel Cinematic Universe.</a:t>
            </a:r>
            <a:endParaRPr lang="en-US" sz="22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Iron Man is featured in 9 MCU movies.</a:t>
            </a:r>
            <a:endParaRPr lang="en-US" sz="22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17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17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MILESTONE</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Now you can begin writing your essay.</a:t>
            </a:r>
            <a:endParaRPr lang="en-US" sz="3600" dirty="0"/>
          </a:p>
        </p:txBody>
      </p:sp>
      <p:sp>
        <p:nvSpPr>
          <p:cNvPr id="5" name="Shape 3"/>
          <p:cNvSpPr/>
          <p:nvPr/>
        </p:nvSpPr>
        <p:spPr>
          <a:xfrm>
            <a:off x="7558888" y="640080"/>
            <a:ext cx="1417320" cy="1417320"/>
          </a:xfrm>
          <a:prstGeom prst="ellipse">
            <a:avLst/>
          </a:prstGeom>
          <a:solidFill>
            <a:srgbClr val="FFB600"/>
          </a:solidFill>
          <a:ln w="12700">
            <a:solidFill>
              <a:srgbClr val="FFB600"/>
            </a:solidFill>
            <a:prstDash val="solid"/>
          </a:ln>
        </p:spPr>
      </p:sp>
      <p:pic>
        <p:nvPicPr>
          <p:cNvPr id="6"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7" name="Shape 4"/>
          <p:cNvSpPr/>
          <p:nvPr/>
        </p:nvSpPr>
        <p:spPr>
          <a:xfrm>
            <a:off x="2941168" y="1463040"/>
            <a:ext cx="1005840" cy="1005840"/>
          </a:xfrm>
          <a:prstGeom prst="ellipse">
            <a:avLst/>
          </a:prstGeom>
          <a:solidFill>
            <a:srgbClr val="FF9755"/>
          </a:solidFill>
          <a:ln w="12700">
            <a:solidFill>
              <a:srgbClr val="FF9755"/>
            </a:solidFill>
            <a:prstDash val="solid"/>
          </a:ln>
        </p:spPr>
      </p:sp>
      <p:pic>
        <p:nvPicPr>
          <p:cNvPr id="8"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9" name="Shape 5"/>
          <p:cNvSpPr/>
          <p:nvPr/>
        </p:nvSpPr>
        <p:spPr>
          <a:xfrm>
            <a:off x="3718408" y="4800600"/>
            <a:ext cx="1188720" cy="1188720"/>
          </a:xfrm>
          <a:prstGeom prst="ellipse">
            <a:avLst/>
          </a:prstGeom>
          <a:solidFill>
            <a:srgbClr val="FC4540"/>
          </a:solidFill>
          <a:ln w="12700">
            <a:solidFill>
              <a:srgbClr val="FC4540"/>
            </a:solidFill>
            <a:prstDash val="solid"/>
          </a:ln>
        </p:spPr>
      </p:sp>
      <p:pic>
        <p:nvPicPr>
          <p:cNvPr id="10"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1" name="Shape 6"/>
          <p:cNvSpPr/>
          <p:nvPr/>
        </p:nvSpPr>
        <p:spPr>
          <a:xfrm>
            <a:off x="3124048" y="2743200"/>
            <a:ext cx="274320" cy="274320"/>
          </a:xfrm>
          <a:prstGeom prst="ellipse">
            <a:avLst/>
          </a:prstGeom>
          <a:solidFill>
            <a:srgbClr val="FFFEFA"/>
          </a:solidFill>
          <a:ln w="12700">
            <a:solidFill>
              <a:srgbClr val="FFFEFA"/>
            </a:solidFill>
            <a:prstDash val="solid"/>
          </a:ln>
        </p:spPr>
      </p:sp>
      <p:sp>
        <p:nvSpPr>
          <p:cNvPr id="12" name="Shape 7"/>
          <p:cNvSpPr/>
          <p:nvPr/>
        </p:nvSpPr>
        <p:spPr>
          <a:xfrm>
            <a:off x="8701888" y="2423160"/>
            <a:ext cx="438912" cy="438912"/>
          </a:xfrm>
          <a:prstGeom prst="ellipse">
            <a:avLst/>
          </a:prstGeom>
          <a:solidFill>
            <a:srgbClr val="FC4067"/>
          </a:solidFill>
          <a:ln w="12700">
            <a:solidFill>
              <a:srgbClr val="FC4067"/>
            </a:solidFill>
            <a:prstDash val="solid"/>
          </a:ln>
        </p:spPr>
      </p:sp>
      <p:sp>
        <p:nvSpPr>
          <p:cNvPr id="13" name="Shape 8"/>
          <p:cNvSpPr/>
          <p:nvPr/>
        </p:nvSpPr>
        <p:spPr>
          <a:xfrm>
            <a:off x="8976208" y="2057400"/>
            <a:ext cx="146304" cy="146304"/>
          </a:xfrm>
          <a:prstGeom prst="ellipse">
            <a:avLst/>
          </a:prstGeom>
          <a:solidFill>
            <a:srgbClr val="FFFEFA"/>
          </a:solidFill>
          <a:ln w="12700">
            <a:solidFill>
              <a:srgbClr val="FFFEFA"/>
            </a:solidFill>
            <a:prstDash val="solid"/>
          </a:ln>
        </p:spPr>
      </p:sp>
      <p:sp>
        <p:nvSpPr>
          <p:cNvPr id="14" name="Shape 9"/>
          <p:cNvSpPr/>
          <p:nvPr/>
        </p:nvSpPr>
        <p:spPr>
          <a:xfrm>
            <a:off x="7650328" y="5760720"/>
            <a:ext cx="457200" cy="457200"/>
          </a:xfrm>
          <a:prstGeom prst="ellipse">
            <a:avLst/>
          </a:prstGeom>
          <a:solidFill>
            <a:srgbClr val="FC4067"/>
          </a:solidFill>
          <a:ln w="12700">
            <a:solidFill>
              <a:srgbClr val="FC4067"/>
            </a:solidFill>
            <a:prstDash val="solid"/>
          </a:ln>
        </p:spPr>
      </p:sp>
      <p:sp>
        <p:nvSpPr>
          <p:cNvPr id="15" name="Shape 10"/>
          <p:cNvSpPr/>
          <p:nvPr/>
        </p:nvSpPr>
        <p:spPr>
          <a:xfrm>
            <a:off x="8290408" y="5989320"/>
            <a:ext cx="640080" cy="640080"/>
          </a:xfrm>
          <a:prstGeom prst="ellipse">
            <a:avLst/>
          </a:prstGeom>
          <a:solidFill>
            <a:srgbClr val="FF9755"/>
          </a:solidFill>
          <a:ln w="12700">
            <a:solidFill>
              <a:srgbClr val="FF9755"/>
            </a:solidFill>
            <a:prstDash val="solid"/>
          </a:ln>
        </p:spPr>
      </p:sp>
      <p:sp>
        <p:nvSpPr>
          <p:cNvPr id="16" name="Shape 11"/>
          <p:cNvSpPr/>
          <p:nvPr/>
        </p:nvSpPr>
        <p:spPr>
          <a:xfrm>
            <a:off x="3306928" y="4480560"/>
            <a:ext cx="365760" cy="365760"/>
          </a:xfrm>
          <a:prstGeom prst="ellipse">
            <a:avLst/>
          </a:prstGeom>
          <a:solidFill>
            <a:srgbClr val="FF9755"/>
          </a:solidFill>
          <a:ln w="12700">
            <a:solidFill>
              <a:srgbClr val="FF9755"/>
            </a:solidFill>
            <a:prstDash val="solid"/>
          </a:ln>
        </p:spPr>
      </p:sp>
      <p:sp>
        <p:nvSpPr>
          <p:cNvPr id="17" name="Shape 12"/>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3</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The Introduction</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Start at the very beginning.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INTRODUCTION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an introduction is for</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Your introduction’s function is to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welcome your reader</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into your discussion and to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prepare them to understand your thesis statement.</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CHOOSE ONE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Different introduction styles</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2208962" cy="91440"/>
          </a:xfrm>
          <a:prstGeom prst="rect">
            <a:avLst/>
          </a:prstGeom>
          <a:solidFill>
            <a:srgbClr val="FFB600"/>
          </a:solidFill>
          <a:ln w="12700">
            <a:solidFill>
              <a:srgbClr val="FFB600"/>
            </a:solidFill>
            <a:prstDash val="solid"/>
          </a:ln>
        </p:spPr>
      </p:sp>
      <p:sp>
        <p:nvSpPr>
          <p:cNvPr id="10" name="Shape 7"/>
          <p:cNvSpPr/>
          <p:nvPr/>
        </p:nvSpPr>
        <p:spPr>
          <a:xfrm>
            <a:off x="1005840" y="2331720"/>
            <a:ext cx="731520" cy="731520"/>
          </a:xfrm>
          <a:prstGeom prst="ellipse">
            <a:avLst/>
          </a:prstGeom>
          <a:solidFill>
            <a:srgbClr val="FFB600"/>
          </a:solidFill>
          <a:ln w="12700">
            <a:solidFill>
              <a:srgbClr val="FFB60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Story or example that illustrates your topic</a:t>
            </a:r>
            <a:endParaRPr lang="en-US" sz="2200" dirty="0"/>
          </a:p>
        </p:txBody>
      </p:sp>
      <p:sp>
        <p:nvSpPr>
          <p:cNvPr id="13" name="Shape 10"/>
          <p:cNvSpPr/>
          <p:nvPr/>
        </p:nvSpPr>
        <p:spPr>
          <a:xfrm>
            <a:off x="3470834"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3598850" y="1965960"/>
            <a:ext cx="2208962" cy="91440"/>
          </a:xfrm>
          <a:prstGeom prst="rect">
            <a:avLst/>
          </a:prstGeom>
          <a:solidFill>
            <a:srgbClr val="FC4540"/>
          </a:solidFill>
          <a:ln w="12700">
            <a:solidFill>
              <a:srgbClr val="FC4540"/>
            </a:solidFill>
            <a:prstDash val="solid"/>
          </a:ln>
        </p:spPr>
      </p:sp>
      <p:sp>
        <p:nvSpPr>
          <p:cNvPr id="15" name="Shape 12"/>
          <p:cNvSpPr/>
          <p:nvPr/>
        </p:nvSpPr>
        <p:spPr>
          <a:xfrm>
            <a:off x="3790874" y="2331720"/>
            <a:ext cx="731520" cy="731520"/>
          </a:xfrm>
          <a:prstGeom prst="ellipse">
            <a:avLst/>
          </a:prstGeom>
          <a:solidFill>
            <a:srgbClr val="FC4540"/>
          </a:solidFill>
          <a:ln w="12700">
            <a:solidFill>
              <a:srgbClr val="FC4540"/>
            </a:solidFill>
            <a:prstDash val="solid"/>
          </a:ln>
        </p:spPr>
      </p:sp>
      <p:sp>
        <p:nvSpPr>
          <p:cNvPr id="16" name="Text 13"/>
          <p:cNvSpPr/>
          <p:nvPr/>
        </p:nvSpPr>
        <p:spPr>
          <a:xfrm>
            <a:off x="3790874"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3790874"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Quotation</a:t>
            </a:r>
            <a:endParaRPr lang="en-US" sz="2200" dirty="0"/>
          </a:p>
        </p:txBody>
      </p:sp>
      <p:sp>
        <p:nvSpPr>
          <p:cNvPr id="18" name="Shape 15"/>
          <p:cNvSpPr/>
          <p:nvPr/>
        </p:nvSpPr>
        <p:spPr>
          <a:xfrm>
            <a:off x="6255868"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6383884" y="1965960"/>
            <a:ext cx="2208962" cy="91440"/>
          </a:xfrm>
          <a:prstGeom prst="rect">
            <a:avLst/>
          </a:prstGeom>
          <a:solidFill>
            <a:srgbClr val="FF9755"/>
          </a:solidFill>
          <a:ln w="12700">
            <a:solidFill>
              <a:srgbClr val="FF9755"/>
            </a:solidFill>
            <a:prstDash val="solid"/>
          </a:ln>
        </p:spPr>
      </p:sp>
      <p:sp>
        <p:nvSpPr>
          <p:cNvPr id="20" name="Shape 17"/>
          <p:cNvSpPr/>
          <p:nvPr/>
        </p:nvSpPr>
        <p:spPr>
          <a:xfrm>
            <a:off x="6575908" y="2331720"/>
            <a:ext cx="731520" cy="731520"/>
          </a:xfrm>
          <a:prstGeom prst="ellipse">
            <a:avLst/>
          </a:prstGeom>
          <a:solidFill>
            <a:srgbClr val="FF9755"/>
          </a:solidFill>
          <a:ln w="12700">
            <a:solidFill>
              <a:srgbClr val="FF9755"/>
            </a:solidFill>
            <a:prstDash val="solid"/>
          </a:ln>
        </p:spPr>
      </p:sp>
      <p:sp>
        <p:nvSpPr>
          <p:cNvPr id="21" name="Text 18"/>
          <p:cNvSpPr/>
          <p:nvPr/>
        </p:nvSpPr>
        <p:spPr>
          <a:xfrm>
            <a:off x="657590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6575908"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Rhetorical question</a:t>
            </a:r>
            <a:endParaRPr lang="en-US" sz="2200" dirty="0"/>
          </a:p>
        </p:txBody>
      </p:sp>
      <p:sp>
        <p:nvSpPr>
          <p:cNvPr id="23" name="Shape 20"/>
          <p:cNvSpPr/>
          <p:nvPr/>
        </p:nvSpPr>
        <p:spPr>
          <a:xfrm>
            <a:off x="9040901"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9168917" y="1965960"/>
            <a:ext cx="2208962" cy="91440"/>
          </a:xfrm>
          <a:prstGeom prst="rect">
            <a:avLst/>
          </a:prstGeom>
          <a:solidFill>
            <a:srgbClr val="FC4067"/>
          </a:solidFill>
          <a:ln w="12700">
            <a:solidFill>
              <a:srgbClr val="FC4067"/>
            </a:solidFill>
            <a:prstDash val="solid"/>
          </a:ln>
        </p:spPr>
      </p:sp>
      <p:sp>
        <p:nvSpPr>
          <p:cNvPr id="25" name="Shape 22"/>
          <p:cNvSpPr/>
          <p:nvPr/>
        </p:nvSpPr>
        <p:spPr>
          <a:xfrm>
            <a:off x="9360941" y="2331720"/>
            <a:ext cx="731520" cy="731520"/>
          </a:xfrm>
          <a:prstGeom prst="ellipse">
            <a:avLst/>
          </a:prstGeom>
          <a:solidFill>
            <a:srgbClr val="FC4067"/>
          </a:solidFill>
          <a:ln w="12700">
            <a:solidFill>
              <a:srgbClr val="FC4067"/>
            </a:solidFill>
            <a:prstDash val="solid"/>
          </a:ln>
        </p:spPr>
      </p:sp>
      <p:sp>
        <p:nvSpPr>
          <p:cNvPr id="26" name="Text 23"/>
          <p:cNvSpPr/>
          <p:nvPr/>
        </p:nvSpPr>
        <p:spPr>
          <a:xfrm>
            <a:off x="9360941"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4</a:t>
            </a:r>
            <a:endParaRPr lang="en-US" sz="3000" dirty="0"/>
          </a:p>
        </p:txBody>
      </p:sp>
      <p:sp>
        <p:nvSpPr>
          <p:cNvPr id="27" name="Text 24"/>
          <p:cNvSpPr/>
          <p:nvPr/>
        </p:nvSpPr>
        <p:spPr>
          <a:xfrm>
            <a:off x="9360941"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Definition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Illustrating story or scene</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850" dirty="0">
                <a:solidFill>
                  <a:srgbClr val="3C3828"/>
                </a:solidFill>
                <a:latin typeface="Georgia" pitchFamily="34" charset="0"/>
                <a:ea typeface="Georgia" pitchFamily="34" charset="-122"/>
                <a:cs typeface="Georgia" pitchFamily="34" charset="-120"/>
              </a:rPr>
              <a:t>Ms. Rodriguez watches as 28 ninth graders stare blankly at their worksheets, the only sound the fluorescent lights humming overhead. She had once dreamed of inspiring young minds, but now finds herself mechanically walking through the same lesson plan she's used for five years. In the back row, students doodle in their notebooks and struggle to stay awake. Throughout the school, teachers click through PowerPoint slides and tell students to stop talking, while kids daydream and stare at the clock. This scene plays out in classrooms across the country, where both educators and students have lost the spark that should define learning. This may be because schools have lost a sense of what really works in terms of motivating students to learn. </a:t>
            </a:r>
            <a:pPr indent="0" marL="0">
              <a:lnSpc>
                <a:spcPct val="120000"/>
              </a:lnSpc>
              <a:buNone/>
            </a:pPr>
            <a:r>
              <a:rPr lang="en-US" sz="185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85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Rhetorical question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85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pPr indent="0" marL="0">
              <a:lnSpc>
                <a:spcPct val="120000"/>
              </a:lnSpc>
              <a:buNone/>
            </a:pPr>
            <a:r>
              <a:rPr lang="en-US" sz="185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85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Quotation or fact</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850" dirty="0">
                <a:solidFill>
                  <a:srgbClr val="3C3828"/>
                </a:solidFill>
                <a:latin typeface="Georgia" pitchFamily="34" charset="0"/>
                <a:ea typeface="Georgia" pitchFamily="34" charset="-122"/>
                <a:cs typeface="Georgia" pitchFamily="34" charset="-120"/>
              </a:rPr>
              <a:t>Albert Einstein once said, “It is the supreme art of the teacher to awaken joy in creative expression and knowledge.” But walk into most American classrooms today and you'll find the opposite: students mechanically filling out worksheets while teachers follow rigid scripts designed to meet testing requirements. The joy Einstein spoke of has been replaced by compliance and conformity. Both students and educators go through the motions of learning without the spark of curiosity or discovery that should drive education. </a:t>
            </a:r>
            <a:pPr indent="0" marL="0">
              <a:lnSpc>
                <a:spcPct val="120000"/>
              </a:lnSpc>
              <a:buNone/>
            </a:pPr>
            <a:r>
              <a:rPr lang="en-US" sz="185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85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Definition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850" dirty="0">
                <a:solidFill>
                  <a:srgbClr val="3C3828"/>
                </a:solidFill>
                <a:latin typeface="Georgia" pitchFamily="34" charset="0"/>
                <a:ea typeface="Georgia" pitchFamily="34" charset="-122"/>
                <a:cs typeface="Georgia" pitchFamily="34" charset="-120"/>
              </a:rPr>
              <a:t>Education, by definition, is the process of facilitating learning, or the acquisition of knowledge, skills, values, and habits. This definition suggests an active, dynamic exchange between teacher and student—a collaborative journey of discovery and growth. However, in many of today's classrooms, education has become something far more mechanical: the transfer of standardized information from textbook to test, with little regard for genuine understanding or intellectual curiosity. Students sit in rows, passively receiving information they'll quickly forget after the exam, while teachers feel constrained by rigid curricula that leave no room for innovation. This results in ineffective learning environments. </a:t>
            </a:r>
            <a:pPr indent="0" marL="0">
              <a:lnSpc>
                <a:spcPct val="120000"/>
              </a:lnSpc>
              <a:buNone/>
            </a:pPr>
            <a:r>
              <a:rPr lang="en-US" sz="185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85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Write your introduction</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Choose an introduction style that speaks to you and begin your essay:</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Story or example that illustrates your topic</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Rhetorical question</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Quotation or fact</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Definition</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Remember, the </a:t>
            </a:r>
            <a:endParaRPr lang="en-US" sz="1800" dirty="0"/>
          </a:p>
          <a:p>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final sentence of your introduction is your thesis statement!</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It’s already written.</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introduction.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Introduction</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 heading for your introduction</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Thesis already at the bottom</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some?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home/user/yawp/services/web-app/scripts/thesis-essay-decks/assets/icons/lightbulb.png">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home/user/yawp/services/web-app/scripts/thesis-essay-decks/assets/icons/puzzle.png">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home/user/yawp/services/web-app/scripts/thesis-essay-decks/assets/icons/thumbs.png">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body paragraphs.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Paragraph</dc:title>
  <dc:subject>Thesis-Driven Essay · Lesson 4</dc:subject>
  <dc:creator>PptxGenJS</dc:creator>
  <cp:lastModifiedBy>PptxGenJS</cp:lastModifiedBy>
  <cp:revision>1</cp:revision>
  <dcterms:created xsi:type="dcterms:W3CDTF">2026-10-12T22:36:00Z</dcterms:created>
  <dcterms:modified xsi:type="dcterms:W3CDTF">2026-10-12T22:36:00Z</dcterms:modified>
</cp:coreProperties>
</file>