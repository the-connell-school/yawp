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students begin, and some finish, their introductions, which end with their thesis statement. Before you start: everyone who has been in class should have a working thesis (absent students can catch up). The thesis is the first real milestone, and once it works the essay almost writes itself. Celebrate it; have a few students share theirs aloud or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Develop my ideas into a thesis statement and build my essay around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Develop my ideas into a thesis statement and build my essay around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Asking questions and seeking answers about a topic. The same thing they did with the photo and in their pre-write.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Asking questions and seeking answers about a topic. The same thing they did with the photo and in their pre-write.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Observation and analysis. Some students (and some of us) will pick B, the 5-paragraph-essay answer; our thesis is going to be more complex than a three-pronged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Observation and analysis. Some students (and some of us) will pick B, the 5-paragraph-essay answer; our thesis is going to be more complex than a three-pronged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Welcome the reader in and state the thesis. A, C and D are styles an intro can use, not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Welcome the reader in and state the thesis. A, C and D are styles an intro can use, not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Individually, in pairs or in teams. The instructions are deliberately vague. If they ask "what order?", just say "an order that works." Don’t tell them it’s largest to smallest. Most get there fast (smallest to largest works too); the odd one will go alphabetical.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they chose that order. Brian’s Google Earth picture: type in an address and it starts you out in space, then zooms to the planet, the continent, the country, the state, and down into the neighborhood. Boop: there’s your address. That is the mentality for an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five sentences aloud so everyone is together. Students only need to write the numbers, not the sentences. They usually need a minute or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a team share, then break it down: very broad (29 movies) to very specific (two relationships). Point out that each sentence reaches up to the one above and brings down a thread: nine of those 29; across these nine; however, two relationships; one of those two. Each one logically leads to the next. That is what their introduction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it: never start writing an essay until you have your thesis statement. Now they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very nice place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We would never begin with the thesis: it’s too complex. Tell students their theses are so beautiful and pack such a punch that the reader needs to be prepared for them. There’s a handout in the resources with the next few slides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options. All four examples that follow end on the same thesis, the one from the sample essay. Make sure students know they will write their own intro today; raising the stakes helps them pay attention to the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aloud, or have a student read it. A story or scene feels like a story: description, maybe a character, even dialogue. It brings the reader into a shared scene you can refer back to later, and it gives a really good example of the thing you’re talking about. Point out that it starts general and narrows, and that the thesis (in italics) is the last sentence. If you used a different sample essay, consider writing your own example of each style that ends on that essay’s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it. Most students will say a rhetorical question is one that isn’t supposed to be answered. True, but the real idea: the writer asks it so they can supply the answer they want the reader to hear. Haley asks about learning to ride a bike, then answers: exciting, blood rushing, challenging, but worth it. That answer is exactly what she wants us to believe school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relevant quote is a strong opener. If students are writing about a book, article or essay, a quote from that text is a great start; teach the TAG method (title, author, genre) to set it up: "In the essay The American Scholar, Ralph Waldo Emerson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definition brings the reader in and gets everyone agreeing on what we’re talking about. It doesn’t have to be literal ("Dictionary.com defines…"). It can be useful for a term that really needs it, like duality, but warn students not to define what doesn’t need defining: "Dictionary.com defines student as a person who learns." Really?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is decision making: this is the moment they decide how to start. On their document, a heading ("Introduction"), and they can paste their thesis below it so they know where they’re heading. Combining styles is fine if it’s intentional; ask students which style they chose as you walk around. Decide your policy on "I": a personal story may need it. They can ask the Tutor for feedback; it won’t write the intro for them, but it may suggest, say, a transition sentence before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YAWP! editor on the Introduction step with a sample introduction leading into its thesis. Students are always amazed how fast the intro comes once they know their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next class, read through the introductions and comment. Some will need a transition sentence linking the intro to the thesis; help with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YAWP_HYBRID">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685800" y="6355080"/>
            <a:ext cx="1828800" cy="320040"/>
          </a:xfrm>
          <a:prstGeom prst="rect">
            <a:avLst/>
          </a:prstGeom>
          <a:noFill/>
          <a:ln/>
        </p:spPr>
        <p:txBody>
          <a:bodyPr wrap="square" lIns="0" tIns="0" rIns="0" bIns="0" rtlCol="0" anchor="ctr"/>
          <a:lstStyle/>
          <a:p>
            <a:pPr indent="0" marL="0">
              <a:buNone/>
            </a:pPr>
            <a:r>
              <a:rPr lang="en-US" sz="1100" b="1" dirty="0">
                <a:solidFill>
                  <a:srgbClr val="D27151"/>
                </a:solidFill>
                <a:latin typeface="Georgia" pitchFamily="34" charset="0"/>
                <a:ea typeface="Georgia" pitchFamily="34" charset="-122"/>
                <a:cs typeface="Georgia" pitchFamily="34" charset="-120"/>
              </a:rPr>
              <a:t>YAWP!</a:t>
            </a:r>
            <a:endParaRPr lang="en-US" sz="1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02BDC7"/>
          </a:solidFill>
          <a:ln w="12700">
            <a:solidFill>
              <a:srgbClr val="02BDC7"/>
            </a:solidFill>
            <a:prstDash val="solid"/>
          </a:ln>
        </p:spPr>
      </p:sp>
      <p:sp>
        <p:nvSpPr>
          <p:cNvPr id="3" name="Shape 1"/>
          <p:cNvSpPr/>
          <p:nvPr/>
        </p:nvSpPr>
        <p:spPr>
          <a:xfrm>
            <a:off x="777240" y="1874520"/>
            <a:ext cx="3108960" cy="310896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4" name="Text 2"/>
          <p:cNvSpPr/>
          <p:nvPr/>
        </p:nvSpPr>
        <p:spPr>
          <a:xfrm>
            <a:off x="777240" y="2788920"/>
            <a:ext cx="3108960" cy="914400"/>
          </a:xfrm>
          <a:prstGeom prst="rect">
            <a:avLst/>
          </a:prstGeom>
          <a:noFill/>
          <a:ln/>
        </p:spPr>
        <p:txBody>
          <a:bodyPr wrap="square" lIns="0" tIns="0" rIns="0" bIns="0" rtlCol="0" anchor="ctr"/>
          <a:lstStyle/>
          <a:p>
            <a:pPr algn="ctr" indent="0" marL="0">
              <a:buNone/>
            </a:pPr>
            <a:r>
              <a:rPr lang="en-US" sz="6000" b="1" dirty="0">
                <a:solidFill>
                  <a:srgbClr val="3C3828"/>
                </a:solidFill>
                <a:latin typeface="Georgia" pitchFamily="34" charset="0"/>
                <a:ea typeface="Georgia" pitchFamily="34" charset="-122"/>
                <a:cs typeface="Georgia" pitchFamily="34" charset="-120"/>
              </a:rPr>
              <a:t>YAWP!</a:t>
            </a:r>
            <a:endParaRPr lang="en-US" sz="6000" dirty="0"/>
          </a:p>
        </p:txBody>
      </p:sp>
      <p:sp>
        <p:nvSpPr>
          <p:cNvPr id="5" name="Text 3"/>
          <p:cNvSpPr/>
          <p:nvPr/>
        </p:nvSpPr>
        <p:spPr>
          <a:xfrm>
            <a:off x="777240" y="3703320"/>
            <a:ext cx="3108960" cy="365760"/>
          </a:xfrm>
          <a:prstGeom prst="rect">
            <a:avLst/>
          </a:prstGeom>
          <a:noFill/>
          <a:ln/>
        </p:spPr>
        <p:txBody>
          <a:bodyPr wrap="square" lIns="0" tIns="0" rIns="0" bIns="0" rtlCol="0" anchor="ctr"/>
          <a:lstStyle/>
          <a:p>
            <a:pPr algn="ctr" indent="0" marL="0">
              <a:buNone/>
            </a:pPr>
            <a:r>
              <a:rPr lang="en-US" sz="1200" b="1" spc="300" kern="0" dirty="0">
                <a:solidFill>
                  <a:srgbClr val="D27151"/>
                </a:solidFill>
                <a:latin typeface="Consolas" pitchFamily="34" charset="0"/>
                <a:ea typeface="Consolas" pitchFamily="34" charset="-122"/>
                <a:cs typeface="Consolas" pitchFamily="34" charset="-120"/>
              </a:rPr>
              <a:t>WRITING PROGRAM</a:t>
            </a:r>
            <a:endParaRPr lang="en-US" sz="1200" dirty="0"/>
          </a:p>
        </p:txBody>
      </p:sp>
      <p:sp>
        <p:nvSpPr>
          <p:cNvPr id="6" name="Shape 4"/>
          <p:cNvSpPr/>
          <p:nvPr/>
        </p:nvSpPr>
        <p:spPr>
          <a:xfrm>
            <a:off x="2971800" y="1371600"/>
            <a:ext cx="1325880" cy="1325880"/>
          </a:xfrm>
          <a:prstGeom prst="ellipse">
            <a:avLst/>
          </a:prstGeom>
          <a:solidFill>
            <a:srgbClr val="FFB600"/>
          </a:solidFill>
          <a:ln w="12700">
            <a:solidFill>
              <a:srgbClr val="FFB600"/>
            </a:solidFill>
            <a:prstDash val="solid"/>
          </a:ln>
        </p:spPr>
      </p:sp>
      <p:pic>
        <p:nvPicPr>
          <p:cNvPr id="7" name="Image 0" descr="/home/user/yawp/services/web-app/scripts/thesis-essay-decks/assets/icons/lightbulb.png">    </p:cNvPr>
          <p:cNvPicPr>
            <a:picLocks noChangeAspect="1"/>
          </p:cNvPicPr>
          <p:nvPr/>
        </p:nvPicPr>
        <p:blipFill>
          <a:blip r:embed="rId1"/>
          <a:stretch>
            <a:fillRect/>
          </a:stretch>
        </p:blipFill>
        <p:spPr>
          <a:xfrm>
            <a:off x="3236976" y="1636776"/>
            <a:ext cx="795528" cy="795528"/>
          </a:xfrm>
          <a:prstGeom prst="rect">
            <a:avLst/>
          </a:prstGeom>
        </p:spPr>
      </p:pic>
      <p:sp>
        <p:nvSpPr>
          <p:cNvPr id="8" name="Shape 5"/>
          <p:cNvSpPr/>
          <p:nvPr/>
        </p:nvSpPr>
        <p:spPr>
          <a:xfrm>
            <a:off x="365760" y="2011680"/>
            <a:ext cx="914400" cy="914400"/>
          </a:xfrm>
          <a:prstGeom prst="ellipse">
            <a:avLst/>
          </a:prstGeom>
          <a:solidFill>
            <a:srgbClr val="FF9755"/>
          </a:solidFill>
          <a:ln w="12700">
            <a:solidFill>
              <a:srgbClr val="FF9755"/>
            </a:solidFill>
            <a:prstDash val="solid"/>
          </a:ln>
        </p:spPr>
      </p:sp>
      <p:pic>
        <p:nvPicPr>
          <p:cNvPr id="9" name="Image 1" descr="/home/user/yawp/services/web-app/scripts/thesis-essay-decks/assets/icons/puzzle.png">    </p:cNvPr>
          <p:cNvPicPr>
            <a:picLocks noChangeAspect="1"/>
          </p:cNvPicPr>
          <p:nvPr/>
        </p:nvPicPr>
        <p:blipFill>
          <a:blip r:embed="rId2"/>
          <a:stretch>
            <a:fillRect/>
          </a:stretch>
        </p:blipFill>
        <p:spPr>
          <a:xfrm>
            <a:off x="548640" y="2194560"/>
            <a:ext cx="548640" cy="548640"/>
          </a:xfrm>
          <a:prstGeom prst="rect">
            <a:avLst/>
          </a:prstGeom>
        </p:spPr>
      </p:pic>
      <p:sp>
        <p:nvSpPr>
          <p:cNvPr id="10" name="Shape 6"/>
          <p:cNvSpPr/>
          <p:nvPr/>
        </p:nvSpPr>
        <p:spPr>
          <a:xfrm>
            <a:off x="822960" y="4206240"/>
            <a:ext cx="1051560" cy="1051560"/>
          </a:xfrm>
          <a:prstGeom prst="ellipse">
            <a:avLst/>
          </a:prstGeom>
          <a:solidFill>
            <a:srgbClr val="FC4540"/>
          </a:solidFill>
          <a:ln w="12700">
            <a:solidFill>
              <a:srgbClr val="FC4540"/>
            </a:solidFill>
            <a:prstDash val="solid"/>
          </a:ln>
        </p:spPr>
      </p:sp>
      <p:pic>
        <p:nvPicPr>
          <p:cNvPr id="11" name="Image 2" descr="/home/user/yawp/services/web-app/scripts/thesis-essay-decks/assets/icons/thumbs.png">    </p:cNvPr>
          <p:cNvPicPr>
            <a:picLocks noChangeAspect="1"/>
          </p:cNvPicPr>
          <p:nvPr/>
        </p:nvPicPr>
        <p:blipFill>
          <a:blip r:embed="rId3"/>
          <a:stretch>
            <a:fillRect/>
          </a:stretch>
        </p:blipFill>
        <p:spPr>
          <a:xfrm>
            <a:off x="1033272" y="4416552"/>
            <a:ext cx="630936" cy="630936"/>
          </a:xfrm>
          <a:prstGeom prst="rect">
            <a:avLst/>
          </a:prstGeom>
        </p:spPr>
      </p:pic>
      <p:sp>
        <p:nvSpPr>
          <p:cNvPr id="12" name="Shape 7"/>
          <p:cNvSpPr/>
          <p:nvPr/>
        </p:nvSpPr>
        <p:spPr>
          <a:xfrm>
            <a:off x="594360" y="3200400"/>
            <a:ext cx="256032" cy="256032"/>
          </a:xfrm>
          <a:prstGeom prst="ellipse">
            <a:avLst/>
          </a:prstGeom>
          <a:solidFill>
            <a:srgbClr val="FFFEFA"/>
          </a:solidFill>
          <a:ln w="12700">
            <a:solidFill>
              <a:srgbClr val="FFFEFA"/>
            </a:solidFill>
            <a:prstDash val="solid"/>
          </a:ln>
        </p:spPr>
      </p:sp>
      <p:sp>
        <p:nvSpPr>
          <p:cNvPr id="13" name="Shape 8"/>
          <p:cNvSpPr/>
          <p:nvPr/>
        </p:nvSpPr>
        <p:spPr>
          <a:xfrm>
            <a:off x="3931920" y="2971800"/>
            <a:ext cx="329184" cy="329184"/>
          </a:xfrm>
          <a:prstGeom prst="ellipse">
            <a:avLst/>
          </a:prstGeom>
          <a:solidFill>
            <a:srgbClr val="FC4067"/>
          </a:solidFill>
          <a:ln w="12700">
            <a:solidFill>
              <a:srgbClr val="FC4067"/>
            </a:solidFill>
            <a:prstDash val="solid"/>
          </a:ln>
        </p:spPr>
      </p:sp>
      <p:sp>
        <p:nvSpPr>
          <p:cNvPr id="14" name="Shape 9"/>
          <p:cNvSpPr/>
          <p:nvPr/>
        </p:nvSpPr>
        <p:spPr>
          <a:xfrm>
            <a:off x="3383280" y="5074920"/>
            <a:ext cx="457200" cy="457200"/>
          </a:xfrm>
          <a:prstGeom prst="ellipse">
            <a:avLst/>
          </a:prstGeom>
          <a:solidFill>
            <a:srgbClr val="FF9755"/>
          </a:solidFill>
          <a:ln w="12700">
            <a:solidFill>
              <a:srgbClr val="FF9755"/>
            </a:solidFill>
            <a:prstDash val="solid"/>
          </a:ln>
        </p:spPr>
      </p:sp>
      <p:sp>
        <p:nvSpPr>
          <p:cNvPr id="15" name="Shape 10"/>
          <p:cNvSpPr/>
          <p:nvPr/>
        </p:nvSpPr>
        <p:spPr>
          <a:xfrm>
            <a:off x="2651760" y="5303520"/>
            <a:ext cx="146304" cy="146304"/>
          </a:xfrm>
          <a:prstGeom prst="ellipse">
            <a:avLst/>
          </a:prstGeom>
          <a:solidFill>
            <a:srgbClr val="FFB600"/>
          </a:solidFill>
          <a:ln w="12700">
            <a:solidFill>
              <a:srgbClr val="FFB600"/>
            </a:solidFill>
            <a:prstDash val="solid"/>
          </a:ln>
        </p:spPr>
      </p:sp>
      <p:sp>
        <p:nvSpPr>
          <p:cNvPr id="16" name="Shape 11"/>
          <p:cNvSpPr/>
          <p:nvPr/>
        </p:nvSpPr>
        <p:spPr>
          <a:xfrm>
            <a:off x="1920240" y="5212080"/>
            <a:ext cx="182880" cy="182880"/>
          </a:xfrm>
          <a:prstGeom prst="ellipse">
            <a:avLst/>
          </a:prstGeom>
          <a:solidFill>
            <a:srgbClr val="FFFEFA"/>
          </a:solidFill>
          <a:ln w="12700">
            <a:solidFill>
              <a:srgbClr val="FFFEFA"/>
            </a:solidFill>
            <a:prstDash val="solid"/>
          </a:ln>
        </p:spPr>
      </p:sp>
      <p:sp>
        <p:nvSpPr>
          <p:cNvPr id="17" name="Text 12"/>
          <p:cNvSpPr/>
          <p:nvPr/>
        </p:nvSpPr>
        <p:spPr>
          <a:xfrm>
            <a:off x="5394960" y="2057400"/>
            <a:ext cx="6110935" cy="365760"/>
          </a:xfrm>
          <a:prstGeom prst="rect">
            <a:avLst/>
          </a:prstGeom>
          <a:noFill/>
          <a:ln/>
        </p:spPr>
        <p:txBody>
          <a:bodyPr wrap="square" lIns="0" tIns="0" rIns="0" bIns="0" rtlCol="0" anchor="ctr"/>
          <a:lstStyle/>
          <a:p>
            <a:pPr indent="0" marL="0">
              <a:buNone/>
            </a:pPr>
            <a:r>
              <a:rPr lang="en-US" sz="1300" b="1" spc="200" kern="0" dirty="0">
                <a:solidFill>
                  <a:srgbClr val="02BDC7"/>
                </a:solidFill>
                <a:latin typeface="Consolas" pitchFamily="34" charset="0"/>
                <a:ea typeface="Consolas" pitchFamily="34" charset="-122"/>
                <a:cs typeface="Consolas" pitchFamily="34" charset="-120"/>
              </a:rPr>
              <a:t>THESIS-DRIVEN ESSAY · LESSON 4</a:t>
            </a:r>
            <a:endParaRPr lang="en-US" sz="1300" dirty="0"/>
          </a:p>
        </p:txBody>
      </p:sp>
      <p:sp>
        <p:nvSpPr>
          <p:cNvPr id="18" name="Text 13"/>
          <p:cNvSpPr/>
          <p:nvPr/>
        </p:nvSpPr>
        <p:spPr>
          <a:xfrm>
            <a:off x="5394960" y="2468880"/>
            <a:ext cx="6110935" cy="1371600"/>
          </a:xfrm>
          <a:prstGeom prst="rect">
            <a:avLst/>
          </a:prstGeom>
          <a:noFill/>
          <a:ln/>
        </p:spPr>
        <p:txBody>
          <a:bodyPr wrap="square" lIns="0" tIns="0" rIns="0" bIns="0" rtlCol="0" anchor="ctr"/>
          <a:lstStyle/>
          <a:p>
            <a:pPr indent="0" marL="0">
              <a:buNone/>
            </a:pPr>
            <a:r>
              <a:rPr lang="en-US" sz="6600" dirty="0">
                <a:solidFill>
                  <a:srgbClr val="3C3828"/>
                </a:solidFill>
                <a:highlight>
                  <a:srgbClr val="FFE14D"/>
                </a:highlight>
                <a:latin typeface="Georgia" pitchFamily="34" charset="0"/>
                <a:ea typeface="Georgia" pitchFamily="34" charset="-122"/>
                <a:cs typeface="Georgia" pitchFamily="34" charset="-120"/>
              </a:rPr>
              <a:t>Introduction</a:t>
            </a:r>
            <a:endParaRPr lang="en-US" sz="6600" dirty="0"/>
          </a:p>
        </p:txBody>
      </p:sp>
      <p:sp>
        <p:nvSpPr>
          <p:cNvPr id="19" name="Text 14"/>
          <p:cNvSpPr/>
          <p:nvPr/>
        </p:nvSpPr>
        <p:spPr>
          <a:xfrm>
            <a:off x="5394960" y="3931920"/>
            <a:ext cx="6110935" cy="640080"/>
          </a:xfrm>
          <a:prstGeom prst="rect">
            <a:avLst/>
          </a:prstGeom>
          <a:noFill/>
          <a:ln/>
        </p:spPr>
        <p:txBody>
          <a:bodyPr wrap="square" lIns="0" tIns="0" rIns="0" bIns="0" rtlCol="0" anchor="t"/>
          <a:lstStyle/>
          <a:p>
            <a:pPr indent="0" marL="0">
              <a:buNone/>
            </a:pPr>
            <a:r>
              <a:rPr lang="en-US" sz="2200" dirty="0">
                <a:solidFill>
                  <a:srgbClr val="7E7C78"/>
                </a:solidFill>
                <a:latin typeface="Calibri" pitchFamily="34" charset="0"/>
                <a:ea typeface="Calibri" pitchFamily="34" charset="-122"/>
                <a:cs typeface="Calibri" pitchFamily="34" charset="-120"/>
              </a:rPr>
              <a:t>Welcome your reader in, then hand them your thesis</a:t>
            </a:r>
            <a:endParaRPr lang="en-US" sz="2200" dirty="0"/>
          </a:p>
        </p:txBody>
      </p:sp>
      <p:sp>
        <p:nvSpPr>
          <p:cNvPr id="20" name="Shape 15"/>
          <p:cNvSpPr/>
          <p:nvPr/>
        </p:nvSpPr>
        <p:spPr>
          <a:xfrm>
            <a:off x="5394960" y="4800600"/>
            <a:ext cx="237744" cy="237744"/>
          </a:xfrm>
          <a:prstGeom prst="ellipse">
            <a:avLst/>
          </a:prstGeom>
          <a:solidFill>
            <a:srgbClr val="02BDC7"/>
          </a:solidFill>
          <a:ln w="12700">
            <a:solidFill>
              <a:srgbClr val="02BDC7"/>
            </a:solidFill>
            <a:prstDash val="solid"/>
          </a:ln>
        </p:spPr>
      </p:sp>
      <p:sp>
        <p:nvSpPr>
          <p:cNvPr id="21" name="Shape 16"/>
          <p:cNvSpPr/>
          <p:nvPr/>
        </p:nvSpPr>
        <p:spPr>
          <a:xfrm>
            <a:off x="5779008" y="4800600"/>
            <a:ext cx="237744" cy="237744"/>
          </a:xfrm>
          <a:prstGeom prst="ellipse">
            <a:avLst/>
          </a:prstGeom>
          <a:solidFill>
            <a:srgbClr val="FFB600"/>
          </a:solidFill>
          <a:ln w="12700">
            <a:solidFill>
              <a:srgbClr val="FFB600"/>
            </a:solidFill>
            <a:prstDash val="solid"/>
          </a:ln>
        </p:spPr>
      </p:sp>
      <p:sp>
        <p:nvSpPr>
          <p:cNvPr id="22" name="Shape 17"/>
          <p:cNvSpPr/>
          <p:nvPr/>
        </p:nvSpPr>
        <p:spPr>
          <a:xfrm>
            <a:off x="6163056" y="4800600"/>
            <a:ext cx="237744" cy="237744"/>
          </a:xfrm>
          <a:prstGeom prst="ellipse">
            <a:avLst/>
          </a:prstGeom>
          <a:solidFill>
            <a:srgbClr val="FC4540"/>
          </a:solidFill>
          <a:ln w="12700">
            <a:solidFill>
              <a:srgbClr val="FC4540"/>
            </a:solidFill>
            <a:prstDash val="solid"/>
          </a:ln>
        </p:spPr>
      </p:sp>
      <p:sp>
        <p:nvSpPr>
          <p:cNvPr id="23" name="Shape 18"/>
          <p:cNvSpPr/>
          <p:nvPr/>
        </p:nvSpPr>
        <p:spPr>
          <a:xfrm>
            <a:off x="6547104" y="4800600"/>
            <a:ext cx="237744" cy="237744"/>
          </a:xfrm>
          <a:prstGeom prst="ellipse">
            <a:avLst/>
          </a:prstGeom>
          <a:solidFill>
            <a:srgbClr val="FF9755"/>
          </a:solidFill>
          <a:ln w="12700">
            <a:solidFill>
              <a:srgbClr val="FF9755"/>
            </a:solidFill>
            <a:prstDash val="solid"/>
          </a:ln>
        </p:spPr>
      </p:sp>
      <p:sp>
        <p:nvSpPr>
          <p:cNvPr id="24" name="Shape 19"/>
          <p:cNvSpPr/>
          <p:nvPr/>
        </p:nvSpPr>
        <p:spPr>
          <a:xfrm>
            <a:off x="6931152" y="4800600"/>
            <a:ext cx="237744" cy="237744"/>
          </a:xfrm>
          <a:prstGeom prst="ellipse">
            <a:avLst/>
          </a:prstGeom>
          <a:solidFill>
            <a:srgbClr val="FC4067"/>
          </a:solidFill>
          <a:ln w="12700">
            <a:solidFill>
              <a:srgbClr val="FC406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REVIEW · 1 OF 4</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What’s the best way to write an essay?</a:t>
            </a:r>
            <a:endParaRPr lang="en-US" sz="30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B600"/>
          </a:solidFill>
          <a:ln w="12700">
            <a:solidFill>
              <a:srgbClr val="FFB60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FB600"/>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Just start writing and hope some good ideas come out.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FB600"/>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Take my ideas and plug them into a formula, like the 5-paragraph essay.</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FB60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Develop my ideas into a thesis statement and build my essay around that.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FB600"/>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ChatGPT, duh.</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FB600"/>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I have never actually written an essay, so I have no idea.</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REVIEW · 1 OF 4</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What’s the best way to write an essay?</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540"/>
          </a:solidFill>
          <a:ln w="12700">
            <a:solidFill>
              <a:srgbClr val="FC454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Just start writing and hope some good ideas come out.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Take my ideas and plug them into a formula, like the 5-paragraph essay.</a:t>
            </a:r>
            <a:endParaRPr lang="en-US" sz="2200" dirty="0"/>
          </a:p>
        </p:txBody>
      </p:sp>
      <p:sp>
        <p:nvSpPr>
          <p:cNvPr id="16" name="Shape 13"/>
          <p:cNvSpPr/>
          <p:nvPr/>
        </p:nvSpPr>
        <p:spPr>
          <a:xfrm>
            <a:off x="1097280" y="3794760"/>
            <a:ext cx="457200" cy="457200"/>
          </a:xfrm>
          <a:prstGeom prst="ellipse">
            <a:avLst/>
          </a:prstGeom>
          <a:solidFill>
            <a:srgbClr val="FC4540"/>
          </a:solidFill>
          <a:ln w="12700">
            <a:solidFill>
              <a:srgbClr val="FC454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Develop my ideas into a thesis statement and build my essay around that.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ChatGPT, duh.</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I have never actually written an essay, so I have no idea.</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REVIEW · 2 OF 4</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best defined as:</a:t>
            </a:r>
            <a:endParaRPr lang="en-US" sz="30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F9755"/>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Asking questions and seeking answers about a topic in order to develop a position on it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F9755"/>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Finding all of the weaknesses in an argument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F9755"/>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Finding all of the strengths in an argument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F9755"/>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Arguing a specific point of view in front of an audience</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F9755"/>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Researching experts’ perspectives and arguments on a topic in order to develop a position on it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REVIEW · 2 OF 4</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best defined as:</a:t>
            </a:r>
            <a:endParaRPr lang="en-US" sz="3000" dirty="0"/>
          </a:p>
        </p:txBody>
      </p:sp>
      <p:sp>
        <p:nvSpPr>
          <p:cNvPr id="4" name="Shape 2"/>
          <p:cNvSpPr/>
          <p:nvPr/>
        </p:nvSpPr>
        <p:spPr>
          <a:xfrm>
            <a:off x="10637215" y="457200"/>
            <a:ext cx="868680" cy="868680"/>
          </a:xfrm>
          <a:prstGeom prst="ellipse">
            <a:avLst/>
          </a:prstGeom>
          <a:solidFill>
            <a:srgbClr val="FC4067"/>
          </a:solidFill>
          <a:ln w="12700">
            <a:solidFill>
              <a:srgbClr val="FC4067"/>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B600"/>
          </a:solidFill>
          <a:ln w="12700">
            <a:solidFill>
              <a:srgbClr val="FFB600"/>
            </a:solidFill>
            <a:prstDash val="solid"/>
          </a:ln>
        </p:spPr>
      </p:sp>
      <p:sp>
        <p:nvSpPr>
          <p:cNvPr id="7" name="Shape 4"/>
          <p:cNvSpPr/>
          <p:nvPr/>
        </p:nvSpPr>
        <p:spPr>
          <a:xfrm>
            <a:off x="11460175" y="1307592"/>
            <a:ext cx="128016" cy="128016"/>
          </a:xfrm>
          <a:prstGeom prst="ellipse">
            <a:avLst/>
          </a:prstGeom>
          <a:solidFill>
            <a:srgbClr val="FC4540"/>
          </a:solidFill>
          <a:ln w="12700">
            <a:solidFill>
              <a:srgbClr val="FC454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067"/>
          </a:solidFill>
          <a:ln w="12700">
            <a:solidFill>
              <a:srgbClr val="FC4067"/>
            </a:solidFill>
            <a:prstDash val="solid"/>
          </a:ln>
        </p:spPr>
      </p:sp>
      <p:sp>
        <p:nvSpPr>
          <p:cNvPr id="10" name="Shape 7"/>
          <p:cNvSpPr/>
          <p:nvPr/>
        </p:nvSpPr>
        <p:spPr>
          <a:xfrm>
            <a:off x="1097280" y="2331720"/>
            <a:ext cx="457200" cy="457200"/>
          </a:xfrm>
          <a:prstGeom prst="ellipse">
            <a:avLst/>
          </a:prstGeom>
          <a:solidFill>
            <a:srgbClr val="FC4067"/>
          </a:solidFill>
          <a:ln w="12700">
            <a:solidFill>
              <a:srgbClr val="FC4067"/>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Asking questions and seeking answers about a topic in order to develop a position on it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Finding all of the weaknesses in an argument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D6D4CC"/>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Finding all of the strengths in an argument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Arguing a specific point of view in front of an audience</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Researching experts’ perspectives and arguments on a topic in order to develop a position on it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REVIEW · 3 OF 4</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is MOST TRUE about a good thesis statement?</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02BDC7"/>
          </a:solidFill>
          <a:ln w="12700">
            <a:solidFill>
              <a:srgbClr val="02BDC7"/>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02BDC7"/>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is easy for the reader to agree with.</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02BDC7"/>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2–3 pieces of support.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02BDC7"/>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observation and analysis.</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02BDC7"/>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research and facts.</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02BDC7"/>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is 1–2 sentences long.</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REVIEW · 3 OF 4</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is MOST TRUE about a good thesis statement?</a:t>
            </a:r>
            <a:endParaRPr lang="en-US" sz="30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B600"/>
          </a:solidFill>
          <a:ln w="12700">
            <a:solidFill>
              <a:srgbClr val="FFB60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is easy for the reader to agree with.</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contains 2–3 pieces of support.</a:t>
            </a:r>
            <a:endParaRPr lang="en-US" sz="2200" dirty="0"/>
          </a:p>
        </p:txBody>
      </p:sp>
      <p:sp>
        <p:nvSpPr>
          <p:cNvPr id="16" name="Shape 13"/>
          <p:cNvSpPr/>
          <p:nvPr/>
        </p:nvSpPr>
        <p:spPr>
          <a:xfrm>
            <a:off x="1097280" y="3794760"/>
            <a:ext cx="457200" cy="457200"/>
          </a:xfrm>
          <a:prstGeom prst="ellipse">
            <a:avLst/>
          </a:prstGeom>
          <a:solidFill>
            <a:srgbClr val="FFB600"/>
          </a:solidFill>
          <a:ln w="12700">
            <a:solidFill>
              <a:srgbClr val="FFB60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A good thesis statement contains observation and analysis.</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contains research and facts.</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is 1–2 sentences long.</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REVIEW · 4 OF 4</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Your introduction paragraph’s MAIN function is to:</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540"/>
          </a:solidFill>
          <a:ln w="12700">
            <a:solidFill>
              <a:srgbClr val="FC454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C4540"/>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Tell a story that illustrates the topic of your essay</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C4540"/>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Give specific examples that support your thesis</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C454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Define important terms that your reader may need to know</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C4540"/>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Present questions that your essay will answer</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C4540"/>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Welcome your reader into your discussion and state the thesis</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REVIEW · 4 OF 4</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Your introduction paragraph’s MAIN function is to:</a:t>
            </a:r>
            <a:endParaRPr lang="en-US" sz="30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Tell a story that illustrates the topic of your essay</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Give specific examples that support your thesis</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D6D4CC"/>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Define important terms that your reader may need to know</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Present questions that your essay will answer</a:t>
            </a:r>
            <a:endParaRPr lang="en-US" sz="2200" dirty="0"/>
          </a:p>
        </p:txBody>
      </p:sp>
      <p:sp>
        <p:nvSpPr>
          <p:cNvPr id="22" name="Shape 19"/>
          <p:cNvSpPr/>
          <p:nvPr/>
        </p:nvSpPr>
        <p:spPr>
          <a:xfrm>
            <a:off x="1097280" y="5257800"/>
            <a:ext cx="457200" cy="457200"/>
          </a:xfrm>
          <a:prstGeom prst="ellipse">
            <a:avLst/>
          </a:prstGeom>
          <a:solidFill>
            <a:srgbClr val="FF9755"/>
          </a:solidFill>
          <a:ln w="12700">
            <a:solidFill>
              <a:srgbClr val="FF9755"/>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Welcome your reader into your discussion and state the thesis</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WARM-UP</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Place the following terms in order:</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home/user/yawp/services/web-app/scripts/thesis-essay-decks/assets/icons/puzzle.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1752448" y="1965960"/>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1981048" y="2012986"/>
            <a:ext cx="384048" cy="384048"/>
          </a:xfrm>
          <a:prstGeom prst="ellipse">
            <a:avLst/>
          </a:prstGeom>
          <a:solidFill>
            <a:srgbClr val="FFFEFA"/>
          </a:solidFill>
          <a:ln w="15875">
            <a:solidFill>
              <a:srgbClr val="D6D4CC"/>
            </a:solidFill>
            <a:prstDash val="solid"/>
          </a:ln>
        </p:spPr>
      </p:sp>
      <p:sp>
        <p:nvSpPr>
          <p:cNvPr id="10" name="Text 7"/>
          <p:cNvSpPr/>
          <p:nvPr/>
        </p:nvSpPr>
        <p:spPr>
          <a:xfrm>
            <a:off x="2575408" y="1965960"/>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City</a:t>
            </a:r>
            <a:endParaRPr lang="en-US" sz="2200" dirty="0"/>
          </a:p>
        </p:txBody>
      </p:sp>
      <p:sp>
        <p:nvSpPr>
          <p:cNvPr id="11" name="Shape 8"/>
          <p:cNvSpPr/>
          <p:nvPr/>
        </p:nvSpPr>
        <p:spPr>
          <a:xfrm>
            <a:off x="1752448" y="2572077"/>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2" name="Shape 9"/>
          <p:cNvSpPr/>
          <p:nvPr/>
        </p:nvSpPr>
        <p:spPr>
          <a:xfrm>
            <a:off x="1981048" y="2619103"/>
            <a:ext cx="384048" cy="384048"/>
          </a:xfrm>
          <a:prstGeom prst="ellipse">
            <a:avLst/>
          </a:prstGeom>
          <a:solidFill>
            <a:srgbClr val="FFFEFA"/>
          </a:solidFill>
          <a:ln w="15875">
            <a:solidFill>
              <a:srgbClr val="D6D4CC"/>
            </a:solidFill>
            <a:prstDash val="solid"/>
          </a:ln>
        </p:spPr>
      </p:sp>
      <p:sp>
        <p:nvSpPr>
          <p:cNvPr id="13" name="Text 10"/>
          <p:cNvSpPr/>
          <p:nvPr/>
        </p:nvSpPr>
        <p:spPr>
          <a:xfrm>
            <a:off x="2575408" y="2572077"/>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Continent</a:t>
            </a:r>
            <a:endParaRPr lang="en-US" sz="2200" dirty="0"/>
          </a:p>
        </p:txBody>
      </p:sp>
      <p:sp>
        <p:nvSpPr>
          <p:cNvPr id="14" name="Shape 11"/>
          <p:cNvSpPr/>
          <p:nvPr/>
        </p:nvSpPr>
        <p:spPr>
          <a:xfrm>
            <a:off x="1752448" y="3178193"/>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5" name="Shape 12"/>
          <p:cNvSpPr/>
          <p:nvPr/>
        </p:nvSpPr>
        <p:spPr>
          <a:xfrm>
            <a:off x="1981048" y="3225219"/>
            <a:ext cx="384048" cy="384048"/>
          </a:xfrm>
          <a:prstGeom prst="ellipse">
            <a:avLst/>
          </a:prstGeom>
          <a:solidFill>
            <a:srgbClr val="FFFEFA"/>
          </a:solidFill>
          <a:ln w="15875">
            <a:solidFill>
              <a:srgbClr val="D6D4CC"/>
            </a:solidFill>
            <a:prstDash val="solid"/>
          </a:ln>
        </p:spPr>
      </p:sp>
      <p:sp>
        <p:nvSpPr>
          <p:cNvPr id="16" name="Text 13"/>
          <p:cNvSpPr/>
          <p:nvPr/>
        </p:nvSpPr>
        <p:spPr>
          <a:xfrm>
            <a:off x="2575408" y="3178193"/>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Neighborhood</a:t>
            </a:r>
            <a:endParaRPr lang="en-US" sz="2200" dirty="0"/>
          </a:p>
        </p:txBody>
      </p:sp>
      <p:sp>
        <p:nvSpPr>
          <p:cNvPr id="17" name="Shape 14"/>
          <p:cNvSpPr/>
          <p:nvPr/>
        </p:nvSpPr>
        <p:spPr>
          <a:xfrm>
            <a:off x="1752448" y="3784310"/>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8" name="Shape 15"/>
          <p:cNvSpPr/>
          <p:nvPr/>
        </p:nvSpPr>
        <p:spPr>
          <a:xfrm>
            <a:off x="1981048" y="3831336"/>
            <a:ext cx="384048" cy="384048"/>
          </a:xfrm>
          <a:prstGeom prst="ellipse">
            <a:avLst/>
          </a:prstGeom>
          <a:solidFill>
            <a:srgbClr val="FFFEFA"/>
          </a:solidFill>
          <a:ln w="15875">
            <a:solidFill>
              <a:srgbClr val="D6D4CC"/>
            </a:solidFill>
            <a:prstDash val="solid"/>
          </a:ln>
        </p:spPr>
      </p:sp>
      <p:sp>
        <p:nvSpPr>
          <p:cNvPr id="19" name="Text 16"/>
          <p:cNvSpPr/>
          <p:nvPr/>
        </p:nvSpPr>
        <p:spPr>
          <a:xfrm>
            <a:off x="2575408" y="3784310"/>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Country</a:t>
            </a:r>
            <a:endParaRPr lang="en-US" sz="2200" dirty="0"/>
          </a:p>
        </p:txBody>
      </p:sp>
      <p:sp>
        <p:nvSpPr>
          <p:cNvPr id="20" name="Shape 17"/>
          <p:cNvSpPr/>
          <p:nvPr/>
        </p:nvSpPr>
        <p:spPr>
          <a:xfrm>
            <a:off x="1752448" y="4390426"/>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1" name="Shape 18"/>
          <p:cNvSpPr/>
          <p:nvPr/>
        </p:nvSpPr>
        <p:spPr>
          <a:xfrm>
            <a:off x="1981048" y="4437453"/>
            <a:ext cx="384048" cy="384048"/>
          </a:xfrm>
          <a:prstGeom prst="ellipse">
            <a:avLst/>
          </a:prstGeom>
          <a:solidFill>
            <a:srgbClr val="FFFEFA"/>
          </a:solidFill>
          <a:ln w="15875">
            <a:solidFill>
              <a:srgbClr val="D6D4CC"/>
            </a:solidFill>
            <a:prstDash val="solid"/>
          </a:ln>
        </p:spPr>
      </p:sp>
      <p:sp>
        <p:nvSpPr>
          <p:cNvPr id="22" name="Text 19"/>
          <p:cNvSpPr/>
          <p:nvPr/>
        </p:nvSpPr>
        <p:spPr>
          <a:xfrm>
            <a:off x="2575408" y="4390426"/>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Universe</a:t>
            </a:r>
            <a:endParaRPr lang="en-US" sz="2200" dirty="0"/>
          </a:p>
        </p:txBody>
      </p:sp>
      <p:sp>
        <p:nvSpPr>
          <p:cNvPr id="23" name="Shape 20"/>
          <p:cNvSpPr/>
          <p:nvPr/>
        </p:nvSpPr>
        <p:spPr>
          <a:xfrm>
            <a:off x="1752448" y="4996543"/>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4" name="Shape 21"/>
          <p:cNvSpPr/>
          <p:nvPr/>
        </p:nvSpPr>
        <p:spPr>
          <a:xfrm>
            <a:off x="1981048" y="5043569"/>
            <a:ext cx="384048" cy="384048"/>
          </a:xfrm>
          <a:prstGeom prst="ellipse">
            <a:avLst/>
          </a:prstGeom>
          <a:solidFill>
            <a:srgbClr val="FFFEFA"/>
          </a:solidFill>
          <a:ln w="15875">
            <a:solidFill>
              <a:srgbClr val="D6D4CC"/>
            </a:solidFill>
            <a:prstDash val="solid"/>
          </a:ln>
        </p:spPr>
      </p:sp>
      <p:sp>
        <p:nvSpPr>
          <p:cNvPr id="25" name="Text 22"/>
          <p:cNvSpPr/>
          <p:nvPr/>
        </p:nvSpPr>
        <p:spPr>
          <a:xfrm>
            <a:off x="2575408" y="4996543"/>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State</a:t>
            </a:r>
            <a:endParaRPr lang="en-US" sz="2200" dirty="0"/>
          </a:p>
        </p:txBody>
      </p:sp>
      <p:sp>
        <p:nvSpPr>
          <p:cNvPr id="26" name="Shape 23"/>
          <p:cNvSpPr/>
          <p:nvPr/>
        </p:nvSpPr>
        <p:spPr>
          <a:xfrm>
            <a:off x="1752448" y="5602659"/>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7" name="Shape 24"/>
          <p:cNvSpPr/>
          <p:nvPr/>
        </p:nvSpPr>
        <p:spPr>
          <a:xfrm>
            <a:off x="1981048" y="5649686"/>
            <a:ext cx="384048" cy="384048"/>
          </a:xfrm>
          <a:prstGeom prst="ellipse">
            <a:avLst/>
          </a:prstGeom>
          <a:solidFill>
            <a:srgbClr val="FFFEFA"/>
          </a:solidFill>
          <a:ln w="15875">
            <a:solidFill>
              <a:srgbClr val="D6D4CC"/>
            </a:solidFill>
            <a:prstDash val="solid"/>
          </a:ln>
        </p:spPr>
      </p:sp>
      <p:sp>
        <p:nvSpPr>
          <p:cNvPr id="28" name="Text 25"/>
          <p:cNvSpPr/>
          <p:nvPr/>
        </p:nvSpPr>
        <p:spPr>
          <a:xfrm>
            <a:off x="2575408" y="5602659"/>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Planet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WARM-UP · REVEAL</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Place the following 7 terms in order:</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home/user/yawp/services/web-app/scripts/thesis-essay-decks/assets/icons/puzzle.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1752448" y="1965960"/>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1981048" y="2012986"/>
            <a:ext cx="384048" cy="384048"/>
          </a:xfrm>
          <a:prstGeom prst="ellipse">
            <a:avLst/>
          </a:prstGeom>
          <a:solidFill>
            <a:srgbClr val="02BDC7"/>
          </a:solidFill>
          <a:ln w="12700">
            <a:solidFill>
              <a:srgbClr val="02BDC7"/>
            </a:solidFill>
            <a:prstDash val="solid"/>
          </a:ln>
        </p:spPr>
      </p:sp>
      <p:sp>
        <p:nvSpPr>
          <p:cNvPr id="10" name="Text 7"/>
          <p:cNvSpPr/>
          <p:nvPr/>
        </p:nvSpPr>
        <p:spPr>
          <a:xfrm>
            <a:off x="1981048" y="2012986"/>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1</a:t>
            </a:r>
            <a:endParaRPr lang="en-US" sz="1600" dirty="0"/>
          </a:p>
        </p:txBody>
      </p:sp>
      <p:sp>
        <p:nvSpPr>
          <p:cNvPr id="11" name="Text 8"/>
          <p:cNvSpPr/>
          <p:nvPr/>
        </p:nvSpPr>
        <p:spPr>
          <a:xfrm>
            <a:off x="2575408" y="1965960"/>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Universe</a:t>
            </a:r>
            <a:endParaRPr lang="en-US" sz="2200" dirty="0"/>
          </a:p>
        </p:txBody>
      </p:sp>
      <p:sp>
        <p:nvSpPr>
          <p:cNvPr id="12" name="Shape 9"/>
          <p:cNvSpPr/>
          <p:nvPr/>
        </p:nvSpPr>
        <p:spPr>
          <a:xfrm>
            <a:off x="1752448" y="2572077"/>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3" name="Shape 10"/>
          <p:cNvSpPr/>
          <p:nvPr/>
        </p:nvSpPr>
        <p:spPr>
          <a:xfrm>
            <a:off x="1981048" y="2619103"/>
            <a:ext cx="384048" cy="384048"/>
          </a:xfrm>
          <a:prstGeom prst="ellipse">
            <a:avLst/>
          </a:prstGeom>
          <a:solidFill>
            <a:srgbClr val="FFB600"/>
          </a:solidFill>
          <a:ln w="12700">
            <a:solidFill>
              <a:srgbClr val="FFB600"/>
            </a:solidFill>
            <a:prstDash val="solid"/>
          </a:ln>
        </p:spPr>
      </p:sp>
      <p:sp>
        <p:nvSpPr>
          <p:cNvPr id="14" name="Text 11"/>
          <p:cNvSpPr/>
          <p:nvPr/>
        </p:nvSpPr>
        <p:spPr>
          <a:xfrm>
            <a:off x="1981048" y="2619103"/>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2</a:t>
            </a:r>
            <a:endParaRPr lang="en-US" sz="1600" dirty="0"/>
          </a:p>
        </p:txBody>
      </p:sp>
      <p:sp>
        <p:nvSpPr>
          <p:cNvPr id="15" name="Text 12"/>
          <p:cNvSpPr/>
          <p:nvPr/>
        </p:nvSpPr>
        <p:spPr>
          <a:xfrm>
            <a:off x="2575408" y="2572077"/>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Planet</a:t>
            </a:r>
            <a:endParaRPr lang="en-US" sz="2200" dirty="0"/>
          </a:p>
        </p:txBody>
      </p:sp>
      <p:sp>
        <p:nvSpPr>
          <p:cNvPr id="16" name="Shape 13"/>
          <p:cNvSpPr/>
          <p:nvPr/>
        </p:nvSpPr>
        <p:spPr>
          <a:xfrm>
            <a:off x="1752448" y="3178193"/>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7" name="Shape 14"/>
          <p:cNvSpPr/>
          <p:nvPr/>
        </p:nvSpPr>
        <p:spPr>
          <a:xfrm>
            <a:off x="1981048" y="3225219"/>
            <a:ext cx="384048" cy="384048"/>
          </a:xfrm>
          <a:prstGeom prst="ellipse">
            <a:avLst/>
          </a:prstGeom>
          <a:solidFill>
            <a:srgbClr val="FC4540"/>
          </a:solidFill>
          <a:ln w="12700">
            <a:solidFill>
              <a:srgbClr val="FC4540"/>
            </a:solidFill>
            <a:prstDash val="solid"/>
          </a:ln>
        </p:spPr>
      </p:sp>
      <p:sp>
        <p:nvSpPr>
          <p:cNvPr id="18" name="Text 15"/>
          <p:cNvSpPr/>
          <p:nvPr/>
        </p:nvSpPr>
        <p:spPr>
          <a:xfrm>
            <a:off x="1981048" y="3225219"/>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3</a:t>
            </a:r>
            <a:endParaRPr lang="en-US" sz="1600" dirty="0"/>
          </a:p>
        </p:txBody>
      </p:sp>
      <p:sp>
        <p:nvSpPr>
          <p:cNvPr id="19" name="Text 16"/>
          <p:cNvSpPr/>
          <p:nvPr/>
        </p:nvSpPr>
        <p:spPr>
          <a:xfrm>
            <a:off x="2575408" y="3178193"/>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Continent</a:t>
            </a:r>
            <a:endParaRPr lang="en-US" sz="2200" dirty="0"/>
          </a:p>
        </p:txBody>
      </p:sp>
      <p:sp>
        <p:nvSpPr>
          <p:cNvPr id="20" name="Shape 17"/>
          <p:cNvSpPr/>
          <p:nvPr/>
        </p:nvSpPr>
        <p:spPr>
          <a:xfrm>
            <a:off x="1752448" y="3784310"/>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1" name="Shape 18"/>
          <p:cNvSpPr/>
          <p:nvPr/>
        </p:nvSpPr>
        <p:spPr>
          <a:xfrm>
            <a:off x="1981048" y="3831336"/>
            <a:ext cx="384048" cy="384048"/>
          </a:xfrm>
          <a:prstGeom prst="ellipse">
            <a:avLst/>
          </a:prstGeom>
          <a:solidFill>
            <a:srgbClr val="FF9755"/>
          </a:solidFill>
          <a:ln w="12700">
            <a:solidFill>
              <a:srgbClr val="FF9755"/>
            </a:solidFill>
            <a:prstDash val="solid"/>
          </a:ln>
        </p:spPr>
      </p:sp>
      <p:sp>
        <p:nvSpPr>
          <p:cNvPr id="22" name="Text 19"/>
          <p:cNvSpPr/>
          <p:nvPr/>
        </p:nvSpPr>
        <p:spPr>
          <a:xfrm>
            <a:off x="1981048" y="3831336"/>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4</a:t>
            </a:r>
            <a:endParaRPr lang="en-US" sz="1600" dirty="0"/>
          </a:p>
        </p:txBody>
      </p:sp>
      <p:sp>
        <p:nvSpPr>
          <p:cNvPr id="23" name="Text 20"/>
          <p:cNvSpPr/>
          <p:nvPr/>
        </p:nvSpPr>
        <p:spPr>
          <a:xfrm>
            <a:off x="2575408" y="3784310"/>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Country</a:t>
            </a:r>
            <a:endParaRPr lang="en-US" sz="2200" dirty="0"/>
          </a:p>
        </p:txBody>
      </p:sp>
      <p:sp>
        <p:nvSpPr>
          <p:cNvPr id="24" name="Shape 21"/>
          <p:cNvSpPr/>
          <p:nvPr/>
        </p:nvSpPr>
        <p:spPr>
          <a:xfrm>
            <a:off x="1752448" y="4390426"/>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5" name="Shape 22"/>
          <p:cNvSpPr/>
          <p:nvPr/>
        </p:nvSpPr>
        <p:spPr>
          <a:xfrm>
            <a:off x="1981048" y="4437453"/>
            <a:ext cx="384048" cy="384048"/>
          </a:xfrm>
          <a:prstGeom prst="ellipse">
            <a:avLst/>
          </a:prstGeom>
          <a:solidFill>
            <a:srgbClr val="FC4067"/>
          </a:solidFill>
          <a:ln w="12700">
            <a:solidFill>
              <a:srgbClr val="FC4067"/>
            </a:solidFill>
            <a:prstDash val="solid"/>
          </a:ln>
        </p:spPr>
      </p:sp>
      <p:sp>
        <p:nvSpPr>
          <p:cNvPr id="26" name="Text 23"/>
          <p:cNvSpPr/>
          <p:nvPr/>
        </p:nvSpPr>
        <p:spPr>
          <a:xfrm>
            <a:off x="1981048" y="4437453"/>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5</a:t>
            </a:r>
            <a:endParaRPr lang="en-US" sz="1600" dirty="0"/>
          </a:p>
        </p:txBody>
      </p:sp>
      <p:sp>
        <p:nvSpPr>
          <p:cNvPr id="27" name="Text 24"/>
          <p:cNvSpPr/>
          <p:nvPr/>
        </p:nvSpPr>
        <p:spPr>
          <a:xfrm>
            <a:off x="2575408" y="4390426"/>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State</a:t>
            </a:r>
            <a:endParaRPr lang="en-US" sz="2200" dirty="0"/>
          </a:p>
        </p:txBody>
      </p:sp>
      <p:sp>
        <p:nvSpPr>
          <p:cNvPr id="28" name="Shape 25"/>
          <p:cNvSpPr/>
          <p:nvPr/>
        </p:nvSpPr>
        <p:spPr>
          <a:xfrm>
            <a:off x="1752448" y="4996543"/>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9" name="Shape 26"/>
          <p:cNvSpPr/>
          <p:nvPr/>
        </p:nvSpPr>
        <p:spPr>
          <a:xfrm>
            <a:off x="1981048" y="5043569"/>
            <a:ext cx="384048" cy="384048"/>
          </a:xfrm>
          <a:prstGeom prst="ellipse">
            <a:avLst/>
          </a:prstGeom>
          <a:solidFill>
            <a:srgbClr val="02BDC7"/>
          </a:solidFill>
          <a:ln w="12700">
            <a:solidFill>
              <a:srgbClr val="02BDC7"/>
            </a:solidFill>
            <a:prstDash val="solid"/>
          </a:ln>
        </p:spPr>
      </p:sp>
      <p:sp>
        <p:nvSpPr>
          <p:cNvPr id="30" name="Text 27"/>
          <p:cNvSpPr/>
          <p:nvPr/>
        </p:nvSpPr>
        <p:spPr>
          <a:xfrm>
            <a:off x="1981048" y="5043569"/>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6</a:t>
            </a:r>
            <a:endParaRPr lang="en-US" sz="1600" dirty="0"/>
          </a:p>
        </p:txBody>
      </p:sp>
      <p:sp>
        <p:nvSpPr>
          <p:cNvPr id="31" name="Text 28"/>
          <p:cNvSpPr/>
          <p:nvPr/>
        </p:nvSpPr>
        <p:spPr>
          <a:xfrm>
            <a:off x="2575408" y="4996543"/>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City</a:t>
            </a:r>
            <a:endParaRPr lang="en-US" sz="2200" dirty="0"/>
          </a:p>
        </p:txBody>
      </p:sp>
      <p:sp>
        <p:nvSpPr>
          <p:cNvPr id="32" name="Shape 29"/>
          <p:cNvSpPr/>
          <p:nvPr/>
        </p:nvSpPr>
        <p:spPr>
          <a:xfrm>
            <a:off x="1752448" y="5602659"/>
            <a:ext cx="8686800" cy="478101"/>
          </a:xfrm>
          <a:prstGeom prst="roundRect">
            <a:avLst>
              <a:gd name="adj" fmla="val 2677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33" name="Shape 30"/>
          <p:cNvSpPr/>
          <p:nvPr/>
        </p:nvSpPr>
        <p:spPr>
          <a:xfrm>
            <a:off x="1981048" y="5649686"/>
            <a:ext cx="384048" cy="384048"/>
          </a:xfrm>
          <a:prstGeom prst="ellipse">
            <a:avLst/>
          </a:prstGeom>
          <a:solidFill>
            <a:srgbClr val="FFB600"/>
          </a:solidFill>
          <a:ln w="12700">
            <a:solidFill>
              <a:srgbClr val="FFB600"/>
            </a:solidFill>
            <a:prstDash val="solid"/>
          </a:ln>
        </p:spPr>
      </p:sp>
      <p:sp>
        <p:nvSpPr>
          <p:cNvPr id="34" name="Text 31"/>
          <p:cNvSpPr/>
          <p:nvPr/>
        </p:nvSpPr>
        <p:spPr>
          <a:xfrm>
            <a:off x="1981048" y="5649686"/>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7</a:t>
            </a:r>
            <a:endParaRPr lang="en-US" sz="1600" dirty="0"/>
          </a:p>
        </p:txBody>
      </p:sp>
      <p:sp>
        <p:nvSpPr>
          <p:cNvPr id="35" name="Text 32"/>
          <p:cNvSpPr/>
          <p:nvPr/>
        </p:nvSpPr>
        <p:spPr>
          <a:xfrm>
            <a:off x="2575408" y="5602659"/>
            <a:ext cx="7589520" cy="478101"/>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Neighborhood</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WARM-UP, ROUND 2</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Place the following sentences in order:</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home/user/yawp/services/web-app/scripts/thesis-essay-decks/assets/icons/puzzle.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1752448" y="2121408"/>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1981048" y="2258568"/>
            <a:ext cx="384048" cy="384048"/>
          </a:xfrm>
          <a:prstGeom prst="ellipse">
            <a:avLst/>
          </a:prstGeom>
          <a:solidFill>
            <a:srgbClr val="FFFEFA"/>
          </a:solidFill>
          <a:ln w="15875">
            <a:solidFill>
              <a:srgbClr val="D6D4CC"/>
            </a:solidFill>
            <a:prstDash val="solid"/>
          </a:ln>
        </p:spPr>
      </p:sp>
      <p:sp>
        <p:nvSpPr>
          <p:cNvPr id="10" name="Text 7"/>
          <p:cNvSpPr/>
          <p:nvPr/>
        </p:nvSpPr>
        <p:spPr>
          <a:xfrm>
            <a:off x="2575408" y="2121408"/>
            <a:ext cx="7589520" cy="658368"/>
          </a:xfrm>
          <a:prstGeom prst="rect">
            <a:avLst/>
          </a:prstGeom>
          <a:noFill/>
          <a:ln/>
        </p:spPr>
        <p:txBody>
          <a:bodyPr wrap="square" lIns="0" tIns="0" rIns="0" bIns="0" rtlCol="0" anchor="ctr"/>
          <a:lstStyle/>
          <a:p>
            <a:pPr indent="0" marL="0">
              <a:buNone/>
            </a:pPr>
            <a:r>
              <a:rPr lang="en-US" sz="1700" dirty="0">
                <a:solidFill>
                  <a:srgbClr val="3C3828"/>
                </a:solidFill>
                <a:latin typeface="Calibri" pitchFamily="34" charset="0"/>
                <a:ea typeface="Calibri" pitchFamily="34" charset="-122"/>
                <a:cs typeface="Calibri" pitchFamily="34" charset="-120"/>
              </a:rPr>
              <a:t>Across these movies, Iron Man is sometimes portrayed as arrogant, self-centered, elitist, and reckless.</a:t>
            </a:r>
            <a:endParaRPr lang="en-US" sz="1700" dirty="0"/>
          </a:p>
        </p:txBody>
      </p:sp>
      <p:sp>
        <p:nvSpPr>
          <p:cNvPr id="11" name="Shape 8"/>
          <p:cNvSpPr/>
          <p:nvPr/>
        </p:nvSpPr>
        <p:spPr>
          <a:xfrm>
            <a:off x="1752448" y="2907792"/>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2" name="Shape 9"/>
          <p:cNvSpPr/>
          <p:nvPr/>
        </p:nvSpPr>
        <p:spPr>
          <a:xfrm>
            <a:off x="1981048" y="3044952"/>
            <a:ext cx="384048" cy="384048"/>
          </a:xfrm>
          <a:prstGeom prst="ellipse">
            <a:avLst/>
          </a:prstGeom>
          <a:solidFill>
            <a:srgbClr val="FFFEFA"/>
          </a:solidFill>
          <a:ln w="15875">
            <a:solidFill>
              <a:srgbClr val="D6D4CC"/>
            </a:solidFill>
            <a:prstDash val="solid"/>
          </a:ln>
        </p:spPr>
      </p:sp>
      <p:sp>
        <p:nvSpPr>
          <p:cNvPr id="13" name="Text 10"/>
          <p:cNvSpPr/>
          <p:nvPr/>
        </p:nvSpPr>
        <p:spPr>
          <a:xfrm>
            <a:off x="2575408" y="2907792"/>
            <a:ext cx="7589520" cy="658368"/>
          </a:xfrm>
          <a:prstGeom prst="rect">
            <a:avLst/>
          </a:prstGeom>
          <a:noFill/>
          <a:ln/>
        </p:spPr>
        <p:txBody>
          <a:bodyPr wrap="square" lIns="0" tIns="0" rIns="0" bIns="0" rtlCol="0" anchor="ctr"/>
          <a:lstStyle/>
          <a:p>
            <a:pPr indent="0" marL="0">
              <a:buNone/>
            </a:pPr>
            <a:r>
              <a:rPr lang="en-US" sz="1700" dirty="0">
                <a:solidFill>
                  <a:srgbClr val="3C3828"/>
                </a:solidFill>
                <a:latin typeface="Calibri" pitchFamily="34" charset="0"/>
                <a:ea typeface="Calibri" pitchFamily="34" charset="-122"/>
                <a:cs typeface="Calibri" pitchFamily="34" charset="-120"/>
              </a:rPr>
              <a:t>One of those relationships is with Pepper Potts, and the other is with Peter Parker’s Spider-Man.</a:t>
            </a:r>
            <a:endParaRPr lang="en-US" sz="1700" dirty="0"/>
          </a:p>
        </p:txBody>
      </p:sp>
      <p:sp>
        <p:nvSpPr>
          <p:cNvPr id="14" name="Shape 11"/>
          <p:cNvSpPr/>
          <p:nvPr/>
        </p:nvSpPr>
        <p:spPr>
          <a:xfrm>
            <a:off x="1752448" y="3694176"/>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5" name="Shape 12"/>
          <p:cNvSpPr/>
          <p:nvPr/>
        </p:nvSpPr>
        <p:spPr>
          <a:xfrm>
            <a:off x="1981048" y="3831336"/>
            <a:ext cx="384048" cy="384048"/>
          </a:xfrm>
          <a:prstGeom prst="ellipse">
            <a:avLst/>
          </a:prstGeom>
          <a:solidFill>
            <a:srgbClr val="FFFEFA"/>
          </a:solidFill>
          <a:ln w="15875">
            <a:solidFill>
              <a:srgbClr val="D6D4CC"/>
            </a:solidFill>
            <a:prstDash val="solid"/>
          </a:ln>
        </p:spPr>
      </p:sp>
      <p:sp>
        <p:nvSpPr>
          <p:cNvPr id="16" name="Text 13"/>
          <p:cNvSpPr/>
          <p:nvPr/>
        </p:nvSpPr>
        <p:spPr>
          <a:xfrm>
            <a:off x="2575408" y="3694176"/>
            <a:ext cx="7589520" cy="658368"/>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Iron Man is featured in 9 MCU movies.</a:t>
            </a:r>
            <a:endParaRPr lang="en-US" sz="2200" dirty="0"/>
          </a:p>
        </p:txBody>
      </p:sp>
      <p:sp>
        <p:nvSpPr>
          <p:cNvPr id="17" name="Shape 14"/>
          <p:cNvSpPr/>
          <p:nvPr/>
        </p:nvSpPr>
        <p:spPr>
          <a:xfrm>
            <a:off x="1752448" y="4480560"/>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8" name="Shape 15"/>
          <p:cNvSpPr/>
          <p:nvPr/>
        </p:nvSpPr>
        <p:spPr>
          <a:xfrm>
            <a:off x="1981048" y="4617720"/>
            <a:ext cx="384048" cy="384048"/>
          </a:xfrm>
          <a:prstGeom prst="ellipse">
            <a:avLst/>
          </a:prstGeom>
          <a:solidFill>
            <a:srgbClr val="FFFEFA"/>
          </a:solidFill>
          <a:ln w="15875">
            <a:solidFill>
              <a:srgbClr val="D6D4CC"/>
            </a:solidFill>
            <a:prstDash val="solid"/>
          </a:ln>
        </p:spPr>
      </p:sp>
      <p:sp>
        <p:nvSpPr>
          <p:cNvPr id="19" name="Text 16"/>
          <p:cNvSpPr/>
          <p:nvPr/>
        </p:nvSpPr>
        <p:spPr>
          <a:xfrm>
            <a:off x="2575408" y="4480560"/>
            <a:ext cx="7589520" cy="658368"/>
          </a:xfrm>
          <a:prstGeom prst="rect">
            <a:avLst/>
          </a:prstGeom>
          <a:noFill/>
          <a:ln/>
        </p:spPr>
        <p:txBody>
          <a:bodyPr wrap="square" lIns="0" tIns="0" rIns="0" bIns="0" rtlCol="0" anchor="ctr"/>
          <a:lstStyle/>
          <a:p>
            <a:pPr indent="0" marL="0">
              <a:buNone/>
            </a:pPr>
            <a:r>
              <a:rPr lang="en-US" sz="1700" dirty="0">
                <a:solidFill>
                  <a:srgbClr val="3C3828"/>
                </a:solidFill>
                <a:latin typeface="Calibri" pitchFamily="34" charset="0"/>
                <a:ea typeface="Calibri" pitchFamily="34" charset="-122"/>
                <a:cs typeface="Calibri" pitchFamily="34" charset="-120"/>
              </a:rPr>
              <a:t>However, two relationships help him develop less selfish and more human qualities.</a:t>
            </a:r>
            <a:endParaRPr lang="en-US" sz="1700" dirty="0"/>
          </a:p>
        </p:txBody>
      </p:sp>
      <p:sp>
        <p:nvSpPr>
          <p:cNvPr id="20" name="Shape 17"/>
          <p:cNvSpPr/>
          <p:nvPr/>
        </p:nvSpPr>
        <p:spPr>
          <a:xfrm>
            <a:off x="1752448" y="5266944"/>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1" name="Shape 18"/>
          <p:cNvSpPr/>
          <p:nvPr/>
        </p:nvSpPr>
        <p:spPr>
          <a:xfrm>
            <a:off x="1981048" y="5404104"/>
            <a:ext cx="384048" cy="384048"/>
          </a:xfrm>
          <a:prstGeom prst="ellipse">
            <a:avLst/>
          </a:prstGeom>
          <a:solidFill>
            <a:srgbClr val="FFFEFA"/>
          </a:solidFill>
          <a:ln w="15875">
            <a:solidFill>
              <a:srgbClr val="D6D4CC"/>
            </a:solidFill>
            <a:prstDash val="solid"/>
          </a:ln>
        </p:spPr>
      </p:sp>
      <p:sp>
        <p:nvSpPr>
          <p:cNvPr id="22" name="Text 19"/>
          <p:cNvSpPr/>
          <p:nvPr/>
        </p:nvSpPr>
        <p:spPr>
          <a:xfrm>
            <a:off x="2575408" y="5266944"/>
            <a:ext cx="7589520" cy="658368"/>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There are 29 movies in the Marvel Cinematic Universe.</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WARM-UP, ROUND 2 · REVEAL</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Broad to specific, one thread at a time</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home/user/yawp/services/web-app/scripts/thesis-essay-decks/assets/icons/puzzle.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1752448" y="2121408"/>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1981048" y="2258568"/>
            <a:ext cx="384048" cy="384048"/>
          </a:xfrm>
          <a:prstGeom prst="ellipse">
            <a:avLst/>
          </a:prstGeom>
          <a:solidFill>
            <a:srgbClr val="02BDC7"/>
          </a:solidFill>
          <a:ln w="12700">
            <a:solidFill>
              <a:srgbClr val="02BDC7"/>
            </a:solidFill>
            <a:prstDash val="solid"/>
          </a:ln>
        </p:spPr>
      </p:sp>
      <p:sp>
        <p:nvSpPr>
          <p:cNvPr id="10" name="Text 7"/>
          <p:cNvSpPr/>
          <p:nvPr/>
        </p:nvSpPr>
        <p:spPr>
          <a:xfrm>
            <a:off x="1981048" y="2258568"/>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1</a:t>
            </a:r>
            <a:endParaRPr lang="en-US" sz="1600" dirty="0"/>
          </a:p>
        </p:txBody>
      </p:sp>
      <p:sp>
        <p:nvSpPr>
          <p:cNvPr id="11" name="Text 8"/>
          <p:cNvSpPr/>
          <p:nvPr/>
        </p:nvSpPr>
        <p:spPr>
          <a:xfrm>
            <a:off x="2575408" y="2121408"/>
            <a:ext cx="7589520" cy="658368"/>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There are 29 movies in the Marvel Cinematic Universe.</a:t>
            </a:r>
            <a:endParaRPr lang="en-US" sz="2200" dirty="0"/>
          </a:p>
        </p:txBody>
      </p:sp>
      <p:sp>
        <p:nvSpPr>
          <p:cNvPr id="12" name="Shape 9"/>
          <p:cNvSpPr/>
          <p:nvPr/>
        </p:nvSpPr>
        <p:spPr>
          <a:xfrm>
            <a:off x="1752448" y="2907792"/>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3" name="Shape 10"/>
          <p:cNvSpPr/>
          <p:nvPr/>
        </p:nvSpPr>
        <p:spPr>
          <a:xfrm>
            <a:off x="1981048" y="3044952"/>
            <a:ext cx="384048" cy="384048"/>
          </a:xfrm>
          <a:prstGeom prst="ellipse">
            <a:avLst/>
          </a:prstGeom>
          <a:solidFill>
            <a:srgbClr val="FFB600"/>
          </a:solidFill>
          <a:ln w="12700">
            <a:solidFill>
              <a:srgbClr val="FFB600"/>
            </a:solidFill>
            <a:prstDash val="solid"/>
          </a:ln>
        </p:spPr>
      </p:sp>
      <p:sp>
        <p:nvSpPr>
          <p:cNvPr id="14" name="Text 11"/>
          <p:cNvSpPr/>
          <p:nvPr/>
        </p:nvSpPr>
        <p:spPr>
          <a:xfrm>
            <a:off x="1981048" y="3044952"/>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2</a:t>
            </a:r>
            <a:endParaRPr lang="en-US" sz="1600" dirty="0"/>
          </a:p>
        </p:txBody>
      </p:sp>
      <p:sp>
        <p:nvSpPr>
          <p:cNvPr id="15" name="Text 12"/>
          <p:cNvSpPr/>
          <p:nvPr/>
        </p:nvSpPr>
        <p:spPr>
          <a:xfrm>
            <a:off x="2575408" y="2907792"/>
            <a:ext cx="7589520" cy="658368"/>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Iron Man is featured in 9 MCU movies.</a:t>
            </a:r>
            <a:endParaRPr lang="en-US" sz="2200" dirty="0"/>
          </a:p>
        </p:txBody>
      </p:sp>
      <p:sp>
        <p:nvSpPr>
          <p:cNvPr id="16" name="Shape 13"/>
          <p:cNvSpPr/>
          <p:nvPr/>
        </p:nvSpPr>
        <p:spPr>
          <a:xfrm>
            <a:off x="1752448" y="3694176"/>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7" name="Shape 14"/>
          <p:cNvSpPr/>
          <p:nvPr/>
        </p:nvSpPr>
        <p:spPr>
          <a:xfrm>
            <a:off x="1981048" y="3831336"/>
            <a:ext cx="384048" cy="384048"/>
          </a:xfrm>
          <a:prstGeom prst="ellipse">
            <a:avLst/>
          </a:prstGeom>
          <a:solidFill>
            <a:srgbClr val="FC4540"/>
          </a:solidFill>
          <a:ln w="12700">
            <a:solidFill>
              <a:srgbClr val="FC4540"/>
            </a:solidFill>
            <a:prstDash val="solid"/>
          </a:ln>
        </p:spPr>
      </p:sp>
      <p:sp>
        <p:nvSpPr>
          <p:cNvPr id="18" name="Text 15"/>
          <p:cNvSpPr/>
          <p:nvPr/>
        </p:nvSpPr>
        <p:spPr>
          <a:xfrm>
            <a:off x="1981048" y="3831336"/>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3</a:t>
            </a:r>
            <a:endParaRPr lang="en-US" sz="1600" dirty="0"/>
          </a:p>
        </p:txBody>
      </p:sp>
      <p:sp>
        <p:nvSpPr>
          <p:cNvPr id="19" name="Text 16"/>
          <p:cNvSpPr/>
          <p:nvPr/>
        </p:nvSpPr>
        <p:spPr>
          <a:xfrm>
            <a:off x="2575408" y="3694176"/>
            <a:ext cx="7589520" cy="658368"/>
          </a:xfrm>
          <a:prstGeom prst="rect">
            <a:avLst/>
          </a:prstGeom>
          <a:noFill/>
          <a:ln/>
        </p:spPr>
        <p:txBody>
          <a:bodyPr wrap="square" lIns="0" tIns="0" rIns="0" bIns="0" rtlCol="0" anchor="ctr"/>
          <a:lstStyle/>
          <a:p>
            <a:pPr indent="0" marL="0">
              <a:buNone/>
            </a:pPr>
            <a:r>
              <a:rPr lang="en-US" sz="1700" dirty="0">
                <a:solidFill>
                  <a:srgbClr val="3C3828"/>
                </a:solidFill>
                <a:latin typeface="Calibri" pitchFamily="34" charset="0"/>
                <a:ea typeface="Calibri" pitchFamily="34" charset="-122"/>
                <a:cs typeface="Calibri" pitchFamily="34" charset="-120"/>
              </a:rPr>
              <a:t>Across these movies, Iron Man is sometimes portrayed as arrogant, self-centered, elitist, and reckless.</a:t>
            </a:r>
            <a:endParaRPr lang="en-US" sz="1700" dirty="0"/>
          </a:p>
        </p:txBody>
      </p:sp>
      <p:sp>
        <p:nvSpPr>
          <p:cNvPr id="20" name="Shape 17"/>
          <p:cNvSpPr/>
          <p:nvPr/>
        </p:nvSpPr>
        <p:spPr>
          <a:xfrm>
            <a:off x="1752448" y="4480560"/>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1" name="Shape 18"/>
          <p:cNvSpPr/>
          <p:nvPr/>
        </p:nvSpPr>
        <p:spPr>
          <a:xfrm>
            <a:off x="1981048" y="4617720"/>
            <a:ext cx="384048" cy="384048"/>
          </a:xfrm>
          <a:prstGeom prst="ellipse">
            <a:avLst/>
          </a:prstGeom>
          <a:solidFill>
            <a:srgbClr val="FF9755"/>
          </a:solidFill>
          <a:ln w="12700">
            <a:solidFill>
              <a:srgbClr val="FF9755"/>
            </a:solidFill>
            <a:prstDash val="solid"/>
          </a:ln>
        </p:spPr>
      </p:sp>
      <p:sp>
        <p:nvSpPr>
          <p:cNvPr id="22" name="Text 19"/>
          <p:cNvSpPr/>
          <p:nvPr/>
        </p:nvSpPr>
        <p:spPr>
          <a:xfrm>
            <a:off x="1981048" y="4617720"/>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4</a:t>
            </a:r>
            <a:endParaRPr lang="en-US" sz="1600" dirty="0"/>
          </a:p>
        </p:txBody>
      </p:sp>
      <p:sp>
        <p:nvSpPr>
          <p:cNvPr id="23" name="Text 20"/>
          <p:cNvSpPr/>
          <p:nvPr/>
        </p:nvSpPr>
        <p:spPr>
          <a:xfrm>
            <a:off x="2575408" y="4480560"/>
            <a:ext cx="7589520" cy="658368"/>
          </a:xfrm>
          <a:prstGeom prst="rect">
            <a:avLst/>
          </a:prstGeom>
          <a:noFill/>
          <a:ln/>
        </p:spPr>
        <p:txBody>
          <a:bodyPr wrap="square" lIns="0" tIns="0" rIns="0" bIns="0" rtlCol="0" anchor="ctr"/>
          <a:lstStyle/>
          <a:p>
            <a:pPr indent="0" marL="0">
              <a:buNone/>
            </a:pPr>
            <a:r>
              <a:rPr lang="en-US" sz="1700" dirty="0">
                <a:solidFill>
                  <a:srgbClr val="3C3828"/>
                </a:solidFill>
                <a:latin typeface="Calibri" pitchFamily="34" charset="0"/>
                <a:ea typeface="Calibri" pitchFamily="34" charset="-122"/>
                <a:cs typeface="Calibri" pitchFamily="34" charset="-120"/>
              </a:rPr>
              <a:t>However, two relationships help him develop less selfish and more human qualities.</a:t>
            </a:r>
            <a:endParaRPr lang="en-US" sz="1700" dirty="0"/>
          </a:p>
        </p:txBody>
      </p:sp>
      <p:sp>
        <p:nvSpPr>
          <p:cNvPr id="24" name="Shape 21"/>
          <p:cNvSpPr/>
          <p:nvPr/>
        </p:nvSpPr>
        <p:spPr>
          <a:xfrm>
            <a:off x="1752448" y="5266944"/>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5" name="Shape 22"/>
          <p:cNvSpPr/>
          <p:nvPr/>
        </p:nvSpPr>
        <p:spPr>
          <a:xfrm>
            <a:off x="1981048" y="5404104"/>
            <a:ext cx="384048" cy="384048"/>
          </a:xfrm>
          <a:prstGeom prst="ellipse">
            <a:avLst/>
          </a:prstGeom>
          <a:solidFill>
            <a:srgbClr val="FC4067"/>
          </a:solidFill>
          <a:ln w="12700">
            <a:solidFill>
              <a:srgbClr val="FC4067"/>
            </a:solidFill>
            <a:prstDash val="solid"/>
          </a:ln>
        </p:spPr>
      </p:sp>
      <p:sp>
        <p:nvSpPr>
          <p:cNvPr id="26" name="Text 23"/>
          <p:cNvSpPr/>
          <p:nvPr/>
        </p:nvSpPr>
        <p:spPr>
          <a:xfrm>
            <a:off x="1981048" y="5404104"/>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5</a:t>
            </a:r>
            <a:endParaRPr lang="en-US" sz="1600" dirty="0"/>
          </a:p>
        </p:txBody>
      </p:sp>
      <p:sp>
        <p:nvSpPr>
          <p:cNvPr id="27" name="Text 24"/>
          <p:cNvSpPr/>
          <p:nvPr/>
        </p:nvSpPr>
        <p:spPr>
          <a:xfrm>
            <a:off x="2575408" y="5266944"/>
            <a:ext cx="7589520" cy="658368"/>
          </a:xfrm>
          <a:prstGeom prst="rect">
            <a:avLst/>
          </a:prstGeom>
          <a:noFill/>
          <a:ln/>
        </p:spPr>
        <p:txBody>
          <a:bodyPr wrap="square" lIns="0" tIns="0" rIns="0" bIns="0" rtlCol="0" anchor="ctr"/>
          <a:lstStyle/>
          <a:p>
            <a:pPr indent="0" marL="0">
              <a:buNone/>
            </a:pPr>
            <a:r>
              <a:rPr lang="en-US" sz="1700" dirty="0">
                <a:solidFill>
                  <a:srgbClr val="3C3828"/>
                </a:solidFill>
                <a:latin typeface="Calibri" pitchFamily="34" charset="0"/>
                <a:ea typeface="Calibri" pitchFamily="34" charset="-122"/>
                <a:cs typeface="Calibri" pitchFamily="34" charset="-120"/>
              </a:rPr>
              <a:t>One of those relationships is with Pepper Potts, and the other is with Peter Parker’s Spider-Man.</a:t>
            </a:r>
            <a:endParaRPr lang="en-US" sz="17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MILESTONE</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3600" dirty="0">
                <a:solidFill>
                  <a:srgbClr val="3C3828"/>
                </a:solidFill>
                <a:highlight>
                  <a:srgbClr val="FFE14D"/>
                </a:highlight>
                <a:latin typeface="Georgia" pitchFamily="34" charset="0"/>
                <a:ea typeface="Georgia" pitchFamily="34" charset="-122"/>
                <a:cs typeface="Georgia" pitchFamily="34" charset="-120"/>
              </a:rPr>
              <a:t>Now you can begin writing your essay.</a:t>
            </a:r>
            <a:endParaRPr lang="en-US" sz="3600" dirty="0"/>
          </a:p>
        </p:txBody>
      </p:sp>
      <p:sp>
        <p:nvSpPr>
          <p:cNvPr id="5" name="Shape 3"/>
          <p:cNvSpPr/>
          <p:nvPr/>
        </p:nvSpPr>
        <p:spPr>
          <a:xfrm>
            <a:off x="7558888" y="640080"/>
            <a:ext cx="1417320" cy="1417320"/>
          </a:xfrm>
          <a:prstGeom prst="ellipse">
            <a:avLst/>
          </a:prstGeom>
          <a:solidFill>
            <a:srgbClr val="FFB600"/>
          </a:solidFill>
          <a:ln w="12700">
            <a:solidFill>
              <a:srgbClr val="FFB600"/>
            </a:solidFill>
            <a:prstDash val="solid"/>
          </a:ln>
        </p:spPr>
      </p:sp>
      <p:pic>
        <p:nvPicPr>
          <p:cNvPr id="6" name="Image 0" descr="/home/user/yawp/services/web-app/scripts/thesis-essay-decks/assets/icons/lightbulb.png">    </p:cNvPr>
          <p:cNvPicPr>
            <a:picLocks noChangeAspect="1"/>
          </p:cNvPicPr>
          <p:nvPr/>
        </p:nvPicPr>
        <p:blipFill>
          <a:blip r:embed="rId1"/>
          <a:stretch>
            <a:fillRect/>
          </a:stretch>
        </p:blipFill>
        <p:spPr>
          <a:xfrm>
            <a:off x="7842352" y="923544"/>
            <a:ext cx="850392" cy="850392"/>
          </a:xfrm>
          <a:prstGeom prst="rect">
            <a:avLst/>
          </a:prstGeom>
        </p:spPr>
      </p:pic>
      <p:sp>
        <p:nvSpPr>
          <p:cNvPr id="7" name="Shape 4"/>
          <p:cNvSpPr/>
          <p:nvPr/>
        </p:nvSpPr>
        <p:spPr>
          <a:xfrm>
            <a:off x="2941168" y="1463040"/>
            <a:ext cx="1005840" cy="1005840"/>
          </a:xfrm>
          <a:prstGeom prst="ellipse">
            <a:avLst/>
          </a:prstGeom>
          <a:solidFill>
            <a:srgbClr val="FF9755"/>
          </a:solidFill>
          <a:ln w="12700">
            <a:solidFill>
              <a:srgbClr val="FF9755"/>
            </a:solidFill>
            <a:prstDash val="solid"/>
          </a:ln>
        </p:spPr>
      </p:sp>
      <p:pic>
        <p:nvPicPr>
          <p:cNvPr id="8" name="Image 1" descr="/home/user/yawp/services/web-app/scripts/thesis-essay-decks/assets/icons/puzzle.png">    </p:cNvPr>
          <p:cNvPicPr>
            <a:picLocks noChangeAspect="1"/>
          </p:cNvPicPr>
          <p:nvPr/>
        </p:nvPicPr>
        <p:blipFill>
          <a:blip r:embed="rId2"/>
          <a:stretch>
            <a:fillRect/>
          </a:stretch>
        </p:blipFill>
        <p:spPr>
          <a:xfrm>
            <a:off x="3142336" y="1664208"/>
            <a:ext cx="603504" cy="603504"/>
          </a:xfrm>
          <a:prstGeom prst="rect">
            <a:avLst/>
          </a:prstGeom>
        </p:spPr>
      </p:pic>
      <p:sp>
        <p:nvSpPr>
          <p:cNvPr id="9" name="Shape 5"/>
          <p:cNvSpPr/>
          <p:nvPr/>
        </p:nvSpPr>
        <p:spPr>
          <a:xfrm>
            <a:off x="3718408" y="4800600"/>
            <a:ext cx="1188720" cy="1188720"/>
          </a:xfrm>
          <a:prstGeom prst="ellipse">
            <a:avLst/>
          </a:prstGeom>
          <a:solidFill>
            <a:srgbClr val="FC4540"/>
          </a:solidFill>
          <a:ln w="12700">
            <a:solidFill>
              <a:srgbClr val="FC4540"/>
            </a:solidFill>
            <a:prstDash val="solid"/>
          </a:ln>
        </p:spPr>
      </p:sp>
      <p:pic>
        <p:nvPicPr>
          <p:cNvPr id="10" name="Image 2" descr="/home/user/yawp/services/web-app/scripts/thesis-essay-decks/assets/icons/thumbs.png">    </p:cNvPr>
          <p:cNvPicPr>
            <a:picLocks noChangeAspect="1"/>
          </p:cNvPicPr>
          <p:nvPr/>
        </p:nvPicPr>
        <p:blipFill>
          <a:blip r:embed="rId3"/>
          <a:stretch>
            <a:fillRect/>
          </a:stretch>
        </p:blipFill>
        <p:spPr>
          <a:xfrm>
            <a:off x="3956152" y="5038344"/>
            <a:ext cx="713232" cy="713232"/>
          </a:xfrm>
          <a:prstGeom prst="rect">
            <a:avLst/>
          </a:prstGeom>
        </p:spPr>
      </p:pic>
      <p:sp>
        <p:nvSpPr>
          <p:cNvPr id="11" name="Shape 6"/>
          <p:cNvSpPr/>
          <p:nvPr/>
        </p:nvSpPr>
        <p:spPr>
          <a:xfrm>
            <a:off x="3124048" y="2743200"/>
            <a:ext cx="274320" cy="274320"/>
          </a:xfrm>
          <a:prstGeom prst="ellipse">
            <a:avLst/>
          </a:prstGeom>
          <a:solidFill>
            <a:srgbClr val="FFFEFA"/>
          </a:solidFill>
          <a:ln w="12700">
            <a:solidFill>
              <a:srgbClr val="FFFEFA"/>
            </a:solidFill>
            <a:prstDash val="solid"/>
          </a:ln>
        </p:spPr>
      </p:sp>
      <p:sp>
        <p:nvSpPr>
          <p:cNvPr id="12" name="Shape 7"/>
          <p:cNvSpPr/>
          <p:nvPr/>
        </p:nvSpPr>
        <p:spPr>
          <a:xfrm>
            <a:off x="8701888" y="2423160"/>
            <a:ext cx="438912" cy="438912"/>
          </a:xfrm>
          <a:prstGeom prst="ellipse">
            <a:avLst/>
          </a:prstGeom>
          <a:solidFill>
            <a:srgbClr val="FC4067"/>
          </a:solidFill>
          <a:ln w="12700">
            <a:solidFill>
              <a:srgbClr val="FC4067"/>
            </a:solidFill>
            <a:prstDash val="solid"/>
          </a:ln>
        </p:spPr>
      </p:sp>
      <p:sp>
        <p:nvSpPr>
          <p:cNvPr id="13" name="Shape 8"/>
          <p:cNvSpPr/>
          <p:nvPr/>
        </p:nvSpPr>
        <p:spPr>
          <a:xfrm>
            <a:off x="8976208" y="2057400"/>
            <a:ext cx="146304" cy="146304"/>
          </a:xfrm>
          <a:prstGeom prst="ellipse">
            <a:avLst/>
          </a:prstGeom>
          <a:solidFill>
            <a:srgbClr val="FFFEFA"/>
          </a:solidFill>
          <a:ln w="12700">
            <a:solidFill>
              <a:srgbClr val="FFFEFA"/>
            </a:solidFill>
            <a:prstDash val="solid"/>
          </a:ln>
        </p:spPr>
      </p:sp>
      <p:sp>
        <p:nvSpPr>
          <p:cNvPr id="14" name="Shape 9"/>
          <p:cNvSpPr/>
          <p:nvPr/>
        </p:nvSpPr>
        <p:spPr>
          <a:xfrm>
            <a:off x="7650328" y="5760720"/>
            <a:ext cx="457200" cy="457200"/>
          </a:xfrm>
          <a:prstGeom prst="ellipse">
            <a:avLst/>
          </a:prstGeom>
          <a:solidFill>
            <a:srgbClr val="FC4067"/>
          </a:solidFill>
          <a:ln w="12700">
            <a:solidFill>
              <a:srgbClr val="FC4067"/>
            </a:solidFill>
            <a:prstDash val="solid"/>
          </a:ln>
        </p:spPr>
      </p:sp>
      <p:sp>
        <p:nvSpPr>
          <p:cNvPr id="15" name="Shape 10"/>
          <p:cNvSpPr/>
          <p:nvPr/>
        </p:nvSpPr>
        <p:spPr>
          <a:xfrm>
            <a:off x="8290408" y="5989320"/>
            <a:ext cx="640080" cy="640080"/>
          </a:xfrm>
          <a:prstGeom prst="ellipse">
            <a:avLst/>
          </a:prstGeom>
          <a:solidFill>
            <a:srgbClr val="FF9755"/>
          </a:solidFill>
          <a:ln w="12700">
            <a:solidFill>
              <a:srgbClr val="FF9755"/>
            </a:solidFill>
            <a:prstDash val="solid"/>
          </a:ln>
        </p:spPr>
      </p:sp>
      <p:sp>
        <p:nvSpPr>
          <p:cNvPr id="16" name="Shape 11"/>
          <p:cNvSpPr/>
          <p:nvPr/>
        </p:nvSpPr>
        <p:spPr>
          <a:xfrm>
            <a:off x="3306928" y="4480560"/>
            <a:ext cx="365760" cy="365760"/>
          </a:xfrm>
          <a:prstGeom prst="ellipse">
            <a:avLst/>
          </a:prstGeom>
          <a:solidFill>
            <a:srgbClr val="FF9755"/>
          </a:solidFill>
          <a:ln w="12700">
            <a:solidFill>
              <a:srgbClr val="FF9755"/>
            </a:solidFill>
            <a:prstDash val="solid"/>
          </a:ln>
        </p:spPr>
      </p:sp>
      <p:sp>
        <p:nvSpPr>
          <p:cNvPr id="17" name="Shape 12"/>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STEP 3</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4000" dirty="0">
                <a:solidFill>
                  <a:srgbClr val="3C3828"/>
                </a:solidFill>
                <a:highlight>
                  <a:srgbClr val="FFE14D"/>
                </a:highlight>
                <a:latin typeface="Georgia" pitchFamily="34" charset="0"/>
                <a:ea typeface="Georgia" pitchFamily="34" charset="-122"/>
                <a:cs typeface="Georgia" pitchFamily="34" charset="-120"/>
              </a:rPr>
              <a:t>The Introduction</a:t>
            </a:r>
            <a:endParaRPr lang="en-US" sz="40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Start at the very beginning.</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home/user/yawp/services/web-app/scripts/thesis-essay-decks/assets/icons/lightbulb.png">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home/user/yawp/services/web-app/scripts/thesis-essay-decks/assets/icons/puzzle.png">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home/user/yawp/services/web-app/scripts/thesis-essay-decks/assets/icons/thumbs.png">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INTRODUCTION PARAGRAPH</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an introduction is for</a:t>
            </a:r>
            <a:endParaRPr lang="en-US" sz="36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home/user/yawp/services/web-app/scripts/thesis-essay-decks/assets/icons/thumbs.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3200" dirty="0">
                <a:solidFill>
                  <a:srgbClr val="3C3828"/>
                </a:solidFill>
                <a:latin typeface="Georgia" pitchFamily="34" charset="0"/>
                <a:ea typeface="Georgia" pitchFamily="34" charset="-122"/>
                <a:cs typeface="Georgia" pitchFamily="34" charset="-120"/>
              </a:rPr>
              <a:t>Your introduction’s function is to </a:t>
            </a:r>
            <a:pPr indent="0" marL="0">
              <a:lnSpc>
                <a:spcPct val="115000"/>
              </a:lnSpc>
              <a:buNone/>
            </a:pPr>
            <a:r>
              <a:rPr lang="en-US" sz="3200" dirty="0">
                <a:solidFill>
                  <a:srgbClr val="3C3828"/>
                </a:solidFill>
                <a:highlight>
                  <a:srgbClr val="FFE14D"/>
                </a:highlight>
                <a:latin typeface="Georgia" pitchFamily="34" charset="0"/>
                <a:ea typeface="Georgia" pitchFamily="34" charset="-122"/>
                <a:cs typeface="Georgia" pitchFamily="34" charset="-120"/>
              </a:rPr>
              <a:t>welcome your reader</a:t>
            </a:r>
            <a:pPr indent="0" marL="0">
              <a:lnSpc>
                <a:spcPct val="115000"/>
              </a:lnSpc>
              <a:buNone/>
            </a:pPr>
            <a:r>
              <a:rPr lang="en-US" sz="3200" dirty="0">
                <a:solidFill>
                  <a:srgbClr val="3C3828"/>
                </a:solidFill>
                <a:latin typeface="Georgia" pitchFamily="34" charset="0"/>
                <a:ea typeface="Georgia" pitchFamily="34" charset="-122"/>
                <a:cs typeface="Georgia" pitchFamily="34" charset="-120"/>
              </a:rPr>
              <a:t> into your discussion and to </a:t>
            </a:r>
            <a:pPr indent="0" marL="0">
              <a:lnSpc>
                <a:spcPct val="115000"/>
              </a:lnSpc>
              <a:buNone/>
            </a:pPr>
            <a:r>
              <a:rPr lang="en-US" sz="3200" dirty="0">
                <a:solidFill>
                  <a:srgbClr val="3C3828"/>
                </a:solidFill>
                <a:highlight>
                  <a:srgbClr val="FFE14D"/>
                </a:highlight>
                <a:latin typeface="Georgia" pitchFamily="34" charset="0"/>
                <a:ea typeface="Georgia" pitchFamily="34" charset="-122"/>
                <a:cs typeface="Georgia" pitchFamily="34" charset="-120"/>
              </a:rPr>
              <a:t>prepare them to understand your thesis statement.</a:t>
            </a:r>
            <a:endParaRPr lang="en-US" sz="3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CHOOSE ONE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Different introduction styles</a:t>
            </a:r>
            <a:endParaRPr lang="en-US" sz="36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home/user/yawp/services/web-app/scripts/thesis-essay-decks/assets/icons/pencil.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65960"/>
            <a:ext cx="2464994" cy="3749040"/>
          </a:xfrm>
          <a:prstGeom prst="roundRect">
            <a:avLst>
              <a:gd name="adj" fmla="val 519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65960"/>
            <a:ext cx="2208962" cy="91440"/>
          </a:xfrm>
          <a:prstGeom prst="rect">
            <a:avLst/>
          </a:prstGeom>
          <a:solidFill>
            <a:srgbClr val="FFB600"/>
          </a:solidFill>
          <a:ln w="12700">
            <a:solidFill>
              <a:srgbClr val="FFB600"/>
            </a:solidFill>
            <a:prstDash val="solid"/>
          </a:ln>
        </p:spPr>
      </p:sp>
      <p:sp>
        <p:nvSpPr>
          <p:cNvPr id="10" name="Shape 7"/>
          <p:cNvSpPr/>
          <p:nvPr/>
        </p:nvSpPr>
        <p:spPr>
          <a:xfrm>
            <a:off x="1005840" y="2331720"/>
            <a:ext cx="731520" cy="731520"/>
          </a:xfrm>
          <a:prstGeom prst="ellipse">
            <a:avLst/>
          </a:prstGeom>
          <a:solidFill>
            <a:srgbClr val="FFB600"/>
          </a:solidFill>
          <a:ln w="12700">
            <a:solidFill>
              <a:srgbClr val="FFB600"/>
            </a:solidFill>
            <a:prstDash val="solid"/>
          </a:ln>
        </p:spPr>
      </p:sp>
      <p:sp>
        <p:nvSpPr>
          <p:cNvPr id="11" name="Text 8"/>
          <p:cNvSpPr/>
          <p:nvPr/>
        </p:nvSpPr>
        <p:spPr>
          <a:xfrm>
            <a:off x="1005840"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2" name="Text 9"/>
          <p:cNvSpPr/>
          <p:nvPr/>
        </p:nvSpPr>
        <p:spPr>
          <a:xfrm>
            <a:off x="1005840" y="3246120"/>
            <a:ext cx="1824914" cy="2286000"/>
          </a:xfrm>
          <a:prstGeom prst="rect">
            <a:avLst/>
          </a:prstGeom>
          <a:noFill/>
          <a:ln/>
        </p:spPr>
        <p:txBody>
          <a:bodyPr wrap="square" lIns="0" tIns="0" rIns="0" bIns="0" rtlCol="0" anchor="t"/>
          <a:lstStyle/>
          <a:p>
            <a:pPr indent="0" marL="0">
              <a:buNone/>
            </a:pPr>
            <a:r>
              <a:rPr lang="en-US" sz="2200" dirty="0">
                <a:solidFill>
                  <a:srgbClr val="3C3828"/>
                </a:solidFill>
                <a:latin typeface="Calibri" pitchFamily="34" charset="0"/>
                <a:ea typeface="Calibri" pitchFamily="34" charset="-122"/>
                <a:cs typeface="Calibri" pitchFamily="34" charset="-120"/>
              </a:rPr>
              <a:t>Story or example that illustrates your topic</a:t>
            </a:r>
            <a:endParaRPr lang="en-US" sz="2200" dirty="0"/>
          </a:p>
        </p:txBody>
      </p:sp>
      <p:sp>
        <p:nvSpPr>
          <p:cNvPr id="13" name="Shape 10"/>
          <p:cNvSpPr/>
          <p:nvPr/>
        </p:nvSpPr>
        <p:spPr>
          <a:xfrm>
            <a:off x="3470834" y="1965960"/>
            <a:ext cx="2464994" cy="3749040"/>
          </a:xfrm>
          <a:prstGeom prst="roundRect">
            <a:avLst>
              <a:gd name="adj" fmla="val 519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3598850" y="1965960"/>
            <a:ext cx="2208962" cy="91440"/>
          </a:xfrm>
          <a:prstGeom prst="rect">
            <a:avLst/>
          </a:prstGeom>
          <a:solidFill>
            <a:srgbClr val="FC4540"/>
          </a:solidFill>
          <a:ln w="12700">
            <a:solidFill>
              <a:srgbClr val="FC4540"/>
            </a:solidFill>
            <a:prstDash val="solid"/>
          </a:ln>
        </p:spPr>
      </p:sp>
      <p:sp>
        <p:nvSpPr>
          <p:cNvPr id="15" name="Shape 12"/>
          <p:cNvSpPr/>
          <p:nvPr/>
        </p:nvSpPr>
        <p:spPr>
          <a:xfrm>
            <a:off x="3790874" y="2331720"/>
            <a:ext cx="731520" cy="731520"/>
          </a:xfrm>
          <a:prstGeom prst="ellipse">
            <a:avLst/>
          </a:prstGeom>
          <a:solidFill>
            <a:srgbClr val="FC4540"/>
          </a:solidFill>
          <a:ln w="12700">
            <a:solidFill>
              <a:srgbClr val="FC4540"/>
            </a:solidFill>
            <a:prstDash val="solid"/>
          </a:ln>
        </p:spPr>
      </p:sp>
      <p:sp>
        <p:nvSpPr>
          <p:cNvPr id="16" name="Text 13"/>
          <p:cNvSpPr/>
          <p:nvPr/>
        </p:nvSpPr>
        <p:spPr>
          <a:xfrm>
            <a:off x="3790874"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7" name="Text 14"/>
          <p:cNvSpPr/>
          <p:nvPr/>
        </p:nvSpPr>
        <p:spPr>
          <a:xfrm>
            <a:off x="3790874" y="3246120"/>
            <a:ext cx="1824914" cy="2286000"/>
          </a:xfrm>
          <a:prstGeom prst="rect">
            <a:avLst/>
          </a:prstGeom>
          <a:noFill/>
          <a:ln/>
        </p:spPr>
        <p:txBody>
          <a:bodyPr wrap="square" lIns="0" tIns="0" rIns="0" bIns="0" rtlCol="0" anchor="t"/>
          <a:lstStyle/>
          <a:p>
            <a:pPr indent="0" marL="0">
              <a:buNone/>
            </a:pPr>
            <a:r>
              <a:rPr lang="en-US" sz="2200" dirty="0">
                <a:solidFill>
                  <a:srgbClr val="3C3828"/>
                </a:solidFill>
                <a:latin typeface="Calibri" pitchFamily="34" charset="0"/>
                <a:ea typeface="Calibri" pitchFamily="34" charset="-122"/>
                <a:cs typeface="Calibri" pitchFamily="34" charset="-120"/>
              </a:rPr>
              <a:t>Quotation</a:t>
            </a:r>
            <a:endParaRPr lang="en-US" sz="2200" dirty="0"/>
          </a:p>
        </p:txBody>
      </p:sp>
      <p:sp>
        <p:nvSpPr>
          <p:cNvPr id="18" name="Shape 15"/>
          <p:cNvSpPr/>
          <p:nvPr/>
        </p:nvSpPr>
        <p:spPr>
          <a:xfrm>
            <a:off x="6255868" y="1965960"/>
            <a:ext cx="2464994" cy="3749040"/>
          </a:xfrm>
          <a:prstGeom prst="roundRect">
            <a:avLst>
              <a:gd name="adj" fmla="val 519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6383884" y="1965960"/>
            <a:ext cx="2208962" cy="91440"/>
          </a:xfrm>
          <a:prstGeom prst="rect">
            <a:avLst/>
          </a:prstGeom>
          <a:solidFill>
            <a:srgbClr val="FF9755"/>
          </a:solidFill>
          <a:ln w="12700">
            <a:solidFill>
              <a:srgbClr val="FF9755"/>
            </a:solidFill>
            <a:prstDash val="solid"/>
          </a:ln>
        </p:spPr>
      </p:sp>
      <p:sp>
        <p:nvSpPr>
          <p:cNvPr id="20" name="Shape 17"/>
          <p:cNvSpPr/>
          <p:nvPr/>
        </p:nvSpPr>
        <p:spPr>
          <a:xfrm>
            <a:off x="6575908" y="2331720"/>
            <a:ext cx="731520" cy="731520"/>
          </a:xfrm>
          <a:prstGeom prst="ellipse">
            <a:avLst/>
          </a:prstGeom>
          <a:solidFill>
            <a:srgbClr val="FF9755"/>
          </a:solidFill>
          <a:ln w="12700">
            <a:solidFill>
              <a:srgbClr val="FF9755"/>
            </a:solidFill>
            <a:prstDash val="solid"/>
          </a:ln>
        </p:spPr>
      </p:sp>
      <p:sp>
        <p:nvSpPr>
          <p:cNvPr id="21" name="Text 18"/>
          <p:cNvSpPr/>
          <p:nvPr/>
        </p:nvSpPr>
        <p:spPr>
          <a:xfrm>
            <a:off x="6575908"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2" name="Text 19"/>
          <p:cNvSpPr/>
          <p:nvPr/>
        </p:nvSpPr>
        <p:spPr>
          <a:xfrm>
            <a:off x="6575908" y="3246120"/>
            <a:ext cx="1824914" cy="2286000"/>
          </a:xfrm>
          <a:prstGeom prst="rect">
            <a:avLst/>
          </a:prstGeom>
          <a:noFill/>
          <a:ln/>
        </p:spPr>
        <p:txBody>
          <a:bodyPr wrap="square" lIns="0" tIns="0" rIns="0" bIns="0" rtlCol="0" anchor="t"/>
          <a:lstStyle/>
          <a:p>
            <a:pPr indent="0" marL="0">
              <a:buNone/>
            </a:pPr>
            <a:r>
              <a:rPr lang="en-US" sz="2200" dirty="0">
                <a:solidFill>
                  <a:srgbClr val="3C3828"/>
                </a:solidFill>
                <a:latin typeface="Calibri" pitchFamily="34" charset="0"/>
                <a:ea typeface="Calibri" pitchFamily="34" charset="-122"/>
                <a:cs typeface="Calibri" pitchFamily="34" charset="-120"/>
              </a:rPr>
              <a:t>Rhetorical question</a:t>
            </a:r>
            <a:endParaRPr lang="en-US" sz="2200" dirty="0"/>
          </a:p>
        </p:txBody>
      </p:sp>
      <p:sp>
        <p:nvSpPr>
          <p:cNvPr id="23" name="Shape 20"/>
          <p:cNvSpPr/>
          <p:nvPr/>
        </p:nvSpPr>
        <p:spPr>
          <a:xfrm>
            <a:off x="9040901" y="1965960"/>
            <a:ext cx="2464994" cy="3749040"/>
          </a:xfrm>
          <a:prstGeom prst="roundRect">
            <a:avLst>
              <a:gd name="adj" fmla="val 519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4" name="Shape 21"/>
          <p:cNvSpPr/>
          <p:nvPr/>
        </p:nvSpPr>
        <p:spPr>
          <a:xfrm>
            <a:off x="9168917" y="1965960"/>
            <a:ext cx="2208962" cy="91440"/>
          </a:xfrm>
          <a:prstGeom prst="rect">
            <a:avLst/>
          </a:prstGeom>
          <a:solidFill>
            <a:srgbClr val="FC4067"/>
          </a:solidFill>
          <a:ln w="12700">
            <a:solidFill>
              <a:srgbClr val="FC4067"/>
            </a:solidFill>
            <a:prstDash val="solid"/>
          </a:ln>
        </p:spPr>
      </p:sp>
      <p:sp>
        <p:nvSpPr>
          <p:cNvPr id="25" name="Shape 22"/>
          <p:cNvSpPr/>
          <p:nvPr/>
        </p:nvSpPr>
        <p:spPr>
          <a:xfrm>
            <a:off x="9360941" y="2331720"/>
            <a:ext cx="731520" cy="731520"/>
          </a:xfrm>
          <a:prstGeom prst="ellipse">
            <a:avLst/>
          </a:prstGeom>
          <a:solidFill>
            <a:srgbClr val="FC4067"/>
          </a:solidFill>
          <a:ln w="12700">
            <a:solidFill>
              <a:srgbClr val="FC4067"/>
            </a:solidFill>
            <a:prstDash val="solid"/>
          </a:ln>
        </p:spPr>
      </p:sp>
      <p:sp>
        <p:nvSpPr>
          <p:cNvPr id="26" name="Text 23"/>
          <p:cNvSpPr/>
          <p:nvPr/>
        </p:nvSpPr>
        <p:spPr>
          <a:xfrm>
            <a:off x="9360941"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4</a:t>
            </a:r>
            <a:endParaRPr lang="en-US" sz="3000" dirty="0"/>
          </a:p>
        </p:txBody>
      </p:sp>
      <p:sp>
        <p:nvSpPr>
          <p:cNvPr id="27" name="Text 24"/>
          <p:cNvSpPr/>
          <p:nvPr/>
        </p:nvSpPr>
        <p:spPr>
          <a:xfrm>
            <a:off x="9360941" y="3246120"/>
            <a:ext cx="1824914" cy="2286000"/>
          </a:xfrm>
          <a:prstGeom prst="rect">
            <a:avLst/>
          </a:prstGeom>
          <a:noFill/>
          <a:ln/>
        </p:spPr>
        <p:txBody>
          <a:bodyPr wrap="square" lIns="0" tIns="0" rIns="0" bIns="0" rtlCol="0" anchor="t"/>
          <a:lstStyle/>
          <a:p>
            <a:pPr indent="0" marL="0">
              <a:buNone/>
            </a:pPr>
            <a:r>
              <a:rPr lang="en-US" sz="2200" dirty="0">
                <a:solidFill>
                  <a:srgbClr val="3C3828"/>
                </a:solidFill>
                <a:latin typeface="Calibri" pitchFamily="34" charset="0"/>
                <a:ea typeface="Calibri" pitchFamily="34" charset="-122"/>
                <a:cs typeface="Calibri" pitchFamily="34" charset="-120"/>
              </a:rPr>
              <a:t>Definition</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STYLE 1</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Illustrating story or scene</a:t>
            </a:r>
            <a:endParaRPr lang="en-US" sz="3600" dirty="0"/>
          </a:p>
        </p:txBody>
      </p:sp>
      <p:sp>
        <p:nvSpPr>
          <p:cNvPr id="4" name="Shape 2"/>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20240"/>
            <a:ext cx="10564063" cy="91440"/>
          </a:xfrm>
          <a:prstGeom prst="rect">
            <a:avLst/>
          </a:prstGeom>
          <a:solidFill>
            <a:srgbClr val="02BDC7"/>
          </a:solidFill>
          <a:ln w="12700">
            <a:solidFill>
              <a:srgbClr val="02BDC7"/>
            </a:solidFill>
            <a:prstDash val="solid"/>
          </a:ln>
        </p:spPr>
      </p:sp>
      <p:sp>
        <p:nvSpPr>
          <p:cNvPr id="6" name="Text 4"/>
          <p:cNvSpPr/>
          <p:nvPr/>
        </p:nvSpPr>
        <p:spPr>
          <a:xfrm>
            <a:off x="1143000" y="2194560"/>
            <a:ext cx="9905695" cy="27432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EXAMPLE INTRODUCTION · THE THESIS IS IN ITALICS</a:t>
            </a:r>
            <a:endParaRPr lang="en-US" sz="1200" dirty="0"/>
          </a:p>
        </p:txBody>
      </p:sp>
      <p:sp>
        <p:nvSpPr>
          <p:cNvPr id="7" name="Text 5"/>
          <p:cNvSpPr/>
          <p:nvPr/>
        </p:nvSpPr>
        <p:spPr>
          <a:xfrm>
            <a:off x="1143000" y="2560320"/>
            <a:ext cx="9905695" cy="3291840"/>
          </a:xfrm>
          <a:prstGeom prst="rect">
            <a:avLst/>
          </a:prstGeom>
          <a:noFill/>
          <a:ln/>
        </p:spPr>
        <p:txBody>
          <a:bodyPr wrap="square" lIns="0" tIns="0" rIns="0" bIns="0" rtlCol="0" anchor="t"/>
          <a:lstStyle/>
          <a:p>
            <a:pPr indent="0" marL="0">
              <a:lnSpc>
                <a:spcPct val="120000"/>
              </a:lnSpc>
              <a:buNone/>
            </a:pPr>
            <a:r>
              <a:rPr lang="en-US" sz="1500" dirty="0">
                <a:solidFill>
                  <a:srgbClr val="3C3828"/>
                </a:solidFill>
                <a:latin typeface="Georgia" pitchFamily="34" charset="0"/>
                <a:ea typeface="Georgia" pitchFamily="34" charset="-122"/>
                <a:cs typeface="Georgia" pitchFamily="34" charset="-120"/>
              </a:rPr>
              <a:t>Ms. Rodriguez watches as 28 ninth graders stare blankly at their worksheets, the only sound the fluorescent lights humming overhead. She had once dreamed of inspiring young minds, but now finds herself mechanically walking through the same lesson plan she's used for five years. In the back row, students doodle in their notebooks and struggle to stay awake. Throughout the school, teachers click through PowerPoint slides and tell students to stop talking, while kids daydream and stare at the clock. This scene plays out in classrooms across the country, where both educators and students have lost the spark that should define learning. This may be because schools have lost a sense of what really works in terms of motivating students to learn. </a:t>
            </a:r>
            <a:pPr indent="0" marL="0">
              <a:lnSpc>
                <a:spcPct val="120000"/>
              </a:lnSpc>
              <a:buNone/>
            </a:pPr>
            <a:r>
              <a:rPr lang="en-US" sz="1500" i="1" dirty="0">
                <a:solidFill>
                  <a:srgbClr val="3C3828"/>
                </a:solidFill>
                <a:latin typeface="Georgia" pitchFamily="34" charset="0"/>
                <a:ea typeface="Georgia" pitchFamily="34" charset="-122"/>
                <a:cs typeface="Georgia" pitchFamily="34" charset="-120"/>
              </a:rPr>
              <a:t>When schools fail to prioritize creativity in teaching, school becomes boring for both students and teachers, resulting in a lack of shared motivation, excitement, and accomplishment.</a:t>
            </a:r>
            <a:endParaRPr lang="en-US" sz="15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STYLE 2</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Rhetorical question</a:t>
            </a:r>
            <a:endParaRPr lang="en-US" sz="3600" dirty="0"/>
          </a:p>
        </p:txBody>
      </p:sp>
      <p:sp>
        <p:nvSpPr>
          <p:cNvPr id="4" name="Shape 2"/>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20240"/>
            <a:ext cx="10564063" cy="91440"/>
          </a:xfrm>
          <a:prstGeom prst="rect">
            <a:avLst/>
          </a:prstGeom>
          <a:solidFill>
            <a:srgbClr val="02BDC7"/>
          </a:solidFill>
          <a:ln w="12700">
            <a:solidFill>
              <a:srgbClr val="02BDC7"/>
            </a:solidFill>
            <a:prstDash val="solid"/>
          </a:ln>
        </p:spPr>
      </p:sp>
      <p:sp>
        <p:nvSpPr>
          <p:cNvPr id="6" name="Text 4"/>
          <p:cNvSpPr/>
          <p:nvPr/>
        </p:nvSpPr>
        <p:spPr>
          <a:xfrm>
            <a:off x="1143000" y="2194560"/>
            <a:ext cx="9905695" cy="27432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EXAMPLE INTRODUCTION · THE THESIS IS IN ITALICS</a:t>
            </a:r>
            <a:endParaRPr lang="en-US" sz="1200" dirty="0"/>
          </a:p>
        </p:txBody>
      </p:sp>
      <p:sp>
        <p:nvSpPr>
          <p:cNvPr id="7" name="Text 5"/>
          <p:cNvSpPr/>
          <p:nvPr/>
        </p:nvSpPr>
        <p:spPr>
          <a:xfrm>
            <a:off x="1143000" y="2560320"/>
            <a:ext cx="9905695" cy="3291840"/>
          </a:xfrm>
          <a:prstGeom prst="rect">
            <a:avLst/>
          </a:prstGeom>
          <a:noFill/>
          <a:ln/>
        </p:spPr>
        <p:txBody>
          <a:bodyPr wrap="square" lIns="0" tIns="0" rIns="0" bIns="0" rtlCol="0" anchor="t"/>
          <a:lstStyle/>
          <a:p>
            <a:pPr indent="0" marL="0">
              <a:lnSpc>
                <a:spcPct val="120000"/>
              </a:lnSpc>
              <a:buNone/>
            </a:pPr>
            <a:r>
              <a:rPr lang="en-US" sz="1700" dirty="0">
                <a:solidFill>
                  <a:srgbClr val="3C3828"/>
                </a:solidFill>
                <a:latin typeface="Georgia" pitchFamily="34" charset="0"/>
                <a:ea typeface="Georgia" pitchFamily="34" charset="-122"/>
                <a:cs typeface="Georgia" pitchFamily="34" charset="-120"/>
              </a:rPr>
              <a:t>Do you remember trying to learn how to ride a bike? It was exciting, blood rushing, and challenging, but worth it. When you got going but fell, you got back up and went a little further each time. You had more motivation to keep going because it was exciting. Schools today seem to lack this sense of excitement. Students have zero motivation to keep going because there is no excitement from the teachers and no sense of an end goal for the students. Shouldn't the process of learning be inspiring and exciting for everyone? </a:t>
            </a:r>
            <a:pPr indent="0" marL="0">
              <a:lnSpc>
                <a:spcPct val="120000"/>
              </a:lnSpc>
              <a:buNone/>
            </a:pPr>
            <a:r>
              <a:rPr lang="en-US" sz="1700" i="1" dirty="0">
                <a:solidFill>
                  <a:srgbClr val="3C3828"/>
                </a:solidFill>
                <a:latin typeface="Georgia" pitchFamily="34" charset="0"/>
                <a:ea typeface="Georgia" pitchFamily="34" charset="-122"/>
                <a:cs typeface="Georgia" pitchFamily="34" charset="-120"/>
              </a:rPr>
              <a:t>When schools fail to prioritize creativity in teaching, school becomes boring for both students and teachers, resulting in a lack of shared motivation, excitement, and accomplishment.</a:t>
            </a:r>
            <a:endParaRPr lang="en-US" sz="17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STYLE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Quotation or fact</a:t>
            </a:r>
            <a:endParaRPr lang="en-US" sz="3600" dirty="0"/>
          </a:p>
        </p:txBody>
      </p:sp>
      <p:sp>
        <p:nvSpPr>
          <p:cNvPr id="4" name="Shape 2"/>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20240"/>
            <a:ext cx="10564063" cy="91440"/>
          </a:xfrm>
          <a:prstGeom prst="rect">
            <a:avLst/>
          </a:prstGeom>
          <a:solidFill>
            <a:srgbClr val="02BDC7"/>
          </a:solidFill>
          <a:ln w="12700">
            <a:solidFill>
              <a:srgbClr val="02BDC7"/>
            </a:solidFill>
            <a:prstDash val="solid"/>
          </a:ln>
        </p:spPr>
      </p:sp>
      <p:sp>
        <p:nvSpPr>
          <p:cNvPr id="6" name="Text 4"/>
          <p:cNvSpPr/>
          <p:nvPr/>
        </p:nvSpPr>
        <p:spPr>
          <a:xfrm>
            <a:off x="1143000" y="2194560"/>
            <a:ext cx="9905695" cy="27432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EXAMPLE INTRODUCTION · THE THESIS IS IN ITALICS</a:t>
            </a:r>
            <a:endParaRPr lang="en-US" sz="1200" dirty="0"/>
          </a:p>
        </p:txBody>
      </p:sp>
      <p:sp>
        <p:nvSpPr>
          <p:cNvPr id="7" name="Text 5"/>
          <p:cNvSpPr/>
          <p:nvPr/>
        </p:nvSpPr>
        <p:spPr>
          <a:xfrm>
            <a:off x="1143000" y="2560320"/>
            <a:ext cx="9905695" cy="3291840"/>
          </a:xfrm>
          <a:prstGeom prst="rect">
            <a:avLst/>
          </a:prstGeom>
          <a:noFill/>
          <a:ln/>
        </p:spPr>
        <p:txBody>
          <a:bodyPr wrap="square" lIns="0" tIns="0" rIns="0" bIns="0" rtlCol="0" anchor="t"/>
          <a:lstStyle/>
          <a:p>
            <a:pPr indent="0" marL="0">
              <a:lnSpc>
                <a:spcPct val="120000"/>
              </a:lnSpc>
              <a:buNone/>
            </a:pPr>
            <a:r>
              <a:rPr lang="en-US" sz="1700" dirty="0">
                <a:solidFill>
                  <a:srgbClr val="3C3828"/>
                </a:solidFill>
                <a:latin typeface="Georgia" pitchFamily="34" charset="0"/>
                <a:ea typeface="Georgia" pitchFamily="34" charset="-122"/>
                <a:cs typeface="Georgia" pitchFamily="34" charset="-120"/>
              </a:rPr>
              <a:t>Albert Einstein once said, “It is the supreme art of the teacher to awaken joy in creative expression and knowledge.” But walk into most American classrooms today and you'll find the opposite: students mechanically filling out worksheets while teachers follow rigid scripts designed to meet testing requirements. The joy Einstein spoke of has been replaced by compliance and conformity. Both students and educators go through the motions of learning without the spark of curiosity or discovery that should drive education. </a:t>
            </a:r>
            <a:pPr indent="0" marL="0">
              <a:lnSpc>
                <a:spcPct val="120000"/>
              </a:lnSpc>
              <a:buNone/>
            </a:pPr>
            <a:r>
              <a:rPr lang="en-US" sz="1700" i="1" dirty="0">
                <a:solidFill>
                  <a:srgbClr val="3C3828"/>
                </a:solidFill>
                <a:latin typeface="Georgia" pitchFamily="34" charset="0"/>
                <a:ea typeface="Georgia" pitchFamily="34" charset="-122"/>
                <a:cs typeface="Georgia" pitchFamily="34" charset="-120"/>
              </a:rPr>
              <a:t>When schools fail to prioritize creativity in teaching, school becomes boring for both students and teachers, resulting in a lack of shared motivation, excitement, and accomplishment.</a:t>
            </a:r>
            <a:endParaRPr lang="en-US" sz="17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STYLE 4</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Definition</a:t>
            </a:r>
            <a:endParaRPr lang="en-US" sz="3600" dirty="0"/>
          </a:p>
        </p:txBody>
      </p:sp>
      <p:sp>
        <p:nvSpPr>
          <p:cNvPr id="4" name="Shape 2"/>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20240"/>
            <a:ext cx="10564063" cy="91440"/>
          </a:xfrm>
          <a:prstGeom prst="rect">
            <a:avLst/>
          </a:prstGeom>
          <a:solidFill>
            <a:srgbClr val="02BDC7"/>
          </a:solidFill>
          <a:ln w="12700">
            <a:solidFill>
              <a:srgbClr val="02BDC7"/>
            </a:solidFill>
            <a:prstDash val="solid"/>
          </a:ln>
        </p:spPr>
      </p:sp>
      <p:sp>
        <p:nvSpPr>
          <p:cNvPr id="6" name="Text 4"/>
          <p:cNvSpPr/>
          <p:nvPr/>
        </p:nvSpPr>
        <p:spPr>
          <a:xfrm>
            <a:off x="1143000" y="2194560"/>
            <a:ext cx="9905695" cy="27432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EXAMPLE INTRODUCTION · THE THESIS IS IN ITALICS</a:t>
            </a:r>
            <a:endParaRPr lang="en-US" sz="1200" dirty="0"/>
          </a:p>
        </p:txBody>
      </p:sp>
      <p:sp>
        <p:nvSpPr>
          <p:cNvPr id="7" name="Text 5"/>
          <p:cNvSpPr/>
          <p:nvPr/>
        </p:nvSpPr>
        <p:spPr>
          <a:xfrm>
            <a:off x="1143000" y="2560320"/>
            <a:ext cx="9905695" cy="3291840"/>
          </a:xfrm>
          <a:prstGeom prst="rect">
            <a:avLst/>
          </a:prstGeom>
          <a:noFill/>
          <a:ln/>
        </p:spPr>
        <p:txBody>
          <a:bodyPr wrap="square" lIns="0" tIns="0" rIns="0" bIns="0" rtlCol="0" anchor="t"/>
          <a:lstStyle/>
          <a:p>
            <a:pPr indent="0" marL="0">
              <a:lnSpc>
                <a:spcPct val="120000"/>
              </a:lnSpc>
              <a:buNone/>
            </a:pPr>
            <a:r>
              <a:rPr lang="en-US" sz="1500" dirty="0">
                <a:solidFill>
                  <a:srgbClr val="3C3828"/>
                </a:solidFill>
                <a:latin typeface="Georgia" pitchFamily="34" charset="0"/>
                <a:ea typeface="Georgia" pitchFamily="34" charset="-122"/>
                <a:cs typeface="Georgia" pitchFamily="34" charset="-120"/>
              </a:rPr>
              <a:t>Education, by definition, is the process of facilitating learning, or the acquisition of knowledge, skills, values, and habits. This definition suggests an active, dynamic exchange between teacher and student—a collaborative journey of discovery and growth. However, in many of today's classrooms, education has become something far more mechanical: the transfer of standardized information from textbook to test, with little regard for genuine understanding or intellectual curiosity. Students sit in rows, passively receiving information they'll quickly forget after the exam, while teachers feel constrained by rigid curricula that leave no room for innovation. This results in ineffective learning environments. </a:t>
            </a:r>
            <a:pPr indent="0" marL="0">
              <a:lnSpc>
                <a:spcPct val="120000"/>
              </a:lnSpc>
              <a:buNone/>
            </a:pPr>
            <a:r>
              <a:rPr lang="en-US" sz="1500" i="1" dirty="0">
                <a:solidFill>
                  <a:srgbClr val="3C3828"/>
                </a:solidFill>
                <a:latin typeface="Georgia" pitchFamily="34" charset="0"/>
                <a:ea typeface="Georgia" pitchFamily="34" charset="-122"/>
                <a:cs typeface="Georgia" pitchFamily="34" charset="-120"/>
              </a:rPr>
              <a:t>When schools fail to prioritize creativity in teaching, school becomes boring for both students and teachers, resulting in a lack of shared motivation, excitement, and accomplishment.</a:t>
            </a:r>
            <a:endParaRPr lang="en-US" sz="15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WRITING ACTIVITY</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Write your introduction</a:t>
            </a:r>
            <a:endParaRPr lang="en-US" sz="36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home/user/yawp/services/web-app/scripts/thesis-essay-decks/assets/icons/puzzle.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2267712"/>
            <a:ext cx="3840480" cy="420624"/>
          </a:xfrm>
          <a:prstGeom prst="roundRect">
            <a:avLst>
              <a:gd name="adj" fmla="val 50000"/>
            </a:avLst>
          </a:prstGeom>
          <a:solidFill>
            <a:srgbClr val="FF9755"/>
          </a:solidFill>
          <a:ln w="12700">
            <a:solidFill>
              <a:srgbClr val="FF9755"/>
            </a:solidFill>
            <a:prstDash val="solid"/>
          </a:ln>
        </p:spPr>
      </p:sp>
      <p:sp>
        <p:nvSpPr>
          <p:cNvPr id="11" name="Text 8"/>
          <p:cNvSpPr/>
          <p:nvPr/>
        </p:nvSpPr>
        <p:spPr>
          <a:xfrm>
            <a:off x="1097280" y="2267712"/>
            <a:ext cx="3840480" cy="420624"/>
          </a:xfrm>
          <a:prstGeom prst="rect">
            <a:avLst/>
          </a:prstGeom>
          <a:noFill/>
          <a:ln/>
        </p:spPr>
        <p:txBody>
          <a:bodyPr wrap="square" lIns="0" tIns="0" rIns="0" bIns="0" rtlCol="0" anchor="ctr"/>
          <a:lstStyle/>
          <a:p>
            <a:pPr algn="ctr" indent="0" marL="0">
              <a:buNone/>
            </a:pPr>
            <a:r>
              <a:rPr lang="en-US" sz="1200" b="1" spc="150" kern="0" dirty="0">
                <a:solidFill>
                  <a:srgbClr val="FFFEFA"/>
                </a:solidFill>
                <a:latin typeface="Consolas" pitchFamily="34" charset="0"/>
                <a:ea typeface="Consolas" pitchFamily="34" charset="-122"/>
                <a:cs typeface="Consolas" pitchFamily="34" charset="-120"/>
              </a:rPr>
              <a:t>ON YOUR DOCUMENT</a:t>
            </a:r>
            <a:endParaRPr lang="en-US" sz="1200" dirty="0"/>
          </a:p>
        </p:txBody>
      </p:sp>
      <p:sp>
        <p:nvSpPr>
          <p:cNvPr id="12" name="Text 9"/>
          <p:cNvSpPr/>
          <p:nvPr/>
        </p:nvSpPr>
        <p:spPr>
          <a:xfrm>
            <a:off x="1097280" y="2834640"/>
            <a:ext cx="9997135" cy="3063240"/>
          </a:xfrm>
          <a:prstGeom prst="rect">
            <a:avLst/>
          </a:prstGeom>
          <a:noFill/>
          <a:ln/>
        </p:spPr>
        <p:txBody>
          <a:bodyPr wrap="square" lIns="0" tIns="0" rIns="0" bIns="0" rtlCol="0" anchor="t"/>
          <a:lstStyle/>
          <a:p>
            <a:pPr indent="0" marL="0">
              <a:lnSpc>
                <a:spcPct val="120000"/>
              </a:lnSpc>
              <a:buNone/>
            </a:pPr>
            <a:r>
              <a:rPr lang="en-US" sz="1800" dirty="0">
                <a:solidFill>
                  <a:srgbClr val="3C3828"/>
                </a:solidFill>
                <a:latin typeface="Georgia" pitchFamily="34" charset="0"/>
                <a:ea typeface="Georgia" pitchFamily="34" charset="-122"/>
                <a:cs typeface="Georgia" pitchFamily="34" charset="-120"/>
              </a:rPr>
              <a:t>Choose an introduction style that speaks to you and begin your essay:</a:t>
            </a:r>
            <a:endParaRPr lang="en-US" sz="1800" dirty="0"/>
          </a:p>
          <a:p>
            <a:pPr indent="0" marL="0">
              <a:lnSpc>
                <a:spcPct val="120000"/>
              </a:lnSpc>
              <a:buNone/>
            </a:pPr>
            <a:endParaRPr lang="en-US" sz="1800" dirty="0"/>
          </a:p>
          <a:p>
            <a:pPr indent="0" marL="0">
              <a:lnSpc>
                <a:spcPct val="120000"/>
              </a:lnSpc>
              <a:buNone/>
            </a:pPr>
            <a:r>
              <a:rPr lang="en-US" sz="1800" dirty="0">
                <a:solidFill>
                  <a:srgbClr val="3C3828"/>
                </a:solidFill>
                <a:latin typeface="Georgia" pitchFamily="34" charset="0"/>
                <a:ea typeface="Georgia" pitchFamily="34" charset="-122"/>
                <a:cs typeface="Georgia" pitchFamily="34" charset="-120"/>
              </a:rPr>
              <a:t>• Story or example that illustrates your topic</a:t>
            </a:r>
            <a:endParaRPr lang="en-US" sz="1800" dirty="0"/>
          </a:p>
          <a:p>
            <a:pPr indent="0" marL="0">
              <a:lnSpc>
                <a:spcPct val="120000"/>
              </a:lnSpc>
              <a:buNone/>
            </a:pPr>
            <a:r>
              <a:rPr lang="en-US" sz="1800" dirty="0">
                <a:solidFill>
                  <a:srgbClr val="3C3828"/>
                </a:solidFill>
                <a:latin typeface="Georgia" pitchFamily="34" charset="0"/>
                <a:ea typeface="Georgia" pitchFamily="34" charset="-122"/>
                <a:cs typeface="Georgia" pitchFamily="34" charset="-120"/>
              </a:rPr>
              <a:t>• Rhetorical question</a:t>
            </a:r>
            <a:endParaRPr lang="en-US" sz="1800" dirty="0"/>
          </a:p>
          <a:p>
            <a:pPr indent="0" marL="0">
              <a:lnSpc>
                <a:spcPct val="120000"/>
              </a:lnSpc>
              <a:buNone/>
            </a:pPr>
            <a:r>
              <a:rPr lang="en-US" sz="1800" dirty="0">
                <a:solidFill>
                  <a:srgbClr val="3C3828"/>
                </a:solidFill>
                <a:latin typeface="Georgia" pitchFamily="34" charset="0"/>
                <a:ea typeface="Georgia" pitchFamily="34" charset="-122"/>
                <a:cs typeface="Georgia" pitchFamily="34" charset="-120"/>
              </a:rPr>
              <a:t>• Quotation or fact</a:t>
            </a:r>
            <a:endParaRPr lang="en-US" sz="1800" dirty="0"/>
          </a:p>
          <a:p>
            <a:pPr indent="0" marL="0">
              <a:lnSpc>
                <a:spcPct val="120000"/>
              </a:lnSpc>
              <a:buNone/>
            </a:pPr>
            <a:r>
              <a:rPr lang="en-US" sz="1800" dirty="0">
                <a:solidFill>
                  <a:srgbClr val="3C3828"/>
                </a:solidFill>
                <a:latin typeface="Georgia" pitchFamily="34" charset="0"/>
                <a:ea typeface="Georgia" pitchFamily="34" charset="-122"/>
                <a:cs typeface="Georgia" pitchFamily="34" charset="-120"/>
              </a:rPr>
              <a:t>• Definition</a:t>
            </a:r>
            <a:endParaRPr lang="en-US" sz="1800" dirty="0"/>
          </a:p>
          <a:p>
            <a:pPr indent="0" marL="0">
              <a:lnSpc>
                <a:spcPct val="120000"/>
              </a:lnSpc>
              <a:buNone/>
            </a:pPr>
            <a:endParaRPr lang="en-US" sz="1800" dirty="0"/>
          </a:p>
          <a:p>
            <a:pPr indent="0" marL="0">
              <a:lnSpc>
                <a:spcPct val="120000"/>
              </a:lnSpc>
              <a:buNone/>
            </a:pPr>
            <a:r>
              <a:rPr lang="en-US" sz="1800" dirty="0">
                <a:solidFill>
                  <a:srgbClr val="3C3828"/>
                </a:solidFill>
                <a:latin typeface="Georgia" pitchFamily="34" charset="0"/>
                <a:ea typeface="Georgia" pitchFamily="34" charset="-122"/>
                <a:cs typeface="Georgia" pitchFamily="34" charset="-120"/>
              </a:rPr>
              <a:t>Remember, the </a:t>
            </a:r>
            <a:endParaRPr lang="en-US" sz="1800" dirty="0"/>
          </a:p>
          <a:p>
            <a:pPr indent="0" marL="0">
              <a:lnSpc>
                <a:spcPct val="120000"/>
              </a:lnSpc>
              <a:buNone/>
            </a:pPr>
            <a:r>
              <a:rPr lang="en-US" sz="1800" dirty="0">
                <a:solidFill>
                  <a:srgbClr val="3C3828"/>
                </a:solidFill>
                <a:highlight>
                  <a:srgbClr val="FFE14D"/>
                </a:highlight>
                <a:latin typeface="Georgia" pitchFamily="34" charset="0"/>
                <a:ea typeface="Georgia" pitchFamily="34" charset="-122"/>
                <a:cs typeface="Georgia" pitchFamily="34" charset="-120"/>
              </a:rPr>
              <a:t>final sentence of your introduction is your thesis statement!</a:t>
            </a:r>
            <a:pPr indent="0" marL="0">
              <a:lnSpc>
                <a:spcPct val="120000"/>
              </a:lnSpc>
              <a:buNone/>
            </a:pPr>
            <a:r>
              <a:rPr lang="en-US" sz="1800" dirty="0">
                <a:solidFill>
                  <a:srgbClr val="3C3828"/>
                </a:solidFill>
                <a:latin typeface="Georgia" pitchFamily="34" charset="0"/>
                <a:ea typeface="Georgia" pitchFamily="34" charset="-122"/>
                <a:cs typeface="Georgia" pitchFamily="34" charset="-120"/>
              </a:rPr>
              <a:t> It’s already written.</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YOUR TURN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it looks like</a:t>
            </a:r>
            <a:endParaRPr lang="en-US" sz="3600" dirty="0"/>
          </a:p>
        </p:txBody>
      </p:sp>
      <p:sp>
        <p:nvSpPr>
          <p:cNvPr id="4" name="Shape 2"/>
          <p:cNvSpPr/>
          <p:nvPr/>
        </p:nvSpPr>
        <p:spPr>
          <a:xfrm>
            <a:off x="685800" y="1828800"/>
            <a:ext cx="6949440" cy="4150360"/>
          </a:xfrm>
          <a:prstGeom prst="roundRect">
            <a:avLst>
              <a:gd name="adj" fmla="val 308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home/user/yawp/services/web-app/scripts/thesis-essay-decks/assets/yawp-editor-introduction.png">    </p:cNvPr>
          <p:cNvPicPr>
            <a:picLocks noChangeAspect="1"/>
          </p:cNvPicPr>
          <p:nvPr/>
        </p:nvPicPr>
        <p:blipFill>
          <a:blip r:embed="rId1"/>
          <a:stretch>
            <a:fillRect/>
          </a:stretch>
        </p:blipFill>
        <p:spPr>
          <a:xfrm>
            <a:off x="813816" y="1956816"/>
            <a:ext cx="6693408" cy="3894328"/>
          </a:xfrm>
          <a:prstGeom prst="rect">
            <a:avLst/>
          </a:prstGeom>
        </p:spPr>
      </p:pic>
      <p:sp>
        <p:nvSpPr>
          <p:cNvPr id="6" name="Shape 3"/>
          <p:cNvSpPr/>
          <p:nvPr/>
        </p:nvSpPr>
        <p:spPr>
          <a:xfrm>
            <a:off x="8183880" y="2505456"/>
            <a:ext cx="292608" cy="292608"/>
          </a:xfrm>
          <a:prstGeom prst="ellipse">
            <a:avLst/>
          </a:prstGeom>
          <a:solidFill>
            <a:srgbClr val="FFB600"/>
          </a:solidFill>
          <a:ln w="12700">
            <a:solidFill>
              <a:srgbClr val="FFB600"/>
            </a:solidFill>
            <a:prstDash val="solid"/>
          </a:ln>
        </p:spPr>
      </p:sp>
      <p:sp>
        <p:nvSpPr>
          <p:cNvPr id="7" name="Text 4"/>
          <p:cNvSpPr/>
          <p:nvPr/>
        </p:nvSpPr>
        <p:spPr>
          <a:xfrm>
            <a:off x="8659368" y="21945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The Tutor says </a:t>
            </a:r>
            <a:pPr indent="0" marL="0">
              <a:buNone/>
            </a:pPr>
            <a:r>
              <a:rPr lang="en-US" sz="2000" dirty="0">
                <a:solidFill>
                  <a:srgbClr val="3C3828"/>
                </a:solidFill>
                <a:highlight>
                  <a:srgbClr val="FFE14D"/>
                </a:highlight>
                <a:latin typeface="Calibri" pitchFamily="34" charset="0"/>
                <a:ea typeface="Calibri" pitchFamily="34" charset="-122"/>
                <a:cs typeface="Calibri" pitchFamily="34" charset="-120"/>
              </a:rPr>
              <a:t>Introduction</a:t>
            </a:r>
            <a:endParaRPr lang="en-US" sz="2000" dirty="0"/>
          </a:p>
        </p:txBody>
      </p:sp>
      <p:sp>
        <p:nvSpPr>
          <p:cNvPr id="8" name="Shape 5"/>
          <p:cNvSpPr/>
          <p:nvPr/>
        </p:nvSpPr>
        <p:spPr>
          <a:xfrm>
            <a:off x="8183880" y="3419856"/>
            <a:ext cx="292608" cy="292608"/>
          </a:xfrm>
          <a:prstGeom prst="ellipse">
            <a:avLst/>
          </a:prstGeom>
          <a:solidFill>
            <a:srgbClr val="FC4540"/>
          </a:solidFill>
          <a:ln w="12700">
            <a:solidFill>
              <a:srgbClr val="FC4540"/>
            </a:solidFill>
            <a:prstDash val="solid"/>
          </a:ln>
        </p:spPr>
      </p:sp>
      <p:sp>
        <p:nvSpPr>
          <p:cNvPr id="9" name="Text 6"/>
          <p:cNvSpPr/>
          <p:nvPr/>
        </p:nvSpPr>
        <p:spPr>
          <a:xfrm>
            <a:off x="8659368" y="31089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A heading for your introduction</a:t>
            </a:r>
            <a:endParaRPr lang="en-US" sz="2000" dirty="0"/>
          </a:p>
        </p:txBody>
      </p:sp>
      <p:sp>
        <p:nvSpPr>
          <p:cNvPr id="10" name="Shape 7"/>
          <p:cNvSpPr/>
          <p:nvPr/>
        </p:nvSpPr>
        <p:spPr>
          <a:xfrm>
            <a:off x="8183880" y="4334256"/>
            <a:ext cx="292608" cy="292608"/>
          </a:xfrm>
          <a:prstGeom prst="ellipse">
            <a:avLst/>
          </a:prstGeom>
          <a:solidFill>
            <a:srgbClr val="FF9755"/>
          </a:solidFill>
          <a:ln w="12700">
            <a:solidFill>
              <a:srgbClr val="FF9755"/>
            </a:solidFill>
            <a:prstDash val="solid"/>
          </a:ln>
        </p:spPr>
      </p:sp>
      <p:sp>
        <p:nvSpPr>
          <p:cNvPr id="11" name="Text 8"/>
          <p:cNvSpPr/>
          <p:nvPr/>
        </p:nvSpPr>
        <p:spPr>
          <a:xfrm>
            <a:off x="8659368" y="40233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Thesis already at the bottom</a:t>
            </a:r>
            <a:endParaRPr lang="en-US" sz="2000" dirty="0"/>
          </a:p>
        </p:txBody>
      </p:sp>
      <p:sp>
        <p:nvSpPr>
          <p:cNvPr id="12" name="Shape 9"/>
          <p:cNvSpPr/>
          <p:nvPr/>
        </p:nvSpPr>
        <p:spPr>
          <a:xfrm>
            <a:off x="8183880" y="5248656"/>
            <a:ext cx="292608" cy="292608"/>
          </a:xfrm>
          <a:prstGeom prst="ellipse">
            <a:avLst/>
          </a:prstGeom>
          <a:solidFill>
            <a:srgbClr val="FC4067"/>
          </a:solidFill>
          <a:ln w="12700">
            <a:solidFill>
              <a:srgbClr val="FC4067"/>
            </a:solidFill>
            <a:prstDash val="solid"/>
          </a:ln>
        </p:spPr>
      </p:sp>
      <p:sp>
        <p:nvSpPr>
          <p:cNvPr id="13" name="Text 10"/>
          <p:cNvSpPr/>
          <p:nvPr/>
        </p:nvSpPr>
        <p:spPr>
          <a:xfrm>
            <a:off x="8659368" y="49377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Written some? Ask the Tutor for feedback</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2BDC7"/>
        </a:solidFill>
      </p:bgPr>
    </p:bg>
    <p:spTree>
      <p:nvGrpSpPr>
        <p:cNvPr id="1" name=""/>
        <p:cNvGrpSpPr/>
        <p:nvPr/>
      </p:nvGrpSpPr>
      <p:grpSpPr>
        <a:xfrm>
          <a:off x="0" y="0"/>
          <a:ext cx="0" cy="0"/>
          <a:chOff x="0" y="0"/>
          <a:chExt cx="0" cy="0"/>
        </a:xfrm>
      </p:grpSpPr>
      <p:sp>
        <p:nvSpPr>
          <p:cNvPr id="2" name="Shape 0"/>
          <p:cNvSpPr/>
          <p:nvPr/>
        </p:nvSpPr>
        <p:spPr>
          <a:xfrm>
            <a:off x="4175608" y="1234440"/>
            <a:ext cx="3840480" cy="384048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3" name="Text 1"/>
          <p:cNvSpPr/>
          <p:nvPr/>
        </p:nvSpPr>
        <p:spPr>
          <a:xfrm>
            <a:off x="4175608" y="2377440"/>
            <a:ext cx="3840480" cy="1097280"/>
          </a:xfrm>
          <a:prstGeom prst="rect">
            <a:avLst/>
          </a:prstGeom>
          <a:noFill/>
          <a:ln/>
        </p:spPr>
        <p:txBody>
          <a:bodyPr wrap="square" lIns="0" tIns="0" rIns="0" bIns="0" rtlCol="0" anchor="ctr"/>
          <a:lstStyle/>
          <a:p>
            <a:pPr algn="ctr" indent="0" marL="0">
              <a:buNone/>
            </a:pPr>
            <a:r>
              <a:rPr lang="en-US" sz="7200" b="1" dirty="0">
                <a:solidFill>
                  <a:srgbClr val="3C3828"/>
                </a:solidFill>
                <a:latin typeface="Georgia" pitchFamily="34" charset="0"/>
                <a:ea typeface="Georgia" pitchFamily="34" charset="-122"/>
                <a:cs typeface="Georgia" pitchFamily="34" charset="-120"/>
              </a:rPr>
              <a:t>YAWP!</a:t>
            </a:r>
            <a:endParaRPr lang="en-US" sz="7200" dirty="0"/>
          </a:p>
        </p:txBody>
      </p:sp>
      <p:sp>
        <p:nvSpPr>
          <p:cNvPr id="4" name="Text 2"/>
          <p:cNvSpPr/>
          <p:nvPr/>
        </p:nvSpPr>
        <p:spPr>
          <a:xfrm>
            <a:off x="4175608" y="3520440"/>
            <a:ext cx="3840480" cy="365760"/>
          </a:xfrm>
          <a:prstGeom prst="rect">
            <a:avLst/>
          </a:prstGeom>
          <a:noFill/>
          <a:ln/>
        </p:spPr>
        <p:txBody>
          <a:bodyPr wrap="square" lIns="0" tIns="0" rIns="0" bIns="0" rtlCol="0" anchor="ctr"/>
          <a:lstStyle/>
          <a:p>
            <a:pPr algn="ctr" indent="0" marL="0">
              <a:buNone/>
            </a:pPr>
            <a:r>
              <a:rPr lang="en-US" sz="1300" b="1" spc="300" kern="0" dirty="0">
                <a:solidFill>
                  <a:srgbClr val="D27151"/>
                </a:solidFill>
                <a:latin typeface="Consolas" pitchFamily="34" charset="0"/>
                <a:ea typeface="Consolas" pitchFamily="34" charset="-122"/>
                <a:cs typeface="Consolas" pitchFamily="34" charset="-120"/>
              </a:rPr>
              <a:t>WRITING PROGRAM</a:t>
            </a:r>
            <a:endParaRPr lang="en-US" sz="1300" dirty="0"/>
          </a:p>
        </p:txBody>
      </p:sp>
      <p:sp>
        <p:nvSpPr>
          <p:cNvPr id="5" name="Shape 3"/>
          <p:cNvSpPr/>
          <p:nvPr/>
        </p:nvSpPr>
        <p:spPr>
          <a:xfrm>
            <a:off x="6918808" y="777240"/>
            <a:ext cx="1463040" cy="1463040"/>
          </a:xfrm>
          <a:prstGeom prst="ellipse">
            <a:avLst/>
          </a:prstGeom>
          <a:solidFill>
            <a:srgbClr val="FFB600"/>
          </a:solidFill>
          <a:ln w="12700">
            <a:solidFill>
              <a:srgbClr val="FFB600"/>
            </a:solidFill>
            <a:prstDash val="solid"/>
          </a:ln>
        </p:spPr>
      </p:sp>
      <p:pic>
        <p:nvPicPr>
          <p:cNvPr id="6" name="Image 0" descr="/home/user/yawp/services/web-app/scripts/thesis-essay-decks/assets/icons/lightbulb.png">    </p:cNvPr>
          <p:cNvPicPr>
            <a:picLocks noChangeAspect="1"/>
          </p:cNvPicPr>
          <p:nvPr/>
        </p:nvPicPr>
        <p:blipFill>
          <a:blip r:embed="rId1"/>
          <a:stretch>
            <a:fillRect/>
          </a:stretch>
        </p:blipFill>
        <p:spPr>
          <a:xfrm>
            <a:off x="7211416" y="1069848"/>
            <a:ext cx="877824" cy="877824"/>
          </a:xfrm>
          <a:prstGeom prst="rect">
            <a:avLst/>
          </a:prstGeom>
        </p:spPr>
      </p:pic>
      <p:sp>
        <p:nvSpPr>
          <p:cNvPr id="7" name="Shape 4"/>
          <p:cNvSpPr/>
          <p:nvPr/>
        </p:nvSpPr>
        <p:spPr>
          <a:xfrm>
            <a:off x="3626968" y="1508760"/>
            <a:ext cx="1005840" cy="1005840"/>
          </a:xfrm>
          <a:prstGeom prst="ellipse">
            <a:avLst/>
          </a:prstGeom>
          <a:solidFill>
            <a:srgbClr val="FF9755"/>
          </a:solidFill>
          <a:ln w="12700">
            <a:solidFill>
              <a:srgbClr val="FF9755"/>
            </a:solidFill>
            <a:prstDash val="solid"/>
          </a:ln>
        </p:spPr>
      </p:sp>
      <p:pic>
        <p:nvPicPr>
          <p:cNvPr id="8" name="Image 1" descr="/home/user/yawp/services/web-app/scripts/thesis-essay-decks/assets/icons/puzzle.png">    </p:cNvPr>
          <p:cNvPicPr>
            <a:picLocks noChangeAspect="1"/>
          </p:cNvPicPr>
          <p:nvPr/>
        </p:nvPicPr>
        <p:blipFill>
          <a:blip r:embed="rId2"/>
          <a:stretch>
            <a:fillRect/>
          </a:stretch>
        </p:blipFill>
        <p:spPr>
          <a:xfrm>
            <a:off x="3828136" y="1709928"/>
            <a:ext cx="603504" cy="603504"/>
          </a:xfrm>
          <a:prstGeom prst="rect">
            <a:avLst/>
          </a:prstGeom>
        </p:spPr>
      </p:pic>
      <p:sp>
        <p:nvSpPr>
          <p:cNvPr id="9" name="Shape 5"/>
          <p:cNvSpPr/>
          <p:nvPr/>
        </p:nvSpPr>
        <p:spPr>
          <a:xfrm>
            <a:off x="4267048" y="4069080"/>
            <a:ext cx="1188720" cy="1188720"/>
          </a:xfrm>
          <a:prstGeom prst="ellipse">
            <a:avLst/>
          </a:prstGeom>
          <a:solidFill>
            <a:srgbClr val="FC4540"/>
          </a:solidFill>
          <a:ln w="12700">
            <a:solidFill>
              <a:srgbClr val="FC4540"/>
            </a:solidFill>
            <a:prstDash val="solid"/>
          </a:ln>
        </p:spPr>
      </p:sp>
      <p:pic>
        <p:nvPicPr>
          <p:cNvPr id="10" name="Image 2" descr="/home/user/yawp/services/web-app/scripts/thesis-essay-decks/assets/icons/thumbs.png">    </p:cNvPr>
          <p:cNvPicPr>
            <a:picLocks noChangeAspect="1"/>
          </p:cNvPicPr>
          <p:nvPr/>
        </p:nvPicPr>
        <p:blipFill>
          <a:blip r:embed="rId3"/>
          <a:stretch>
            <a:fillRect/>
          </a:stretch>
        </p:blipFill>
        <p:spPr>
          <a:xfrm>
            <a:off x="4504792" y="4306824"/>
            <a:ext cx="713232" cy="713232"/>
          </a:xfrm>
          <a:prstGeom prst="rect">
            <a:avLst/>
          </a:prstGeom>
        </p:spPr>
      </p:pic>
      <p:sp>
        <p:nvSpPr>
          <p:cNvPr id="11" name="Shape 6"/>
          <p:cNvSpPr/>
          <p:nvPr/>
        </p:nvSpPr>
        <p:spPr>
          <a:xfrm>
            <a:off x="3855568" y="2971800"/>
            <a:ext cx="274320" cy="274320"/>
          </a:xfrm>
          <a:prstGeom prst="ellipse">
            <a:avLst/>
          </a:prstGeom>
          <a:solidFill>
            <a:srgbClr val="FFFEFA"/>
          </a:solidFill>
          <a:ln w="12700">
            <a:solidFill>
              <a:srgbClr val="FFFEFA"/>
            </a:solidFill>
            <a:prstDash val="solid"/>
          </a:ln>
        </p:spPr>
      </p:sp>
      <p:sp>
        <p:nvSpPr>
          <p:cNvPr id="12" name="Shape 7"/>
          <p:cNvSpPr/>
          <p:nvPr/>
        </p:nvSpPr>
        <p:spPr>
          <a:xfrm>
            <a:off x="8107528" y="2606040"/>
            <a:ext cx="411480" cy="411480"/>
          </a:xfrm>
          <a:prstGeom prst="ellipse">
            <a:avLst/>
          </a:prstGeom>
          <a:solidFill>
            <a:srgbClr val="FC4067"/>
          </a:solidFill>
          <a:ln w="12700">
            <a:solidFill>
              <a:srgbClr val="FC4067"/>
            </a:solidFill>
            <a:prstDash val="solid"/>
          </a:ln>
        </p:spPr>
      </p:sp>
      <p:sp>
        <p:nvSpPr>
          <p:cNvPr id="13" name="Shape 8"/>
          <p:cNvSpPr/>
          <p:nvPr/>
        </p:nvSpPr>
        <p:spPr>
          <a:xfrm>
            <a:off x="7558888" y="5120640"/>
            <a:ext cx="548640" cy="548640"/>
          </a:xfrm>
          <a:prstGeom prst="ellipse">
            <a:avLst/>
          </a:prstGeom>
          <a:solidFill>
            <a:srgbClr val="FF9755"/>
          </a:solidFill>
          <a:ln w="12700">
            <a:solidFill>
              <a:srgbClr val="FF9755"/>
            </a:solidFill>
            <a:prstDash val="solid"/>
          </a:ln>
        </p:spPr>
      </p:sp>
      <p:sp>
        <p:nvSpPr>
          <p:cNvPr id="14" name="Shape 9"/>
          <p:cNvSpPr/>
          <p:nvPr/>
        </p:nvSpPr>
        <p:spPr>
          <a:xfrm>
            <a:off x="6735928" y="5349240"/>
            <a:ext cx="164592" cy="164592"/>
          </a:xfrm>
          <a:prstGeom prst="ellipse">
            <a:avLst/>
          </a:prstGeom>
          <a:solidFill>
            <a:srgbClr val="FFB600"/>
          </a:solidFill>
          <a:ln w="12700">
            <a:solidFill>
              <a:srgbClr val="FFB600"/>
            </a:solidFill>
            <a:prstDash val="solid"/>
          </a:ln>
        </p:spPr>
      </p:sp>
      <p:sp>
        <p:nvSpPr>
          <p:cNvPr id="15" name="Shape 10"/>
          <p:cNvSpPr/>
          <p:nvPr/>
        </p:nvSpPr>
        <p:spPr>
          <a:xfrm>
            <a:off x="5455768" y="5257800"/>
            <a:ext cx="201168" cy="201168"/>
          </a:xfrm>
          <a:prstGeom prst="ellipse">
            <a:avLst/>
          </a:prstGeom>
          <a:solidFill>
            <a:srgbClr val="FFFEFA"/>
          </a:solidFill>
          <a:ln w="12700">
            <a:solidFill>
              <a:srgbClr val="FFFEFA"/>
            </a:solidFill>
            <a:prstDash val="solid"/>
          </a:ln>
        </p:spPr>
      </p:sp>
      <p:sp>
        <p:nvSpPr>
          <p:cNvPr id="16" name="Text 11"/>
          <p:cNvSpPr/>
          <p:nvPr/>
        </p:nvSpPr>
        <p:spPr>
          <a:xfrm>
            <a:off x="685800" y="5577840"/>
            <a:ext cx="10820095" cy="548640"/>
          </a:xfrm>
          <a:prstGeom prst="rect">
            <a:avLst/>
          </a:prstGeom>
          <a:noFill/>
          <a:ln/>
        </p:spPr>
        <p:txBody>
          <a:bodyPr wrap="square" lIns="0" tIns="0" rIns="0" bIns="0" rtlCol="0" anchor="ctr"/>
          <a:lstStyle/>
          <a:p>
            <a:pPr algn="ctr" indent="0" marL="0">
              <a:buNone/>
            </a:pPr>
            <a:r>
              <a:rPr lang="en-US" sz="2200" dirty="0">
                <a:solidFill>
                  <a:srgbClr val="FFFEFA"/>
                </a:solidFill>
                <a:latin typeface="Calibri" pitchFamily="34" charset="0"/>
                <a:ea typeface="Calibri" pitchFamily="34" charset="-122"/>
                <a:cs typeface="Calibri" pitchFamily="34" charset="-120"/>
              </a:rPr>
              <a:t>Next time: body paragraphs.</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YAWP!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Paragraph</dc:title>
  <dc:subject>Thesis-Driven Essay · Lesson 4</dc:subject>
  <dc:creator>PptxGenJS</dc:creator>
  <cp:lastModifiedBy>PptxGenJS</cp:lastModifiedBy>
  <cp:revision>1</cp:revision>
  <dcterms:created xsi:type="dcterms:W3CDTF">2026-10-12T23:00:39Z</dcterms:created>
  <dcterms:modified xsi:type="dcterms:W3CDTF">2026-10-12T23:00:39Z</dcterms:modified>
</cp:coreProperties>
</file>