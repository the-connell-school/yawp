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067"/>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Universe</a:t>
            </a:r>
            <a:endParaRPr lang="en-US" sz="24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Planet</a:t>
            </a:r>
            <a:endParaRPr lang="en-US" sz="24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Continent</a:t>
            </a:r>
            <a:endParaRPr lang="en-US" sz="24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Country</a:t>
            </a:r>
            <a:endParaRPr lang="en-US" sz="24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State</a:t>
            </a:r>
            <a:endParaRPr lang="en-US" sz="24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6</a:t>
            </a:r>
            <a:endParaRPr lang="en-US" sz="18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City</a:t>
            </a:r>
            <a:endParaRPr lang="en-US" sz="24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7</a:t>
            </a:r>
            <a:endParaRPr lang="en-US" sz="18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Neighborhood</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11" name="Shape 8"/>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914400"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14" name="Shape 11"/>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914400"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7" name="Shape 14"/>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914400"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0" name="Shape 17"/>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121408"/>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914400"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914400" y="2258568"/>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1" name="Text 8"/>
          <p:cNvSpPr/>
          <p:nvPr/>
        </p:nvSpPr>
        <p:spPr>
          <a:xfrm>
            <a:off x="1508760" y="2121408"/>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There are 29 movies in the Marvel Cinematic Universe.</a:t>
            </a:r>
            <a:endParaRPr lang="en-US" sz="2000" dirty="0"/>
          </a:p>
        </p:txBody>
      </p:sp>
      <p:sp>
        <p:nvSpPr>
          <p:cNvPr id="12" name="Shape 9"/>
          <p:cNvSpPr/>
          <p:nvPr/>
        </p:nvSpPr>
        <p:spPr>
          <a:xfrm>
            <a:off x="685800" y="2907792"/>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914400"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914400" y="3044952"/>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5" name="Text 12"/>
          <p:cNvSpPr/>
          <p:nvPr/>
        </p:nvSpPr>
        <p:spPr>
          <a:xfrm>
            <a:off x="1508760" y="2907792"/>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Iron Man is featured in 9 MCU movies.</a:t>
            </a:r>
            <a:endParaRPr lang="en-US" sz="2000" dirty="0"/>
          </a:p>
        </p:txBody>
      </p:sp>
      <p:sp>
        <p:nvSpPr>
          <p:cNvPr id="16" name="Shape 13"/>
          <p:cNvSpPr/>
          <p:nvPr/>
        </p:nvSpPr>
        <p:spPr>
          <a:xfrm>
            <a:off x="685800" y="3694176"/>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914400"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914400" y="3831336"/>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9" name="Text 16"/>
          <p:cNvSpPr/>
          <p:nvPr/>
        </p:nvSpPr>
        <p:spPr>
          <a:xfrm>
            <a:off x="1508760" y="3694176"/>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2000" dirty="0"/>
          </a:p>
        </p:txBody>
      </p:sp>
      <p:sp>
        <p:nvSpPr>
          <p:cNvPr id="20" name="Shape 17"/>
          <p:cNvSpPr/>
          <p:nvPr/>
        </p:nvSpPr>
        <p:spPr>
          <a:xfrm>
            <a:off x="685800" y="4480560"/>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914400"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914400" y="4617720"/>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3" name="Text 20"/>
          <p:cNvSpPr/>
          <p:nvPr/>
        </p:nvSpPr>
        <p:spPr>
          <a:xfrm>
            <a:off x="1508760" y="4480560"/>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2000" dirty="0"/>
          </a:p>
        </p:txBody>
      </p:sp>
      <p:sp>
        <p:nvSpPr>
          <p:cNvPr id="24" name="Shape 21"/>
          <p:cNvSpPr/>
          <p:nvPr/>
        </p:nvSpPr>
        <p:spPr>
          <a:xfrm>
            <a:off x="685800" y="5266944"/>
            <a:ext cx="10820095"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914400"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914400" y="5404104"/>
            <a:ext cx="384048" cy="384048"/>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5</a:t>
            </a:r>
            <a:endParaRPr lang="en-US" sz="1800" dirty="0"/>
          </a:p>
        </p:txBody>
      </p:sp>
      <p:sp>
        <p:nvSpPr>
          <p:cNvPr id="27" name="Text 24"/>
          <p:cNvSpPr/>
          <p:nvPr/>
        </p:nvSpPr>
        <p:spPr>
          <a:xfrm>
            <a:off x="1508760" y="5266944"/>
            <a:ext cx="9722815" cy="658368"/>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Your introduction’s function is to </a:t>
            </a:r>
            <a:r>
              <a:rPr lang="en-US" sz="4000" dirty="0">
                <a:solidFill>
                  <a:srgbClr val="3C3828"/>
                </a:solidFill>
                <a:highlight>
                  <a:srgbClr val="FFE14D"/>
                </a:highlight>
                <a:latin typeface="Georgia" pitchFamily="34" charset="0"/>
                <a:ea typeface="Georgia" pitchFamily="34" charset="-122"/>
                <a:cs typeface="Georgia" pitchFamily="34" charset="-120"/>
              </a:rPr>
              <a:t>welcome your reader</a:t>
            </a:r>
            <a:r>
              <a:rPr lang="en-US" sz="4000" dirty="0">
                <a:solidFill>
                  <a:srgbClr val="3C3828"/>
                </a:solidFill>
                <a:latin typeface="Georgia" pitchFamily="34" charset="0"/>
                <a:ea typeface="Georgia" pitchFamily="34" charset="-122"/>
                <a:cs typeface="Georgia" pitchFamily="34" charset="-120"/>
              </a:rPr>
              <a:t> into your discussion and to </a:t>
            </a:r>
            <a:r>
              <a:rPr lang="en-US" sz="40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2208962" cy="91440"/>
          </a:xfrm>
          <a:prstGeom prst="rect">
            <a:avLst/>
          </a:prstGeom>
          <a:solidFill>
            <a:srgbClr val="FFB600"/>
          </a:solidFill>
          <a:ln w="12700">
            <a:solidFill>
              <a:srgbClr val="FFB600"/>
            </a:solidFill>
            <a:prstDash val="solid"/>
          </a:ln>
        </p:spPr>
      </p:sp>
      <p:sp>
        <p:nvSpPr>
          <p:cNvPr id="10" name="Shape 7"/>
          <p:cNvSpPr/>
          <p:nvPr/>
        </p:nvSpPr>
        <p:spPr>
          <a:xfrm>
            <a:off x="1005840" y="2584196"/>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Story or example that illustrates your topic</a:t>
            </a:r>
            <a:endParaRPr lang="en-US" sz="2800" dirty="0"/>
          </a:p>
        </p:txBody>
      </p:sp>
      <p:sp>
        <p:nvSpPr>
          <p:cNvPr id="13" name="Shape 10"/>
          <p:cNvSpPr/>
          <p:nvPr/>
        </p:nvSpPr>
        <p:spPr>
          <a:xfrm>
            <a:off x="3470834"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2218436"/>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584196"/>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Quotation</a:t>
            </a:r>
            <a:endParaRPr lang="en-US" sz="2800" dirty="0"/>
          </a:p>
        </p:txBody>
      </p:sp>
      <p:sp>
        <p:nvSpPr>
          <p:cNvPr id="18" name="Shape 15"/>
          <p:cNvSpPr/>
          <p:nvPr/>
        </p:nvSpPr>
        <p:spPr>
          <a:xfrm>
            <a:off x="6255868"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2218436"/>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584196"/>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Rhetorical question</a:t>
            </a:r>
            <a:endParaRPr lang="en-US" sz="2800" dirty="0"/>
          </a:p>
        </p:txBody>
      </p:sp>
      <p:sp>
        <p:nvSpPr>
          <p:cNvPr id="23" name="Shape 20"/>
          <p:cNvSpPr/>
          <p:nvPr/>
        </p:nvSpPr>
        <p:spPr>
          <a:xfrm>
            <a:off x="9040901" y="2218436"/>
            <a:ext cx="2464994" cy="3609848"/>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2218436"/>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584196"/>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498596"/>
            <a:ext cx="1824914"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Definition</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Illustrating story or scene</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Rhetorical question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Quotation or fact</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2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r>
              <a:rPr lang="en-US" sz="22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Definition</a:t>
            </a:r>
            <a:endParaRPr lang="en-US" sz="3200" dirty="0"/>
          </a:p>
        </p:txBody>
      </p:sp>
      <p:sp>
        <p:nvSpPr>
          <p:cNvPr id="4" name="Shape 2"/>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417320"/>
            <a:ext cx="10564063" cy="91440"/>
          </a:xfrm>
          <a:prstGeom prst="rect">
            <a:avLst/>
          </a:prstGeom>
          <a:solidFill>
            <a:srgbClr val="02BDC7"/>
          </a:solidFill>
          <a:ln w="12700">
            <a:solidFill>
              <a:srgbClr val="02BDC7"/>
            </a:solidFill>
            <a:prstDash val="solid"/>
          </a:ln>
        </p:spPr>
      </p:sp>
      <p:sp>
        <p:nvSpPr>
          <p:cNvPr id="6" name="Text 4"/>
          <p:cNvSpPr/>
          <p:nvPr/>
        </p:nvSpPr>
        <p:spPr>
          <a:xfrm>
            <a:off x="1143000" y="169164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057400"/>
            <a:ext cx="9905695" cy="3886200"/>
          </a:xfrm>
          <a:prstGeom prst="rect">
            <a:avLst/>
          </a:prstGeom>
          <a:noFill/>
          <a:ln/>
        </p:spPr>
        <p:txBody>
          <a:bodyPr wrap="square" lIns="0" tIns="0" rIns="0" bIns="0" rtlCol="0" anchor="t"/>
          <a:lstStyle/>
          <a:p>
            <a:pPr indent="0" marL="0">
              <a:lnSpc>
                <a:spcPct val="112000"/>
              </a:lnSpc>
              <a:buNone/>
            </a:pPr>
            <a:r>
              <a:rPr lang="en-US" sz="20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r>
              <a:rPr lang="en-US" sz="20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Write your introduction</a:t>
            </a:r>
            <a:endParaRPr lang="en-US" sz="32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176479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Story or example that illustrates your topic</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Rhetorical question</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Quotation or fact</a:t>
            </a: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Definition</a:t>
            </a:r>
            <a:endParaRPr lang="en-US" sz="2200" dirty="0"/>
          </a:p>
          <a:p>
            <a:pPr indent="0" marL="0">
              <a:lnSpc>
                <a:spcPct val="120000"/>
              </a:lnSpc>
              <a:buNone/>
            </a:pPr>
            <a:endParaRPr lang="en-US" sz="2200" dirty="0"/>
          </a:p>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Remember, the </a:t>
            </a:r>
            <a:r>
              <a:rPr lang="en-US" sz="22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r>
              <a:rPr lang="en-US" sz="2200" dirty="0">
                <a:solidFill>
                  <a:srgbClr val="3C3828"/>
                </a:solidFill>
                <a:latin typeface="Georgia" pitchFamily="34" charset="0"/>
                <a:ea typeface="Georgia" pitchFamily="34" charset="-122"/>
                <a:cs typeface="Georgia" pitchFamily="34" charset="-120"/>
              </a:rPr>
              <a:t> It’s already written.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Introduction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129084"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29084"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3457529" y="2417108"/>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3457529"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863092" y="333789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863092" y="333789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1734141" y="5459893"/>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1734141" y="5459893"/>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4790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479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202946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17" name="Shape 14"/>
          <p:cNvSpPr/>
          <p:nvPr/>
        </p:nvSpPr>
        <p:spPr>
          <a:xfrm>
            <a:off x="8579815" y="31419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1419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2354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20" name="Shape 17"/>
          <p:cNvSpPr/>
          <p:nvPr/>
        </p:nvSpPr>
        <p:spPr>
          <a:xfrm>
            <a:off x="8579815" y="403606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40360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81762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23" name="Shape 20"/>
          <p:cNvSpPr/>
          <p:nvPr/>
        </p:nvSpPr>
        <p:spPr>
          <a:xfrm>
            <a:off x="8579815" y="493014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301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711700"/>
            <a:ext cx="2286000"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2026-10-18T15:59:20Z</dcterms:created>
  <dcterms:modified xsi:type="dcterms:W3CDTF">2026-10-18T15:59:20Z</dcterms:modified>
</cp:coreProperties>
</file>