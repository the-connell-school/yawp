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City</a:t>
            </a:r>
            <a:endParaRPr lang="en-US" sz="24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Continent</a:t>
            </a:r>
            <a:endParaRPr lang="en-US" sz="24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Neighborhood</a:t>
            </a:r>
            <a:endParaRPr lang="en-US" sz="24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Country</a:t>
            </a:r>
            <a:endParaRPr lang="en-US" sz="24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Universe</a:t>
            </a:r>
            <a:endParaRPr lang="en-US" sz="24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State</a:t>
            </a:r>
            <a:endParaRPr lang="en-US" sz="24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Planet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Universe</a:t>
            </a:r>
            <a:endParaRPr lang="en-US" sz="24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Planet</a:t>
            </a:r>
            <a:endParaRPr lang="en-US" sz="24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Continent</a:t>
            </a:r>
            <a:endParaRPr lang="en-US" sz="24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Country</a:t>
            </a:r>
            <a:endParaRPr lang="en-US" sz="24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State</a:t>
            </a:r>
            <a:endParaRPr lang="en-US" sz="24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6</a:t>
            </a:r>
            <a:endParaRPr lang="en-US" sz="18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City</a:t>
            </a:r>
            <a:endParaRPr lang="en-US" sz="24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7</a:t>
            </a:r>
            <a:endParaRPr lang="en-US" sz="18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Neighborhood</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121408"/>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914400"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1508760" y="2121408"/>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2000" dirty="0"/>
          </a:p>
        </p:txBody>
      </p:sp>
      <p:sp>
        <p:nvSpPr>
          <p:cNvPr id="11" name="Shape 8"/>
          <p:cNvSpPr/>
          <p:nvPr/>
        </p:nvSpPr>
        <p:spPr>
          <a:xfrm>
            <a:off x="685800" y="2907792"/>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914400"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1508760" y="2907792"/>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2000" dirty="0"/>
          </a:p>
        </p:txBody>
      </p:sp>
      <p:sp>
        <p:nvSpPr>
          <p:cNvPr id="14" name="Shape 11"/>
          <p:cNvSpPr/>
          <p:nvPr/>
        </p:nvSpPr>
        <p:spPr>
          <a:xfrm>
            <a:off x="685800" y="3694176"/>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914400"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1508760" y="3694176"/>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Iron Man is featured in 9 MCU movies.</a:t>
            </a:r>
            <a:endParaRPr lang="en-US" sz="2000" dirty="0"/>
          </a:p>
        </p:txBody>
      </p:sp>
      <p:sp>
        <p:nvSpPr>
          <p:cNvPr id="17" name="Shape 14"/>
          <p:cNvSpPr/>
          <p:nvPr/>
        </p:nvSpPr>
        <p:spPr>
          <a:xfrm>
            <a:off x="685800" y="4480560"/>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914400"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1508760" y="4480560"/>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2000" dirty="0"/>
          </a:p>
        </p:txBody>
      </p:sp>
      <p:sp>
        <p:nvSpPr>
          <p:cNvPr id="20" name="Shape 17"/>
          <p:cNvSpPr/>
          <p:nvPr/>
        </p:nvSpPr>
        <p:spPr>
          <a:xfrm>
            <a:off x="685800" y="5266944"/>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914400"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1508760" y="5266944"/>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There are 29 movies in the Marvel Cinematic Universe.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121408"/>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914400"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914400"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1508760" y="2121408"/>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There are 29 movies in the Marvel Cinematic Universe.</a:t>
            </a:r>
            <a:endParaRPr lang="en-US" sz="2000" dirty="0"/>
          </a:p>
        </p:txBody>
      </p:sp>
      <p:sp>
        <p:nvSpPr>
          <p:cNvPr id="12" name="Shape 9"/>
          <p:cNvSpPr/>
          <p:nvPr/>
        </p:nvSpPr>
        <p:spPr>
          <a:xfrm>
            <a:off x="685800" y="2907792"/>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914400"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914400"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1508760" y="2907792"/>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Iron Man is featured in 9 MCU movies.</a:t>
            </a:r>
            <a:endParaRPr lang="en-US" sz="2000" dirty="0"/>
          </a:p>
        </p:txBody>
      </p:sp>
      <p:sp>
        <p:nvSpPr>
          <p:cNvPr id="16" name="Shape 13"/>
          <p:cNvSpPr/>
          <p:nvPr/>
        </p:nvSpPr>
        <p:spPr>
          <a:xfrm>
            <a:off x="685800" y="3694176"/>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914400"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914400"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1508760" y="3694176"/>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2000" dirty="0"/>
          </a:p>
        </p:txBody>
      </p:sp>
      <p:sp>
        <p:nvSpPr>
          <p:cNvPr id="20" name="Shape 17"/>
          <p:cNvSpPr/>
          <p:nvPr/>
        </p:nvSpPr>
        <p:spPr>
          <a:xfrm>
            <a:off x="685800" y="4480560"/>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914400"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914400"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1508760" y="4480560"/>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2000" dirty="0"/>
          </a:p>
        </p:txBody>
      </p:sp>
      <p:sp>
        <p:nvSpPr>
          <p:cNvPr id="24" name="Shape 21"/>
          <p:cNvSpPr/>
          <p:nvPr/>
        </p:nvSpPr>
        <p:spPr>
          <a:xfrm>
            <a:off x="685800" y="5266944"/>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914400"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914400"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1508760" y="5266944"/>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Your introduction’s function is to </a:t>
            </a:r>
            <a:r>
              <a:rPr lang="en-US" sz="4000" dirty="0">
                <a:solidFill>
                  <a:srgbClr val="3C3828"/>
                </a:solidFill>
                <a:highlight>
                  <a:srgbClr val="FFE14D"/>
                </a:highlight>
                <a:latin typeface="Georgia" pitchFamily="34" charset="0"/>
                <a:ea typeface="Georgia" pitchFamily="34" charset="-122"/>
                <a:cs typeface="Georgia" pitchFamily="34" charset="-120"/>
              </a:rPr>
              <a:t>welcome your reader</a:t>
            </a:r>
            <a:r>
              <a:rPr lang="en-US" sz="4000" dirty="0">
                <a:solidFill>
                  <a:srgbClr val="3C3828"/>
                </a:solidFill>
                <a:latin typeface="Georgia" pitchFamily="34" charset="0"/>
                <a:ea typeface="Georgia" pitchFamily="34" charset="-122"/>
                <a:cs typeface="Georgia" pitchFamily="34" charset="-120"/>
              </a:rPr>
              <a:t> into your discussion and to </a:t>
            </a:r>
            <a:r>
              <a:rPr lang="en-US" sz="40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2208962" cy="91440"/>
          </a:xfrm>
          <a:prstGeom prst="rect">
            <a:avLst/>
          </a:prstGeom>
          <a:solidFill>
            <a:srgbClr val="FFB600"/>
          </a:solidFill>
          <a:ln w="12700">
            <a:solidFill>
              <a:srgbClr val="FFB600"/>
            </a:solidFill>
            <a:prstDash val="solid"/>
          </a:ln>
        </p:spPr>
      </p:sp>
      <p:sp>
        <p:nvSpPr>
          <p:cNvPr id="10" name="Shape 7"/>
          <p:cNvSpPr/>
          <p:nvPr/>
        </p:nvSpPr>
        <p:spPr>
          <a:xfrm>
            <a:off x="1005840" y="2584196"/>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Story or example that illustrates your topic</a:t>
            </a:r>
            <a:endParaRPr lang="en-US" sz="2800" dirty="0"/>
          </a:p>
        </p:txBody>
      </p:sp>
      <p:sp>
        <p:nvSpPr>
          <p:cNvPr id="13" name="Shape 10"/>
          <p:cNvSpPr/>
          <p:nvPr/>
        </p:nvSpPr>
        <p:spPr>
          <a:xfrm>
            <a:off x="3470834"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2218436"/>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584196"/>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Quotation</a:t>
            </a:r>
            <a:endParaRPr lang="en-US" sz="2800" dirty="0"/>
          </a:p>
        </p:txBody>
      </p:sp>
      <p:sp>
        <p:nvSpPr>
          <p:cNvPr id="18" name="Shape 15"/>
          <p:cNvSpPr/>
          <p:nvPr/>
        </p:nvSpPr>
        <p:spPr>
          <a:xfrm>
            <a:off x="6255868"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2218436"/>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584196"/>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Rhetorical question</a:t>
            </a:r>
            <a:endParaRPr lang="en-US" sz="2800" dirty="0"/>
          </a:p>
        </p:txBody>
      </p:sp>
      <p:sp>
        <p:nvSpPr>
          <p:cNvPr id="23" name="Shape 20"/>
          <p:cNvSpPr/>
          <p:nvPr/>
        </p:nvSpPr>
        <p:spPr>
          <a:xfrm>
            <a:off x="9040901"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2218436"/>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584196"/>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Definition</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Illustrating story or scene</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0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r>
              <a:rPr lang="en-US" sz="2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Rhetorical question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Quotation or fact</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Definition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0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r>
              <a:rPr lang="en-US" sz="2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Write your introduction</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176479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2200" dirty="0"/>
          </a:p>
          <a:p>
            <a:pPr indent="0" marL="0">
              <a:lnSpc>
                <a:spcPct val="120000"/>
              </a:lnSpc>
              <a:buNone/>
            </a:pP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Story or example that illustrates your topic</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Rhetorical question</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Quotation or fact</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Definition</a:t>
            </a:r>
            <a:endParaRPr lang="en-US" sz="2200" dirty="0"/>
          </a:p>
          <a:p>
            <a:pPr indent="0" marL="0">
              <a:lnSpc>
                <a:spcPct val="120000"/>
              </a:lnSpc>
              <a:buNone/>
            </a:pP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Remember, the </a:t>
            </a:r>
            <a:r>
              <a:rPr lang="en-US" sz="22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r>
              <a:rPr lang="en-US" sz="2200" dirty="0">
                <a:solidFill>
                  <a:srgbClr val="3C3828"/>
                </a:solidFill>
                <a:latin typeface="Georgia" pitchFamily="34" charset="0"/>
                <a:ea typeface="Georgia" pitchFamily="34" charset="-122"/>
                <a:cs typeface="Georgia" pitchFamily="34" charset="-120"/>
              </a:rPr>
              <a:t> It’s already written.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Introduction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129084"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29084"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3457529" y="2417108"/>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3457529"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863092" y="3337896"/>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863092" y="333789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1734141" y="5459893"/>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479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479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0294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17" name="Shape 14"/>
          <p:cNvSpPr/>
          <p:nvPr/>
        </p:nvSpPr>
        <p:spPr>
          <a:xfrm>
            <a:off x="8579815" y="31419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1419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235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176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23" name="Shape 20"/>
          <p:cNvSpPr/>
          <p:nvPr/>
        </p:nvSpPr>
        <p:spPr>
          <a:xfrm>
            <a:off x="8579815" y="493014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301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71170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2026-10-17T11:40:44Z</dcterms:created>
  <dcterms:modified xsi:type="dcterms:W3CDTF">2026-10-17T11:40:44Z</dcterms:modified>
</cp:coreProperties>
</file>