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 busy city street where a man has fallen on the pavement.">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 busy city street where a man has fallen on the pavement.">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A busy city street where a man has fallen on the pavement.">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eye icon">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Write an essay about </a:t>
            </a:r>
            <a:r>
              <a:rPr lang="en-US" sz="1800" dirty="0">
                <a:solidFill>
                  <a:srgbClr val="3C3828"/>
                </a:solidFill>
                <a:highlight>
                  <a:srgbClr val="FFE14D"/>
                </a:highlight>
                <a:latin typeface="Georgia" pitchFamily="34" charset="0"/>
                <a:ea typeface="Georgia" pitchFamily="34" charset="-122"/>
                <a:cs typeface="Georgia" pitchFamily="34" charset="-120"/>
              </a:rPr>
              <a:t>a problem in your community</a:t>
            </a:r>
            <a:r>
              <a:rPr lang="en-US" sz="18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r>
              <a:rPr lang="en-US" sz="18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 critical essay about </a:t>
            </a:r>
            <a:r>
              <a:rPr lang="en-US" sz="2200" dirty="0">
                <a:solidFill>
                  <a:srgbClr val="3C3828"/>
                </a:solidFill>
                <a:highlight>
                  <a:srgbClr val="FFE14D"/>
                </a:highlight>
                <a:latin typeface="Georgia" pitchFamily="34" charset="0"/>
                <a:ea typeface="Georgia" pitchFamily="34" charset="-122"/>
                <a:cs typeface="Georgia" pitchFamily="34" charset="-120"/>
              </a:rPr>
              <a:t>The Great Gatsby.</a:t>
            </a:r>
            <a:r>
              <a:rPr lang="en-US" sz="2200" dirty="0">
                <a:solidFill>
                  <a:srgbClr val="3C3828"/>
                </a:solidFill>
                <a:latin typeface="Georgia" pitchFamily="34" charset="0"/>
                <a:ea typeface="Georgia" pitchFamily="34" charset="-122"/>
                <a:cs typeface="Georgia" pitchFamily="34" charset="-120"/>
              </a:rPr>
              <a:t> You can choose </a:t>
            </a:r>
            <a:r>
              <a:rPr lang="en-US" sz="22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r>
              <a:rPr lang="en-US" sz="22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23113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196596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05409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2788920"/>
            <a:ext cx="6440691" cy="82296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589717" y="38770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361188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470001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43484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589717" y="5522976"/>
            <a:ext cx="292608" cy="292608"/>
          </a:xfrm>
          <a:prstGeom prst="ellipse">
            <a:avLst/>
          </a:prstGeom>
          <a:solidFill>
            <a:srgbClr val="FC4067"/>
          </a:solidFill>
          <a:ln w="12700">
            <a:solidFill>
              <a:srgbClr val="FC4067"/>
            </a:solidFill>
            <a:prstDash val="solid"/>
          </a:ln>
        </p:spPr>
      </p:sp>
      <p:sp>
        <p:nvSpPr>
          <p:cNvPr id="15" name="Text 12"/>
          <p:cNvSpPr/>
          <p:nvPr/>
        </p:nvSpPr>
        <p:spPr>
          <a:xfrm>
            <a:off x="5065205" y="525780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3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Great thesis statements lead to great essays</a:t>
            </a:r>
            <a:endParaRPr lang="en-US" sz="23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the Creed movies. </a:t>
            </a:r>
            <a:r>
              <a:rPr lang="en-US" sz="1800" b="1" dirty="0">
                <a:solidFill>
                  <a:srgbClr val="02BDC7"/>
                </a:solidFill>
                <a:latin typeface="Georgia" pitchFamily="34" charset="0"/>
                <a:ea typeface="Georgia" pitchFamily="34" charset="-122"/>
                <a:cs typeface="Georgia" pitchFamily="34" charset="-120"/>
              </a:rPr>
              <a:t>Why?</a:t>
            </a:r>
            <a:r>
              <a:rPr lang="en-US" sz="1800" dirty="0">
                <a:solidFill>
                  <a:srgbClr val="3C3828"/>
                </a:solidFill>
                <a:latin typeface="Georgia" pitchFamily="34" charset="0"/>
                <a:ea typeface="Georgia" pitchFamily="34" charset="-122"/>
                <a:cs typeface="Georgia" pitchFamily="34" charset="-120"/>
              </a:rPr>
              <a:t> Because they’re amazing! </a:t>
            </a:r>
            <a:r>
              <a:rPr lang="en-US" sz="1800" b="1" dirty="0">
                <a:solidFill>
                  <a:srgbClr val="02BDC7"/>
                </a:solidFill>
                <a:latin typeface="Georgia" pitchFamily="34" charset="0"/>
                <a:ea typeface="Georgia" pitchFamily="34" charset="-122"/>
                <a:cs typeface="Georgia" pitchFamily="34" charset="-120"/>
              </a:rPr>
              <a:t>Why?</a:t>
            </a:r>
            <a:r>
              <a:rPr lang="en-US" sz="1800" dirty="0">
                <a:solidFill>
                  <a:srgbClr val="3C3828"/>
                </a:solidFill>
                <a:latin typeface="Georgia" pitchFamily="34" charset="0"/>
                <a:ea typeface="Georgia" pitchFamily="34" charset="-122"/>
                <a:cs typeface="Georgia" pitchFamily="34" charset="-120"/>
              </a:rPr>
              <a:t> They’re really uplifting. </a:t>
            </a:r>
            <a:r>
              <a:rPr lang="en-US" sz="1800" b="1" dirty="0">
                <a:solidFill>
                  <a:srgbClr val="02BDC7"/>
                </a:solidFill>
                <a:latin typeface="Georgia" pitchFamily="34" charset="0"/>
                <a:ea typeface="Georgia" pitchFamily="34" charset="-122"/>
                <a:cs typeface="Georgia" pitchFamily="34" charset="-120"/>
              </a:rPr>
              <a:t>How?</a:t>
            </a:r>
            <a:r>
              <a:rPr lang="en-US" sz="1800" dirty="0">
                <a:solidFill>
                  <a:srgbClr val="3C3828"/>
                </a:solidFill>
                <a:latin typeface="Georgia" pitchFamily="34" charset="0"/>
                <a:ea typeface="Georgia" pitchFamily="34" charset="-122"/>
                <a:cs typeface="Georgia" pitchFamily="34" charset="-120"/>
              </a:rPr>
              <a:t> In that Cinderella story, underdog way. </a:t>
            </a:r>
            <a:r>
              <a:rPr lang="en-US" sz="1800" b="1" dirty="0">
                <a:solidFill>
                  <a:srgbClr val="02BDC7"/>
                </a:solidFill>
                <a:latin typeface="Georgia" pitchFamily="34" charset="0"/>
                <a:ea typeface="Georgia" pitchFamily="34" charset="-122"/>
                <a:cs typeface="Georgia" pitchFamily="34" charset="-120"/>
              </a:rPr>
              <a:t>Are they uplifting in other ways?</a:t>
            </a:r>
            <a:r>
              <a:rPr lang="en-US" sz="18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r>
              <a:rPr lang="en-US" sz="1800" b="1" dirty="0">
                <a:solidFill>
                  <a:srgbClr val="02BDC7"/>
                </a:solidFill>
                <a:latin typeface="Georgia" pitchFamily="34" charset="0"/>
                <a:ea typeface="Georgia" pitchFamily="34" charset="-122"/>
                <a:cs typeface="Georgia" pitchFamily="34" charset="-120"/>
              </a:rPr>
              <a:t>So it’s more than just a sports story?</a:t>
            </a:r>
            <a:r>
              <a:rPr lang="en-US" sz="1800" dirty="0">
                <a:solidFill>
                  <a:srgbClr val="3C3828"/>
                </a:solidFill>
                <a:latin typeface="Georgia" pitchFamily="34" charset="0"/>
                <a:ea typeface="Georgia" pitchFamily="34" charset="-122"/>
                <a:cs typeface="Georgia" pitchFamily="34" charset="-120"/>
              </a:rPr>
              <a:t> Definitely—it’s really a movie about relationships and overcoming things. </a:t>
            </a:r>
            <a:r>
              <a:rPr lang="en-US" sz="1800" b="1" dirty="0">
                <a:solidFill>
                  <a:srgbClr val="02BDC7"/>
                </a:solidFill>
                <a:latin typeface="Georgia" pitchFamily="34" charset="0"/>
                <a:ea typeface="Georgia" pitchFamily="34" charset="-122"/>
                <a:cs typeface="Georgia" pitchFamily="34" charset="-120"/>
              </a:rPr>
              <a:t>Like what?</a:t>
            </a:r>
            <a:r>
              <a:rPr lang="en-US" sz="18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r>
              <a:rPr lang="en-US" sz="1800" b="1" dirty="0">
                <a:solidFill>
                  <a:srgbClr val="02BDC7"/>
                </a:solidFill>
                <a:latin typeface="Georgia" pitchFamily="34" charset="0"/>
                <a:ea typeface="Georgia" pitchFamily="34" charset="-122"/>
                <a:cs typeface="Georgia" pitchFamily="34" charset="-120"/>
              </a:rPr>
              <a:t>How does he overcome that?</a:t>
            </a:r>
            <a:r>
              <a:rPr lang="en-US" sz="18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r>
              <a:rPr lang="en-US" sz="18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Pre-write example 2: Disney movies</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Disney movies. </a:t>
            </a:r>
            <a:r>
              <a:rPr lang="en-US" sz="1800" b="1" dirty="0">
                <a:solidFill>
                  <a:srgbClr val="FF9755"/>
                </a:solidFill>
                <a:latin typeface="Georgia" pitchFamily="34" charset="0"/>
                <a:ea typeface="Georgia" pitchFamily="34" charset="-122"/>
                <a:cs typeface="Georgia" pitchFamily="34" charset="-120"/>
              </a:rPr>
              <a:t>Why?</a:t>
            </a:r>
            <a:r>
              <a:rPr lang="en-US" sz="1800" dirty="0">
                <a:solidFill>
                  <a:srgbClr val="3C3828"/>
                </a:solidFill>
                <a:latin typeface="Georgia" pitchFamily="34" charset="0"/>
                <a:ea typeface="Georgia" pitchFamily="34" charset="-122"/>
                <a:cs typeface="Georgia" pitchFamily="34" charset="-120"/>
              </a:rPr>
              <a:t> They make me feel so happy! </a:t>
            </a:r>
            <a:r>
              <a:rPr lang="en-US" sz="1800" b="1" dirty="0">
                <a:solidFill>
                  <a:srgbClr val="FF9755"/>
                </a:solidFill>
                <a:latin typeface="Georgia" pitchFamily="34" charset="0"/>
                <a:ea typeface="Georgia" pitchFamily="34" charset="-122"/>
                <a:cs typeface="Georgia" pitchFamily="34" charset="-120"/>
              </a:rPr>
              <a:t>Why?</a:t>
            </a:r>
            <a:r>
              <a:rPr lang="en-US" sz="18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r>
              <a:rPr lang="en-US" sz="1800" b="1" dirty="0">
                <a:solidFill>
                  <a:srgbClr val="FF9755"/>
                </a:solidFill>
                <a:latin typeface="Georgia" pitchFamily="34" charset="0"/>
                <a:ea typeface="Georgia" pitchFamily="34" charset="-122"/>
                <a:cs typeface="Georgia" pitchFamily="34" charset="-120"/>
              </a:rPr>
              <a:t>Like what?</a:t>
            </a:r>
            <a:r>
              <a:rPr lang="en-US" sz="18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r>
              <a:rPr lang="en-US" sz="1800" b="1" dirty="0">
                <a:solidFill>
                  <a:srgbClr val="FF9755"/>
                </a:solidFill>
                <a:latin typeface="Georgia" pitchFamily="34" charset="0"/>
                <a:ea typeface="Georgia" pitchFamily="34" charset="-122"/>
                <a:cs typeface="Georgia" pitchFamily="34" charset="-120"/>
              </a:rPr>
              <a:t>Then what happens?</a:t>
            </a:r>
            <a:r>
              <a:rPr lang="en-US" sz="18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r>
              <a:rPr lang="en-US" sz="1800" b="1" dirty="0">
                <a:solidFill>
                  <a:srgbClr val="FF9755"/>
                </a:solidFill>
                <a:latin typeface="Georgia" pitchFamily="34" charset="0"/>
                <a:ea typeface="Georgia" pitchFamily="34" charset="-122"/>
                <a:cs typeface="Georgia" pitchFamily="34" charset="-120"/>
              </a:rPr>
              <a:t>How do they handle these challenges?</a:t>
            </a:r>
            <a:r>
              <a:rPr lang="en-US" sz="18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r>
              <a:rPr lang="en-US" sz="1800" b="1" dirty="0">
                <a:solidFill>
                  <a:srgbClr val="FF9755"/>
                </a:solidFill>
                <a:latin typeface="Georgia" pitchFamily="34" charset="0"/>
                <a:ea typeface="Georgia" pitchFamily="34" charset="-122"/>
                <a:cs typeface="Georgia" pitchFamily="34" charset="-120"/>
              </a:rPr>
              <a:t>How do they help?</a:t>
            </a:r>
            <a:r>
              <a:rPr lang="en-US" sz="18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r>
              <a:rPr lang="en-US" sz="18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r>
              <a:rPr lang="en-US" sz="2000" dirty="0">
                <a:solidFill>
                  <a:srgbClr val="3C3828"/>
                </a:solidFill>
                <a:highlight>
                  <a:srgbClr val="FFE14D"/>
                </a:highlight>
                <a:latin typeface="Calibri" pitchFamily="34" charset="0"/>
                <a:ea typeface="Calibri" pitchFamily="34" charset="-122"/>
                <a:cs typeface="Calibri" pitchFamily="34" charset="-120"/>
              </a:rPr>
              <a:t>“Pre-Writing,”</a:t>
            </a: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2480462" y="3931920"/>
            <a:ext cx="7230771"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The My Documents list in YAWP!.">    </p:cNvPr>
          <p:cNvPicPr>
            <a:picLocks noChangeAspect="1"/>
          </p:cNvPicPr>
          <p:nvPr/>
        </p:nvPicPr>
        <p:blipFill>
          <a:blip r:embed="rId2"/>
          <a:stretch>
            <a:fillRect/>
          </a:stretch>
        </p:blipFill>
        <p:spPr>
          <a:xfrm>
            <a:off x="2608478" y="4059936"/>
            <a:ext cx="6974739"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Pre-writing step.">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23113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196596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is on the left</a:t>
            </a:r>
            <a:endParaRPr lang="en-US" sz="2000" dirty="0"/>
          </a:p>
        </p:txBody>
      </p:sp>
      <p:sp>
        <p:nvSpPr>
          <p:cNvPr id="8" name="Shape 5"/>
          <p:cNvSpPr/>
          <p:nvPr/>
        </p:nvSpPr>
        <p:spPr>
          <a:xfrm>
            <a:off x="8183880" y="305409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278892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it says </a:t>
            </a:r>
            <a:r>
              <a:rPr lang="en-US" sz="2000" dirty="0">
                <a:solidFill>
                  <a:srgbClr val="3C3828"/>
                </a:solidFill>
                <a:highlight>
                  <a:srgbClr val="FFE14D"/>
                </a:highlight>
                <a:latin typeface="Calibri" pitchFamily="34" charset="0"/>
                <a:ea typeface="Calibri" pitchFamily="34" charset="-122"/>
                <a:cs typeface="Calibri" pitchFamily="34" charset="-120"/>
              </a:rPr>
              <a:t>Pre-writing</a:t>
            </a:r>
            <a:endParaRPr lang="en-US" sz="2000" dirty="0"/>
          </a:p>
        </p:txBody>
      </p:sp>
      <p:sp>
        <p:nvSpPr>
          <p:cNvPr id="10" name="Shape 7"/>
          <p:cNvSpPr/>
          <p:nvPr/>
        </p:nvSpPr>
        <p:spPr>
          <a:xfrm>
            <a:off x="8183880" y="38770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361188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prompt and writing are in the middle</a:t>
            </a:r>
            <a:endParaRPr lang="en-US" sz="2000" dirty="0"/>
          </a:p>
        </p:txBody>
      </p:sp>
      <p:sp>
        <p:nvSpPr>
          <p:cNvPr id="12" name="Shape 9"/>
          <p:cNvSpPr/>
          <p:nvPr/>
        </p:nvSpPr>
        <p:spPr>
          <a:xfrm>
            <a:off x="8183880" y="470001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43484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My comments are on the right</a:t>
            </a:r>
            <a:endParaRPr lang="en-US" sz="2000" dirty="0"/>
          </a:p>
        </p:txBody>
      </p:sp>
      <p:sp>
        <p:nvSpPr>
          <p:cNvPr id="14" name="Shape 11"/>
          <p:cNvSpPr/>
          <p:nvPr/>
        </p:nvSpPr>
        <p:spPr>
          <a:xfrm>
            <a:off x="8183880" y="5522976"/>
            <a:ext cx="292608" cy="292608"/>
          </a:xfrm>
          <a:prstGeom prst="ellipse">
            <a:avLst/>
          </a:prstGeom>
          <a:solidFill>
            <a:srgbClr val="02BDC7"/>
          </a:solidFill>
          <a:ln w="12700">
            <a:solidFill>
              <a:srgbClr val="02BDC7"/>
            </a:solidFill>
            <a:prstDash val="solid"/>
          </a:ln>
        </p:spPr>
      </p:sp>
      <p:sp>
        <p:nvSpPr>
          <p:cNvPr id="15" name="Text 12"/>
          <p:cNvSpPr/>
          <p:nvPr/>
        </p:nvSpPr>
        <p:spPr>
          <a:xfrm>
            <a:off x="8659368" y="525780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a bunch? Click </a:t>
            </a:r>
            <a:r>
              <a:rPr lang="en-US" sz="20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r>
              <a:rPr lang="en-US" sz="3600" dirty="0">
                <a:solidFill>
                  <a:srgbClr val="3C3828"/>
                </a:solidFill>
                <a:highlight>
                  <a:srgbClr val="FFE14D"/>
                </a:highlight>
                <a:latin typeface="Georgia" pitchFamily="34" charset="0"/>
                <a:ea typeface="Georgia" pitchFamily="34" charset="-122"/>
                <a:cs typeface="Georgia" pitchFamily="34" charset="-120"/>
              </a:rPr>
              <a:t>specific</a:t>
            </a: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r>
              <a:rPr lang="en-US" sz="4000" dirty="0">
                <a:solidFill>
                  <a:srgbClr val="3C3828"/>
                </a:solidFill>
                <a:highlight>
                  <a:srgbClr val="FFE14D"/>
                </a:highlight>
                <a:latin typeface="Georgia" pitchFamily="34" charset="0"/>
                <a:ea typeface="Georgia" pitchFamily="34" charset="-122"/>
                <a:cs typeface="Georgia" pitchFamily="34" charset="-120"/>
              </a:rPr>
              <a:t>specific</a:t>
            </a: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Pro-tip: Stay off the internet!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timer icon">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diamond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r>
              <a:rPr lang="en-US" sz="2600" dirty="0">
                <a:solidFill>
                  <a:srgbClr val="3C3828"/>
                </a:solidFill>
                <a:highlight>
                  <a:srgbClr val="FFE14D"/>
                </a:highlight>
                <a:latin typeface="Georgia" pitchFamily="34" charset="0"/>
                <a:ea typeface="Georgia" pitchFamily="34" charset="-122"/>
                <a:cs typeface="Georgia" pitchFamily="34" charset="-120"/>
              </a:rPr>
              <a:t>These are “the diamonds,”</a:t>
            </a:r>
            <a:r>
              <a:rPr lang="en-US" sz="2600" dirty="0">
                <a:solidFill>
                  <a:srgbClr val="3C3828"/>
                </a:solidFill>
                <a:latin typeface="Georgia" pitchFamily="34" charset="0"/>
                <a:ea typeface="Georgia" pitchFamily="34" charset="-122"/>
                <a:cs typeface="Georgia" pitchFamily="34" charset="-120"/>
              </a:rPr>
              <a:t> and they could be a specific focus for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question icon">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timer icon">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lightbulb icon">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See you next time: thesis statements.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2026-10-13T22:56:19Z</dcterms:created>
  <dcterms:modified xsi:type="dcterms:W3CDTF">2026-10-13T22:56:19Z</dcterms:modified>
</cp:coreProperties>
</file>