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turning point: with a solid intro ending on a strong thesis, students start to realize they’re actually writing a great essay. Before class, read their intros and comment; some will need a transition sentence linking the intro to the thesis. Start class with them opening their YAWP! docs and rereading their intro and thesis. A little show-and-tell helps: have a few students read theirs aloud. Being read gives them a sense of audience, and that lifts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reinforcing the shape, so later in the year (or in other classes) they already carry the structure of a critical academic essay. Ask where the thesis goes: the last sentence of the intro. Not a hard rule for all writing, but it is for this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body of the essay, the bulk of the work. It may take several class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job now that the thesis is down: illustrate, support and define the argument you put forth.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kind of amazing, actually. Let’s look at the sample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Ask: how many distinct parts can you hear in this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parts in Haley’s thesis. The first is her original observation; the second and third are her analysis. Now have students do the same on their own thesis: make sure they’re on the Body Paragraphs step and follow the Tutor’s instructions for breaking it into parts. Have them check they agree with how it’s split, and highlight each part in its own colour in their doc; the visual keeps them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1 is devoted only to how schools fail to prioritize creativity: examples, comments, analysis, "why is this the case?" Then paragraph 2 shows the consequence, school becomes boring, for both teachers and students. Then paragraph 3, the result. A very logical flow. Important: not every thesis has three parts. Two to four is usual, occasionally five, and one complex part can need two or three paragraphs. Don’t teach it like a required number of paragraphs, or students will think this is the 5-paragraph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you’re not just writers, you’re thinkers who write; and you’re the architects of your essay, building it paragraph by paragraph. Not everyone believes they can write 2–4 pages, but everyone can write a paragraph when they know what it’s about. The topic sentence calls back to that part of the thesis. A transition can bridge from the paragraph before: "Not only does this lack of creativity exist in schools, but it also…" For support, the 5 W’s (who, what, where, when, why) are a quick way to analyze. Brian’s preference for the concluding sentence: a consequence of the point, not a "but wait, there’s more" tease of the next one. Leave this slide up while they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the sample essay together so students see exactly how Haley used her body paragraphs to expand each element of her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body paragraph calls back to the first element: "Visit most schools in America today and you’ll see how much creativity they really lack." Then: what are the priorities instead? Why don’t teachers prioritize creativity (fear of disruption)? Who else is to blame (administrators)? Finally,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2: the consequence. Rhetorical questions, a real statistic with its source cited (The 74), and both halves of the element: students AND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3: the result, and a turn toward a remedy (administrators supporting creative teaching), which sets up the conclusion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Body Paragraphs step. Students start with the first element of their thesis only. Work the room, read paragraphs, encourage; you’ll see confidence rise as the essays take shape.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Brian’s telling: imagine you’re a real estate agent and the goal is to sell the house. As the buyer drives in they notice the street, the sidewalks, the other houses; that’s the introduction creating context. They walk up the path and into the foyer: the thesis, where they can see the whole argument. You’d never stop there, so you walk them room by room (the body paragraphs), pointing out specific things that make the house worth buying. At the end you walk them back to the front door and point out the neighborhood again, maybe a neighboring house you won’t go into: new ideas you acknowledge without exploring. You place the house in the wider world and make a graceful exit. That’s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5</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Body Paragraphs</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Let your thesis be your guide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02BDC7"/>
          </a:solidFill>
          <a:ln w="12700">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Thesis statement ★</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Body paragraphs</a:t>
            </a:r>
            <a:pPr indent="0" marL="0">
              <a:buNone/>
            </a:pPr>
            <a:r>
              <a:rPr lang="en-US" sz="2400" dirty="0">
                <a:solidFill>
                  <a:srgbClr val="3C3828"/>
                </a:solidFill>
                <a:latin typeface="Calibri" pitchFamily="34" charset="0"/>
                <a:ea typeface="Calibri" pitchFamily="34" charset="-122"/>
                <a:cs typeface="Calibri" pitchFamily="34" charset="-120"/>
              </a:rPr>
              <a:t> ← today</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4</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Supporting Paragraphs</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Let your thesis be your guide.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RULE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Everything after the thesis serves the thesis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Once you’ve dropped your thesis at the end of your introduction, everything you write must in some way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support, define, or illustrate</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the elements within your thesis.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GOOD NEWS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thesis is a roadmap</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The good news is that your thesis statement tells you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exactly where to go from here.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SAMPLE ESSAY’S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thesis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Break your thesis into its parts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schools fail to prioritize creativity in teaching</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school becomes boring for both students and teachers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resulting in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1st element: </a:t>
            </a:r>
            <a:pPr indent="0" marL="0">
              <a:buNone/>
            </a:pP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2nd element: </a:t>
            </a:r>
            <a:pPr indent="0" marL="0">
              <a:buNone/>
            </a:pP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3rd element: </a:t>
            </a:r>
            <a:pPr indent="0" marL="0">
              <a:buNone/>
            </a:pP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These become your body paragraphs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schools fail to prioritize creativity in teaching</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school becomes boring for both students and teachers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resulting in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Body paragraph 1: </a:t>
            </a:r>
            <a:pPr indent="0" marL="0">
              <a:buNone/>
            </a:pP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Body paragraph 2: </a:t>
            </a:r>
            <a:pPr indent="0" marL="0">
              <a:buNone/>
            </a:pP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Body paragraph 3: </a:t>
            </a:r>
            <a:pPr indent="0" marL="0">
              <a:buNone/>
            </a:pP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BASIC STRUCTURE OF A BODY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One paragraph at a time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Transition sentence</a:t>
            </a:r>
            <a:pPr indent="0" marL="0">
              <a:buNone/>
            </a:pPr>
            <a:r>
              <a:rPr lang="en-US" sz="1800" dirty="0">
                <a:solidFill>
                  <a:srgbClr val="3C3828"/>
                </a:solidFill>
                <a:latin typeface="Calibri" pitchFamily="34" charset="0"/>
                <a:ea typeface="Calibri" pitchFamily="34" charset="-122"/>
                <a:cs typeface="Calibri" pitchFamily="34" charset="-120"/>
              </a:rPr>
              <a:t> (optional)</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Topic sentence:</a:t>
            </a:r>
            <a:pPr indent="0" marL="0">
              <a:buNone/>
            </a:pPr>
            <a:r>
              <a:rPr lang="en-US" sz="1800" dirty="0">
                <a:solidFill>
                  <a:srgbClr val="3C3828"/>
                </a:solidFill>
                <a:latin typeface="Calibri" pitchFamily="34" charset="0"/>
                <a:ea typeface="Calibri" pitchFamily="34" charset="-122"/>
                <a:cs typeface="Calibri" pitchFamily="34" charset="-120"/>
              </a:rPr>
              <a:t> the element from your thesis you’re discussing</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Supporting sentences:</a:t>
            </a:r>
            <a:pPr indent="0" marL="0">
              <a:buNone/>
            </a:pPr>
            <a:r>
              <a:rPr lang="en-US" sz="1800" dirty="0">
                <a:solidFill>
                  <a:srgbClr val="3C3828"/>
                </a:solidFill>
                <a:latin typeface="Calibri" pitchFamily="34" charset="0"/>
                <a:ea typeface="Calibri" pitchFamily="34" charset="-122"/>
                <a:cs typeface="Calibri" pitchFamily="34" charset="-120"/>
              </a:rPr>
              <a:t> explanations, opinions and analysis, causes or effects, research (only if needed, and cite it), the 5 W’s</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Concluding sentence:</a:t>
            </a:r>
            <a:pPr indent="0" marL="0">
              <a:buNone/>
            </a:pPr>
            <a:r>
              <a:rPr lang="en-US" sz="1800" dirty="0">
                <a:solidFill>
                  <a:srgbClr val="3C3828"/>
                </a:solidFill>
                <a:latin typeface="Calibri" pitchFamily="34" charset="0"/>
                <a:ea typeface="Calibri" pitchFamily="34" charset="-122"/>
                <a:cs typeface="Calibri" pitchFamily="34" charset="-120"/>
              </a:rPr>
              <a:t> wrapping up your thoughts on this element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READ TOGETHER</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Read Sample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Watch each paragraph call back to one part of the thesis.</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Introduction and body paragraph 1</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TOPIC SENTENCES HIGHLIGHTED · THESIS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pPr indent="0" marL="0">
              <a:lnSpc>
                <a:spcPct val="120000"/>
              </a:lnSpc>
              <a:buNone/>
            </a:pPr>
            <a:r>
              <a:rPr lang="en-US" sz="135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
</a:t>
            </a:r>
            <a:pPr indent="0" marL="0">
              <a:lnSpc>
                <a:spcPct val="120000"/>
              </a:lnSpc>
              <a:buNone/>
            </a:pPr>
            <a:r>
              <a:rPr lang="en-US" sz="1350" dirty="0">
                <a:solidFill>
                  <a:srgbClr val="3C3828"/>
                </a:solidFill>
                <a:highlight>
                  <a:srgbClr val="FFE14D"/>
                </a:highlight>
                <a:latin typeface="Georgia" pitchFamily="34" charset="0"/>
                <a:ea typeface="Georgia" pitchFamily="34" charset="-122"/>
                <a:cs typeface="Georgia" pitchFamily="34" charset="-120"/>
              </a:rPr>
              <a:t>Visit most schools in America today and you’ll see how much creativity they really lack.</a:t>
            </a:r>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 Handouts, tests, and managing student behavior seem to be the priorities. Many teachers think if they allow creativity in a classroom, it will cause the students to be disruptive, and make it hard to gain control again. Administrators may also be to blame, if they don’t see the value of creative activities and discourage teachers from teaching in this way. However, the truth is that creative activities get students interested in subjects. When they are interested, they ask questions and want to learn more. In some cases, they may even find the thing they want to focus on in college or for a career.</a:t>
            </a:r>
            <a:endParaRPr lang="en-US" sz="135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2</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 PART 2 · SCHOOL BECOMES BORING FOR BOTH STUDENTS AND TEACHERS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fact is, when students are not inspired creatively, they get bored.</a:t>
            </a:r>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 Have you ever walked into a classroom and seen students asleep? What about teachers who never get out of their seats to teach? This is very common in classrooms today. Students aren’t interested in the lessons because the teacher shows no signs of interest either. A lot of the time teachers just slap a packet of worksheets on students’ desks and tell them to do it. This does not sufficiently challenge them or encourage them. According to “The 74,” a nonprofit news organization covering American education, thirty-two percent of American students say they feel bored during class (www.the74million.org). They feel unconnected and unmotivated with the lessons. This affects teachers too, who also show signs of boredom by having a low monotone voice, never changing their teaching routine, and always being serious. This collective boredom between students and teachers makes school painful, when it could be energizing.</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3</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C4540"/>
          </a:solidFill>
          <a:ln w="12700">
            <a:solidFill>
              <a:srgbClr val="FC454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PART 3 · A LACK OF SHARED MOTIVATION, EXCITEMENT, AND ACCOMPLISHMENT</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issue at hand is the lack of shared motivation, excitement, and accomplishment among the teachers and students.</a:t>
            </a:r>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 Walking into a classroom today, especially after the pandemic, everyone seems so drained and unmotivated. Students got so used to learning everything through a screen for 2 years. Now all you see is students on their phones or asleep. This also severely affects teachers because they feel that there is no hope in teaching students while battling the students’ desire to constantly be connected with social media. Furthermore, many teachers appear to be disengaged with the students and even their profession. To remedy this, administrators should support teachers in teaching creatively. Projects instead of tests, fun activities instead of worksheets, and physical movement instead of sitting still can make class more engaging and fun. Not only would this increase student involvement, but it would also help teachers rediscover their love for teaching again. Making learning fun truly motivates everyone.</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body.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Body Paragraphs</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thesis, in its parts</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paragraph per part</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one?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essay is a house, and you’re showing it</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neighborhood</a:t>
            </a:r>
            <a:pPr indent="0" marL="0">
              <a:buNone/>
            </a:pPr>
            <a:r>
              <a:rPr lang="en-US" sz="2000" dirty="0">
                <a:solidFill>
                  <a:srgbClr val="3C3828"/>
                </a:solidFill>
                <a:latin typeface="Calibri" pitchFamily="34" charset="0"/>
                <a:ea typeface="Calibri" pitchFamily="34" charset="-122"/>
                <a:cs typeface="Calibri" pitchFamily="34" charset="-120"/>
              </a:rPr>
              <a:t> · Driving in, your reader gets a sense of where they are. That’s your introduction: context.</a:t>
            </a:r>
            <a:endParaRPr lang="en-US" sz="20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front door</a:t>
            </a:r>
            <a:pPr indent="0" marL="0">
              <a:buNone/>
            </a:pPr>
            <a:r>
              <a:rPr lang="en-US" sz="2000" dirty="0">
                <a:solidFill>
                  <a:srgbClr val="3C3828"/>
                </a:solidFill>
                <a:latin typeface="Calibri" pitchFamily="34" charset="0"/>
                <a:ea typeface="Calibri" pitchFamily="34" charset="-122"/>
                <a:cs typeface="Calibri" pitchFamily="34" charset="-120"/>
              </a:rPr>
              <a:t> · They step into the foyer and see the whole house at once. That’s your thesis statement.</a:t>
            </a:r>
            <a:endParaRPr lang="en-US" sz="20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rooms</a:t>
            </a:r>
            <a:pPr indent="0" marL="0">
              <a:buNone/>
            </a:pPr>
            <a:r>
              <a:rPr lang="en-US" sz="2000" dirty="0">
                <a:solidFill>
                  <a:srgbClr val="3C3828"/>
                </a:solidFill>
                <a:latin typeface="Calibri" pitchFamily="34" charset="0"/>
                <a:ea typeface="Calibri" pitchFamily="34" charset="-122"/>
                <a:cs typeface="Calibri" pitchFamily="34" charset="-120"/>
              </a:rPr>
              <a:t> · You walk them through, pointing out what makes each room worth it. Those are your body paragraphs.</a:t>
            </a:r>
            <a:endParaRPr lang="en-US" sz="20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Back at the door</a:t>
            </a:r>
            <a:pPr indent="0" marL="0">
              <a:buNone/>
            </a:pPr>
            <a:r>
              <a:rPr lang="en-US" sz="2000" dirty="0">
                <a:solidFill>
                  <a:srgbClr val="3C3828"/>
                </a:solidFill>
                <a:latin typeface="Calibri" pitchFamily="34" charset="0"/>
                <a:ea typeface="Calibri" pitchFamily="34" charset="-122"/>
                <a:cs typeface="Calibri" pitchFamily="34" charset="-120"/>
              </a:rPr>
              <a:t> · You step out, point at the neighborhood, and leave gracefully. That’s your conclusion.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Body Paragraphs</dc:title>
  <dc:subject>Thesis-Driven Essay · Lesson 5</dc:subject>
  <dc:creator>PptxGenJS</dc:creator>
  <cp:lastModifiedBy>PptxGenJS</cp:lastModifiedBy>
  <cp:revision>1</cp:revision>
  <dcterms:created xsi:type="dcterms:W3CDTF">2026-10-12T22:50:30Z</dcterms:created>
  <dcterms:modified xsi:type="dcterms:W3CDTF">2026-10-12T22:50:30Z</dcterms:modified>
</cp:coreProperties>
</file>