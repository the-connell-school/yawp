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turning point: with a solid intro ending on a strong thesis, students start to realize they’re actually writing a great essay. Before class, read their intros and comment; some will need a transition sentence linking the intro to the thesis. Start class with them opening their YAWP! docs and rereading their intro and thesis. A little show-and-tell helps: have a few students read theirs aloud. Being read gives them a sense of audience, and that lifts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quiz starts here: this divider and the question-and-reveal pairs after it. Brian: "If that’s not your gig, delete the slides." Delete them together, or skip ahead to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Develop my ideas into a thesis statement and build my essay around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Develop my ideas into a thesis statement and build my essay around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Asking questions and seeking answers about a topic. The same thing they did with the photo and in their pre-write.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Asking questions and seeking answers about a topic. The same thing they did with the photo and in their pre-write.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Observation and analysis. Some students (and some of us) will pick B, the 5-paragraph-essay answer; our thesis is going to be more complex than a three-pronged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Observation and analysis. Some students (and some of us) will pick B, the 5-paragraph-essay answer; our thesis is going to be more complex than a three-pronged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Welcome the reader in and state the thesis. A, C and D are styles an intro can use, not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Welcome the reader in and state the thesis. A, C and D are styles an intro can use, not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Your thesis statement. It lives at the end of the introduction; the body paragraphs support, define and illustrate its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Your thesis statement. It lives at the end of the introduction; the body paragraphs support, define and illustrate its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reinforcing the shape, so later in the year (or in other classes) they already carry the structure of a critical academic essay. Ask where the thesis goes: the last sentence of the intro. Not a hard rule for all writing, but it is for this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body of the essay, the bulk of the work. It may take several class periods.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job now that the thesis is down: illustrate, support and define the argument you put forth.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kind of amazing, actually. Let’s look at the sample essay’s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aloud. Ask: how many distinct parts can you hear in this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distinct parts in Haley’s thesis. The first is her original observation; the second and third are her analysis. Now have students do the same on their own thesis: make sure they’re on the Body Paragraphs step and follow the Tutor’s instructions for breaking it into parts. Have them check they agree with how it’s split, and highlight each part in its own colour in their doc; the visual keeps them organized.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Body paragraph 1 is devoted only to how schools fail to prioritize creativity: examples, comments, analysis, "why is this the case?" Then paragraph 2 shows the consequence, school becomes boring, for both teachers and students. Then paragraph 3, the result. A very logical flow. Important: not every thesis has three parts. Two to four is usual, occasionally five, and one complex part can need two or three paragraphs. Don’t teach it like a required number of paragraphs, or students will think this is the 5-paragraph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you’re not just writers, you’re thinkers who write; and you’re the architects of your essay, building it paragraph by paragraph. Not everyone believes they can write 2–4 pages, but everyone can write a paragraph when they know what it’s about. The topic sentence calls back to that part of the thesis. A transition can bridge from the paragraph before: "Not only does this lack of creativity exist in schools, but it also…" For support, the 5 W’s (who, what, where, when, why) are a quick way to analyze. Brian’s preference for the concluding sentence: a consequence of the point, not a "but wait, there’s more" tease of the next one. Leave this slide up while they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Reread the sample essay together so students see exactly how Haley used her body paragraphs to expand each element of her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where the reader does: the introduction, ending on the thesis. Have students point to each of its three parts before you move on; each one gets a body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body paragraph calls back to the first element: "Visit most schools in America today and you’ll see how much creativity they really lack." Then: what are the priorities instead? Why don’t teachers prioritize creativity (fear of disruption)? Who else is to blame (administrators)? Finally,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Body paragraph 2: the consequence. Rhetorical questions, a real statistic with its source cited (The 74), and both halves of the element: students AND teachers.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Body paragraph 3: the result, and a turn toward a remedy (administrators supporting creative teaching), which sets up the conclusion nicely.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Brian’s telling: imagine you’re a real estate agent and the goal is to sell the house. As the buyer drives in they notice the street, the sidewalks, the other houses; that’s the introduction creating context. They walk up the path and into the foyer: the thesis, where they can see the whole argument. You’d never stop there, so you walk them room by room (the body paragraphs), pointing out specific things that make the house worth buying. At the end you walk them back to the front door and point out the neighborhood again, maybe a neighboring house you won’t go into: new ideas you acknowledge without exploring. You place the house in the wider world and make a graceful exit. That’s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YAWP! editor on the Body Paragraphs step. Students start with the first element of their thesis only. Work the room, read paragraphs, encourage; you’ll see confidence rise as the essays take shape. Celebrate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Body paragraphs can take several class periods. Before next class, read what students have and comment; check every paragraph calls back to one part of its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YAWP_HYBRID">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685800" y="6355080"/>
            <a:ext cx="1828800" cy="320040"/>
          </a:xfrm>
          <a:prstGeom prst="rect">
            <a:avLst/>
          </a:prstGeom>
          <a:noFill/>
          <a:ln/>
        </p:spPr>
        <p:txBody>
          <a:bodyPr wrap="square" lIns="0" tIns="0" rIns="0" bIns="0" rtlCol="0" anchor="ctr"/>
          <a:lstStyle/>
          <a:p>
            <a:pPr indent="0" marL="0">
              <a:buNone/>
            </a:pPr>
            <a:r>
              <a:rPr lang="en-US" sz="1100" b="1" dirty="0">
                <a:solidFill>
                  <a:srgbClr val="D27151"/>
                </a:solidFill>
                <a:latin typeface="Georgia" pitchFamily="34" charset="0"/>
                <a:ea typeface="Georgia" pitchFamily="34" charset="-122"/>
                <a:cs typeface="Georgia" pitchFamily="34" charset="-120"/>
              </a:rPr>
              <a:t>YAWP!</a:t>
            </a:r>
            <a:endParaRPr lang="en-US" sz="1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02BDC7"/>
          </a:solidFill>
          <a:ln w="12700">
            <a:solidFill>
              <a:srgbClr val="02BDC7"/>
            </a:solidFill>
            <a:prstDash val="solid"/>
          </a:ln>
        </p:spPr>
      </p:sp>
      <p:sp>
        <p:nvSpPr>
          <p:cNvPr id="3" name="Shape 1"/>
          <p:cNvSpPr/>
          <p:nvPr/>
        </p:nvSpPr>
        <p:spPr>
          <a:xfrm>
            <a:off x="777240" y="1874520"/>
            <a:ext cx="3108960" cy="3108960"/>
          </a:xfrm>
          <a:prstGeom prst="ellipse">
            <a:avLst/>
          </a:prstGeom>
          <a:solidFill>
            <a:srgbClr val="FFFEFA"/>
          </a:solidFill>
          <a:ln w="12700">
            <a:solidFill>
              <a:srgbClr val="FFFEFA"/>
            </a:solidFill>
            <a:prstDash val="solid"/>
          </a:ln>
          <a:effectLst>
            <a:outerShdw sx="100000" sy="100000" kx="0" ky="0" algn="bl" rotWithShape="0" blurRad="177800" dist="50800" dir="5400000">
              <a:srgbClr val="3C3828">
                <a:alpha val="18000"/>
              </a:srgbClr>
            </a:outerShdw>
          </a:effectLst>
        </p:spPr>
      </p:sp>
      <p:sp>
        <p:nvSpPr>
          <p:cNvPr id="4" name="Text 2"/>
          <p:cNvSpPr/>
          <p:nvPr/>
        </p:nvSpPr>
        <p:spPr>
          <a:xfrm>
            <a:off x="777240" y="2788920"/>
            <a:ext cx="3108960" cy="914400"/>
          </a:xfrm>
          <a:prstGeom prst="rect">
            <a:avLst/>
          </a:prstGeom>
          <a:noFill/>
          <a:ln/>
        </p:spPr>
        <p:txBody>
          <a:bodyPr wrap="square" lIns="0" tIns="0" rIns="0" bIns="0" rtlCol="0" anchor="ctr"/>
          <a:lstStyle/>
          <a:p>
            <a:pPr algn="ctr" indent="0" marL="0">
              <a:buNone/>
            </a:pPr>
            <a:r>
              <a:rPr lang="en-US" sz="6000" b="1" dirty="0">
                <a:solidFill>
                  <a:srgbClr val="3C3828"/>
                </a:solidFill>
                <a:latin typeface="Georgia" pitchFamily="34" charset="0"/>
                <a:ea typeface="Georgia" pitchFamily="34" charset="-122"/>
                <a:cs typeface="Georgia" pitchFamily="34" charset="-120"/>
              </a:rPr>
              <a:t>YAWP!</a:t>
            </a:r>
            <a:endParaRPr lang="en-US" sz="6000" dirty="0"/>
          </a:p>
        </p:txBody>
      </p:sp>
      <p:sp>
        <p:nvSpPr>
          <p:cNvPr id="5" name="Text 3"/>
          <p:cNvSpPr/>
          <p:nvPr/>
        </p:nvSpPr>
        <p:spPr>
          <a:xfrm>
            <a:off x="777240" y="3703320"/>
            <a:ext cx="3108960" cy="365760"/>
          </a:xfrm>
          <a:prstGeom prst="rect">
            <a:avLst/>
          </a:prstGeom>
          <a:noFill/>
          <a:ln/>
        </p:spPr>
        <p:txBody>
          <a:bodyPr wrap="square" lIns="0" tIns="0" rIns="0" bIns="0" rtlCol="0" anchor="ctr"/>
          <a:lstStyle/>
          <a:p>
            <a:pPr algn="ctr" indent="0" marL="0">
              <a:buNone/>
            </a:pPr>
            <a:r>
              <a:rPr lang="en-US" sz="1200" b="1" spc="300" kern="0" dirty="0">
                <a:solidFill>
                  <a:srgbClr val="D27151"/>
                </a:solidFill>
                <a:latin typeface="Consolas" pitchFamily="34" charset="0"/>
                <a:ea typeface="Consolas" pitchFamily="34" charset="-122"/>
                <a:cs typeface="Consolas" pitchFamily="34" charset="-120"/>
              </a:rPr>
              <a:t>WRITING PROGRAM</a:t>
            </a:r>
            <a:endParaRPr lang="en-US" sz="1200" dirty="0"/>
          </a:p>
        </p:txBody>
      </p:sp>
      <p:sp>
        <p:nvSpPr>
          <p:cNvPr id="6" name="Shape 4"/>
          <p:cNvSpPr/>
          <p:nvPr/>
        </p:nvSpPr>
        <p:spPr>
          <a:xfrm>
            <a:off x="2971800" y="1371600"/>
            <a:ext cx="1325880" cy="132588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3236976" y="1636776"/>
            <a:ext cx="795528" cy="795528"/>
          </a:xfrm>
          <a:prstGeom prst="rect">
            <a:avLst/>
          </a:prstGeom>
        </p:spPr>
      </p:pic>
      <p:sp>
        <p:nvSpPr>
          <p:cNvPr id="8" name="Shape 5"/>
          <p:cNvSpPr/>
          <p:nvPr/>
        </p:nvSpPr>
        <p:spPr>
          <a:xfrm>
            <a:off x="365760" y="2011680"/>
            <a:ext cx="914400" cy="91440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548640" y="2194560"/>
            <a:ext cx="548640" cy="548640"/>
          </a:xfrm>
          <a:prstGeom prst="rect">
            <a:avLst/>
          </a:prstGeom>
        </p:spPr>
      </p:pic>
      <p:sp>
        <p:nvSpPr>
          <p:cNvPr id="10" name="Shape 6"/>
          <p:cNvSpPr/>
          <p:nvPr/>
        </p:nvSpPr>
        <p:spPr>
          <a:xfrm>
            <a:off x="822960" y="4206240"/>
            <a:ext cx="1051560" cy="105156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1033272" y="4416552"/>
            <a:ext cx="630936" cy="630936"/>
          </a:xfrm>
          <a:prstGeom prst="rect">
            <a:avLst/>
          </a:prstGeom>
        </p:spPr>
      </p:pic>
      <p:sp>
        <p:nvSpPr>
          <p:cNvPr id="12" name="Shape 7"/>
          <p:cNvSpPr/>
          <p:nvPr/>
        </p:nvSpPr>
        <p:spPr>
          <a:xfrm>
            <a:off x="594360" y="3200400"/>
            <a:ext cx="256032" cy="256032"/>
          </a:xfrm>
          <a:prstGeom prst="ellipse">
            <a:avLst/>
          </a:prstGeom>
          <a:solidFill>
            <a:srgbClr val="FFFEFA"/>
          </a:solidFill>
          <a:ln w="12700">
            <a:solidFill>
              <a:srgbClr val="FFFEFA"/>
            </a:solidFill>
            <a:prstDash val="solid"/>
          </a:ln>
        </p:spPr>
      </p:sp>
      <p:sp>
        <p:nvSpPr>
          <p:cNvPr id="13" name="Shape 8"/>
          <p:cNvSpPr/>
          <p:nvPr/>
        </p:nvSpPr>
        <p:spPr>
          <a:xfrm>
            <a:off x="3931920" y="2971800"/>
            <a:ext cx="329184" cy="329184"/>
          </a:xfrm>
          <a:prstGeom prst="ellipse">
            <a:avLst/>
          </a:prstGeom>
          <a:solidFill>
            <a:srgbClr val="FC4067"/>
          </a:solidFill>
          <a:ln w="12700">
            <a:solidFill>
              <a:srgbClr val="FC4067"/>
            </a:solidFill>
            <a:prstDash val="solid"/>
          </a:ln>
        </p:spPr>
      </p:sp>
      <p:sp>
        <p:nvSpPr>
          <p:cNvPr id="14" name="Shape 9"/>
          <p:cNvSpPr/>
          <p:nvPr/>
        </p:nvSpPr>
        <p:spPr>
          <a:xfrm>
            <a:off x="3383280" y="5074920"/>
            <a:ext cx="457200" cy="457200"/>
          </a:xfrm>
          <a:prstGeom prst="ellipse">
            <a:avLst/>
          </a:prstGeom>
          <a:solidFill>
            <a:srgbClr val="FF9755"/>
          </a:solidFill>
          <a:ln w="12700">
            <a:solidFill>
              <a:srgbClr val="FF9755"/>
            </a:solidFill>
            <a:prstDash val="solid"/>
          </a:ln>
        </p:spPr>
      </p:sp>
      <p:sp>
        <p:nvSpPr>
          <p:cNvPr id="15" name="Shape 10"/>
          <p:cNvSpPr/>
          <p:nvPr/>
        </p:nvSpPr>
        <p:spPr>
          <a:xfrm>
            <a:off x="2651760" y="5303520"/>
            <a:ext cx="146304" cy="146304"/>
          </a:xfrm>
          <a:prstGeom prst="ellipse">
            <a:avLst/>
          </a:prstGeom>
          <a:solidFill>
            <a:srgbClr val="FFB600"/>
          </a:solidFill>
          <a:ln w="12700">
            <a:solidFill>
              <a:srgbClr val="FFB600"/>
            </a:solidFill>
            <a:prstDash val="solid"/>
          </a:ln>
        </p:spPr>
      </p:sp>
      <p:sp>
        <p:nvSpPr>
          <p:cNvPr id="16" name="Shape 11"/>
          <p:cNvSpPr/>
          <p:nvPr/>
        </p:nvSpPr>
        <p:spPr>
          <a:xfrm>
            <a:off x="1920240" y="5212080"/>
            <a:ext cx="182880" cy="182880"/>
          </a:xfrm>
          <a:prstGeom prst="ellipse">
            <a:avLst/>
          </a:prstGeom>
          <a:solidFill>
            <a:srgbClr val="FFFEFA"/>
          </a:solidFill>
          <a:ln w="12700">
            <a:solidFill>
              <a:srgbClr val="FFFEFA"/>
            </a:solidFill>
            <a:prstDash val="solid"/>
          </a:ln>
        </p:spPr>
      </p:sp>
      <p:sp>
        <p:nvSpPr>
          <p:cNvPr id="17" name="Text 12"/>
          <p:cNvSpPr/>
          <p:nvPr/>
        </p:nvSpPr>
        <p:spPr>
          <a:xfrm>
            <a:off x="5394960" y="2057400"/>
            <a:ext cx="6110935" cy="365760"/>
          </a:xfrm>
          <a:prstGeom prst="rect">
            <a:avLst/>
          </a:prstGeom>
          <a:noFill/>
          <a:ln/>
        </p:spPr>
        <p:txBody>
          <a:bodyPr wrap="square" lIns="0" tIns="0" rIns="0" bIns="0" rtlCol="0" anchor="ctr"/>
          <a:lstStyle/>
          <a:p>
            <a:pPr indent="0" marL="0">
              <a:buNone/>
            </a:pPr>
            <a:r>
              <a:rPr lang="en-US" sz="1300" b="1" dirty="0">
                <a:solidFill>
                  <a:srgbClr val="02BDC7"/>
                </a:solidFill>
                <a:latin typeface="Consolas" pitchFamily="34" charset="0"/>
                <a:ea typeface="Consolas" pitchFamily="34" charset="-122"/>
                <a:cs typeface="Consolas" pitchFamily="34" charset="-120"/>
              </a:rPr>
              <a:t>Thesis-Driven Essay · Lesson 5</a:t>
            </a:r>
            <a:endParaRPr lang="en-US" sz="1300" dirty="0"/>
          </a:p>
        </p:txBody>
      </p:sp>
      <p:sp>
        <p:nvSpPr>
          <p:cNvPr id="18" name="Text 13"/>
          <p:cNvSpPr/>
          <p:nvPr/>
        </p:nvSpPr>
        <p:spPr>
          <a:xfrm>
            <a:off x="5394960" y="2468880"/>
            <a:ext cx="6110935" cy="1371600"/>
          </a:xfrm>
          <a:prstGeom prst="rect">
            <a:avLst/>
          </a:prstGeom>
          <a:noFill/>
          <a:ln/>
        </p:spPr>
        <p:txBody>
          <a:bodyPr wrap="square" lIns="0" tIns="0" rIns="0" bIns="0" rtlCol="0" anchor="ctr"/>
          <a:lstStyle/>
          <a:p>
            <a:pPr indent="0" marL="0">
              <a:buNone/>
            </a:pPr>
            <a:r>
              <a:rPr lang="en-US" sz="4600" dirty="0">
                <a:solidFill>
                  <a:srgbClr val="3C3828"/>
                </a:solidFill>
                <a:highlight>
                  <a:srgbClr val="FFE14D"/>
                </a:highlight>
                <a:latin typeface="Georgia" pitchFamily="34" charset="0"/>
                <a:ea typeface="Georgia" pitchFamily="34" charset="-122"/>
                <a:cs typeface="Georgia" pitchFamily="34" charset="-120"/>
              </a:rPr>
              <a:t>Body Paragraphs</a:t>
            </a:r>
            <a:endParaRPr lang="en-US" sz="4600" dirty="0"/>
          </a:p>
        </p:txBody>
      </p:sp>
      <p:sp>
        <p:nvSpPr>
          <p:cNvPr id="19" name="Text 14"/>
          <p:cNvSpPr/>
          <p:nvPr/>
        </p:nvSpPr>
        <p:spPr>
          <a:xfrm>
            <a:off x="5394960" y="3931920"/>
            <a:ext cx="6110935" cy="640080"/>
          </a:xfrm>
          <a:prstGeom prst="rect">
            <a:avLst/>
          </a:prstGeom>
          <a:noFill/>
          <a:ln/>
        </p:spPr>
        <p:txBody>
          <a:bodyPr wrap="square" lIns="0" tIns="0" rIns="0" bIns="0" rtlCol="0" anchor="t"/>
          <a:lstStyle/>
          <a:p>
            <a:pPr indent="0" marL="0">
              <a:buNone/>
            </a:pPr>
            <a:r>
              <a:rPr lang="en-US" sz="2200" dirty="0">
                <a:solidFill>
                  <a:srgbClr val="7E7C78"/>
                </a:solidFill>
                <a:latin typeface="Calibri" pitchFamily="34" charset="0"/>
                <a:ea typeface="Calibri" pitchFamily="34" charset="-122"/>
                <a:cs typeface="Calibri" pitchFamily="34" charset="-120"/>
              </a:rPr>
              <a:t>Let your thesis be your guide</a:t>
            </a:r>
            <a:endParaRPr lang="en-US" sz="2200" dirty="0"/>
          </a:p>
        </p:txBody>
      </p:sp>
      <p:sp>
        <p:nvSpPr>
          <p:cNvPr id="20" name="Shape 15"/>
          <p:cNvSpPr/>
          <p:nvPr/>
        </p:nvSpPr>
        <p:spPr>
          <a:xfrm>
            <a:off x="5394960" y="4800600"/>
            <a:ext cx="237744" cy="237744"/>
          </a:xfrm>
          <a:prstGeom prst="ellipse">
            <a:avLst/>
          </a:prstGeom>
          <a:solidFill>
            <a:srgbClr val="02BDC7"/>
          </a:solidFill>
          <a:ln w="12700">
            <a:solidFill>
              <a:srgbClr val="02BDC7"/>
            </a:solidFill>
            <a:prstDash val="solid"/>
          </a:ln>
        </p:spPr>
      </p:sp>
      <p:sp>
        <p:nvSpPr>
          <p:cNvPr id="21" name="Shape 16"/>
          <p:cNvSpPr/>
          <p:nvPr/>
        </p:nvSpPr>
        <p:spPr>
          <a:xfrm>
            <a:off x="5779008" y="4800600"/>
            <a:ext cx="237744" cy="237744"/>
          </a:xfrm>
          <a:prstGeom prst="ellipse">
            <a:avLst/>
          </a:prstGeom>
          <a:solidFill>
            <a:srgbClr val="FFB600"/>
          </a:solidFill>
          <a:ln w="12700">
            <a:solidFill>
              <a:srgbClr val="FFB600"/>
            </a:solidFill>
            <a:prstDash val="solid"/>
          </a:ln>
        </p:spPr>
      </p:sp>
      <p:sp>
        <p:nvSpPr>
          <p:cNvPr id="22" name="Shape 17"/>
          <p:cNvSpPr/>
          <p:nvPr/>
        </p:nvSpPr>
        <p:spPr>
          <a:xfrm>
            <a:off x="6163056" y="4800600"/>
            <a:ext cx="237744" cy="237744"/>
          </a:xfrm>
          <a:prstGeom prst="ellipse">
            <a:avLst/>
          </a:prstGeom>
          <a:solidFill>
            <a:srgbClr val="FC4540"/>
          </a:solidFill>
          <a:ln w="12700">
            <a:solidFill>
              <a:srgbClr val="FC4540"/>
            </a:solidFill>
            <a:prstDash val="solid"/>
          </a:ln>
        </p:spPr>
      </p:sp>
      <p:sp>
        <p:nvSpPr>
          <p:cNvPr id="23" name="Shape 18"/>
          <p:cNvSpPr/>
          <p:nvPr/>
        </p:nvSpPr>
        <p:spPr>
          <a:xfrm>
            <a:off x="6547104" y="4800600"/>
            <a:ext cx="237744" cy="237744"/>
          </a:xfrm>
          <a:prstGeom prst="ellipse">
            <a:avLst/>
          </a:prstGeom>
          <a:solidFill>
            <a:srgbClr val="FF9755"/>
          </a:solidFill>
          <a:ln w="12700">
            <a:solidFill>
              <a:srgbClr val="FF9755"/>
            </a:solidFill>
            <a:prstDash val="solid"/>
          </a:ln>
        </p:spPr>
      </p:sp>
      <p:sp>
        <p:nvSpPr>
          <p:cNvPr id="24" name="Shape 19"/>
          <p:cNvSpPr/>
          <p:nvPr/>
        </p:nvSpPr>
        <p:spPr>
          <a:xfrm>
            <a:off x="6931152" y="4800600"/>
            <a:ext cx="237744" cy="237744"/>
          </a:xfrm>
          <a:prstGeom prst="ellipse">
            <a:avLst/>
          </a:prstGeom>
          <a:solidFill>
            <a:srgbClr val="FC4067"/>
          </a:solidFill>
          <a:ln w="12700">
            <a:solidFill>
              <a:srgbClr val="FC406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OPTIONAL</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4000" dirty="0">
                <a:solidFill>
                  <a:srgbClr val="3C3828"/>
                </a:solidFill>
                <a:highlight>
                  <a:srgbClr val="FFE14D"/>
                </a:highlight>
                <a:latin typeface="Georgia" pitchFamily="34" charset="0"/>
                <a:ea typeface="Georgia" pitchFamily="34" charset="-122"/>
                <a:cs typeface="Georgia" pitchFamily="34" charset="-120"/>
              </a:rPr>
              <a:t>Quick Review</a:t>
            </a:r>
            <a:endParaRPr lang="en-US" sz="40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What we’ve learned so far, one question at a time.</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C4540"/>
                </a:solidFill>
                <a:latin typeface="Consolas" pitchFamily="34" charset="0"/>
                <a:ea typeface="Consolas" pitchFamily="34" charset="-122"/>
                <a:cs typeface="Consolas" pitchFamily="34" charset="-120"/>
              </a:rPr>
              <a:t>Review · 1 of 5</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What’s the best way to write an essay?</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540"/>
          </a:solidFill>
          <a:ln w="12700">
            <a:solidFill>
              <a:srgbClr val="FC454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C4540"/>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Just start writing and hope some good ideas come out.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C4540"/>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Take my ideas and plug them into a formula, like the 5-paragraph essay.</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C454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Develop my ideas into a thesis statement and build my essay around that.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C4540"/>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ChatGPT, duh.</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C4540"/>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I have never actually written an essay, so I have no idea.</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9755"/>
                </a:solidFill>
                <a:latin typeface="Consolas" pitchFamily="34" charset="0"/>
                <a:ea typeface="Consolas" pitchFamily="34" charset="-122"/>
                <a:cs typeface="Consolas" pitchFamily="34" charset="-120"/>
              </a:rPr>
              <a:t>Review · 1 of 5</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What’s the best way to write an essay?</a:t>
            </a:r>
            <a:endParaRPr lang="en-US" sz="30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9755"/>
          </a:solidFill>
          <a:ln w="12700">
            <a:solidFill>
              <a:srgbClr val="FF9755"/>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Just start writing and hope some good ideas come out.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Take my ideas and plug them into a formula, like the 5-paragraph essay.</a:t>
            </a:r>
            <a:endParaRPr lang="en-US" sz="2200" dirty="0"/>
          </a:p>
        </p:txBody>
      </p:sp>
      <p:sp>
        <p:nvSpPr>
          <p:cNvPr id="16" name="Shape 13"/>
          <p:cNvSpPr/>
          <p:nvPr/>
        </p:nvSpPr>
        <p:spPr>
          <a:xfrm>
            <a:off x="1097280" y="3794760"/>
            <a:ext cx="457200" cy="457200"/>
          </a:xfrm>
          <a:prstGeom prst="ellipse">
            <a:avLst/>
          </a:prstGeom>
          <a:solidFill>
            <a:srgbClr val="FF9755"/>
          </a:solidFill>
          <a:ln w="12700">
            <a:solidFill>
              <a:srgbClr val="FF9755"/>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Develop my ideas into a thesis statement and build my essay around that.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ChatGPT, duh.</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I have never actually written an essay, so I have no idea.</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C4067"/>
                </a:solidFill>
                <a:latin typeface="Consolas" pitchFamily="34" charset="0"/>
                <a:ea typeface="Consolas" pitchFamily="34" charset="-122"/>
                <a:cs typeface="Consolas" pitchFamily="34" charset="-120"/>
              </a:rPr>
              <a:t>Review · 2 of 5</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Critical thinking is best defined as:</a:t>
            </a:r>
            <a:endParaRPr lang="en-US" sz="3000" dirty="0"/>
          </a:p>
        </p:txBody>
      </p:sp>
      <p:sp>
        <p:nvSpPr>
          <p:cNvPr id="4" name="Shape 2"/>
          <p:cNvSpPr/>
          <p:nvPr/>
        </p:nvSpPr>
        <p:spPr>
          <a:xfrm>
            <a:off x="10637215" y="457200"/>
            <a:ext cx="868680" cy="868680"/>
          </a:xfrm>
          <a:prstGeom prst="ellipse">
            <a:avLst/>
          </a:prstGeom>
          <a:solidFill>
            <a:srgbClr val="FC4067"/>
          </a:solidFill>
          <a:ln w="12700">
            <a:solidFill>
              <a:srgbClr val="FC406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B600"/>
          </a:solidFill>
          <a:ln w="12700">
            <a:solidFill>
              <a:srgbClr val="FFB600"/>
            </a:solidFill>
            <a:prstDash val="solid"/>
          </a:ln>
        </p:spPr>
      </p:sp>
      <p:sp>
        <p:nvSpPr>
          <p:cNvPr id="7" name="Shape 4"/>
          <p:cNvSpPr/>
          <p:nvPr/>
        </p:nvSpPr>
        <p:spPr>
          <a:xfrm>
            <a:off x="11460175" y="1307592"/>
            <a:ext cx="128016" cy="128016"/>
          </a:xfrm>
          <a:prstGeom prst="ellipse">
            <a:avLst/>
          </a:prstGeom>
          <a:solidFill>
            <a:srgbClr val="FC4540"/>
          </a:solidFill>
          <a:ln w="12700">
            <a:solidFill>
              <a:srgbClr val="FC454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067"/>
          </a:solidFill>
          <a:ln w="12700">
            <a:solidFill>
              <a:srgbClr val="FC4067"/>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C4067"/>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Asking questions and seeking answers about a topic in order to develop a position on it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C4067"/>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Finding all of the weaknesses in an argument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C4067"/>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Finding all of the strengths in an argument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C4067"/>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Arguing a specific point of view in front of an audience</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C4067"/>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Researching experts’ perspectives and arguments on a topic in order to develop a position on it</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Review · 2 of 5</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Critical thinking is best defined as:</a:t>
            </a:r>
            <a:endParaRPr lang="en-US" sz="30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02BDC7"/>
          </a:solidFill>
          <a:ln w="12700">
            <a:solidFill>
              <a:srgbClr val="02BDC7"/>
            </a:solidFill>
            <a:prstDash val="solid"/>
          </a:ln>
        </p:spPr>
      </p:sp>
      <p:sp>
        <p:nvSpPr>
          <p:cNvPr id="10" name="Shape 7"/>
          <p:cNvSpPr/>
          <p:nvPr/>
        </p:nvSpPr>
        <p:spPr>
          <a:xfrm>
            <a:off x="1097280" y="2331720"/>
            <a:ext cx="457200" cy="457200"/>
          </a:xfrm>
          <a:prstGeom prst="ellipse">
            <a:avLst/>
          </a:prstGeom>
          <a:solidFill>
            <a:srgbClr val="02BDC7"/>
          </a:solidFill>
          <a:ln w="12700">
            <a:solidFill>
              <a:srgbClr val="02BDC7"/>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Asking questions and seeking answers about a topic in order to develop a position on it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Finding all of the weaknesses in an argument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D6D4CC"/>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Finding all of the strengths in an argument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Arguing a specific point of view in front of an audience</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Researching experts’ perspectives and arguments on a topic in order to develop a position on it</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B600"/>
                </a:solidFill>
                <a:latin typeface="Consolas" pitchFamily="34" charset="0"/>
                <a:ea typeface="Consolas" pitchFamily="34" charset="-122"/>
                <a:cs typeface="Consolas" pitchFamily="34" charset="-120"/>
              </a:rPr>
              <a:t>Review · 3 of 5</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is MOST TRUE about a good thesis statement?</a:t>
            </a:r>
            <a:endParaRPr lang="en-US" sz="30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B600"/>
          </a:solidFill>
          <a:ln w="12700">
            <a:solidFill>
              <a:srgbClr val="FFB60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FB600"/>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is easy for the reader to agree with.</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FB600"/>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2–3 pieces of support.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FB60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observation and analysis.</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FB600"/>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research and facts.</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FB600"/>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is 1–2 sentences long.</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C4540"/>
                </a:solidFill>
                <a:latin typeface="Consolas" pitchFamily="34" charset="0"/>
                <a:ea typeface="Consolas" pitchFamily="34" charset="-122"/>
                <a:cs typeface="Consolas" pitchFamily="34" charset="-120"/>
              </a:rPr>
              <a:t>Review · 3 of 5</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is MOST TRUE about a good thesis statement?</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540"/>
          </a:solidFill>
          <a:ln w="12700">
            <a:solidFill>
              <a:srgbClr val="FC454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is easy for the reader to agree with.</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contains 2–3 pieces of support.</a:t>
            </a:r>
            <a:endParaRPr lang="en-US" sz="2200" dirty="0"/>
          </a:p>
        </p:txBody>
      </p:sp>
      <p:sp>
        <p:nvSpPr>
          <p:cNvPr id="16" name="Shape 13"/>
          <p:cNvSpPr/>
          <p:nvPr/>
        </p:nvSpPr>
        <p:spPr>
          <a:xfrm>
            <a:off x="1097280" y="3794760"/>
            <a:ext cx="457200" cy="457200"/>
          </a:xfrm>
          <a:prstGeom prst="ellipse">
            <a:avLst/>
          </a:prstGeom>
          <a:solidFill>
            <a:srgbClr val="FC4540"/>
          </a:solidFill>
          <a:ln w="12700">
            <a:solidFill>
              <a:srgbClr val="FC454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A good thesis statement contains observation and analysis.</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contains research and facts.</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is 1–2 sentences long.</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9755"/>
                </a:solidFill>
                <a:latin typeface="Consolas" pitchFamily="34" charset="0"/>
                <a:ea typeface="Consolas" pitchFamily="34" charset="-122"/>
                <a:cs typeface="Consolas" pitchFamily="34" charset="-120"/>
              </a:rPr>
              <a:t>Review · 4 of 5</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Your introduction paragraph’s MAIN function is to:</a:t>
            </a:r>
            <a:endParaRPr lang="en-US" sz="30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9755"/>
          </a:solidFill>
          <a:ln w="12700">
            <a:solidFill>
              <a:srgbClr val="FF9755"/>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F9755"/>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Tell a story that illustrates the topic of your essay</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F9755"/>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Give specific examples that support your thesis</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F9755"/>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Define important terms that your reader may need to know</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F9755"/>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Present questions that your essay will answer</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F9755"/>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Welcome your reader into your discussion and state the thesis</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C4067"/>
                </a:solidFill>
                <a:latin typeface="Consolas" pitchFamily="34" charset="0"/>
                <a:ea typeface="Consolas" pitchFamily="34" charset="-122"/>
                <a:cs typeface="Consolas" pitchFamily="34" charset="-120"/>
              </a:rPr>
              <a:t>Review · 4 of 5</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Your introduction paragraph’s MAIN function is to:</a:t>
            </a:r>
            <a:endParaRPr lang="en-US" sz="3000" dirty="0"/>
          </a:p>
        </p:txBody>
      </p:sp>
      <p:sp>
        <p:nvSpPr>
          <p:cNvPr id="4" name="Shape 2"/>
          <p:cNvSpPr/>
          <p:nvPr/>
        </p:nvSpPr>
        <p:spPr>
          <a:xfrm>
            <a:off x="10637215" y="457200"/>
            <a:ext cx="868680" cy="868680"/>
          </a:xfrm>
          <a:prstGeom prst="ellipse">
            <a:avLst/>
          </a:prstGeom>
          <a:solidFill>
            <a:srgbClr val="FC4067"/>
          </a:solidFill>
          <a:ln w="12700">
            <a:solidFill>
              <a:srgbClr val="FC406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B600"/>
          </a:solidFill>
          <a:ln w="12700">
            <a:solidFill>
              <a:srgbClr val="FFB600"/>
            </a:solidFill>
            <a:prstDash val="solid"/>
          </a:ln>
        </p:spPr>
      </p:sp>
      <p:sp>
        <p:nvSpPr>
          <p:cNvPr id="7" name="Shape 4"/>
          <p:cNvSpPr/>
          <p:nvPr/>
        </p:nvSpPr>
        <p:spPr>
          <a:xfrm>
            <a:off x="11460175" y="1307592"/>
            <a:ext cx="128016" cy="128016"/>
          </a:xfrm>
          <a:prstGeom prst="ellipse">
            <a:avLst/>
          </a:prstGeom>
          <a:solidFill>
            <a:srgbClr val="FC4540"/>
          </a:solidFill>
          <a:ln w="12700">
            <a:solidFill>
              <a:srgbClr val="FC454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067"/>
          </a:solidFill>
          <a:ln w="12700">
            <a:solidFill>
              <a:srgbClr val="FC4067"/>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Tell a story that illustrates the topic of your essay</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Give specific examples that support your thesis</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D6D4CC"/>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Define important terms that your reader may need to know</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Present questions that your essay will answer</a:t>
            </a:r>
            <a:endParaRPr lang="en-US" sz="2200" dirty="0"/>
          </a:p>
        </p:txBody>
      </p:sp>
      <p:sp>
        <p:nvSpPr>
          <p:cNvPr id="22" name="Shape 19"/>
          <p:cNvSpPr/>
          <p:nvPr/>
        </p:nvSpPr>
        <p:spPr>
          <a:xfrm>
            <a:off x="1097280" y="5257800"/>
            <a:ext cx="457200" cy="457200"/>
          </a:xfrm>
          <a:prstGeom prst="ellipse">
            <a:avLst/>
          </a:prstGeom>
          <a:solidFill>
            <a:srgbClr val="FC4067"/>
          </a:solidFill>
          <a:ln w="12700">
            <a:solidFill>
              <a:srgbClr val="FC4067"/>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Welcome your reader into your discussion and state the thesis</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Review · 5 of 5</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would probably NOT show up in your body paragraphs?</a:t>
            </a:r>
            <a:endParaRPr lang="en-US" sz="30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02BDC7"/>
          </a:solidFill>
          <a:ln w="12700">
            <a:solidFill>
              <a:srgbClr val="02BDC7"/>
            </a:solidFill>
            <a:prstDash val="solid"/>
          </a:ln>
        </p:spPr>
      </p:sp>
      <p:sp>
        <p:nvSpPr>
          <p:cNvPr id="10" name="Shape 7"/>
          <p:cNvSpPr/>
          <p:nvPr/>
        </p:nvSpPr>
        <p:spPr>
          <a:xfrm>
            <a:off x="1097280" y="2423160"/>
            <a:ext cx="457200" cy="457200"/>
          </a:xfrm>
          <a:prstGeom prst="ellipse">
            <a:avLst/>
          </a:prstGeom>
          <a:solidFill>
            <a:srgbClr val="FFFEFA"/>
          </a:solidFill>
          <a:ln w="15875">
            <a:solidFill>
              <a:srgbClr val="02BDC7"/>
            </a:solidFill>
            <a:prstDash val="solid"/>
          </a:ln>
        </p:spPr>
      </p:sp>
      <p:sp>
        <p:nvSpPr>
          <p:cNvPr id="11" name="Text 8"/>
          <p:cNvSpPr/>
          <p:nvPr/>
        </p:nvSpPr>
        <p:spPr>
          <a:xfrm>
            <a:off x="1097280" y="242316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Supporting quotations about specific points</a:t>
            </a:r>
            <a:endParaRPr lang="en-US" sz="2800" dirty="0"/>
          </a:p>
        </p:txBody>
      </p:sp>
      <p:sp>
        <p:nvSpPr>
          <p:cNvPr id="13" name="Shape 10"/>
          <p:cNvSpPr/>
          <p:nvPr/>
        </p:nvSpPr>
        <p:spPr>
          <a:xfrm>
            <a:off x="1097280" y="3337560"/>
            <a:ext cx="457200" cy="457200"/>
          </a:xfrm>
          <a:prstGeom prst="ellipse">
            <a:avLst/>
          </a:prstGeom>
          <a:solidFill>
            <a:srgbClr val="FFFEFA"/>
          </a:solidFill>
          <a:ln w="15875">
            <a:solidFill>
              <a:srgbClr val="02BDC7"/>
            </a:solidFill>
            <a:prstDash val="solid"/>
          </a:ln>
        </p:spPr>
      </p:sp>
      <p:sp>
        <p:nvSpPr>
          <p:cNvPr id="14" name="Text 11"/>
          <p:cNvSpPr/>
          <p:nvPr/>
        </p:nvSpPr>
        <p:spPr>
          <a:xfrm>
            <a:off x="1097280" y="333756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31089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Your opinions</a:t>
            </a:r>
            <a:endParaRPr lang="en-US" sz="2800" dirty="0"/>
          </a:p>
        </p:txBody>
      </p:sp>
      <p:sp>
        <p:nvSpPr>
          <p:cNvPr id="16" name="Shape 13"/>
          <p:cNvSpPr/>
          <p:nvPr/>
        </p:nvSpPr>
        <p:spPr>
          <a:xfrm>
            <a:off x="1097280" y="4251960"/>
            <a:ext cx="457200" cy="457200"/>
          </a:xfrm>
          <a:prstGeom prst="ellipse">
            <a:avLst/>
          </a:prstGeom>
          <a:solidFill>
            <a:srgbClr val="FFFEFA"/>
          </a:solidFill>
          <a:ln w="15875">
            <a:solidFill>
              <a:srgbClr val="02BDC7"/>
            </a:solidFill>
            <a:prstDash val="solid"/>
          </a:ln>
        </p:spPr>
      </p:sp>
      <p:sp>
        <p:nvSpPr>
          <p:cNvPr id="17" name="Text 14"/>
          <p:cNvSpPr/>
          <p:nvPr/>
        </p:nvSpPr>
        <p:spPr>
          <a:xfrm>
            <a:off x="1097280" y="425196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40233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Your thesis statement</a:t>
            </a:r>
            <a:endParaRPr lang="en-US" sz="2800" dirty="0"/>
          </a:p>
        </p:txBody>
      </p:sp>
      <p:sp>
        <p:nvSpPr>
          <p:cNvPr id="19" name="Shape 16"/>
          <p:cNvSpPr/>
          <p:nvPr/>
        </p:nvSpPr>
        <p:spPr>
          <a:xfrm>
            <a:off x="1097280" y="5166360"/>
            <a:ext cx="457200" cy="457200"/>
          </a:xfrm>
          <a:prstGeom prst="ellipse">
            <a:avLst/>
          </a:prstGeom>
          <a:solidFill>
            <a:srgbClr val="FFFEFA"/>
          </a:solidFill>
          <a:ln w="15875">
            <a:solidFill>
              <a:srgbClr val="02BDC7"/>
            </a:solidFill>
            <a:prstDash val="solid"/>
          </a:ln>
        </p:spPr>
      </p:sp>
      <p:sp>
        <p:nvSpPr>
          <p:cNvPr id="20" name="Text 17"/>
          <p:cNvSpPr/>
          <p:nvPr/>
        </p:nvSpPr>
        <p:spPr>
          <a:xfrm>
            <a:off x="1097280" y="516636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9377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Analysis of other people’s arguments</a:t>
            </a:r>
            <a:endParaRPr lang="en-US" sz="2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B600"/>
                </a:solidFill>
                <a:latin typeface="Consolas" pitchFamily="34" charset="0"/>
                <a:ea typeface="Consolas" pitchFamily="34" charset="-122"/>
                <a:cs typeface="Consolas" pitchFamily="34" charset="-120"/>
              </a:rPr>
              <a:t>Review · 5 of 5</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would probably NOT show up in your body paragraphs?</a:t>
            </a:r>
            <a:endParaRPr lang="en-US" sz="30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B600"/>
          </a:solidFill>
          <a:ln w="12700">
            <a:solidFill>
              <a:srgbClr val="FFB600"/>
            </a:solidFill>
            <a:prstDash val="solid"/>
          </a:ln>
        </p:spPr>
      </p:sp>
      <p:sp>
        <p:nvSpPr>
          <p:cNvPr id="10" name="Shape 7"/>
          <p:cNvSpPr/>
          <p:nvPr/>
        </p:nvSpPr>
        <p:spPr>
          <a:xfrm>
            <a:off x="1097280" y="242316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4231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914400"/>
          </a:xfrm>
          <a:prstGeom prst="rect">
            <a:avLst/>
          </a:prstGeom>
          <a:noFill/>
          <a:ln/>
        </p:spPr>
        <p:txBody>
          <a:bodyPr wrap="square" lIns="0" tIns="0" rIns="0" bIns="0" rtlCol="0" anchor="ctr"/>
          <a:lstStyle/>
          <a:p>
            <a:pPr indent="0" marL="0">
              <a:buNone/>
            </a:pPr>
            <a:r>
              <a:rPr lang="en-US" sz="2800" dirty="0">
                <a:solidFill>
                  <a:srgbClr val="7E7C78"/>
                </a:solidFill>
                <a:latin typeface="Calibri" pitchFamily="34" charset="0"/>
                <a:ea typeface="Calibri" pitchFamily="34" charset="-122"/>
                <a:cs typeface="Calibri" pitchFamily="34" charset="-120"/>
              </a:rPr>
              <a:t>Supporting quotations about specific points</a:t>
            </a:r>
            <a:endParaRPr lang="en-US" sz="2800" dirty="0"/>
          </a:p>
        </p:txBody>
      </p:sp>
      <p:sp>
        <p:nvSpPr>
          <p:cNvPr id="13" name="Shape 10"/>
          <p:cNvSpPr/>
          <p:nvPr/>
        </p:nvSpPr>
        <p:spPr>
          <a:xfrm>
            <a:off x="1097280" y="333756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3375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3108960"/>
            <a:ext cx="9357055" cy="914400"/>
          </a:xfrm>
          <a:prstGeom prst="rect">
            <a:avLst/>
          </a:prstGeom>
          <a:noFill/>
          <a:ln/>
        </p:spPr>
        <p:txBody>
          <a:bodyPr wrap="square" lIns="0" tIns="0" rIns="0" bIns="0" rtlCol="0" anchor="ctr"/>
          <a:lstStyle/>
          <a:p>
            <a:pPr indent="0" marL="0">
              <a:buNone/>
            </a:pPr>
            <a:r>
              <a:rPr lang="en-US" sz="2800" dirty="0">
                <a:solidFill>
                  <a:srgbClr val="7E7C78"/>
                </a:solidFill>
                <a:latin typeface="Calibri" pitchFamily="34" charset="0"/>
                <a:ea typeface="Calibri" pitchFamily="34" charset="-122"/>
                <a:cs typeface="Calibri" pitchFamily="34" charset="-120"/>
              </a:rPr>
              <a:t>Your opinions</a:t>
            </a:r>
            <a:endParaRPr lang="en-US" sz="2800" dirty="0"/>
          </a:p>
        </p:txBody>
      </p:sp>
      <p:sp>
        <p:nvSpPr>
          <p:cNvPr id="16" name="Shape 13"/>
          <p:cNvSpPr/>
          <p:nvPr/>
        </p:nvSpPr>
        <p:spPr>
          <a:xfrm>
            <a:off x="1097280" y="4251960"/>
            <a:ext cx="457200" cy="457200"/>
          </a:xfrm>
          <a:prstGeom prst="ellipse">
            <a:avLst/>
          </a:prstGeom>
          <a:solidFill>
            <a:srgbClr val="FFB600"/>
          </a:solidFill>
          <a:ln w="12700">
            <a:solidFill>
              <a:srgbClr val="FFB600"/>
            </a:solidFill>
            <a:prstDash val="solid"/>
          </a:ln>
        </p:spPr>
      </p:sp>
      <p:sp>
        <p:nvSpPr>
          <p:cNvPr id="17" name="Text 14"/>
          <p:cNvSpPr/>
          <p:nvPr/>
        </p:nvSpPr>
        <p:spPr>
          <a:xfrm>
            <a:off x="1097280" y="42519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4023360"/>
            <a:ext cx="9357055" cy="914400"/>
          </a:xfrm>
          <a:prstGeom prst="rect">
            <a:avLst/>
          </a:prstGeom>
          <a:noFill/>
          <a:ln/>
        </p:spPr>
        <p:txBody>
          <a:bodyPr wrap="square" lIns="0" tIns="0" rIns="0" bIns="0" rtlCol="0" anchor="ctr"/>
          <a:lstStyle/>
          <a:p>
            <a:pPr indent="0" marL="0">
              <a:buNone/>
            </a:pPr>
            <a:r>
              <a:rPr lang="en-US" sz="2800" b="1" dirty="0">
                <a:solidFill>
                  <a:srgbClr val="3C3828"/>
                </a:solidFill>
                <a:highlight>
                  <a:srgbClr val="FFE14D"/>
                </a:highlight>
                <a:latin typeface="Calibri" pitchFamily="34" charset="0"/>
                <a:ea typeface="Calibri" pitchFamily="34" charset="-122"/>
                <a:cs typeface="Calibri" pitchFamily="34" charset="-120"/>
              </a:rPr>
              <a:t>Your thesis statement</a:t>
            </a:r>
            <a:endParaRPr lang="en-US" sz="2800" dirty="0"/>
          </a:p>
        </p:txBody>
      </p:sp>
      <p:sp>
        <p:nvSpPr>
          <p:cNvPr id="19" name="Shape 16"/>
          <p:cNvSpPr/>
          <p:nvPr/>
        </p:nvSpPr>
        <p:spPr>
          <a:xfrm>
            <a:off x="1097280" y="516636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51663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937760"/>
            <a:ext cx="9357055" cy="914400"/>
          </a:xfrm>
          <a:prstGeom prst="rect">
            <a:avLst/>
          </a:prstGeom>
          <a:noFill/>
          <a:ln/>
        </p:spPr>
        <p:txBody>
          <a:bodyPr wrap="square" lIns="0" tIns="0" rIns="0" bIns="0" rtlCol="0" anchor="ctr"/>
          <a:lstStyle/>
          <a:p>
            <a:pPr indent="0" marL="0">
              <a:buNone/>
            </a:pPr>
            <a:r>
              <a:rPr lang="en-US" sz="2800" dirty="0">
                <a:solidFill>
                  <a:srgbClr val="7E7C78"/>
                </a:solidFill>
                <a:latin typeface="Calibri" pitchFamily="34" charset="0"/>
                <a:ea typeface="Calibri" pitchFamily="34" charset="-122"/>
                <a:cs typeface="Calibri" pitchFamily="34" charset="-120"/>
              </a:rPr>
              <a:t>Analysis of other people’s arguments</a:t>
            </a:r>
            <a:endParaRPr lang="en-US" sz="2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The form</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The Critical Essay Form</a:t>
            </a:r>
            <a:endParaRPr lang="en-US" sz="3200" dirty="0"/>
          </a:p>
        </p:txBody>
      </p:sp>
      <p:sp>
        <p:nvSpPr>
          <p:cNvPr id="4" name="Shape 2"/>
          <p:cNvSpPr/>
          <p:nvPr/>
        </p:nvSpPr>
        <p:spPr>
          <a:xfrm>
            <a:off x="685800" y="1417320"/>
            <a:ext cx="3708464" cy="4800600"/>
          </a:xfrm>
          <a:prstGeom prst="roundRect">
            <a:avLst>
              <a:gd name="adj" fmla="val 3452"/>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The critical essay form: introduction, body paragraphs and conclusion.">    </p:cNvPr>
          <p:cNvPicPr>
            <a:picLocks noChangeAspect="1"/>
          </p:cNvPicPr>
          <p:nvPr/>
        </p:nvPicPr>
        <p:blipFill>
          <a:blip r:embed="rId1"/>
          <a:stretch>
            <a:fillRect/>
          </a:stretch>
        </p:blipFill>
        <p:spPr>
          <a:xfrm>
            <a:off x="813816" y="1545336"/>
            <a:ext cx="3452432" cy="4544568"/>
          </a:xfrm>
          <a:prstGeom prst="rect">
            <a:avLst/>
          </a:prstGeom>
        </p:spPr>
      </p:pic>
      <p:sp>
        <p:nvSpPr>
          <p:cNvPr id="6" name="Shape 3"/>
          <p:cNvSpPr/>
          <p:nvPr/>
        </p:nvSpPr>
        <p:spPr>
          <a:xfrm>
            <a:off x="1517373" y="2316541"/>
            <a:ext cx="457200" cy="457200"/>
          </a:xfrm>
          <a:prstGeom prst="ellipse">
            <a:avLst/>
          </a:prstGeom>
          <a:solidFill>
            <a:srgbClr val="02BDC7"/>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7" name="Text 4"/>
          <p:cNvSpPr/>
          <p:nvPr/>
        </p:nvSpPr>
        <p:spPr>
          <a:xfrm>
            <a:off x="1517373" y="2316541"/>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8" name="Shape 5"/>
          <p:cNvSpPr/>
          <p:nvPr/>
        </p:nvSpPr>
        <p:spPr>
          <a:xfrm>
            <a:off x="2725724" y="2998226"/>
            <a:ext cx="457200" cy="457200"/>
          </a:xfrm>
          <a:prstGeom prst="ellipse">
            <a:avLst/>
          </a:prstGeom>
          <a:solidFill>
            <a:srgbClr val="FFB60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9" name="Text 6"/>
          <p:cNvSpPr/>
          <p:nvPr/>
        </p:nvSpPr>
        <p:spPr>
          <a:xfrm>
            <a:off x="2725724" y="2998226"/>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10" name="Shape 7"/>
          <p:cNvSpPr/>
          <p:nvPr/>
        </p:nvSpPr>
        <p:spPr>
          <a:xfrm>
            <a:off x="2863821" y="3725357"/>
            <a:ext cx="457200" cy="457200"/>
          </a:xfrm>
          <a:prstGeom prst="ellipse">
            <a:avLst/>
          </a:prstGeom>
          <a:solidFill>
            <a:srgbClr val="FC454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1" name="Text 8"/>
          <p:cNvSpPr/>
          <p:nvPr/>
        </p:nvSpPr>
        <p:spPr>
          <a:xfrm>
            <a:off x="2863821" y="3725357"/>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12" name="Shape 9"/>
          <p:cNvSpPr/>
          <p:nvPr/>
        </p:nvSpPr>
        <p:spPr>
          <a:xfrm>
            <a:off x="3105491" y="5043282"/>
            <a:ext cx="457200" cy="457200"/>
          </a:xfrm>
          <a:prstGeom prst="ellipse">
            <a:avLst/>
          </a:prstGeom>
          <a:solidFill>
            <a:srgbClr val="FF9755"/>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3" name="Text 10"/>
          <p:cNvSpPr/>
          <p:nvPr/>
        </p:nvSpPr>
        <p:spPr>
          <a:xfrm>
            <a:off x="3105491" y="5043282"/>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4</a:t>
            </a:r>
            <a:endParaRPr lang="en-US" sz="1800" dirty="0"/>
          </a:p>
        </p:txBody>
      </p:sp>
      <p:sp>
        <p:nvSpPr>
          <p:cNvPr id="14" name="Shape 11"/>
          <p:cNvSpPr/>
          <p:nvPr/>
        </p:nvSpPr>
        <p:spPr>
          <a:xfrm>
            <a:off x="4851464" y="2491740"/>
            <a:ext cx="457200" cy="457200"/>
          </a:xfrm>
          <a:prstGeom prst="ellipse">
            <a:avLst/>
          </a:prstGeom>
          <a:solidFill>
            <a:srgbClr val="02BDC7"/>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5" name="Text 12"/>
          <p:cNvSpPr/>
          <p:nvPr/>
        </p:nvSpPr>
        <p:spPr>
          <a:xfrm>
            <a:off x="4851464" y="249174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16" name="Text 13"/>
          <p:cNvSpPr/>
          <p:nvPr/>
        </p:nvSpPr>
        <p:spPr>
          <a:xfrm>
            <a:off x="5491544" y="2354580"/>
            <a:ext cx="6014352" cy="73152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Introduction</a:t>
            </a:r>
            <a:endParaRPr lang="en-US" sz="2400" dirty="0"/>
          </a:p>
        </p:txBody>
      </p:sp>
      <p:sp>
        <p:nvSpPr>
          <p:cNvPr id="17" name="Shape 14"/>
          <p:cNvSpPr/>
          <p:nvPr/>
        </p:nvSpPr>
        <p:spPr>
          <a:xfrm>
            <a:off x="4851464" y="3223260"/>
            <a:ext cx="457200" cy="457200"/>
          </a:xfrm>
          <a:prstGeom prst="ellipse">
            <a:avLst/>
          </a:prstGeom>
          <a:solidFill>
            <a:srgbClr val="FFB60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8" name="Text 15"/>
          <p:cNvSpPr/>
          <p:nvPr/>
        </p:nvSpPr>
        <p:spPr>
          <a:xfrm>
            <a:off x="4851464" y="322326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19" name="Text 16"/>
          <p:cNvSpPr/>
          <p:nvPr/>
        </p:nvSpPr>
        <p:spPr>
          <a:xfrm>
            <a:off x="5491544" y="3086100"/>
            <a:ext cx="6014352" cy="73152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Thesis statement ★</a:t>
            </a:r>
            <a:endParaRPr lang="en-US" sz="2400" dirty="0"/>
          </a:p>
        </p:txBody>
      </p:sp>
      <p:sp>
        <p:nvSpPr>
          <p:cNvPr id="20" name="Shape 17"/>
          <p:cNvSpPr/>
          <p:nvPr/>
        </p:nvSpPr>
        <p:spPr>
          <a:xfrm>
            <a:off x="4851464" y="3954780"/>
            <a:ext cx="457200" cy="457200"/>
          </a:xfrm>
          <a:prstGeom prst="ellipse">
            <a:avLst/>
          </a:prstGeom>
          <a:solidFill>
            <a:srgbClr val="FC454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21" name="Text 18"/>
          <p:cNvSpPr/>
          <p:nvPr/>
        </p:nvSpPr>
        <p:spPr>
          <a:xfrm>
            <a:off x="4851464" y="395478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22" name="Text 19"/>
          <p:cNvSpPr/>
          <p:nvPr/>
        </p:nvSpPr>
        <p:spPr>
          <a:xfrm>
            <a:off x="5491544" y="3817620"/>
            <a:ext cx="6014352" cy="731520"/>
          </a:xfrm>
          <a:prstGeom prst="rect">
            <a:avLst/>
          </a:prstGeom>
          <a:noFill/>
          <a:ln/>
        </p:spPr>
        <p:txBody>
          <a:bodyPr wrap="square" lIns="0" tIns="0" rIns="0" bIns="0" rtlCol="0" anchor="ctr"/>
          <a:lstStyle/>
          <a:p>
            <a:pPr indent="0" marL="0">
              <a:buNone/>
            </a:pPr>
            <a:r>
              <a:rPr lang="en-US" sz="2400" dirty="0">
                <a:solidFill>
                  <a:srgbClr val="3C3828"/>
                </a:solidFill>
                <a:highlight>
                  <a:srgbClr val="FFE14D"/>
                </a:highlight>
                <a:latin typeface="Calibri" pitchFamily="34" charset="0"/>
                <a:ea typeface="Calibri" pitchFamily="34" charset="-122"/>
                <a:cs typeface="Calibri" pitchFamily="34" charset="-120"/>
              </a:rPr>
              <a:t>Body paragraphs</a:t>
            </a:r>
            <a:r>
              <a:rPr lang="en-US" sz="2400" dirty="0">
                <a:solidFill>
                  <a:srgbClr val="3C3828"/>
                </a:solidFill>
                <a:latin typeface="Calibri" pitchFamily="34" charset="0"/>
                <a:ea typeface="Calibri" pitchFamily="34" charset="-122"/>
                <a:cs typeface="Calibri" pitchFamily="34" charset="-120"/>
              </a:rPr>
              <a:t> ← today</a:t>
            </a:r>
            <a:endParaRPr lang="en-US" sz="2400" dirty="0"/>
          </a:p>
        </p:txBody>
      </p:sp>
      <p:sp>
        <p:nvSpPr>
          <p:cNvPr id="23" name="Shape 20"/>
          <p:cNvSpPr/>
          <p:nvPr/>
        </p:nvSpPr>
        <p:spPr>
          <a:xfrm>
            <a:off x="4851464" y="4686300"/>
            <a:ext cx="457200" cy="457200"/>
          </a:xfrm>
          <a:prstGeom prst="ellipse">
            <a:avLst/>
          </a:prstGeom>
          <a:solidFill>
            <a:srgbClr val="FF9755"/>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24" name="Text 21"/>
          <p:cNvSpPr/>
          <p:nvPr/>
        </p:nvSpPr>
        <p:spPr>
          <a:xfrm>
            <a:off x="4851464" y="468630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4</a:t>
            </a:r>
            <a:endParaRPr lang="en-US" sz="1800" dirty="0"/>
          </a:p>
        </p:txBody>
      </p:sp>
      <p:sp>
        <p:nvSpPr>
          <p:cNvPr id="25" name="Text 22"/>
          <p:cNvSpPr/>
          <p:nvPr/>
        </p:nvSpPr>
        <p:spPr>
          <a:xfrm>
            <a:off x="5491544" y="4549140"/>
            <a:ext cx="6014352" cy="73152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Conclusion</a:t>
            </a:r>
            <a:endParaRPr lang="en-US" sz="24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STEP 4</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3600" dirty="0">
                <a:solidFill>
                  <a:srgbClr val="3C3828"/>
                </a:solidFill>
                <a:highlight>
                  <a:srgbClr val="FFE14D"/>
                </a:highlight>
                <a:latin typeface="Georgia" pitchFamily="34" charset="0"/>
                <a:ea typeface="Georgia" pitchFamily="34" charset="-122"/>
                <a:cs typeface="Georgia" pitchFamily="34" charset="-120"/>
              </a:rPr>
              <a:t>Supporting Paragraphs</a:t>
            </a:r>
            <a:endParaRPr lang="en-US" sz="36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Let your thesis be your guide.</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The rule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Everything after the thesis serves the thesis</a:t>
            </a:r>
            <a:endParaRPr lang="en-US" sz="30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puzzle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3600" dirty="0">
                <a:solidFill>
                  <a:srgbClr val="3C3828"/>
                </a:solidFill>
                <a:latin typeface="Georgia" pitchFamily="34" charset="0"/>
                <a:ea typeface="Georgia" pitchFamily="34" charset="-122"/>
                <a:cs typeface="Georgia" pitchFamily="34" charset="-120"/>
              </a:rPr>
              <a:t>Once you’ve dropped your thesis at the end of your introduction, everything you write must in some way </a:t>
            </a:r>
            <a:r>
              <a:rPr lang="en-US" sz="3600" dirty="0">
                <a:solidFill>
                  <a:srgbClr val="3C3828"/>
                </a:solidFill>
                <a:highlight>
                  <a:srgbClr val="FFE14D"/>
                </a:highlight>
                <a:latin typeface="Georgia" pitchFamily="34" charset="0"/>
                <a:ea typeface="Georgia" pitchFamily="34" charset="-122"/>
                <a:cs typeface="Georgia" pitchFamily="34" charset="-120"/>
              </a:rPr>
              <a:t>support, define, or illustrate</a:t>
            </a:r>
            <a:r>
              <a:rPr lang="en-US" sz="3600" dirty="0">
                <a:solidFill>
                  <a:srgbClr val="3C3828"/>
                </a:solidFill>
                <a:latin typeface="Georgia" pitchFamily="34" charset="0"/>
                <a:ea typeface="Georgia" pitchFamily="34" charset="-122"/>
                <a:cs typeface="Georgia" pitchFamily="34" charset="-120"/>
              </a:rPr>
              <a:t> the elements within your thesis.</a:t>
            </a:r>
            <a:endParaRPr lang="en-US" sz="3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B600"/>
                </a:solidFill>
                <a:latin typeface="Consolas" pitchFamily="34" charset="0"/>
                <a:ea typeface="Consolas" pitchFamily="34" charset="-122"/>
                <a:cs typeface="Consolas" pitchFamily="34" charset="-120"/>
              </a:rPr>
              <a:t>The good news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Your thesis is a roadmap</a:t>
            </a:r>
            <a:endParaRPr lang="en-US" sz="3600" dirty="0"/>
          </a:p>
        </p:txBody>
      </p:sp>
      <p:sp>
        <p:nvSpPr>
          <p:cNvPr id="4" name="Shape 2"/>
          <p:cNvSpPr/>
          <p:nvPr/>
        </p:nvSpPr>
        <p:spPr>
          <a:xfrm>
            <a:off x="1051560" y="2926080"/>
            <a:ext cx="2194560" cy="2194560"/>
          </a:xfrm>
          <a:prstGeom prst="ellipse">
            <a:avLst/>
          </a:prstGeom>
          <a:solidFill>
            <a:srgbClr val="FFB600"/>
          </a:solidFill>
          <a:ln w="12700">
            <a:solidFill>
              <a:srgbClr val="FFB600"/>
            </a:solidFill>
            <a:prstDash val="solid"/>
          </a:ln>
        </p:spPr>
      </p:sp>
      <p:pic>
        <p:nvPicPr>
          <p:cNvPr id="5" name="Image 0" descr="lightbulb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9755"/>
          </a:solidFill>
          <a:ln w="12700">
            <a:solidFill>
              <a:srgbClr val="FF9755"/>
            </a:solidFill>
            <a:prstDash val="solid"/>
          </a:ln>
        </p:spPr>
      </p:sp>
      <p:sp>
        <p:nvSpPr>
          <p:cNvPr id="7" name="Shape 4"/>
          <p:cNvSpPr/>
          <p:nvPr/>
        </p:nvSpPr>
        <p:spPr>
          <a:xfrm>
            <a:off x="914400" y="4800600"/>
            <a:ext cx="201168" cy="201168"/>
          </a:xfrm>
          <a:prstGeom prst="ellipse">
            <a:avLst/>
          </a:prstGeom>
          <a:solidFill>
            <a:srgbClr val="02BDC7"/>
          </a:solidFill>
          <a:ln w="12700">
            <a:solidFill>
              <a:srgbClr val="02BDC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The good news is that your thesis statement tells you </a:t>
            </a:r>
            <a:r>
              <a:rPr lang="en-US" sz="4000" dirty="0">
                <a:solidFill>
                  <a:srgbClr val="3C3828"/>
                </a:solidFill>
                <a:highlight>
                  <a:srgbClr val="FFE14D"/>
                </a:highlight>
                <a:latin typeface="Georgia" pitchFamily="34" charset="0"/>
                <a:ea typeface="Georgia" pitchFamily="34" charset="-122"/>
                <a:cs typeface="Georgia" pitchFamily="34" charset="-120"/>
              </a:rPr>
              <a:t>exactly where to go from here.</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The sample essay’s thesis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Haley’s thesis</a:t>
            </a:r>
            <a:endParaRPr lang="en-US" sz="3600" dirty="0"/>
          </a:p>
        </p:txBody>
      </p:sp>
      <p:sp>
        <p:nvSpPr>
          <p:cNvPr id="4" name="Shape 2"/>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20240"/>
            <a:ext cx="10564063" cy="91440"/>
          </a:xfrm>
          <a:prstGeom prst="rect">
            <a:avLst/>
          </a:prstGeom>
          <a:solidFill>
            <a:srgbClr val="02BDC7"/>
          </a:solidFill>
          <a:ln w="12700">
            <a:solidFill>
              <a:srgbClr val="02BDC7"/>
            </a:solidFill>
            <a:prstDash val="solid"/>
          </a:ln>
        </p:spPr>
      </p:sp>
      <p:sp>
        <p:nvSpPr>
          <p:cNvPr id="6" name="Text 4"/>
          <p:cNvSpPr/>
          <p:nvPr/>
        </p:nvSpPr>
        <p:spPr>
          <a:xfrm>
            <a:off x="960120" y="2057400"/>
            <a:ext cx="1005840" cy="1097280"/>
          </a:xfrm>
          <a:prstGeom prst="rect">
            <a:avLst/>
          </a:prstGeom>
          <a:noFill/>
          <a:ln/>
        </p:spPr>
        <p:txBody>
          <a:bodyPr wrap="square" lIns="0" tIns="0" rIns="0" bIns="0" rtlCol="0" anchor="t"/>
          <a:lstStyle/>
          <a:p>
            <a:pPr indent="0" marL="0">
              <a:buNone/>
            </a:pPr>
            <a:r>
              <a:rPr lang="en-US" sz="9600" dirty="0">
                <a:solidFill>
                  <a:srgbClr val="02BDC7"/>
                </a:solidFill>
                <a:latin typeface="Georgia" pitchFamily="34" charset="0"/>
                <a:ea typeface="Georgia" pitchFamily="34" charset="-122"/>
                <a:cs typeface="Georgia" pitchFamily="34" charset="-120"/>
              </a:rPr>
              <a:t>“</a:t>
            </a:r>
            <a:endParaRPr lang="en-US" sz="9600" dirty="0"/>
          </a:p>
        </p:txBody>
      </p:sp>
      <p:sp>
        <p:nvSpPr>
          <p:cNvPr id="7" name="Text 5"/>
          <p:cNvSpPr/>
          <p:nvPr/>
        </p:nvSpPr>
        <p:spPr>
          <a:xfrm>
            <a:off x="1828800" y="2286000"/>
            <a:ext cx="9219895" cy="2880360"/>
          </a:xfrm>
          <a:prstGeom prst="rect">
            <a:avLst/>
          </a:prstGeom>
          <a:noFill/>
          <a:ln/>
        </p:spPr>
        <p:txBody>
          <a:bodyPr wrap="square" lIns="0" tIns="0" rIns="0" bIns="0" rtlCol="0" anchor="ctr"/>
          <a:lstStyle/>
          <a:p>
            <a:pPr indent="0" marL="0">
              <a:lnSpc>
                <a:spcPct val="120000"/>
              </a:lnSpc>
              <a:buNone/>
            </a:pPr>
            <a:r>
              <a:rPr lang="en-US" sz="3000" i="1" dirty="0">
                <a:solidFill>
                  <a:srgbClr val="3C3828"/>
                </a:solidFill>
                <a:latin typeface="Georgia" pitchFamily="34" charset="0"/>
                <a:ea typeface="Georgia" pitchFamily="34" charset="-122"/>
                <a:cs typeface="Georgia" pitchFamily="34" charset="-120"/>
              </a:rPr>
              <a:t>When schools fail to prioritize creativity in teaching, school becomes boring for both students and teachers, resulting in a lack of shared motivation, excitement, and accomplishment.</a:t>
            </a:r>
            <a:endParaRPr lang="en-US" sz="3000" dirty="0"/>
          </a:p>
        </p:txBody>
      </p:sp>
      <p:sp>
        <p:nvSpPr>
          <p:cNvPr id="8" name="Text 6"/>
          <p:cNvSpPr/>
          <p:nvPr/>
        </p:nvSpPr>
        <p:spPr>
          <a:xfrm>
            <a:off x="1828800" y="5349240"/>
            <a:ext cx="9219895" cy="457200"/>
          </a:xfrm>
          <a:prstGeom prst="rect">
            <a:avLst/>
          </a:prstGeom>
          <a:noFill/>
          <a:ln/>
        </p:spPr>
        <p:txBody>
          <a:bodyPr wrap="square" lIns="0" tIns="0" rIns="0" bIns="0" rtlCol="0" anchor="ctr"/>
          <a:lstStyle/>
          <a:p>
            <a:pPr indent="0" marL="0">
              <a:buNone/>
            </a:pPr>
            <a:r>
              <a:rPr lang="en-US" sz="1800" dirty="0">
                <a:solidFill>
                  <a:srgbClr val="7E7C78"/>
                </a:solidFill>
                <a:latin typeface="Calibri" pitchFamily="34" charset="0"/>
                <a:ea typeface="Calibri" pitchFamily="34" charset="-122"/>
                <a:cs typeface="Calibri" pitchFamily="34" charset="-120"/>
              </a:rPr>
              <a:t>— Haley, “Bored in the USA”</a:t>
            </a:r>
            <a:endParaRPr lang="en-US" sz="1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Let your thesis be your guide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Break your thesis into its parts</a:t>
            </a:r>
            <a:endParaRPr lang="en-US" sz="3600" dirty="0"/>
          </a:p>
        </p:txBody>
      </p:sp>
      <p:sp>
        <p:nvSpPr>
          <p:cNvPr id="4" name="Shape 2"/>
          <p:cNvSpPr/>
          <p:nvPr/>
        </p:nvSpPr>
        <p:spPr>
          <a:xfrm>
            <a:off x="685800" y="1965960"/>
            <a:ext cx="10820095" cy="1737360"/>
          </a:xfrm>
          <a:prstGeom prst="roundRect">
            <a:avLst>
              <a:gd name="adj" fmla="val 736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10564063" cy="91440"/>
          </a:xfrm>
          <a:prstGeom prst="rect">
            <a:avLst/>
          </a:prstGeom>
          <a:solidFill>
            <a:srgbClr val="02BDC7"/>
          </a:solidFill>
          <a:ln w="12700">
            <a:solidFill>
              <a:srgbClr val="02BDC7"/>
            </a:solidFill>
            <a:prstDash val="solid"/>
          </a:ln>
        </p:spPr>
      </p:sp>
      <p:sp>
        <p:nvSpPr>
          <p:cNvPr id="6" name="Text 4"/>
          <p:cNvSpPr/>
          <p:nvPr/>
        </p:nvSpPr>
        <p:spPr>
          <a:xfrm>
            <a:off x="1005840" y="2130552"/>
            <a:ext cx="1828800" cy="27432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THESIS</a:t>
            </a:r>
            <a:endParaRPr lang="en-US" sz="1200" dirty="0"/>
          </a:p>
        </p:txBody>
      </p:sp>
      <p:sp>
        <p:nvSpPr>
          <p:cNvPr id="7" name="Text 5"/>
          <p:cNvSpPr/>
          <p:nvPr/>
        </p:nvSpPr>
        <p:spPr>
          <a:xfrm>
            <a:off x="1005840" y="2423160"/>
            <a:ext cx="10180015" cy="1143000"/>
          </a:xfrm>
          <a:prstGeom prst="rect">
            <a:avLst/>
          </a:prstGeom>
          <a:noFill/>
          <a:ln/>
        </p:spPr>
        <p:txBody>
          <a:bodyPr wrap="square" lIns="0" tIns="0" rIns="0" bIns="0" rtlCol="0" anchor="t"/>
          <a:lstStyle/>
          <a:p>
            <a:pPr indent="0" marL="0">
              <a:lnSpc>
                <a:spcPct val="110000"/>
              </a:lnSpc>
              <a:buNone/>
            </a:pPr>
            <a:r>
              <a:rPr lang="en-US" sz="2200" dirty="0">
                <a:solidFill>
                  <a:srgbClr val="3C3828"/>
                </a:solidFill>
                <a:latin typeface="Georgia" pitchFamily="34" charset="0"/>
                <a:ea typeface="Georgia" pitchFamily="34" charset="-122"/>
                <a:cs typeface="Georgia" pitchFamily="34" charset="-120"/>
              </a:rPr>
              <a:t>When </a:t>
            </a:r>
            <a:r>
              <a:rPr lang="en-US" sz="2200" b="1" dirty="0">
                <a:solidFill>
                  <a:srgbClr val="02BDC7"/>
                </a:solidFill>
                <a:latin typeface="Georgia" pitchFamily="34" charset="0"/>
                <a:ea typeface="Georgia" pitchFamily="34" charset="-122"/>
                <a:cs typeface="Georgia" pitchFamily="34" charset="-120"/>
              </a:rPr>
              <a:t>schools fail to prioritize creativity in teaching</a:t>
            </a:r>
            <a:r>
              <a:rPr lang="en-US" sz="2200" dirty="0">
                <a:solidFill>
                  <a:srgbClr val="3C3828"/>
                </a:solidFill>
                <a:latin typeface="Georgia" pitchFamily="34" charset="0"/>
                <a:ea typeface="Georgia" pitchFamily="34" charset="-122"/>
                <a:cs typeface="Georgia" pitchFamily="34" charset="-120"/>
              </a:rPr>
              <a:t>, </a:t>
            </a:r>
            <a:r>
              <a:rPr lang="en-US" sz="2200" b="1" dirty="0">
                <a:solidFill>
                  <a:srgbClr val="FFB600"/>
                </a:solidFill>
                <a:latin typeface="Georgia" pitchFamily="34" charset="0"/>
                <a:ea typeface="Georgia" pitchFamily="34" charset="-122"/>
                <a:cs typeface="Georgia" pitchFamily="34" charset="-120"/>
              </a:rPr>
              <a:t>school becomes boring for both students and teachers</a:t>
            </a:r>
            <a:r>
              <a:rPr lang="en-US" sz="2200" dirty="0">
                <a:solidFill>
                  <a:srgbClr val="3C3828"/>
                </a:solidFill>
                <a:latin typeface="Georgia" pitchFamily="34" charset="0"/>
                <a:ea typeface="Georgia" pitchFamily="34" charset="-122"/>
                <a:cs typeface="Georgia" pitchFamily="34" charset="-120"/>
              </a:rPr>
              <a:t>, resulting in </a:t>
            </a:r>
            <a:r>
              <a:rPr lang="en-US" sz="2200" b="1" dirty="0">
                <a:solidFill>
                  <a:srgbClr val="FC4540"/>
                </a:solidFill>
                <a:latin typeface="Georgia" pitchFamily="34" charset="0"/>
                <a:ea typeface="Georgia" pitchFamily="34" charset="-122"/>
                <a:cs typeface="Georgia" pitchFamily="34" charset="-120"/>
              </a:rPr>
              <a:t>a lack of shared motivation, excitement, and accomplishment</a:t>
            </a:r>
            <a:r>
              <a:rPr lang="en-US" sz="2200" dirty="0">
                <a:solidFill>
                  <a:srgbClr val="3C3828"/>
                </a:solidFill>
                <a:latin typeface="Georgia" pitchFamily="34" charset="0"/>
                <a:ea typeface="Georgia" pitchFamily="34" charset="-122"/>
                <a:cs typeface="Georgia" pitchFamily="34" charset="-120"/>
              </a:rPr>
              <a:t>.</a:t>
            </a:r>
            <a:endParaRPr lang="en-US" sz="2200" dirty="0"/>
          </a:p>
        </p:txBody>
      </p:sp>
      <p:sp>
        <p:nvSpPr>
          <p:cNvPr id="8" name="Shape 6"/>
          <p:cNvSpPr/>
          <p:nvPr/>
        </p:nvSpPr>
        <p:spPr>
          <a:xfrm>
            <a:off x="868680" y="4155948"/>
            <a:ext cx="420624" cy="420624"/>
          </a:xfrm>
          <a:prstGeom prst="ellipse">
            <a:avLst/>
          </a:prstGeom>
          <a:solidFill>
            <a:srgbClr val="02BDC7"/>
          </a:solidFill>
          <a:ln w="12700">
            <a:solidFill>
              <a:srgbClr val="02BDC7"/>
            </a:solidFill>
            <a:prstDash val="solid"/>
          </a:ln>
        </p:spPr>
      </p:sp>
      <p:sp>
        <p:nvSpPr>
          <p:cNvPr id="9" name="Text 7"/>
          <p:cNvSpPr/>
          <p:nvPr/>
        </p:nvSpPr>
        <p:spPr>
          <a:xfrm>
            <a:off x="868680" y="4155948"/>
            <a:ext cx="420624" cy="420624"/>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10" name="Text 8"/>
          <p:cNvSpPr/>
          <p:nvPr/>
        </p:nvSpPr>
        <p:spPr>
          <a:xfrm>
            <a:off x="1508760" y="4023360"/>
            <a:ext cx="9814255" cy="685800"/>
          </a:xfrm>
          <a:prstGeom prst="rect">
            <a:avLst/>
          </a:prstGeom>
          <a:noFill/>
          <a:ln/>
        </p:spPr>
        <p:txBody>
          <a:bodyPr wrap="square" lIns="0" tIns="0" rIns="0" bIns="0" rtlCol="0" anchor="ctr"/>
          <a:lstStyle/>
          <a:p>
            <a:pPr indent="0" marL="0">
              <a:buNone/>
            </a:pPr>
            <a:r>
              <a:rPr lang="en-US" sz="1300" b="1" dirty="0">
                <a:solidFill>
                  <a:srgbClr val="02BDC7"/>
                </a:solidFill>
                <a:latin typeface="Consolas" pitchFamily="34" charset="0"/>
                <a:ea typeface="Consolas" pitchFamily="34" charset="-122"/>
                <a:cs typeface="Consolas" pitchFamily="34" charset="-120"/>
              </a:rPr>
              <a:t>1st element: </a:t>
            </a:r>
            <a:r>
              <a:rPr lang="en-US" sz="2200" dirty="0">
                <a:solidFill>
                  <a:srgbClr val="3C3828"/>
                </a:solidFill>
                <a:latin typeface="Calibri" pitchFamily="34" charset="0"/>
                <a:ea typeface="Calibri" pitchFamily="34" charset="-122"/>
                <a:cs typeface="Calibri" pitchFamily="34" charset="-120"/>
              </a:rPr>
              <a:t>schools fail to prioritize creativity in teaching</a:t>
            </a:r>
            <a:endParaRPr lang="en-US" sz="1300" dirty="0"/>
          </a:p>
        </p:txBody>
      </p:sp>
      <p:sp>
        <p:nvSpPr>
          <p:cNvPr id="11" name="Shape 9"/>
          <p:cNvSpPr/>
          <p:nvPr/>
        </p:nvSpPr>
        <p:spPr>
          <a:xfrm>
            <a:off x="868680" y="4841748"/>
            <a:ext cx="420624" cy="420624"/>
          </a:xfrm>
          <a:prstGeom prst="ellipse">
            <a:avLst/>
          </a:prstGeom>
          <a:solidFill>
            <a:srgbClr val="FFB600"/>
          </a:solidFill>
          <a:ln w="12700">
            <a:solidFill>
              <a:srgbClr val="FFB600"/>
            </a:solidFill>
            <a:prstDash val="solid"/>
          </a:ln>
        </p:spPr>
      </p:sp>
      <p:sp>
        <p:nvSpPr>
          <p:cNvPr id="12" name="Text 10"/>
          <p:cNvSpPr/>
          <p:nvPr/>
        </p:nvSpPr>
        <p:spPr>
          <a:xfrm>
            <a:off x="868680" y="4841748"/>
            <a:ext cx="420624" cy="420624"/>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13" name="Text 11"/>
          <p:cNvSpPr/>
          <p:nvPr/>
        </p:nvSpPr>
        <p:spPr>
          <a:xfrm>
            <a:off x="1508760" y="4709160"/>
            <a:ext cx="9814255" cy="685800"/>
          </a:xfrm>
          <a:prstGeom prst="rect">
            <a:avLst/>
          </a:prstGeom>
          <a:noFill/>
          <a:ln/>
        </p:spPr>
        <p:txBody>
          <a:bodyPr wrap="square" lIns="0" tIns="0" rIns="0" bIns="0" rtlCol="0" anchor="ctr"/>
          <a:lstStyle/>
          <a:p>
            <a:pPr indent="0" marL="0">
              <a:buNone/>
            </a:pPr>
            <a:r>
              <a:rPr lang="en-US" sz="1300" b="1" dirty="0">
                <a:solidFill>
                  <a:srgbClr val="FFB600"/>
                </a:solidFill>
                <a:latin typeface="Consolas" pitchFamily="34" charset="0"/>
                <a:ea typeface="Consolas" pitchFamily="34" charset="-122"/>
                <a:cs typeface="Consolas" pitchFamily="34" charset="-120"/>
              </a:rPr>
              <a:t>2nd element: </a:t>
            </a:r>
            <a:r>
              <a:rPr lang="en-US" sz="2200" dirty="0">
                <a:solidFill>
                  <a:srgbClr val="3C3828"/>
                </a:solidFill>
                <a:latin typeface="Calibri" pitchFamily="34" charset="0"/>
                <a:ea typeface="Calibri" pitchFamily="34" charset="-122"/>
                <a:cs typeface="Calibri" pitchFamily="34" charset="-120"/>
              </a:rPr>
              <a:t>school becomes boring for both students and teachers</a:t>
            </a:r>
            <a:endParaRPr lang="en-US" sz="1300" dirty="0"/>
          </a:p>
        </p:txBody>
      </p:sp>
      <p:sp>
        <p:nvSpPr>
          <p:cNvPr id="14" name="Shape 12"/>
          <p:cNvSpPr/>
          <p:nvPr/>
        </p:nvSpPr>
        <p:spPr>
          <a:xfrm>
            <a:off x="868680" y="5527548"/>
            <a:ext cx="420624" cy="420624"/>
          </a:xfrm>
          <a:prstGeom prst="ellipse">
            <a:avLst/>
          </a:prstGeom>
          <a:solidFill>
            <a:srgbClr val="FC4540"/>
          </a:solidFill>
          <a:ln w="12700">
            <a:solidFill>
              <a:srgbClr val="FC4540"/>
            </a:solidFill>
            <a:prstDash val="solid"/>
          </a:ln>
        </p:spPr>
      </p:sp>
      <p:sp>
        <p:nvSpPr>
          <p:cNvPr id="15" name="Text 13"/>
          <p:cNvSpPr/>
          <p:nvPr/>
        </p:nvSpPr>
        <p:spPr>
          <a:xfrm>
            <a:off x="868680" y="5527548"/>
            <a:ext cx="420624" cy="420624"/>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508760" y="5394960"/>
            <a:ext cx="9814255" cy="685800"/>
          </a:xfrm>
          <a:prstGeom prst="rect">
            <a:avLst/>
          </a:prstGeom>
          <a:noFill/>
          <a:ln/>
        </p:spPr>
        <p:txBody>
          <a:bodyPr wrap="square" lIns="0" tIns="0" rIns="0" bIns="0" rtlCol="0" anchor="ctr"/>
          <a:lstStyle/>
          <a:p>
            <a:pPr indent="0" marL="0">
              <a:buNone/>
            </a:pPr>
            <a:r>
              <a:rPr lang="en-US" sz="1300" b="1" dirty="0">
                <a:solidFill>
                  <a:srgbClr val="FC4540"/>
                </a:solidFill>
                <a:latin typeface="Consolas" pitchFamily="34" charset="0"/>
                <a:ea typeface="Consolas" pitchFamily="34" charset="-122"/>
                <a:cs typeface="Consolas" pitchFamily="34" charset="-120"/>
              </a:rPr>
              <a:t>3rd element: </a:t>
            </a:r>
            <a:r>
              <a:rPr lang="en-US" sz="2200" dirty="0">
                <a:solidFill>
                  <a:srgbClr val="3C3828"/>
                </a:solidFill>
                <a:latin typeface="Calibri" pitchFamily="34" charset="0"/>
                <a:ea typeface="Calibri" pitchFamily="34" charset="-122"/>
                <a:cs typeface="Calibri" pitchFamily="34" charset="-120"/>
              </a:rPr>
              <a:t>a lack of shared motivation, excitement, and accomplishment</a:t>
            </a:r>
            <a:endParaRPr lang="en-US" sz="13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Let your thesis be your guide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These become your body paragraphs</a:t>
            </a:r>
            <a:endParaRPr lang="en-US" sz="3600" dirty="0"/>
          </a:p>
        </p:txBody>
      </p:sp>
      <p:sp>
        <p:nvSpPr>
          <p:cNvPr id="4" name="Shape 2"/>
          <p:cNvSpPr/>
          <p:nvPr/>
        </p:nvSpPr>
        <p:spPr>
          <a:xfrm>
            <a:off x="685800" y="1965960"/>
            <a:ext cx="10820095" cy="1737360"/>
          </a:xfrm>
          <a:prstGeom prst="roundRect">
            <a:avLst>
              <a:gd name="adj" fmla="val 736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10564063" cy="91440"/>
          </a:xfrm>
          <a:prstGeom prst="rect">
            <a:avLst/>
          </a:prstGeom>
          <a:solidFill>
            <a:srgbClr val="02BDC7"/>
          </a:solidFill>
          <a:ln w="12700">
            <a:solidFill>
              <a:srgbClr val="02BDC7"/>
            </a:solidFill>
            <a:prstDash val="solid"/>
          </a:ln>
        </p:spPr>
      </p:sp>
      <p:sp>
        <p:nvSpPr>
          <p:cNvPr id="6" name="Text 4"/>
          <p:cNvSpPr/>
          <p:nvPr/>
        </p:nvSpPr>
        <p:spPr>
          <a:xfrm>
            <a:off x="1005840" y="2130552"/>
            <a:ext cx="1828800" cy="27432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THESIS</a:t>
            </a:r>
            <a:endParaRPr lang="en-US" sz="1200" dirty="0"/>
          </a:p>
        </p:txBody>
      </p:sp>
      <p:sp>
        <p:nvSpPr>
          <p:cNvPr id="7" name="Text 5"/>
          <p:cNvSpPr/>
          <p:nvPr/>
        </p:nvSpPr>
        <p:spPr>
          <a:xfrm>
            <a:off x="1005840" y="2423160"/>
            <a:ext cx="10180015" cy="1143000"/>
          </a:xfrm>
          <a:prstGeom prst="rect">
            <a:avLst/>
          </a:prstGeom>
          <a:noFill/>
          <a:ln/>
        </p:spPr>
        <p:txBody>
          <a:bodyPr wrap="square" lIns="0" tIns="0" rIns="0" bIns="0" rtlCol="0" anchor="t"/>
          <a:lstStyle/>
          <a:p>
            <a:pPr indent="0" marL="0">
              <a:lnSpc>
                <a:spcPct val="110000"/>
              </a:lnSpc>
              <a:buNone/>
            </a:pPr>
            <a:r>
              <a:rPr lang="en-US" sz="2200" dirty="0">
                <a:solidFill>
                  <a:srgbClr val="3C3828"/>
                </a:solidFill>
                <a:latin typeface="Georgia" pitchFamily="34" charset="0"/>
                <a:ea typeface="Georgia" pitchFamily="34" charset="-122"/>
                <a:cs typeface="Georgia" pitchFamily="34" charset="-120"/>
              </a:rPr>
              <a:t>When </a:t>
            </a:r>
            <a:r>
              <a:rPr lang="en-US" sz="2200" b="1" dirty="0">
                <a:solidFill>
                  <a:srgbClr val="02BDC7"/>
                </a:solidFill>
                <a:latin typeface="Georgia" pitchFamily="34" charset="0"/>
                <a:ea typeface="Georgia" pitchFamily="34" charset="-122"/>
                <a:cs typeface="Georgia" pitchFamily="34" charset="-120"/>
              </a:rPr>
              <a:t>schools fail to prioritize creativity in teaching</a:t>
            </a:r>
            <a:r>
              <a:rPr lang="en-US" sz="2200" dirty="0">
                <a:solidFill>
                  <a:srgbClr val="3C3828"/>
                </a:solidFill>
                <a:latin typeface="Georgia" pitchFamily="34" charset="0"/>
                <a:ea typeface="Georgia" pitchFamily="34" charset="-122"/>
                <a:cs typeface="Georgia" pitchFamily="34" charset="-120"/>
              </a:rPr>
              <a:t>, </a:t>
            </a:r>
            <a:r>
              <a:rPr lang="en-US" sz="2200" b="1" dirty="0">
                <a:solidFill>
                  <a:srgbClr val="FFB600"/>
                </a:solidFill>
                <a:latin typeface="Georgia" pitchFamily="34" charset="0"/>
                <a:ea typeface="Georgia" pitchFamily="34" charset="-122"/>
                <a:cs typeface="Georgia" pitchFamily="34" charset="-120"/>
              </a:rPr>
              <a:t>school becomes boring for both students and teachers</a:t>
            </a:r>
            <a:r>
              <a:rPr lang="en-US" sz="2200" dirty="0">
                <a:solidFill>
                  <a:srgbClr val="3C3828"/>
                </a:solidFill>
                <a:latin typeface="Georgia" pitchFamily="34" charset="0"/>
                <a:ea typeface="Georgia" pitchFamily="34" charset="-122"/>
                <a:cs typeface="Georgia" pitchFamily="34" charset="-120"/>
              </a:rPr>
              <a:t>, resulting in </a:t>
            </a:r>
            <a:r>
              <a:rPr lang="en-US" sz="2200" b="1" dirty="0">
                <a:solidFill>
                  <a:srgbClr val="FC4540"/>
                </a:solidFill>
                <a:latin typeface="Georgia" pitchFamily="34" charset="0"/>
                <a:ea typeface="Georgia" pitchFamily="34" charset="-122"/>
                <a:cs typeface="Georgia" pitchFamily="34" charset="-120"/>
              </a:rPr>
              <a:t>a lack of shared motivation, excitement, and accomplishment</a:t>
            </a:r>
            <a:r>
              <a:rPr lang="en-US" sz="2200" dirty="0">
                <a:solidFill>
                  <a:srgbClr val="3C3828"/>
                </a:solidFill>
                <a:latin typeface="Georgia" pitchFamily="34" charset="0"/>
                <a:ea typeface="Georgia" pitchFamily="34" charset="-122"/>
                <a:cs typeface="Georgia" pitchFamily="34" charset="-120"/>
              </a:rPr>
              <a:t>.</a:t>
            </a:r>
            <a:endParaRPr lang="en-US" sz="2200" dirty="0"/>
          </a:p>
        </p:txBody>
      </p:sp>
      <p:sp>
        <p:nvSpPr>
          <p:cNvPr id="8" name="Shape 6"/>
          <p:cNvSpPr/>
          <p:nvPr/>
        </p:nvSpPr>
        <p:spPr>
          <a:xfrm>
            <a:off x="868680" y="4155948"/>
            <a:ext cx="420624" cy="420624"/>
          </a:xfrm>
          <a:prstGeom prst="ellipse">
            <a:avLst/>
          </a:prstGeom>
          <a:solidFill>
            <a:srgbClr val="02BDC7"/>
          </a:solidFill>
          <a:ln w="12700">
            <a:solidFill>
              <a:srgbClr val="02BDC7"/>
            </a:solidFill>
            <a:prstDash val="solid"/>
          </a:ln>
        </p:spPr>
      </p:sp>
      <p:sp>
        <p:nvSpPr>
          <p:cNvPr id="9" name="Text 7"/>
          <p:cNvSpPr/>
          <p:nvPr/>
        </p:nvSpPr>
        <p:spPr>
          <a:xfrm>
            <a:off x="868680" y="4155948"/>
            <a:ext cx="420624" cy="420624"/>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10" name="Text 8"/>
          <p:cNvSpPr/>
          <p:nvPr/>
        </p:nvSpPr>
        <p:spPr>
          <a:xfrm>
            <a:off x="1508760" y="4023360"/>
            <a:ext cx="9814255" cy="685800"/>
          </a:xfrm>
          <a:prstGeom prst="rect">
            <a:avLst/>
          </a:prstGeom>
          <a:noFill/>
          <a:ln/>
        </p:spPr>
        <p:txBody>
          <a:bodyPr wrap="square" lIns="0" tIns="0" rIns="0" bIns="0" rtlCol="0" anchor="ctr"/>
          <a:lstStyle/>
          <a:p>
            <a:pPr indent="0" marL="0">
              <a:buNone/>
            </a:pPr>
            <a:r>
              <a:rPr lang="en-US" sz="1300" b="1" dirty="0">
                <a:solidFill>
                  <a:srgbClr val="02BDC7"/>
                </a:solidFill>
                <a:latin typeface="Consolas" pitchFamily="34" charset="0"/>
                <a:ea typeface="Consolas" pitchFamily="34" charset="-122"/>
                <a:cs typeface="Consolas" pitchFamily="34" charset="-120"/>
              </a:rPr>
              <a:t>Body paragraph 1: </a:t>
            </a:r>
            <a:r>
              <a:rPr lang="en-US" sz="2200" dirty="0">
                <a:solidFill>
                  <a:srgbClr val="3C3828"/>
                </a:solidFill>
                <a:latin typeface="Calibri" pitchFamily="34" charset="0"/>
                <a:ea typeface="Calibri" pitchFamily="34" charset="-122"/>
                <a:cs typeface="Calibri" pitchFamily="34" charset="-120"/>
              </a:rPr>
              <a:t>schools fail to prioritize creativity in teaching</a:t>
            </a:r>
            <a:endParaRPr lang="en-US" sz="1300" dirty="0"/>
          </a:p>
        </p:txBody>
      </p:sp>
      <p:sp>
        <p:nvSpPr>
          <p:cNvPr id="11" name="Shape 9"/>
          <p:cNvSpPr/>
          <p:nvPr/>
        </p:nvSpPr>
        <p:spPr>
          <a:xfrm>
            <a:off x="868680" y="4841748"/>
            <a:ext cx="420624" cy="420624"/>
          </a:xfrm>
          <a:prstGeom prst="ellipse">
            <a:avLst/>
          </a:prstGeom>
          <a:solidFill>
            <a:srgbClr val="FFB600"/>
          </a:solidFill>
          <a:ln w="12700">
            <a:solidFill>
              <a:srgbClr val="FFB600"/>
            </a:solidFill>
            <a:prstDash val="solid"/>
          </a:ln>
        </p:spPr>
      </p:sp>
      <p:sp>
        <p:nvSpPr>
          <p:cNvPr id="12" name="Text 10"/>
          <p:cNvSpPr/>
          <p:nvPr/>
        </p:nvSpPr>
        <p:spPr>
          <a:xfrm>
            <a:off x="868680" y="4841748"/>
            <a:ext cx="420624" cy="420624"/>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13" name="Text 11"/>
          <p:cNvSpPr/>
          <p:nvPr/>
        </p:nvSpPr>
        <p:spPr>
          <a:xfrm>
            <a:off x="1508760" y="4709160"/>
            <a:ext cx="9814255" cy="685800"/>
          </a:xfrm>
          <a:prstGeom prst="rect">
            <a:avLst/>
          </a:prstGeom>
          <a:noFill/>
          <a:ln/>
        </p:spPr>
        <p:txBody>
          <a:bodyPr wrap="square" lIns="0" tIns="0" rIns="0" bIns="0" rtlCol="0" anchor="ctr"/>
          <a:lstStyle/>
          <a:p>
            <a:pPr indent="0" marL="0">
              <a:buNone/>
            </a:pPr>
            <a:r>
              <a:rPr lang="en-US" sz="1300" b="1" dirty="0">
                <a:solidFill>
                  <a:srgbClr val="FFB600"/>
                </a:solidFill>
                <a:latin typeface="Consolas" pitchFamily="34" charset="0"/>
                <a:ea typeface="Consolas" pitchFamily="34" charset="-122"/>
                <a:cs typeface="Consolas" pitchFamily="34" charset="-120"/>
              </a:rPr>
              <a:t>Body paragraph 2: </a:t>
            </a:r>
            <a:r>
              <a:rPr lang="en-US" sz="2200" dirty="0">
                <a:solidFill>
                  <a:srgbClr val="3C3828"/>
                </a:solidFill>
                <a:latin typeface="Calibri" pitchFamily="34" charset="0"/>
                <a:ea typeface="Calibri" pitchFamily="34" charset="-122"/>
                <a:cs typeface="Calibri" pitchFamily="34" charset="-120"/>
              </a:rPr>
              <a:t>school becomes boring for both students and teachers</a:t>
            </a:r>
            <a:endParaRPr lang="en-US" sz="1300" dirty="0"/>
          </a:p>
        </p:txBody>
      </p:sp>
      <p:sp>
        <p:nvSpPr>
          <p:cNvPr id="14" name="Shape 12"/>
          <p:cNvSpPr/>
          <p:nvPr/>
        </p:nvSpPr>
        <p:spPr>
          <a:xfrm>
            <a:off x="868680" y="5527548"/>
            <a:ext cx="420624" cy="420624"/>
          </a:xfrm>
          <a:prstGeom prst="ellipse">
            <a:avLst/>
          </a:prstGeom>
          <a:solidFill>
            <a:srgbClr val="FC4540"/>
          </a:solidFill>
          <a:ln w="12700">
            <a:solidFill>
              <a:srgbClr val="FC4540"/>
            </a:solidFill>
            <a:prstDash val="solid"/>
          </a:ln>
        </p:spPr>
      </p:sp>
      <p:sp>
        <p:nvSpPr>
          <p:cNvPr id="15" name="Text 13"/>
          <p:cNvSpPr/>
          <p:nvPr/>
        </p:nvSpPr>
        <p:spPr>
          <a:xfrm>
            <a:off x="868680" y="5527548"/>
            <a:ext cx="420624" cy="420624"/>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508760" y="5394960"/>
            <a:ext cx="9814255" cy="685800"/>
          </a:xfrm>
          <a:prstGeom prst="rect">
            <a:avLst/>
          </a:prstGeom>
          <a:noFill/>
          <a:ln/>
        </p:spPr>
        <p:txBody>
          <a:bodyPr wrap="square" lIns="0" tIns="0" rIns="0" bIns="0" rtlCol="0" anchor="ctr"/>
          <a:lstStyle/>
          <a:p>
            <a:pPr indent="0" marL="0">
              <a:buNone/>
            </a:pPr>
            <a:r>
              <a:rPr lang="en-US" sz="1300" b="1" dirty="0">
                <a:solidFill>
                  <a:srgbClr val="FC4540"/>
                </a:solidFill>
                <a:latin typeface="Consolas" pitchFamily="34" charset="0"/>
                <a:ea typeface="Consolas" pitchFamily="34" charset="-122"/>
                <a:cs typeface="Consolas" pitchFamily="34" charset="-120"/>
              </a:rPr>
              <a:t>Body paragraph 3: </a:t>
            </a:r>
            <a:r>
              <a:rPr lang="en-US" sz="2200" dirty="0">
                <a:solidFill>
                  <a:srgbClr val="3C3828"/>
                </a:solidFill>
                <a:latin typeface="Calibri" pitchFamily="34" charset="0"/>
                <a:ea typeface="Calibri" pitchFamily="34" charset="-122"/>
                <a:cs typeface="Calibri" pitchFamily="34" charset="-120"/>
              </a:rPr>
              <a:t>a lack of shared motivation, excitement, and accomplishment</a:t>
            </a:r>
            <a:endParaRPr lang="en-US" sz="13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9755"/>
                </a:solidFill>
                <a:latin typeface="Consolas" pitchFamily="34" charset="0"/>
                <a:ea typeface="Consolas" pitchFamily="34" charset="-122"/>
                <a:cs typeface="Consolas" pitchFamily="34" charset="-120"/>
              </a:rPr>
              <a:t>Basic structure of a body paragraph</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One paragraph at a time</a:t>
            </a:r>
            <a:endParaRPr lang="en-US" sz="36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pencil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65960"/>
            <a:ext cx="5250028" cy="1897380"/>
          </a:xfrm>
          <a:prstGeom prst="roundRect">
            <a:avLst>
              <a:gd name="adj" fmla="val 674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65960"/>
            <a:ext cx="4993996" cy="91440"/>
          </a:xfrm>
          <a:prstGeom prst="rect">
            <a:avLst/>
          </a:prstGeom>
          <a:solidFill>
            <a:srgbClr val="FF9755"/>
          </a:solidFill>
          <a:ln w="12700">
            <a:solidFill>
              <a:srgbClr val="FF9755"/>
            </a:solidFill>
            <a:prstDash val="solid"/>
          </a:ln>
        </p:spPr>
      </p:sp>
      <p:sp>
        <p:nvSpPr>
          <p:cNvPr id="10" name="Shape 7"/>
          <p:cNvSpPr/>
          <p:nvPr/>
        </p:nvSpPr>
        <p:spPr>
          <a:xfrm>
            <a:off x="960120" y="2286000"/>
            <a:ext cx="548640" cy="548640"/>
          </a:xfrm>
          <a:prstGeom prst="ellipse">
            <a:avLst/>
          </a:prstGeom>
          <a:solidFill>
            <a:srgbClr val="FF9755"/>
          </a:solidFill>
          <a:ln w="12700">
            <a:solidFill>
              <a:srgbClr val="FF9755"/>
            </a:solidFill>
            <a:prstDash val="solid"/>
          </a:ln>
        </p:spPr>
      </p:sp>
      <p:sp>
        <p:nvSpPr>
          <p:cNvPr id="11" name="Text 8"/>
          <p:cNvSpPr/>
          <p:nvPr/>
        </p:nvSpPr>
        <p:spPr>
          <a:xfrm>
            <a:off x="960120" y="2286000"/>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1</a:t>
            </a:r>
            <a:endParaRPr lang="en-US" sz="2200" dirty="0"/>
          </a:p>
        </p:txBody>
      </p:sp>
      <p:sp>
        <p:nvSpPr>
          <p:cNvPr id="12" name="Text 9"/>
          <p:cNvSpPr/>
          <p:nvPr/>
        </p:nvSpPr>
        <p:spPr>
          <a:xfrm>
            <a:off x="1737360" y="2194560"/>
            <a:ext cx="3924148" cy="1485900"/>
          </a:xfrm>
          <a:prstGeom prst="rect">
            <a:avLst/>
          </a:prstGeom>
          <a:noFill/>
          <a:ln/>
        </p:spPr>
        <p:txBody>
          <a:bodyPr wrap="square" lIns="0" tIns="0" rIns="0" bIns="0" rtlCol="0" anchor="t"/>
          <a:lstStyle/>
          <a:p>
            <a:pPr indent="0" marL="0">
              <a:buNone/>
            </a:pPr>
            <a:r>
              <a:rPr lang="en-US" sz="2000" dirty="0">
                <a:solidFill>
                  <a:srgbClr val="3C3828"/>
                </a:solidFill>
                <a:highlight>
                  <a:srgbClr val="FFE14D"/>
                </a:highlight>
                <a:latin typeface="Calibri" pitchFamily="34" charset="0"/>
                <a:ea typeface="Calibri" pitchFamily="34" charset="-122"/>
                <a:cs typeface="Calibri" pitchFamily="34" charset="-120"/>
              </a:rPr>
              <a:t>Transition sentence</a:t>
            </a:r>
            <a:r>
              <a:rPr lang="en-US" sz="2000" dirty="0">
                <a:solidFill>
                  <a:srgbClr val="3C3828"/>
                </a:solidFill>
                <a:latin typeface="Calibri" pitchFamily="34" charset="0"/>
                <a:ea typeface="Calibri" pitchFamily="34" charset="-122"/>
                <a:cs typeface="Calibri" pitchFamily="34" charset="-120"/>
              </a:rPr>
              <a:t> (optional)</a:t>
            </a:r>
            <a:endParaRPr lang="en-US" sz="2000" dirty="0"/>
          </a:p>
        </p:txBody>
      </p:sp>
      <p:sp>
        <p:nvSpPr>
          <p:cNvPr id="13" name="Shape 10"/>
          <p:cNvSpPr/>
          <p:nvPr/>
        </p:nvSpPr>
        <p:spPr>
          <a:xfrm>
            <a:off x="6255868" y="1965960"/>
            <a:ext cx="5250028" cy="1897380"/>
          </a:xfrm>
          <a:prstGeom prst="roundRect">
            <a:avLst>
              <a:gd name="adj" fmla="val 674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1"/>
          <p:cNvSpPr/>
          <p:nvPr/>
        </p:nvSpPr>
        <p:spPr>
          <a:xfrm>
            <a:off x="6383884" y="1965960"/>
            <a:ext cx="4993996" cy="91440"/>
          </a:xfrm>
          <a:prstGeom prst="rect">
            <a:avLst/>
          </a:prstGeom>
          <a:solidFill>
            <a:srgbClr val="FC4067"/>
          </a:solidFill>
          <a:ln w="12700">
            <a:solidFill>
              <a:srgbClr val="FC4067"/>
            </a:solidFill>
            <a:prstDash val="solid"/>
          </a:ln>
        </p:spPr>
      </p:sp>
      <p:sp>
        <p:nvSpPr>
          <p:cNvPr id="15" name="Shape 12"/>
          <p:cNvSpPr/>
          <p:nvPr/>
        </p:nvSpPr>
        <p:spPr>
          <a:xfrm>
            <a:off x="6530188" y="2286000"/>
            <a:ext cx="548640" cy="548640"/>
          </a:xfrm>
          <a:prstGeom prst="ellipse">
            <a:avLst/>
          </a:prstGeom>
          <a:solidFill>
            <a:srgbClr val="FC4067"/>
          </a:solidFill>
          <a:ln w="12700">
            <a:solidFill>
              <a:srgbClr val="FC4067"/>
            </a:solidFill>
            <a:prstDash val="solid"/>
          </a:ln>
        </p:spPr>
      </p:sp>
      <p:sp>
        <p:nvSpPr>
          <p:cNvPr id="16" name="Text 13"/>
          <p:cNvSpPr/>
          <p:nvPr/>
        </p:nvSpPr>
        <p:spPr>
          <a:xfrm>
            <a:off x="6530188" y="2286000"/>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2</a:t>
            </a:r>
            <a:endParaRPr lang="en-US" sz="2200" dirty="0"/>
          </a:p>
        </p:txBody>
      </p:sp>
      <p:sp>
        <p:nvSpPr>
          <p:cNvPr id="17" name="Text 14"/>
          <p:cNvSpPr/>
          <p:nvPr/>
        </p:nvSpPr>
        <p:spPr>
          <a:xfrm>
            <a:off x="7307428" y="2194560"/>
            <a:ext cx="3924148" cy="1485900"/>
          </a:xfrm>
          <a:prstGeom prst="rect">
            <a:avLst/>
          </a:prstGeom>
          <a:noFill/>
          <a:ln/>
        </p:spPr>
        <p:txBody>
          <a:bodyPr wrap="square" lIns="0" tIns="0" rIns="0" bIns="0" rtlCol="0" anchor="t"/>
          <a:lstStyle/>
          <a:p>
            <a:pPr indent="0" marL="0">
              <a:buNone/>
            </a:pPr>
            <a:r>
              <a:rPr lang="en-US" sz="2000" dirty="0">
                <a:solidFill>
                  <a:srgbClr val="3C3828"/>
                </a:solidFill>
                <a:highlight>
                  <a:srgbClr val="FFE14D"/>
                </a:highlight>
                <a:latin typeface="Calibri" pitchFamily="34" charset="0"/>
                <a:ea typeface="Calibri" pitchFamily="34" charset="-122"/>
                <a:cs typeface="Calibri" pitchFamily="34" charset="-120"/>
              </a:rPr>
              <a:t>Topic sentence:</a:t>
            </a:r>
            <a:r>
              <a:rPr lang="en-US" sz="2000" dirty="0">
                <a:solidFill>
                  <a:srgbClr val="3C3828"/>
                </a:solidFill>
                <a:latin typeface="Calibri" pitchFamily="34" charset="0"/>
                <a:ea typeface="Calibri" pitchFamily="34" charset="-122"/>
                <a:cs typeface="Calibri" pitchFamily="34" charset="-120"/>
              </a:rPr>
              <a:t> the element from your thesis you’re discussing</a:t>
            </a:r>
            <a:endParaRPr lang="en-US" sz="2000" dirty="0"/>
          </a:p>
        </p:txBody>
      </p:sp>
      <p:sp>
        <p:nvSpPr>
          <p:cNvPr id="18" name="Shape 15"/>
          <p:cNvSpPr/>
          <p:nvPr/>
        </p:nvSpPr>
        <p:spPr>
          <a:xfrm>
            <a:off x="685800" y="4183380"/>
            <a:ext cx="5250028" cy="1897380"/>
          </a:xfrm>
          <a:prstGeom prst="roundRect">
            <a:avLst>
              <a:gd name="adj" fmla="val 674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9" name="Shape 16"/>
          <p:cNvSpPr/>
          <p:nvPr/>
        </p:nvSpPr>
        <p:spPr>
          <a:xfrm>
            <a:off x="813816" y="4183380"/>
            <a:ext cx="4993996" cy="91440"/>
          </a:xfrm>
          <a:prstGeom prst="rect">
            <a:avLst/>
          </a:prstGeom>
          <a:solidFill>
            <a:srgbClr val="02BDC7"/>
          </a:solidFill>
          <a:ln w="12700">
            <a:solidFill>
              <a:srgbClr val="02BDC7"/>
            </a:solidFill>
            <a:prstDash val="solid"/>
          </a:ln>
        </p:spPr>
      </p:sp>
      <p:sp>
        <p:nvSpPr>
          <p:cNvPr id="20" name="Shape 17"/>
          <p:cNvSpPr/>
          <p:nvPr/>
        </p:nvSpPr>
        <p:spPr>
          <a:xfrm>
            <a:off x="960120" y="4503420"/>
            <a:ext cx="548640" cy="548640"/>
          </a:xfrm>
          <a:prstGeom prst="ellipse">
            <a:avLst/>
          </a:prstGeom>
          <a:solidFill>
            <a:srgbClr val="02BDC7"/>
          </a:solidFill>
          <a:ln w="12700">
            <a:solidFill>
              <a:srgbClr val="02BDC7"/>
            </a:solidFill>
            <a:prstDash val="solid"/>
          </a:ln>
        </p:spPr>
      </p:sp>
      <p:sp>
        <p:nvSpPr>
          <p:cNvPr id="21" name="Text 18"/>
          <p:cNvSpPr/>
          <p:nvPr/>
        </p:nvSpPr>
        <p:spPr>
          <a:xfrm>
            <a:off x="960120" y="4503420"/>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3</a:t>
            </a:r>
            <a:endParaRPr lang="en-US" sz="2200" dirty="0"/>
          </a:p>
        </p:txBody>
      </p:sp>
      <p:sp>
        <p:nvSpPr>
          <p:cNvPr id="22" name="Text 19"/>
          <p:cNvSpPr/>
          <p:nvPr/>
        </p:nvSpPr>
        <p:spPr>
          <a:xfrm>
            <a:off x="1737360" y="4411980"/>
            <a:ext cx="3924148" cy="1485900"/>
          </a:xfrm>
          <a:prstGeom prst="rect">
            <a:avLst/>
          </a:prstGeom>
          <a:noFill/>
          <a:ln/>
        </p:spPr>
        <p:txBody>
          <a:bodyPr wrap="square" lIns="0" tIns="0" rIns="0" bIns="0" rtlCol="0" anchor="t"/>
          <a:lstStyle/>
          <a:p>
            <a:pPr indent="0" marL="0">
              <a:buNone/>
            </a:pPr>
            <a:r>
              <a:rPr lang="en-US" sz="2000" dirty="0">
                <a:solidFill>
                  <a:srgbClr val="3C3828"/>
                </a:solidFill>
                <a:highlight>
                  <a:srgbClr val="FFE14D"/>
                </a:highlight>
                <a:latin typeface="Calibri" pitchFamily="34" charset="0"/>
                <a:ea typeface="Calibri" pitchFamily="34" charset="-122"/>
                <a:cs typeface="Calibri" pitchFamily="34" charset="-120"/>
              </a:rPr>
              <a:t>Supporting sentences:</a:t>
            </a:r>
            <a:r>
              <a:rPr lang="en-US" sz="2000" dirty="0">
                <a:solidFill>
                  <a:srgbClr val="3C3828"/>
                </a:solidFill>
                <a:latin typeface="Calibri" pitchFamily="34" charset="0"/>
                <a:ea typeface="Calibri" pitchFamily="34" charset="-122"/>
                <a:cs typeface="Calibri" pitchFamily="34" charset="-120"/>
              </a:rPr>
              <a:t> explanations, opinions and analysis, causes or effects, research (only if needed, and cite it), the 5 W’s</a:t>
            </a:r>
            <a:endParaRPr lang="en-US" sz="2000" dirty="0"/>
          </a:p>
        </p:txBody>
      </p:sp>
      <p:sp>
        <p:nvSpPr>
          <p:cNvPr id="23" name="Shape 20"/>
          <p:cNvSpPr/>
          <p:nvPr/>
        </p:nvSpPr>
        <p:spPr>
          <a:xfrm>
            <a:off x="6255868" y="4183380"/>
            <a:ext cx="5250028" cy="1897380"/>
          </a:xfrm>
          <a:prstGeom prst="roundRect">
            <a:avLst>
              <a:gd name="adj" fmla="val 674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4" name="Shape 21"/>
          <p:cNvSpPr/>
          <p:nvPr/>
        </p:nvSpPr>
        <p:spPr>
          <a:xfrm>
            <a:off x="6383884" y="4183380"/>
            <a:ext cx="4993996" cy="91440"/>
          </a:xfrm>
          <a:prstGeom prst="rect">
            <a:avLst/>
          </a:prstGeom>
          <a:solidFill>
            <a:srgbClr val="FFB600"/>
          </a:solidFill>
          <a:ln w="12700">
            <a:solidFill>
              <a:srgbClr val="FFB600"/>
            </a:solidFill>
            <a:prstDash val="solid"/>
          </a:ln>
        </p:spPr>
      </p:sp>
      <p:sp>
        <p:nvSpPr>
          <p:cNvPr id="25" name="Shape 22"/>
          <p:cNvSpPr/>
          <p:nvPr/>
        </p:nvSpPr>
        <p:spPr>
          <a:xfrm>
            <a:off x="6530188" y="4503420"/>
            <a:ext cx="548640" cy="548640"/>
          </a:xfrm>
          <a:prstGeom prst="ellipse">
            <a:avLst/>
          </a:prstGeom>
          <a:solidFill>
            <a:srgbClr val="FFB600"/>
          </a:solidFill>
          <a:ln w="12700">
            <a:solidFill>
              <a:srgbClr val="FFB600"/>
            </a:solidFill>
            <a:prstDash val="solid"/>
          </a:ln>
        </p:spPr>
      </p:sp>
      <p:sp>
        <p:nvSpPr>
          <p:cNvPr id="26" name="Text 23"/>
          <p:cNvSpPr/>
          <p:nvPr/>
        </p:nvSpPr>
        <p:spPr>
          <a:xfrm>
            <a:off x="6530188" y="4503420"/>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4</a:t>
            </a:r>
            <a:endParaRPr lang="en-US" sz="2200" dirty="0"/>
          </a:p>
        </p:txBody>
      </p:sp>
      <p:sp>
        <p:nvSpPr>
          <p:cNvPr id="27" name="Text 24"/>
          <p:cNvSpPr/>
          <p:nvPr/>
        </p:nvSpPr>
        <p:spPr>
          <a:xfrm>
            <a:off x="7307428" y="4411980"/>
            <a:ext cx="3924148" cy="1485900"/>
          </a:xfrm>
          <a:prstGeom prst="rect">
            <a:avLst/>
          </a:prstGeom>
          <a:noFill/>
          <a:ln/>
        </p:spPr>
        <p:txBody>
          <a:bodyPr wrap="square" lIns="0" tIns="0" rIns="0" bIns="0" rtlCol="0" anchor="t"/>
          <a:lstStyle/>
          <a:p>
            <a:pPr indent="0" marL="0">
              <a:buNone/>
            </a:pPr>
            <a:r>
              <a:rPr lang="en-US" sz="2000" dirty="0">
                <a:solidFill>
                  <a:srgbClr val="3C3828"/>
                </a:solidFill>
                <a:highlight>
                  <a:srgbClr val="FFE14D"/>
                </a:highlight>
                <a:latin typeface="Calibri" pitchFamily="34" charset="0"/>
                <a:ea typeface="Calibri" pitchFamily="34" charset="-122"/>
                <a:cs typeface="Calibri" pitchFamily="34" charset="-120"/>
              </a:rPr>
              <a:t>Concluding sentence:</a:t>
            </a:r>
            <a:r>
              <a:rPr lang="en-US" sz="2000" dirty="0">
                <a:solidFill>
                  <a:srgbClr val="3C3828"/>
                </a:solidFill>
                <a:latin typeface="Calibri" pitchFamily="34" charset="0"/>
                <a:ea typeface="Calibri" pitchFamily="34" charset="-122"/>
                <a:cs typeface="Calibri" pitchFamily="34" charset="-120"/>
              </a:rPr>
              <a:t> wrapping up your thoughts on this element</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READ TOGETHER</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4000" dirty="0">
                <a:solidFill>
                  <a:srgbClr val="3C3828"/>
                </a:solidFill>
                <a:highlight>
                  <a:srgbClr val="FFE14D"/>
                </a:highlight>
                <a:latin typeface="Georgia" pitchFamily="34" charset="0"/>
                <a:ea typeface="Georgia" pitchFamily="34" charset="-122"/>
                <a:cs typeface="Georgia" pitchFamily="34" charset="-120"/>
              </a:rPr>
              <a:t>Read Sample Essay</a:t>
            </a:r>
            <a:endParaRPr lang="en-US" sz="40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Watch each paragraph call back to one part of the thesis.</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Sample essay</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Introduction</a:t>
            </a:r>
            <a:endParaRPr lang="en-US" sz="3200" dirty="0"/>
          </a:p>
        </p:txBody>
      </p:sp>
      <p:sp>
        <p:nvSpPr>
          <p:cNvPr id="4" name="Shape 2"/>
          <p:cNvSpPr/>
          <p:nvPr/>
        </p:nvSpPr>
        <p:spPr>
          <a:xfrm>
            <a:off x="685800" y="1417320"/>
            <a:ext cx="10820095" cy="4800600"/>
          </a:xfrm>
          <a:prstGeom prst="roundRect">
            <a:avLst>
              <a:gd name="adj" fmla="val 266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417320"/>
            <a:ext cx="10564063" cy="91440"/>
          </a:xfrm>
          <a:prstGeom prst="rect">
            <a:avLst/>
          </a:prstGeom>
          <a:solidFill>
            <a:srgbClr val="02BDC7"/>
          </a:solidFill>
          <a:ln w="12700">
            <a:solidFill>
              <a:srgbClr val="02BDC7"/>
            </a:solidFill>
            <a:prstDash val="solid"/>
          </a:ln>
        </p:spPr>
      </p:sp>
      <p:sp>
        <p:nvSpPr>
          <p:cNvPr id="6" name="Text 4"/>
          <p:cNvSpPr/>
          <p:nvPr/>
        </p:nvSpPr>
        <p:spPr>
          <a:xfrm>
            <a:off x="1143000" y="1691640"/>
            <a:ext cx="9905695" cy="27432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THE THESIS IS IN ITALICS</a:t>
            </a:r>
            <a:endParaRPr lang="en-US" sz="1200" dirty="0"/>
          </a:p>
        </p:txBody>
      </p:sp>
      <p:sp>
        <p:nvSpPr>
          <p:cNvPr id="7" name="Text 5"/>
          <p:cNvSpPr/>
          <p:nvPr/>
        </p:nvSpPr>
        <p:spPr>
          <a:xfrm>
            <a:off x="1143000" y="2057400"/>
            <a:ext cx="9905695" cy="3886200"/>
          </a:xfrm>
          <a:prstGeom prst="rect">
            <a:avLst/>
          </a:prstGeom>
          <a:noFill/>
          <a:ln/>
        </p:spPr>
        <p:txBody>
          <a:bodyPr wrap="square" lIns="0" tIns="0" rIns="0" bIns="0" rtlCol="0" anchor="t"/>
          <a:lstStyle/>
          <a:p>
            <a:pPr indent="0" marL="0">
              <a:lnSpc>
                <a:spcPct val="112000"/>
              </a:lnSpc>
              <a:buNone/>
            </a:pPr>
            <a:r>
              <a:rPr lang="en-US" sz="2200" dirty="0">
                <a:solidFill>
                  <a:srgbClr val="3C3828"/>
                </a:solidFill>
                <a:latin typeface="Georgia" pitchFamily="34" charset="0"/>
                <a:ea typeface="Georgia" pitchFamily="34" charset="-122"/>
                <a:cs typeface="Georgia" pitchFamily="34" charset="-120"/>
              </a:rPr>
              <a:t>Do you remember trying to learn how to ride a bike? It was exciting, blood rushing, and challenging, but worth it. When you got going but fell, you got back up and went a little further each time. You had more motivation to keep going because it was exciting. Schools today seem to lack this sense of excitement. Students have zero motivation to keep going because there is no excitement from the teachers and no sense of an end goal for the students. Shouldn't the process of learning be inspiring and exciting for everyone? </a:t>
            </a:r>
            <a:r>
              <a:rPr lang="en-US" sz="2200" i="1" dirty="0">
                <a:solidFill>
                  <a:srgbClr val="3C3828"/>
                </a:solidFill>
                <a:latin typeface="Georgia" pitchFamily="34" charset="0"/>
                <a:ea typeface="Georgia" pitchFamily="34" charset="-122"/>
                <a:cs typeface="Georgia" pitchFamily="34" charset="-120"/>
              </a:rPr>
              <a:t>When schools fail to prioritize creativity in teaching, school becomes boring for both students and teachers, resulting in a lack of shared motivation, excitement, and accomplishment.</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Sample essay</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Body paragraph 1</a:t>
            </a:r>
            <a:endParaRPr lang="en-US" sz="3200" dirty="0"/>
          </a:p>
        </p:txBody>
      </p:sp>
      <p:sp>
        <p:nvSpPr>
          <p:cNvPr id="4" name="Shape 2"/>
          <p:cNvSpPr/>
          <p:nvPr/>
        </p:nvSpPr>
        <p:spPr>
          <a:xfrm>
            <a:off x="685800" y="1417320"/>
            <a:ext cx="10820095" cy="4800600"/>
          </a:xfrm>
          <a:prstGeom prst="roundRect">
            <a:avLst>
              <a:gd name="adj" fmla="val 266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417320"/>
            <a:ext cx="10564063" cy="91440"/>
          </a:xfrm>
          <a:prstGeom prst="rect">
            <a:avLst/>
          </a:prstGeom>
          <a:solidFill>
            <a:srgbClr val="02BDC7"/>
          </a:solidFill>
          <a:ln w="12700">
            <a:solidFill>
              <a:srgbClr val="02BDC7"/>
            </a:solidFill>
            <a:prstDash val="solid"/>
          </a:ln>
        </p:spPr>
      </p:sp>
      <p:sp>
        <p:nvSpPr>
          <p:cNvPr id="6" name="Text 4"/>
          <p:cNvSpPr/>
          <p:nvPr/>
        </p:nvSpPr>
        <p:spPr>
          <a:xfrm>
            <a:off x="1143000" y="1691640"/>
            <a:ext cx="9905695" cy="27432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THESIS PART 1 · SCHOOLS FAIL TO PRIORITIZE CREATIVITY IN TEACHING</a:t>
            </a:r>
            <a:endParaRPr lang="en-US" sz="1200" dirty="0"/>
          </a:p>
        </p:txBody>
      </p:sp>
      <p:sp>
        <p:nvSpPr>
          <p:cNvPr id="7" name="Text 5"/>
          <p:cNvSpPr/>
          <p:nvPr/>
        </p:nvSpPr>
        <p:spPr>
          <a:xfrm>
            <a:off x="1143000" y="2057400"/>
            <a:ext cx="9905695" cy="3886200"/>
          </a:xfrm>
          <a:prstGeom prst="rect">
            <a:avLst/>
          </a:prstGeom>
          <a:noFill/>
          <a:ln/>
        </p:spPr>
        <p:txBody>
          <a:bodyPr wrap="square" lIns="0" tIns="0" rIns="0" bIns="0" rtlCol="0" anchor="t"/>
          <a:lstStyle/>
          <a:p>
            <a:pPr indent="0" marL="0">
              <a:lnSpc>
                <a:spcPct val="112000"/>
              </a:lnSpc>
              <a:buNone/>
            </a:pPr>
            <a:r>
              <a:rPr lang="en-US" sz="2200" dirty="0">
                <a:solidFill>
                  <a:srgbClr val="3C3828"/>
                </a:solidFill>
                <a:highlight>
                  <a:srgbClr val="FFE14D"/>
                </a:highlight>
                <a:latin typeface="Georgia" pitchFamily="34" charset="0"/>
                <a:ea typeface="Georgia" pitchFamily="34" charset="-122"/>
                <a:cs typeface="Georgia" pitchFamily="34" charset="-120"/>
              </a:rPr>
              <a:t>Visit most schools in America today and you’ll see how much creativity they really lack.</a:t>
            </a:r>
            <a:r>
              <a:rPr lang="en-US" sz="2200" dirty="0">
                <a:solidFill>
                  <a:srgbClr val="3C3828"/>
                </a:solidFill>
                <a:latin typeface="Georgia" pitchFamily="34" charset="0"/>
                <a:ea typeface="Georgia" pitchFamily="34" charset="-122"/>
                <a:cs typeface="Georgia" pitchFamily="34" charset="-120"/>
              </a:rPr>
              <a:t> Handouts, tests, and managing student behavior seem to be the priorities. Many teachers think if they allow creativity in a classroom, it will cause the students to be disruptive, and make it hard to gain control again. Administrators may also be to blame, if they don’t see the value of creative activities and discourage teachers from teaching in this way. However, the truth is that creative activities get students interested in subjects. When they are interested, they ask questions and want to learn more. In some cases, they may even find the thing they want to focus on in college or for a career.</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dirty="0">
                <a:solidFill>
                  <a:srgbClr val="FFB600"/>
                </a:solidFill>
                <a:latin typeface="Consolas" pitchFamily="34" charset="0"/>
                <a:ea typeface="Consolas" pitchFamily="34" charset="-122"/>
                <a:cs typeface="Consolas" pitchFamily="34" charset="-120"/>
              </a:rPr>
              <a:t>Sample essay</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Body paragraph 2</a:t>
            </a:r>
            <a:endParaRPr lang="en-US" sz="3200" dirty="0"/>
          </a:p>
        </p:txBody>
      </p:sp>
      <p:sp>
        <p:nvSpPr>
          <p:cNvPr id="4" name="Shape 2"/>
          <p:cNvSpPr/>
          <p:nvPr/>
        </p:nvSpPr>
        <p:spPr>
          <a:xfrm>
            <a:off x="685800" y="1417320"/>
            <a:ext cx="10820095" cy="4800600"/>
          </a:xfrm>
          <a:prstGeom prst="roundRect">
            <a:avLst>
              <a:gd name="adj" fmla="val 266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417320"/>
            <a:ext cx="10564063" cy="91440"/>
          </a:xfrm>
          <a:prstGeom prst="rect">
            <a:avLst/>
          </a:prstGeom>
          <a:solidFill>
            <a:srgbClr val="FFB600"/>
          </a:solidFill>
          <a:ln w="12700">
            <a:solidFill>
              <a:srgbClr val="FFB600"/>
            </a:solidFill>
            <a:prstDash val="solid"/>
          </a:ln>
        </p:spPr>
      </p:sp>
      <p:sp>
        <p:nvSpPr>
          <p:cNvPr id="6" name="Text 4"/>
          <p:cNvSpPr/>
          <p:nvPr/>
        </p:nvSpPr>
        <p:spPr>
          <a:xfrm>
            <a:off x="1143000" y="1691640"/>
            <a:ext cx="9905695" cy="274320"/>
          </a:xfrm>
          <a:prstGeom prst="rect">
            <a:avLst/>
          </a:prstGeom>
          <a:noFill/>
          <a:ln/>
        </p:spPr>
        <p:txBody>
          <a:bodyPr wrap="square" lIns="0" tIns="0" rIns="0" bIns="0" rtlCol="0" anchor="ctr"/>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THESIS PART 2 · SCHOOL BECOMES BORING FOR BOTH STUDENTS AND TEACHERS</a:t>
            </a:r>
            <a:endParaRPr lang="en-US" sz="1200" dirty="0"/>
          </a:p>
        </p:txBody>
      </p:sp>
      <p:sp>
        <p:nvSpPr>
          <p:cNvPr id="7" name="Text 5"/>
          <p:cNvSpPr/>
          <p:nvPr/>
        </p:nvSpPr>
        <p:spPr>
          <a:xfrm>
            <a:off x="1143000" y="2057400"/>
            <a:ext cx="9905695" cy="3886200"/>
          </a:xfrm>
          <a:prstGeom prst="rect">
            <a:avLst/>
          </a:prstGeom>
          <a:noFill/>
          <a:ln/>
        </p:spPr>
        <p:txBody>
          <a:bodyPr wrap="square" lIns="0" tIns="0" rIns="0" bIns="0" rtlCol="0" anchor="t"/>
          <a:lstStyle/>
          <a:p>
            <a:pPr indent="0" marL="0">
              <a:lnSpc>
                <a:spcPct val="112000"/>
              </a:lnSpc>
              <a:buNone/>
            </a:pPr>
            <a:r>
              <a:rPr lang="en-US" sz="1800" dirty="0">
                <a:solidFill>
                  <a:srgbClr val="3C3828"/>
                </a:solidFill>
                <a:highlight>
                  <a:srgbClr val="FFE14D"/>
                </a:highlight>
                <a:latin typeface="Georgia" pitchFamily="34" charset="0"/>
                <a:ea typeface="Georgia" pitchFamily="34" charset="-122"/>
                <a:cs typeface="Georgia" pitchFamily="34" charset="-120"/>
              </a:rPr>
              <a:t>The fact is, when students are not inspired creatively, they get bored.</a:t>
            </a:r>
            <a:r>
              <a:rPr lang="en-US" sz="1800" dirty="0">
                <a:solidFill>
                  <a:srgbClr val="3C3828"/>
                </a:solidFill>
                <a:latin typeface="Georgia" pitchFamily="34" charset="0"/>
                <a:ea typeface="Georgia" pitchFamily="34" charset="-122"/>
                <a:cs typeface="Georgia" pitchFamily="34" charset="-120"/>
              </a:rPr>
              <a:t> Have you ever walked into a classroom and seen students asleep? What about teachers who never get out of their seats to teach? This is very common in classrooms today. Students aren’t interested in the lessons because the teacher shows no signs of interest either. A lot of the time teachers just slap a packet of worksheets on students’ desks and tell them to do it. This does not sufficiently challenge them or encourage them. According to “The 74,” a nonprofit news organization covering American education, thirty-two percent of American students say they feel bored during class (www.the74million.org). They feel unconnected and unmotivated with the lessons. This affects teachers too, who also show signs of boredom by having a low monotone voice, never changing their teaching routine, and always being serious. This collective boredom between students and teachers makes school painful, when it could be energizing.</a:t>
            </a:r>
            <a:endParaRPr lang="en-US" sz="1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dirty="0">
                <a:solidFill>
                  <a:srgbClr val="FC4540"/>
                </a:solidFill>
                <a:latin typeface="Consolas" pitchFamily="34" charset="0"/>
                <a:ea typeface="Consolas" pitchFamily="34" charset="-122"/>
                <a:cs typeface="Consolas" pitchFamily="34" charset="-120"/>
              </a:rPr>
              <a:t>Sample essay</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Body paragraph 3</a:t>
            </a:r>
            <a:endParaRPr lang="en-US" sz="3200" dirty="0"/>
          </a:p>
        </p:txBody>
      </p:sp>
      <p:sp>
        <p:nvSpPr>
          <p:cNvPr id="4" name="Shape 2"/>
          <p:cNvSpPr/>
          <p:nvPr/>
        </p:nvSpPr>
        <p:spPr>
          <a:xfrm>
            <a:off x="685800" y="1417320"/>
            <a:ext cx="10820095" cy="4800600"/>
          </a:xfrm>
          <a:prstGeom prst="roundRect">
            <a:avLst>
              <a:gd name="adj" fmla="val 266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417320"/>
            <a:ext cx="10564063" cy="91440"/>
          </a:xfrm>
          <a:prstGeom prst="rect">
            <a:avLst/>
          </a:prstGeom>
          <a:solidFill>
            <a:srgbClr val="FC4540"/>
          </a:solidFill>
          <a:ln w="12700">
            <a:solidFill>
              <a:srgbClr val="FC4540"/>
            </a:solidFill>
            <a:prstDash val="solid"/>
          </a:ln>
        </p:spPr>
      </p:sp>
      <p:sp>
        <p:nvSpPr>
          <p:cNvPr id="6" name="Text 4"/>
          <p:cNvSpPr/>
          <p:nvPr/>
        </p:nvSpPr>
        <p:spPr>
          <a:xfrm>
            <a:off x="1143000" y="1691640"/>
            <a:ext cx="9905695" cy="274320"/>
          </a:xfrm>
          <a:prstGeom prst="rect">
            <a:avLst/>
          </a:prstGeom>
          <a:noFill/>
          <a:ln/>
        </p:spPr>
        <p:txBody>
          <a:bodyPr wrap="square" lIns="0" tIns="0" rIns="0" bIns="0" rtlCol="0" anchor="ctr"/>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THESIS PART 3 · A LACK OF SHARED MOTIVATION, EXCITEMENT, AND ACCOMPLISHMENT</a:t>
            </a:r>
            <a:endParaRPr lang="en-US" sz="1200" dirty="0"/>
          </a:p>
        </p:txBody>
      </p:sp>
      <p:sp>
        <p:nvSpPr>
          <p:cNvPr id="7" name="Text 5"/>
          <p:cNvSpPr/>
          <p:nvPr/>
        </p:nvSpPr>
        <p:spPr>
          <a:xfrm>
            <a:off x="1143000" y="2057400"/>
            <a:ext cx="9905695" cy="3886200"/>
          </a:xfrm>
          <a:prstGeom prst="rect">
            <a:avLst/>
          </a:prstGeom>
          <a:noFill/>
          <a:ln/>
        </p:spPr>
        <p:txBody>
          <a:bodyPr wrap="square" lIns="0" tIns="0" rIns="0" bIns="0" rtlCol="0" anchor="t"/>
          <a:lstStyle/>
          <a:p>
            <a:pPr indent="0" marL="0">
              <a:lnSpc>
                <a:spcPct val="112000"/>
              </a:lnSpc>
              <a:buNone/>
            </a:pPr>
            <a:r>
              <a:rPr lang="en-US" sz="1800" dirty="0">
                <a:solidFill>
                  <a:srgbClr val="3C3828"/>
                </a:solidFill>
                <a:highlight>
                  <a:srgbClr val="FFE14D"/>
                </a:highlight>
                <a:latin typeface="Georgia" pitchFamily="34" charset="0"/>
                <a:ea typeface="Georgia" pitchFamily="34" charset="-122"/>
                <a:cs typeface="Georgia" pitchFamily="34" charset="-120"/>
              </a:rPr>
              <a:t>The issue at hand is the lack of shared motivation, excitement, and accomplishment among the teachers and students.</a:t>
            </a:r>
            <a:r>
              <a:rPr lang="en-US" sz="1800" dirty="0">
                <a:solidFill>
                  <a:srgbClr val="3C3828"/>
                </a:solidFill>
                <a:latin typeface="Georgia" pitchFamily="34" charset="0"/>
                <a:ea typeface="Georgia" pitchFamily="34" charset="-122"/>
                <a:cs typeface="Georgia" pitchFamily="34" charset="-120"/>
              </a:rPr>
              <a:t> Walking into a classroom today, especially after the pandemic, everyone seems so drained and unmotivated. Students got so used to learning everything through a screen for 2 years. Now all you see is students on their phones or asleep. This also severely affects teachers because they feel that there is no hope in teaching students while battling the students’ desire to constantly be connected with social media. Furthermore, many teachers appear to be disengaged with the students and even their profession. To remedy this, administrators should support teachers in teaching creatively. Projects instead of tests, fun activities instead of worksheets, and physical movement instead of sitting still can make class more engaging and fun. Not only would this increase student involvement, but it would also help teachers rediscover their love for teaching again. Making learning fun truly motivates everyone.</a:t>
            </a:r>
            <a:endParaRPr lang="en-US" sz="1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9755"/>
                </a:solidFill>
                <a:latin typeface="Consolas" pitchFamily="34" charset="0"/>
                <a:ea typeface="Consolas" pitchFamily="34" charset="-122"/>
                <a:cs typeface="Consolas" pitchFamily="34" charset="-120"/>
              </a:rPr>
              <a:t>The house analogy</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Your essay is a house, and you’re showing it</a:t>
            </a:r>
            <a:endParaRPr lang="en-US" sz="30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pencil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65960"/>
            <a:ext cx="5250028" cy="1897380"/>
          </a:xfrm>
          <a:prstGeom prst="roundRect">
            <a:avLst>
              <a:gd name="adj" fmla="val 674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65960"/>
            <a:ext cx="4993996" cy="91440"/>
          </a:xfrm>
          <a:prstGeom prst="rect">
            <a:avLst/>
          </a:prstGeom>
          <a:solidFill>
            <a:srgbClr val="FF9755"/>
          </a:solidFill>
          <a:ln w="12700">
            <a:solidFill>
              <a:srgbClr val="FF9755"/>
            </a:solidFill>
            <a:prstDash val="solid"/>
          </a:ln>
        </p:spPr>
      </p:sp>
      <p:sp>
        <p:nvSpPr>
          <p:cNvPr id="10" name="Shape 7"/>
          <p:cNvSpPr/>
          <p:nvPr/>
        </p:nvSpPr>
        <p:spPr>
          <a:xfrm>
            <a:off x="960120" y="2286000"/>
            <a:ext cx="548640" cy="548640"/>
          </a:xfrm>
          <a:prstGeom prst="ellipse">
            <a:avLst/>
          </a:prstGeom>
          <a:solidFill>
            <a:srgbClr val="FF9755"/>
          </a:solidFill>
          <a:ln w="12700">
            <a:solidFill>
              <a:srgbClr val="FF9755"/>
            </a:solidFill>
            <a:prstDash val="solid"/>
          </a:ln>
        </p:spPr>
      </p:sp>
      <p:sp>
        <p:nvSpPr>
          <p:cNvPr id="11" name="Text 8"/>
          <p:cNvSpPr/>
          <p:nvPr/>
        </p:nvSpPr>
        <p:spPr>
          <a:xfrm>
            <a:off x="960120" y="2286000"/>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1</a:t>
            </a:r>
            <a:endParaRPr lang="en-US" sz="2200" dirty="0"/>
          </a:p>
        </p:txBody>
      </p:sp>
      <p:sp>
        <p:nvSpPr>
          <p:cNvPr id="12" name="Text 9"/>
          <p:cNvSpPr/>
          <p:nvPr/>
        </p:nvSpPr>
        <p:spPr>
          <a:xfrm>
            <a:off x="1737360" y="2194560"/>
            <a:ext cx="3924148" cy="1485900"/>
          </a:xfrm>
          <a:prstGeom prst="rect">
            <a:avLst/>
          </a:prstGeom>
          <a:noFill/>
          <a:ln/>
        </p:spPr>
        <p:txBody>
          <a:bodyPr wrap="square" lIns="0" tIns="0" rIns="0" bIns="0" rtlCol="0" anchor="t"/>
          <a:lstStyle/>
          <a:p>
            <a:pPr indent="0" marL="0">
              <a:buNone/>
            </a:pPr>
            <a:r>
              <a:rPr lang="en-US" sz="2200" dirty="0">
                <a:solidFill>
                  <a:srgbClr val="3C3828"/>
                </a:solidFill>
                <a:highlight>
                  <a:srgbClr val="FFE14D"/>
                </a:highlight>
                <a:latin typeface="Calibri" pitchFamily="34" charset="0"/>
                <a:ea typeface="Calibri" pitchFamily="34" charset="-122"/>
                <a:cs typeface="Calibri" pitchFamily="34" charset="-120"/>
              </a:rPr>
              <a:t>The neighborhood</a:t>
            </a:r>
            <a:r>
              <a:rPr lang="en-US" sz="2200" dirty="0">
                <a:solidFill>
                  <a:srgbClr val="3C3828"/>
                </a:solidFill>
                <a:latin typeface="Calibri" pitchFamily="34" charset="0"/>
                <a:ea typeface="Calibri" pitchFamily="34" charset="-122"/>
                <a:cs typeface="Calibri" pitchFamily="34" charset="-120"/>
              </a:rPr>
              <a:t> · Driving in, your reader gets a sense of where they are. That’s your introduction: context.</a:t>
            </a:r>
            <a:endParaRPr lang="en-US" sz="2200" dirty="0"/>
          </a:p>
        </p:txBody>
      </p:sp>
      <p:sp>
        <p:nvSpPr>
          <p:cNvPr id="13" name="Shape 10"/>
          <p:cNvSpPr/>
          <p:nvPr/>
        </p:nvSpPr>
        <p:spPr>
          <a:xfrm>
            <a:off x="6255868" y="1965960"/>
            <a:ext cx="5250028" cy="1897380"/>
          </a:xfrm>
          <a:prstGeom prst="roundRect">
            <a:avLst>
              <a:gd name="adj" fmla="val 674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1"/>
          <p:cNvSpPr/>
          <p:nvPr/>
        </p:nvSpPr>
        <p:spPr>
          <a:xfrm>
            <a:off x="6383884" y="1965960"/>
            <a:ext cx="4993996" cy="91440"/>
          </a:xfrm>
          <a:prstGeom prst="rect">
            <a:avLst/>
          </a:prstGeom>
          <a:solidFill>
            <a:srgbClr val="FC4067"/>
          </a:solidFill>
          <a:ln w="12700">
            <a:solidFill>
              <a:srgbClr val="FC4067"/>
            </a:solidFill>
            <a:prstDash val="solid"/>
          </a:ln>
        </p:spPr>
      </p:sp>
      <p:sp>
        <p:nvSpPr>
          <p:cNvPr id="15" name="Shape 12"/>
          <p:cNvSpPr/>
          <p:nvPr/>
        </p:nvSpPr>
        <p:spPr>
          <a:xfrm>
            <a:off x="6530188" y="2286000"/>
            <a:ext cx="548640" cy="548640"/>
          </a:xfrm>
          <a:prstGeom prst="ellipse">
            <a:avLst/>
          </a:prstGeom>
          <a:solidFill>
            <a:srgbClr val="FC4067"/>
          </a:solidFill>
          <a:ln w="12700">
            <a:solidFill>
              <a:srgbClr val="FC4067"/>
            </a:solidFill>
            <a:prstDash val="solid"/>
          </a:ln>
        </p:spPr>
      </p:sp>
      <p:sp>
        <p:nvSpPr>
          <p:cNvPr id="16" name="Text 13"/>
          <p:cNvSpPr/>
          <p:nvPr/>
        </p:nvSpPr>
        <p:spPr>
          <a:xfrm>
            <a:off x="6530188" y="2286000"/>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2</a:t>
            </a:r>
            <a:endParaRPr lang="en-US" sz="2200" dirty="0"/>
          </a:p>
        </p:txBody>
      </p:sp>
      <p:sp>
        <p:nvSpPr>
          <p:cNvPr id="17" name="Text 14"/>
          <p:cNvSpPr/>
          <p:nvPr/>
        </p:nvSpPr>
        <p:spPr>
          <a:xfrm>
            <a:off x="7307428" y="2194560"/>
            <a:ext cx="3924148" cy="1485900"/>
          </a:xfrm>
          <a:prstGeom prst="rect">
            <a:avLst/>
          </a:prstGeom>
          <a:noFill/>
          <a:ln/>
        </p:spPr>
        <p:txBody>
          <a:bodyPr wrap="square" lIns="0" tIns="0" rIns="0" bIns="0" rtlCol="0" anchor="t"/>
          <a:lstStyle/>
          <a:p>
            <a:pPr indent="0" marL="0">
              <a:buNone/>
            </a:pPr>
            <a:r>
              <a:rPr lang="en-US" sz="2200" dirty="0">
                <a:solidFill>
                  <a:srgbClr val="3C3828"/>
                </a:solidFill>
                <a:highlight>
                  <a:srgbClr val="FFE14D"/>
                </a:highlight>
                <a:latin typeface="Calibri" pitchFamily="34" charset="0"/>
                <a:ea typeface="Calibri" pitchFamily="34" charset="-122"/>
                <a:cs typeface="Calibri" pitchFamily="34" charset="-120"/>
              </a:rPr>
              <a:t>The front door</a:t>
            </a:r>
            <a:r>
              <a:rPr lang="en-US" sz="2200" dirty="0">
                <a:solidFill>
                  <a:srgbClr val="3C3828"/>
                </a:solidFill>
                <a:latin typeface="Calibri" pitchFamily="34" charset="0"/>
                <a:ea typeface="Calibri" pitchFamily="34" charset="-122"/>
                <a:cs typeface="Calibri" pitchFamily="34" charset="-120"/>
              </a:rPr>
              <a:t> · They step into the foyer and see the whole house at once. That’s your thesis statement.</a:t>
            </a:r>
            <a:endParaRPr lang="en-US" sz="2200" dirty="0"/>
          </a:p>
        </p:txBody>
      </p:sp>
      <p:sp>
        <p:nvSpPr>
          <p:cNvPr id="18" name="Shape 15"/>
          <p:cNvSpPr/>
          <p:nvPr/>
        </p:nvSpPr>
        <p:spPr>
          <a:xfrm>
            <a:off x="685800" y="4183380"/>
            <a:ext cx="5250028" cy="1897380"/>
          </a:xfrm>
          <a:prstGeom prst="roundRect">
            <a:avLst>
              <a:gd name="adj" fmla="val 674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9" name="Shape 16"/>
          <p:cNvSpPr/>
          <p:nvPr/>
        </p:nvSpPr>
        <p:spPr>
          <a:xfrm>
            <a:off x="813816" y="4183380"/>
            <a:ext cx="4993996" cy="91440"/>
          </a:xfrm>
          <a:prstGeom prst="rect">
            <a:avLst/>
          </a:prstGeom>
          <a:solidFill>
            <a:srgbClr val="02BDC7"/>
          </a:solidFill>
          <a:ln w="12700">
            <a:solidFill>
              <a:srgbClr val="02BDC7"/>
            </a:solidFill>
            <a:prstDash val="solid"/>
          </a:ln>
        </p:spPr>
      </p:sp>
      <p:sp>
        <p:nvSpPr>
          <p:cNvPr id="20" name="Shape 17"/>
          <p:cNvSpPr/>
          <p:nvPr/>
        </p:nvSpPr>
        <p:spPr>
          <a:xfrm>
            <a:off x="960120" y="4503420"/>
            <a:ext cx="548640" cy="548640"/>
          </a:xfrm>
          <a:prstGeom prst="ellipse">
            <a:avLst/>
          </a:prstGeom>
          <a:solidFill>
            <a:srgbClr val="02BDC7"/>
          </a:solidFill>
          <a:ln w="12700">
            <a:solidFill>
              <a:srgbClr val="02BDC7"/>
            </a:solidFill>
            <a:prstDash val="solid"/>
          </a:ln>
        </p:spPr>
      </p:sp>
      <p:sp>
        <p:nvSpPr>
          <p:cNvPr id="21" name="Text 18"/>
          <p:cNvSpPr/>
          <p:nvPr/>
        </p:nvSpPr>
        <p:spPr>
          <a:xfrm>
            <a:off x="960120" y="4503420"/>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3</a:t>
            </a:r>
            <a:endParaRPr lang="en-US" sz="2200" dirty="0"/>
          </a:p>
        </p:txBody>
      </p:sp>
      <p:sp>
        <p:nvSpPr>
          <p:cNvPr id="22" name="Text 19"/>
          <p:cNvSpPr/>
          <p:nvPr/>
        </p:nvSpPr>
        <p:spPr>
          <a:xfrm>
            <a:off x="1737360" y="4411980"/>
            <a:ext cx="3924148" cy="1485900"/>
          </a:xfrm>
          <a:prstGeom prst="rect">
            <a:avLst/>
          </a:prstGeom>
          <a:noFill/>
          <a:ln/>
        </p:spPr>
        <p:txBody>
          <a:bodyPr wrap="square" lIns="0" tIns="0" rIns="0" bIns="0" rtlCol="0" anchor="t"/>
          <a:lstStyle/>
          <a:p>
            <a:pPr indent="0" marL="0">
              <a:buNone/>
            </a:pPr>
            <a:r>
              <a:rPr lang="en-US" sz="2200" dirty="0">
                <a:solidFill>
                  <a:srgbClr val="3C3828"/>
                </a:solidFill>
                <a:highlight>
                  <a:srgbClr val="FFE14D"/>
                </a:highlight>
                <a:latin typeface="Calibri" pitchFamily="34" charset="0"/>
                <a:ea typeface="Calibri" pitchFamily="34" charset="-122"/>
                <a:cs typeface="Calibri" pitchFamily="34" charset="-120"/>
              </a:rPr>
              <a:t>The rooms</a:t>
            </a:r>
            <a:r>
              <a:rPr lang="en-US" sz="2200" dirty="0">
                <a:solidFill>
                  <a:srgbClr val="3C3828"/>
                </a:solidFill>
                <a:latin typeface="Calibri" pitchFamily="34" charset="0"/>
                <a:ea typeface="Calibri" pitchFamily="34" charset="-122"/>
                <a:cs typeface="Calibri" pitchFamily="34" charset="-120"/>
              </a:rPr>
              <a:t> · You walk them through, pointing out what makes each room worth it. Those are your body paragraphs.</a:t>
            </a:r>
            <a:endParaRPr lang="en-US" sz="2200" dirty="0"/>
          </a:p>
        </p:txBody>
      </p:sp>
      <p:sp>
        <p:nvSpPr>
          <p:cNvPr id="23" name="Shape 20"/>
          <p:cNvSpPr/>
          <p:nvPr/>
        </p:nvSpPr>
        <p:spPr>
          <a:xfrm>
            <a:off x="6255868" y="4183380"/>
            <a:ext cx="5250028" cy="1897380"/>
          </a:xfrm>
          <a:prstGeom prst="roundRect">
            <a:avLst>
              <a:gd name="adj" fmla="val 674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4" name="Shape 21"/>
          <p:cNvSpPr/>
          <p:nvPr/>
        </p:nvSpPr>
        <p:spPr>
          <a:xfrm>
            <a:off x="6383884" y="4183380"/>
            <a:ext cx="4993996" cy="91440"/>
          </a:xfrm>
          <a:prstGeom prst="rect">
            <a:avLst/>
          </a:prstGeom>
          <a:solidFill>
            <a:srgbClr val="FFB600"/>
          </a:solidFill>
          <a:ln w="12700">
            <a:solidFill>
              <a:srgbClr val="FFB600"/>
            </a:solidFill>
            <a:prstDash val="solid"/>
          </a:ln>
        </p:spPr>
      </p:sp>
      <p:sp>
        <p:nvSpPr>
          <p:cNvPr id="25" name="Shape 22"/>
          <p:cNvSpPr/>
          <p:nvPr/>
        </p:nvSpPr>
        <p:spPr>
          <a:xfrm>
            <a:off x="6530188" y="4503420"/>
            <a:ext cx="548640" cy="548640"/>
          </a:xfrm>
          <a:prstGeom prst="ellipse">
            <a:avLst/>
          </a:prstGeom>
          <a:solidFill>
            <a:srgbClr val="FFB600"/>
          </a:solidFill>
          <a:ln w="12700">
            <a:solidFill>
              <a:srgbClr val="FFB600"/>
            </a:solidFill>
            <a:prstDash val="solid"/>
          </a:ln>
        </p:spPr>
      </p:sp>
      <p:sp>
        <p:nvSpPr>
          <p:cNvPr id="26" name="Text 23"/>
          <p:cNvSpPr/>
          <p:nvPr/>
        </p:nvSpPr>
        <p:spPr>
          <a:xfrm>
            <a:off x="6530188" y="4503420"/>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4</a:t>
            </a:r>
            <a:endParaRPr lang="en-US" sz="2200" dirty="0"/>
          </a:p>
        </p:txBody>
      </p:sp>
      <p:sp>
        <p:nvSpPr>
          <p:cNvPr id="27" name="Text 24"/>
          <p:cNvSpPr/>
          <p:nvPr/>
        </p:nvSpPr>
        <p:spPr>
          <a:xfrm>
            <a:off x="7307428" y="4411980"/>
            <a:ext cx="3924148" cy="1485900"/>
          </a:xfrm>
          <a:prstGeom prst="rect">
            <a:avLst/>
          </a:prstGeom>
          <a:noFill/>
          <a:ln/>
        </p:spPr>
        <p:txBody>
          <a:bodyPr wrap="square" lIns="0" tIns="0" rIns="0" bIns="0" rtlCol="0" anchor="t"/>
          <a:lstStyle/>
          <a:p>
            <a:pPr indent="0" marL="0">
              <a:buNone/>
            </a:pPr>
            <a:r>
              <a:rPr lang="en-US" sz="2200" dirty="0">
                <a:solidFill>
                  <a:srgbClr val="3C3828"/>
                </a:solidFill>
                <a:highlight>
                  <a:srgbClr val="FFE14D"/>
                </a:highlight>
                <a:latin typeface="Calibri" pitchFamily="34" charset="0"/>
                <a:ea typeface="Calibri" pitchFamily="34" charset="-122"/>
                <a:cs typeface="Calibri" pitchFamily="34" charset="-120"/>
              </a:rPr>
              <a:t>Back at the door</a:t>
            </a:r>
            <a:r>
              <a:rPr lang="en-US" sz="2200" dirty="0">
                <a:solidFill>
                  <a:srgbClr val="3C3828"/>
                </a:solidFill>
                <a:latin typeface="Calibri" pitchFamily="34" charset="0"/>
                <a:ea typeface="Calibri" pitchFamily="34" charset="-122"/>
                <a:cs typeface="Calibri" pitchFamily="34" charset="-120"/>
              </a:rPr>
              <a:t> · You step out, point at the neighborhood, and leave gracefully. That’s your conclusion.</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dirty="0">
                <a:solidFill>
                  <a:srgbClr val="FFB600"/>
                </a:solidFill>
                <a:latin typeface="Consolas" pitchFamily="34" charset="0"/>
                <a:ea typeface="Consolas" pitchFamily="34" charset="-122"/>
                <a:cs typeface="Consolas" pitchFamily="34" charset="-120"/>
              </a:rPr>
              <a:t>Your turn</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What it looks like</a:t>
            </a:r>
            <a:endParaRPr lang="en-US" sz="3200" dirty="0"/>
          </a:p>
        </p:txBody>
      </p:sp>
      <p:sp>
        <p:nvSpPr>
          <p:cNvPr id="4" name="Shape 2"/>
          <p:cNvSpPr/>
          <p:nvPr/>
        </p:nvSpPr>
        <p:spPr>
          <a:xfrm>
            <a:off x="685800" y="1596904"/>
            <a:ext cx="7436815" cy="4441431"/>
          </a:xfrm>
          <a:prstGeom prst="roundRect">
            <a:avLst>
              <a:gd name="adj" fmla="val 2882"/>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The YAWP! editor on the Body Paragraphs step.">    </p:cNvPr>
          <p:cNvPicPr>
            <a:picLocks noChangeAspect="1"/>
          </p:cNvPicPr>
          <p:nvPr/>
        </p:nvPicPr>
        <p:blipFill>
          <a:blip r:embed="rId1"/>
          <a:stretch>
            <a:fillRect/>
          </a:stretch>
        </p:blipFill>
        <p:spPr>
          <a:xfrm>
            <a:off x="813816" y="1724920"/>
            <a:ext cx="7180783" cy="4185399"/>
          </a:xfrm>
          <a:prstGeom prst="rect">
            <a:avLst/>
          </a:prstGeom>
        </p:spPr>
      </p:pic>
      <p:sp>
        <p:nvSpPr>
          <p:cNvPr id="6" name="Shape 3"/>
          <p:cNvSpPr/>
          <p:nvPr/>
        </p:nvSpPr>
        <p:spPr>
          <a:xfrm>
            <a:off x="2021373" y="1822781"/>
            <a:ext cx="457200" cy="457200"/>
          </a:xfrm>
          <a:prstGeom prst="ellipse">
            <a:avLst/>
          </a:prstGeom>
          <a:solidFill>
            <a:srgbClr val="FFB60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7" name="Text 4"/>
          <p:cNvSpPr/>
          <p:nvPr/>
        </p:nvSpPr>
        <p:spPr>
          <a:xfrm>
            <a:off x="2021373" y="1822781"/>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8" name="Shape 5"/>
          <p:cNvSpPr/>
          <p:nvPr/>
        </p:nvSpPr>
        <p:spPr>
          <a:xfrm>
            <a:off x="5970803" y="2751940"/>
            <a:ext cx="457200" cy="457200"/>
          </a:xfrm>
          <a:prstGeom prst="ellipse">
            <a:avLst/>
          </a:prstGeom>
          <a:solidFill>
            <a:srgbClr val="FC454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9" name="Text 6"/>
          <p:cNvSpPr/>
          <p:nvPr/>
        </p:nvSpPr>
        <p:spPr>
          <a:xfrm>
            <a:off x="5970803" y="275194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10" name="Shape 7"/>
          <p:cNvSpPr/>
          <p:nvPr/>
        </p:nvSpPr>
        <p:spPr>
          <a:xfrm>
            <a:off x="3529337" y="3003064"/>
            <a:ext cx="457200" cy="457200"/>
          </a:xfrm>
          <a:prstGeom prst="ellipse">
            <a:avLst/>
          </a:prstGeom>
          <a:solidFill>
            <a:srgbClr val="FF9755"/>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1" name="Text 8"/>
          <p:cNvSpPr/>
          <p:nvPr/>
        </p:nvSpPr>
        <p:spPr>
          <a:xfrm>
            <a:off x="3529337" y="3003064"/>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12" name="Shape 9"/>
          <p:cNvSpPr/>
          <p:nvPr/>
        </p:nvSpPr>
        <p:spPr>
          <a:xfrm>
            <a:off x="1734141" y="5459893"/>
            <a:ext cx="457200" cy="457200"/>
          </a:xfrm>
          <a:prstGeom prst="ellipse">
            <a:avLst/>
          </a:prstGeom>
          <a:solidFill>
            <a:srgbClr val="FC4067"/>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3" name="Text 10"/>
          <p:cNvSpPr/>
          <p:nvPr/>
        </p:nvSpPr>
        <p:spPr>
          <a:xfrm>
            <a:off x="1734141" y="5459893"/>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4</a:t>
            </a:r>
            <a:endParaRPr lang="en-US" sz="1800" dirty="0"/>
          </a:p>
        </p:txBody>
      </p:sp>
      <p:sp>
        <p:nvSpPr>
          <p:cNvPr id="14" name="Shape 11"/>
          <p:cNvSpPr/>
          <p:nvPr/>
        </p:nvSpPr>
        <p:spPr>
          <a:xfrm>
            <a:off x="8579815" y="2247900"/>
            <a:ext cx="457200" cy="457200"/>
          </a:xfrm>
          <a:prstGeom prst="ellipse">
            <a:avLst/>
          </a:prstGeom>
          <a:solidFill>
            <a:srgbClr val="FFB60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5" name="Text 12"/>
          <p:cNvSpPr/>
          <p:nvPr/>
        </p:nvSpPr>
        <p:spPr>
          <a:xfrm>
            <a:off x="8579815" y="224790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16" name="Text 13"/>
          <p:cNvSpPr/>
          <p:nvPr/>
        </p:nvSpPr>
        <p:spPr>
          <a:xfrm>
            <a:off x="9219895" y="2029460"/>
            <a:ext cx="2286000" cy="89408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The Tutor says </a:t>
            </a:r>
            <a:r>
              <a:rPr lang="en-US" sz="2000" dirty="0">
                <a:solidFill>
                  <a:srgbClr val="3C3828"/>
                </a:solidFill>
                <a:highlight>
                  <a:srgbClr val="FFE14D"/>
                </a:highlight>
                <a:latin typeface="Calibri" pitchFamily="34" charset="0"/>
                <a:ea typeface="Calibri" pitchFamily="34" charset="-122"/>
                <a:cs typeface="Calibri" pitchFamily="34" charset="-120"/>
              </a:rPr>
              <a:t>Body Paragraphs</a:t>
            </a:r>
            <a:endParaRPr lang="en-US" sz="2000" dirty="0"/>
          </a:p>
        </p:txBody>
      </p:sp>
      <p:sp>
        <p:nvSpPr>
          <p:cNvPr id="17" name="Shape 14"/>
          <p:cNvSpPr/>
          <p:nvPr/>
        </p:nvSpPr>
        <p:spPr>
          <a:xfrm>
            <a:off x="8579815" y="3141980"/>
            <a:ext cx="457200" cy="457200"/>
          </a:xfrm>
          <a:prstGeom prst="ellipse">
            <a:avLst/>
          </a:prstGeom>
          <a:solidFill>
            <a:srgbClr val="FC454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8" name="Text 15"/>
          <p:cNvSpPr/>
          <p:nvPr/>
        </p:nvSpPr>
        <p:spPr>
          <a:xfrm>
            <a:off x="8579815" y="314198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19" name="Text 16"/>
          <p:cNvSpPr/>
          <p:nvPr/>
        </p:nvSpPr>
        <p:spPr>
          <a:xfrm>
            <a:off x="9219895" y="2923540"/>
            <a:ext cx="2286000" cy="89408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Your thesis, in its parts</a:t>
            </a:r>
            <a:endParaRPr lang="en-US" sz="2000" dirty="0"/>
          </a:p>
        </p:txBody>
      </p:sp>
      <p:sp>
        <p:nvSpPr>
          <p:cNvPr id="20" name="Shape 17"/>
          <p:cNvSpPr/>
          <p:nvPr/>
        </p:nvSpPr>
        <p:spPr>
          <a:xfrm>
            <a:off x="8579815" y="4036060"/>
            <a:ext cx="457200" cy="457200"/>
          </a:xfrm>
          <a:prstGeom prst="ellipse">
            <a:avLst/>
          </a:prstGeom>
          <a:solidFill>
            <a:srgbClr val="FF9755"/>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21" name="Text 18"/>
          <p:cNvSpPr/>
          <p:nvPr/>
        </p:nvSpPr>
        <p:spPr>
          <a:xfrm>
            <a:off x="8579815" y="403606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22" name="Text 19"/>
          <p:cNvSpPr/>
          <p:nvPr/>
        </p:nvSpPr>
        <p:spPr>
          <a:xfrm>
            <a:off x="9219895" y="3817620"/>
            <a:ext cx="2286000" cy="89408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One paragraph per part</a:t>
            </a:r>
            <a:endParaRPr lang="en-US" sz="2000" dirty="0"/>
          </a:p>
        </p:txBody>
      </p:sp>
      <p:sp>
        <p:nvSpPr>
          <p:cNvPr id="23" name="Shape 20"/>
          <p:cNvSpPr/>
          <p:nvPr/>
        </p:nvSpPr>
        <p:spPr>
          <a:xfrm>
            <a:off x="8579815" y="4930140"/>
            <a:ext cx="457200" cy="457200"/>
          </a:xfrm>
          <a:prstGeom prst="ellipse">
            <a:avLst/>
          </a:prstGeom>
          <a:solidFill>
            <a:srgbClr val="FC4067"/>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24" name="Text 21"/>
          <p:cNvSpPr/>
          <p:nvPr/>
        </p:nvSpPr>
        <p:spPr>
          <a:xfrm>
            <a:off x="8579815" y="493014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4</a:t>
            </a:r>
            <a:endParaRPr lang="en-US" sz="1800" dirty="0"/>
          </a:p>
        </p:txBody>
      </p:sp>
      <p:sp>
        <p:nvSpPr>
          <p:cNvPr id="25" name="Text 22"/>
          <p:cNvSpPr/>
          <p:nvPr/>
        </p:nvSpPr>
        <p:spPr>
          <a:xfrm>
            <a:off x="9219895" y="4711700"/>
            <a:ext cx="2286000" cy="89408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Written one? Ask the Tutor for feedback</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2BDC7"/>
        </a:solidFill>
      </p:bgPr>
    </p:bg>
    <p:spTree>
      <p:nvGrpSpPr>
        <p:cNvPr id="1" name=""/>
        <p:cNvGrpSpPr/>
        <p:nvPr/>
      </p:nvGrpSpPr>
      <p:grpSpPr>
        <a:xfrm>
          <a:off x="0" y="0"/>
          <a:ext cx="0" cy="0"/>
          <a:chOff x="0" y="0"/>
          <a:chExt cx="0" cy="0"/>
        </a:xfrm>
      </p:grpSpPr>
      <p:sp>
        <p:nvSpPr>
          <p:cNvPr id="2" name="Shape 0"/>
          <p:cNvSpPr/>
          <p:nvPr/>
        </p:nvSpPr>
        <p:spPr>
          <a:xfrm>
            <a:off x="4175608" y="1234440"/>
            <a:ext cx="3840480" cy="3840480"/>
          </a:xfrm>
          <a:prstGeom prst="ellipse">
            <a:avLst/>
          </a:prstGeom>
          <a:solidFill>
            <a:srgbClr val="FFFEFA"/>
          </a:solidFill>
          <a:ln w="12700">
            <a:solidFill>
              <a:srgbClr val="FFFEFA"/>
            </a:solidFill>
            <a:prstDash val="solid"/>
          </a:ln>
          <a:effectLst>
            <a:outerShdw sx="100000" sy="100000" kx="0" ky="0" algn="bl" rotWithShape="0" blurRad="177800" dist="50800" dir="5400000">
              <a:srgbClr val="3C3828">
                <a:alpha val="18000"/>
              </a:srgbClr>
            </a:outerShdw>
          </a:effectLst>
        </p:spPr>
      </p:sp>
      <p:sp>
        <p:nvSpPr>
          <p:cNvPr id="3" name="Text 1"/>
          <p:cNvSpPr/>
          <p:nvPr/>
        </p:nvSpPr>
        <p:spPr>
          <a:xfrm>
            <a:off x="4175608" y="2377440"/>
            <a:ext cx="3840480" cy="1097280"/>
          </a:xfrm>
          <a:prstGeom prst="rect">
            <a:avLst/>
          </a:prstGeom>
          <a:noFill/>
          <a:ln/>
        </p:spPr>
        <p:txBody>
          <a:bodyPr wrap="square" lIns="0" tIns="0" rIns="0" bIns="0" rtlCol="0" anchor="ctr"/>
          <a:lstStyle/>
          <a:p>
            <a:pPr algn="ctr" indent="0" marL="0">
              <a:buNone/>
            </a:pPr>
            <a:r>
              <a:rPr lang="en-US" sz="7200" b="1" dirty="0">
                <a:solidFill>
                  <a:srgbClr val="3C3828"/>
                </a:solidFill>
                <a:latin typeface="Georgia" pitchFamily="34" charset="0"/>
                <a:ea typeface="Georgia" pitchFamily="34" charset="-122"/>
                <a:cs typeface="Georgia" pitchFamily="34" charset="-120"/>
              </a:rPr>
              <a:t>YAWP!</a:t>
            </a:r>
            <a:endParaRPr lang="en-US" sz="7200" dirty="0"/>
          </a:p>
        </p:txBody>
      </p:sp>
      <p:sp>
        <p:nvSpPr>
          <p:cNvPr id="4" name="Text 2"/>
          <p:cNvSpPr/>
          <p:nvPr/>
        </p:nvSpPr>
        <p:spPr>
          <a:xfrm>
            <a:off x="4175608" y="3520440"/>
            <a:ext cx="3840480" cy="365760"/>
          </a:xfrm>
          <a:prstGeom prst="rect">
            <a:avLst/>
          </a:prstGeom>
          <a:noFill/>
          <a:ln/>
        </p:spPr>
        <p:txBody>
          <a:bodyPr wrap="square" lIns="0" tIns="0" rIns="0" bIns="0" rtlCol="0" anchor="ctr"/>
          <a:lstStyle/>
          <a:p>
            <a:pPr algn="ctr" indent="0" marL="0">
              <a:buNone/>
            </a:pPr>
            <a:r>
              <a:rPr lang="en-US" sz="1300" b="1" spc="300" kern="0" dirty="0">
                <a:solidFill>
                  <a:srgbClr val="D27151"/>
                </a:solidFill>
                <a:latin typeface="Consolas" pitchFamily="34" charset="0"/>
                <a:ea typeface="Consolas" pitchFamily="34" charset="-122"/>
                <a:cs typeface="Consolas" pitchFamily="34" charset="-120"/>
              </a:rPr>
              <a:t>WRITING PROGRAM</a:t>
            </a:r>
            <a:endParaRPr lang="en-US" sz="1300" dirty="0"/>
          </a:p>
        </p:txBody>
      </p:sp>
      <p:sp>
        <p:nvSpPr>
          <p:cNvPr id="5" name="Shape 3"/>
          <p:cNvSpPr/>
          <p:nvPr/>
        </p:nvSpPr>
        <p:spPr>
          <a:xfrm>
            <a:off x="6918808" y="777240"/>
            <a:ext cx="1463040" cy="1463040"/>
          </a:xfrm>
          <a:prstGeom prst="ellipse">
            <a:avLst/>
          </a:prstGeom>
          <a:solidFill>
            <a:srgbClr val="FFB600"/>
          </a:solidFill>
          <a:ln w="12700">
            <a:solidFill>
              <a:srgbClr val="FFB600"/>
            </a:solidFill>
            <a:prstDash val="solid"/>
          </a:ln>
        </p:spPr>
      </p:sp>
      <p:pic>
        <p:nvPicPr>
          <p:cNvPr id="6" name="Image 0" descr="lightbulb icon">    </p:cNvPr>
          <p:cNvPicPr>
            <a:picLocks noChangeAspect="1"/>
          </p:cNvPicPr>
          <p:nvPr/>
        </p:nvPicPr>
        <p:blipFill>
          <a:blip r:embed="rId1"/>
          <a:stretch>
            <a:fillRect/>
          </a:stretch>
        </p:blipFill>
        <p:spPr>
          <a:xfrm>
            <a:off x="7211416" y="1069848"/>
            <a:ext cx="877824" cy="877824"/>
          </a:xfrm>
          <a:prstGeom prst="rect">
            <a:avLst/>
          </a:prstGeom>
        </p:spPr>
      </p:pic>
      <p:sp>
        <p:nvSpPr>
          <p:cNvPr id="7" name="Shape 4"/>
          <p:cNvSpPr/>
          <p:nvPr/>
        </p:nvSpPr>
        <p:spPr>
          <a:xfrm>
            <a:off x="3626968" y="1508760"/>
            <a:ext cx="1005840" cy="1005840"/>
          </a:xfrm>
          <a:prstGeom prst="ellipse">
            <a:avLst/>
          </a:prstGeom>
          <a:solidFill>
            <a:srgbClr val="FF9755"/>
          </a:solidFill>
          <a:ln w="12700">
            <a:solidFill>
              <a:srgbClr val="FF9755"/>
            </a:solidFill>
            <a:prstDash val="solid"/>
          </a:ln>
        </p:spPr>
      </p:sp>
      <p:pic>
        <p:nvPicPr>
          <p:cNvPr id="8" name="Image 1" descr="puzzle icon">    </p:cNvPr>
          <p:cNvPicPr>
            <a:picLocks noChangeAspect="1"/>
          </p:cNvPicPr>
          <p:nvPr/>
        </p:nvPicPr>
        <p:blipFill>
          <a:blip r:embed="rId2"/>
          <a:stretch>
            <a:fillRect/>
          </a:stretch>
        </p:blipFill>
        <p:spPr>
          <a:xfrm>
            <a:off x="3828136" y="1709928"/>
            <a:ext cx="603504" cy="603504"/>
          </a:xfrm>
          <a:prstGeom prst="rect">
            <a:avLst/>
          </a:prstGeom>
        </p:spPr>
      </p:pic>
      <p:sp>
        <p:nvSpPr>
          <p:cNvPr id="9" name="Shape 5"/>
          <p:cNvSpPr/>
          <p:nvPr/>
        </p:nvSpPr>
        <p:spPr>
          <a:xfrm>
            <a:off x="4267048" y="4069080"/>
            <a:ext cx="1188720" cy="1188720"/>
          </a:xfrm>
          <a:prstGeom prst="ellipse">
            <a:avLst/>
          </a:prstGeom>
          <a:solidFill>
            <a:srgbClr val="FC4540"/>
          </a:solidFill>
          <a:ln w="12700">
            <a:solidFill>
              <a:srgbClr val="FC4540"/>
            </a:solidFill>
            <a:prstDash val="solid"/>
          </a:ln>
        </p:spPr>
      </p:sp>
      <p:pic>
        <p:nvPicPr>
          <p:cNvPr id="10" name="Image 2" descr="thumbs icon">    </p:cNvPr>
          <p:cNvPicPr>
            <a:picLocks noChangeAspect="1"/>
          </p:cNvPicPr>
          <p:nvPr/>
        </p:nvPicPr>
        <p:blipFill>
          <a:blip r:embed="rId3"/>
          <a:stretch>
            <a:fillRect/>
          </a:stretch>
        </p:blipFill>
        <p:spPr>
          <a:xfrm>
            <a:off x="4504792" y="4306824"/>
            <a:ext cx="713232" cy="713232"/>
          </a:xfrm>
          <a:prstGeom prst="rect">
            <a:avLst/>
          </a:prstGeom>
        </p:spPr>
      </p:pic>
      <p:sp>
        <p:nvSpPr>
          <p:cNvPr id="11" name="Shape 6"/>
          <p:cNvSpPr/>
          <p:nvPr/>
        </p:nvSpPr>
        <p:spPr>
          <a:xfrm>
            <a:off x="3855568" y="2971800"/>
            <a:ext cx="274320" cy="274320"/>
          </a:xfrm>
          <a:prstGeom prst="ellipse">
            <a:avLst/>
          </a:prstGeom>
          <a:solidFill>
            <a:srgbClr val="FFFEFA"/>
          </a:solidFill>
          <a:ln w="12700">
            <a:solidFill>
              <a:srgbClr val="FFFEFA"/>
            </a:solidFill>
            <a:prstDash val="solid"/>
          </a:ln>
        </p:spPr>
      </p:sp>
      <p:sp>
        <p:nvSpPr>
          <p:cNvPr id="12" name="Shape 7"/>
          <p:cNvSpPr/>
          <p:nvPr/>
        </p:nvSpPr>
        <p:spPr>
          <a:xfrm>
            <a:off x="8107528" y="2606040"/>
            <a:ext cx="411480" cy="411480"/>
          </a:xfrm>
          <a:prstGeom prst="ellipse">
            <a:avLst/>
          </a:prstGeom>
          <a:solidFill>
            <a:srgbClr val="FC4067"/>
          </a:solidFill>
          <a:ln w="12700">
            <a:solidFill>
              <a:srgbClr val="FC4067"/>
            </a:solidFill>
            <a:prstDash val="solid"/>
          </a:ln>
        </p:spPr>
      </p:sp>
      <p:sp>
        <p:nvSpPr>
          <p:cNvPr id="13" name="Shape 8"/>
          <p:cNvSpPr/>
          <p:nvPr/>
        </p:nvSpPr>
        <p:spPr>
          <a:xfrm>
            <a:off x="7558888" y="5120640"/>
            <a:ext cx="548640" cy="548640"/>
          </a:xfrm>
          <a:prstGeom prst="ellipse">
            <a:avLst/>
          </a:prstGeom>
          <a:solidFill>
            <a:srgbClr val="FF9755"/>
          </a:solidFill>
          <a:ln w="12700">
            <a:solidFill>
              <a:srgbClr val="FF9755"/>
            </a:solidFill>
            <a:prstDash val="solid"/>
          </a:ln>
        </p:spPr>
      </p:sp>
      <p:sp>
        <p:nvSpPr>
          <p:cNvPr id="14" name="Shape 9"/>
          <p:cNvSpPr/>
          <p:nvPr/>
        </p:nvSpPr>
        <p:spPr>
          <a:xfrm>
            <a:off x="6735928" y="5349240"/>
            <a:ext cx="164592" cy="164592"/>
          </a:xfrm>
          <a:prstGeom prst="ellipse">
            <a:avLst/>
          </a:prstGeom>
          <a:solidFill>
            <a:srgbClr val="FFB600"/>
          </a:solidFill>
          <a:ln w="12700">
            <a:solidFill>
              <a:srgbClr val="FFB600"/>
            </a:solidFill>
            <a:prstDash val="solid"/>
          </a:ln>
        </p:spPr>
      </p:sp>
      <p:sp>
        <p:nvSpPr>
          <p:cNvPr id="15" name="Shape 10"/>
          <p:cNvSpPr/>
          <p:nvPr/>
        </p:nvSpPr>
        <p:spPr>
          <a:xfrm>
            <a:off x="5455768" y="5257800"/>
            <a:ext cx="201168" cy="201168"/>
          </a:xfrm>
          <a:prstGeom prst="ellipse">
            <a:avLst/>
          </a:prstGeom>
          <a:solidFill>
            <a:srgbClr val="FFFEFA"/>
          </a:solidFill>
          <a:ln w="12700">
            <a:solidFill>
              <a:srgbClr val="FFFEFA"/>
            </a:solidFill>
            <a:prstDash val="solid"/>
          </a:ln>
        </p:spPr>
      </p:sp>
      <p:sp>
        <p:nvSpPr>
          <p:cNvPr id="16" name="Text 11"/>
          <p:cNvSpPr/>
          <p:nvPr/>
        </p:nvSpPr>
        <p:spPr>
          <a:xfrm>
            <a:off x="685800" y="5577840"/>
            <a:ext cx="10820095" cy="548640"/>
          </a:xfrm>
          <a:prstGeom prst="rect">
            <a:avLst/>
          </a:prstGeom>
          <a:noFill/>
          <a:ln/>
        </p:spPr>
        <p:txBody>
          <a:bodyPr wrap="square" lIns="0" tIns="0" rIns="0" bIns="0" rtlCol="0" anchor="ctr"/>
          <a:lstStyle/>
          <a:p>
            <a:pPr algn="ctr" indent="0" marL="0">
              <a:buNone/>
            </a:pPr>
            <a:r>
              <a:rPr lang="en-US" sz="2200" dirty="0">
                <a:solidFill>
                  <a:srgbClr val="FFFEFA"/>
                </a:solidFill>
                <a:latin typeface="Calibri" pitchFamily="34" charset="0"/>
                <a:ea typeface="Calibri" pitchFamily="34" charset="-122"/>
                <a:cs typeface="Calibri" pitchFamily="34" charset="-120"/>
              </a:rPr>
              <a:t>Next time: conclusions.</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YAWP!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Body Paragraphs</dc:title>
  <dc:subject>Thesis-Driven Essay · Lesson 5</dc:subject>
  <dc:creator>PptxGenJS</dc:creator>
  <cp:lastModifiedBy>PptxGenJS</cp:lastModifiedBy>
  <cp:revision>1</cp:revision>
  <dcterms:created xsi:type="dcterms:W3CDTF">2026-10-18T15:59:20Z</dcterms:created>
  <dcterms:modified xsi:type="dcterms:W3CDTF">2026-10-18T15:59:20Z</dcterms:modified>
</cp:coreProperties>
</file>