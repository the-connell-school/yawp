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day of the program. Students have written their introductions, theses, body paragraphs and conclusions; all that’s left is the title. The title is the cherry on top of the ice cream sundae that is a great essay. We’ve all seen "English Essay" and "My Paper." Our students have invested real time in something original, so they deserve a title that is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run the whole review as a final quiz, maybe for an easy grade to reward their hard work. Delete these slides if you don’t want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question students still get wrong: some cling to "a good conclusion restates the thesis." Here’s the structure again for anyone still finishing. The Tutor shows this structure in its box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title. A lot of people dread it, but with the colon-title model it becomes pretty easy and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aloud. With each one we know exactly what the essay is about, and it makes us want to read it. The second is the sample essay’s.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title has two parts. The left side is a creative or "fun" element; the right side delivers a clear, direct description of the topic. Alone, each would be ordinary at best and confusing at worst: "Beyond the Boys’ Club" could be about single-sex schools, fraternities, men in politics… The right side gives it context; the left side gives the right side flavor. The right side doesn’t have to start with "How" (all three just happen to). The Tutor knows the colon title too and can help students draft and revise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about five minutes. On the Title Your Essay! step the Tutor walks them through the colon title and gives feedback on drafts. Have a few students read theirs aloud; vote on favorites if the room is into it. A title without a colon is fine too, as long as it is informative, smart and memorable.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stretch: clean up the document, put the title on it, format it simply, and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 "Be normal with your formatting. This is not the place to be creative." Some students like to center everything or pick fancy fonts; don’t. If you have your own formatting standard, use it. Then celebrate: ask students for a reflection on the process, or have them highlight their favorite part of their essay and add a comment saying why. Share the work: within the class, with other teachers or administrators. (The YAWP! program can also publish a class’s essays as a printed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finished essay in today’s YAWP! editor, ready to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wrote a critical, thesis-driven essay that could stand up in any high school or college classroom. Good work! Celebrate it: a reflection on the process, a favorite line read aloud, or sharing the essays beyond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Thesis-Driven Essay · Lesson 7</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Titles</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The cherry on top, and the finishing touches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Course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Everything you’ve learned,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06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067"/>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9755"/>
          </a:solidFill>
          <a:ln w="12700">
            <a:solidFill>
              <a:srgbClr val="FF9755"/>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Suggested conclusion structure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 conclusion that works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Rhetorical question</a:t>
            </a:r>
            <a:endParaRPr lang="en-US" sz="24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Answer it directly (</a:t>
            </a:r>
            <a:r>
              <a:rPr lang="en-US" sz="2400" dirty="0">
                <a:solidFill>
                  <a:srgbClr val="3C3828"/>
                </a:solidFill>
                <a:highlight>
                  <a:srgbClr val="FFE14D"/>
                </a:highlight>
                <a:latin typeface="Calibri" pitchFamily="34" charset="0"/>
                <a:ea typeface="Calibri" pitchFamily="34" charset="-122"/>
                <a:cs typeface="Calibri" pitchFamily="34" charset="-120"/>
              </a:rPr>
              <a:t>“Perhaps…”</a:t>
            </a:r>
            <a:r>
              <a:rPr lang="en-US" sz="2400" dirty="0">
                <a:solidFill>
                  <a:srgbClr val="3C3828"/>
                </a:solidFill>
                <a:latin typeface="Calibri" pitchFamily="34" charset="0"/>
                <a:ea typeface="Calibri" pitchFamily="34" charset="-122"/>
                <a:cs typeface="Calibri" pitchFamily="34" charset="-120"/>
              </a:rPr>
              <a:t>)</a:t>
            </a:r>
            <a:endParaRPr lang="en-US" sz="24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2 sentences of opinion or analysis</a:t>
            </a:r>
            <a:endParaRPr lang="en-US" sz="24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Supporting quote (if working with a text)</a:t>
            </a:r>
            <a:endParaRPr lang="en-US" sz="24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Final, concluding sentence: the big, final point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6</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Titling Your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Informative, smart, and memorable.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Give your essay a title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colon title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Your title should be </a:t>
            </a:r>
            <a:r>
              <a:rPr lang="en-US" sz="2200" dirty="0">
                <a:solidFill>
                  <a:srgbClr val="3C3828"/>
                </a:solidFill>
                <a:highlight>
                  <a:srgbClr val="FFE14D"/>
                </a:highlight>
                <a:latin typeface="Calibri" pitchFamily="34" charset="0"/>
                <a:ea typeface="Calibri" pitchFamily="34" charset="-122"/>
                <a:cs typeface="Calibri" pitchFamily="34" charset="-120"/>
              </a:rPr>
              <a:t>informative, smart, and memorable.</a:t>
            </a:r>
            <a:r>
              <a:rPr lang="en-US" sz="2200" dirty="0">
                <a:solidFill>
                  <a:srgbClr val="3C3828"/>
                </a:solidFill>
                <a:latin typeface="Calibri" pitchFamily="34" charset="0"/>
                <a:ea typeface="Calibri" pitchFamily="34" charset="-122"/>
                <a:cs typeface="Calibri" pitchFamily="34" charset="-120"/>
              </a:rPr>
              <a:t> Don’t ever, ever, EVER title your essay “Essay” or “English Paper.” Let it indicate your topic in a thoughtful way. Try the colon title:</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Beyond the Boys’ Club: How Female Heroes Define the Avengers Legacy</a:t>
            </a:r>
            <a:endParaRPr lang="en-US" sz="22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Bored in the USA: How Lack of Creativity in Schools Hurts Students and Teachers</a:t>
            </a:r>
            <a:endParaRPr lang="en-US" sz="22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Unlocked and Loaded: How Easy Gun Access Puts Children at Risk</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Give your essay a title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Two halves, one great title</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FFB600"/>
          </a:solidFill>
          <a:ln w="12700">
            <a:solidFill>
              <a:srgbClr val="FFB600"/>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Beyond the Boys’ Club</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How Female Heroes Define the Avengers Legacy</a:t>
            </a:r>
            <a:endParaRPr lang="en-US" sz="2200" dirty="0"/>
          </a:p>
        </p:txBody>
      </p:sp>
      <p:sp>
        <p:nvSpPr>
          <p:cNvPr id="8" name="Shape 6"/>
          <p:cNvSpPr/>
          <p:nvPr/>
        </p:nvSpPr>
        <p:spPr>
          <a:xfrm>
            <a:off x="868680" y="420166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20166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508760" y="4023360"/>
            <a:ext cx="9814255" cy="77724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Left of the colon · creative, fun: </a:t>
            </a:r>
            <a:r>
              <a:rPr lang="en-US" sz="2200" dirty="0">
                <a:solidFill>
                  <a:srgbClr val="3C3828"/>
                </a:solidFill>
                <a:latin typeface="Calibri" pitchFamily="34" charset="0"/>
                <a:ea typeface="Calibri" pitchFamily="34" charset="-122"/>
                <a:cs typeface="Calibri" pitchFamily="34" charset="-120"/>
              </a:rPr>
              <a:t>Beyond the Boys’ Club</a:t>
            </a:r>
            <a:endParaRPr lang="en-US" sz="1300" dirty="0"/>
          </a:p>
        </p:txBody>
      </p:sp>
      <p:sp>
        <p:nvSpPr>
          <p:cNvPr id="11" name="Shape 9"/>
          <p:cNvSpPr/>
          <p:nvPr/>
        </p:nvSpPr>
        <p:spPr>
          <a:xfrm>
            <a:off x="868680" y="497890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97890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1508760" y="4800600"/>
            <a:ext cx="9814255" cy="77724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Right of the colon · clear, direct: </a:t>
            </a:r>
            <a:r>
              <a:rPr lang="en-US" sz="2200" dirty="0">
                <a:solidFill>
                  <a:srgbClr val="3C3828"/>
                </a:solidFill>
                <a:latin typeface="Calibri" pitchFamily="34" charset="0"/>
                <a:ea typeface="Calibri" pitchFamily="34" charset="-122"/>
                <a:cs typeface="Calibri" pitchFamily="34" charset="-120"/>
              </a:rPr>
              <a:t>How Female Heroes Define the Avengers Legacy</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Write your title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C4540"/>
          </a:solidFill>
          <a:ln w="12700">
            <a:solidFill>
              <a:srgbClr val="FC4540"/>
            </a:solidFill>
            <a:prstDash val="solid"/>
          </a:ln>
        </p:spPr>
      </p:sp>
      <p:sp>
        <p:nvSpPr>
          <p:cNvPr id="10" name="Shape 7"/>
          <p:cNvSpPr/>
          <p:nvPr/>
        </p:nvSpPr>
        <p:spPr>
          <a:xfrm>
            <a:off x="960120" y="2286000"/>
            <a:ext cx="548640" cy="548640"/>
          </a:xfrm>
          <a:prstGeom prst="ellipse">
            <a:avLst/>
          </a:prstGeom>
          <a:solidFill>
            <a:srgbClr val="FC4540"/>
          </a:solidFill>
          <a:ln w="12700">
            <a:solidFill>
              <a:srgbClr val="FC4540"/>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Reread your </a:t>
            </a:r>
            <a:r>
              <a:rPr lang="en-US" sz="2600" dirty="0">
                <a:solidFill>
                  <a:srgbClr val="3C3828"/>
                </a:solidFill>
                <a:highlight>
                  <a:srgbClr val="FFE14D"/>
                </a:highlight>
                <a:latin typeface="Calibri" pitchFamily="34" charset="0"/>
                <a:ea typeface="Calibri" pitchFamily="34" charset="-122"/>
                <a:cs typeface="Calibri" pitchFamily="34" charset="-120"/>
              </a:rPr>
              <a:t>thesis</a:t>
            </a:r>
            <a:r>
              <a:rPr lang="en-US" sz="2600" dirty="0">
                <a:solidFill>
                  <a:srgbClr val="3C3828"/>
                </a:solidFill>
                <a:latin typeface="Calibri" pitchFamily="34" charset="0"/>
                <a:ea typeface="Calibri" pitchFamily="34" charset="-122"/>
                <a:cs typeface="Calibri" pitchFamily="34" charset="-120"/>
              </a:rPr>
              <a:t>: your title is about the same thing</a:t>
            </a:r>
            <a:endParaRPr lang="en-US" sz="26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F9755"/>
          </a:solidFill>
          <a:ln w="12700">
            <a:solidFill>
              <a:srgbClr val="FF9755"/>
            </a:solidFill>
            <a:prstDash val="solid"/>
          </a:ln>
        </p:spPr>
      </p:sp>
      <p:sp>
        <p:nvSpPr>
          <p:cNvPr id="15" name="Shape 12"/>
          <p:cNvSpPr/>
          <p:nvPr/>
        </p:nvSpPr>
        <p:spPr>
          <a:xfrm>
            <a:off x="6530188" y="2286000"/>
            <a:ext cx="548640" cy="548640"/>
          </a:xfrm>
          <a:prstGeom prst="ellipse">
            <a:avLst/>
          </a:prstGeom>
          <a:solidFill>
            <a:srgbClr val="FF9755"/>
          </a:solidFill>
          <a:ln w="12700">
            <a:solidFill>
              <a:srgbClr val="FF9755"/>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Right of the colon:</a:t>
            </a:r>
            <a:r>
              <a:rPr lang="en-US" sz="2600" dirty="0">
                <a:solidFill>
                  <a:srgbClr val="3C3828"/>
                </a:solidFill>
                <a:latin typeface="Calibri" pitchFamily="34" charset="0"/>
                <a:ea typeface="Calibri" pitchFamily="34" charset="-122"/>
                <a:cs typeface="Calibri" pitchFamily="34" charset="-120"/>
              </a:rPr>
              <a:t> say clearly what your essay is about</a:t>
            </a:r>
            <a:endParaRPr lang="en-US" sz="26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FC4067"/>
          </a:solidFill>
          <a:ln w="12700">
            <a:solidFill>
              <a:srgbClr val="FC4067"/>
            </a:solidFill>
            <a:prstDash val="solid"/>
          </a:ln>
        </p:spPr>
      </p:sp>
      <p:sp>
        <p:nvSpPr>
          <p:cNvPr id="20" name="Shape 17"/>
          <p:cNvSpPr/>
          <p:nvPr/>
        </p:nvSpPr>
        <p:spPr>
          <a:xfrm>
            <a:off x="960120" y="4503420"/>
            <a:ext cx="548640" cy="548640"/>
          </a:xfrm>
          <a:prstGeom prst="ellipse">
            <a:avLst/>
          </a:prstGeom>
          <a:solidFill>
            <a:srgbClr val="FC4067"/>
          </a:solidFill>
          <a:ln w="12700">
            <a:solidFill>
              <a:srgbClr val="FC406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Left of the colon:</a:t>
            </a:r>
            <a:r>
              <a:rPr lang="en-US" sz="2600" dirty="0">
                <a:solidFill>
                  <a:srgbClr val="3C3828"/>
                </a:solidFill>
                <a:latin typeface="Calibri" pitchFamily="34" charset="0"/>
                <a:ea typeface="Calibri" pitchFamily="34" charset="-122"/>
                <a:cs typeface="Calibri" pitchFamily="34" charset="-120"/>
              </a:rPr>
              <a:t> something creative, like a phrase, a pun or an image</a:t>
            </a:r>
            <a:endParaRPr lang="en-US" sz="26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02BDC7"/>
          </a:solidFill>
          <a:ln w="12700">
            <a:solidFill>
              <a:srgbClr val="02BDC7"/>
            </a:solidFill>
            <a:prstDash val="solid"/>
          </a:ln>
        </p:spPr>
      </p:sp>
      <p:sp>
        <p:nvSpPr>
          <p:cNvPr id="25" name="Shape 22"/>
          <p:cNvSpPr/>
          <p:nvPr/>
        </p:nvSpPr>
        <p:spPr>
          <a:xfrm>
            <a:off x="6530188" y="4503420"/>
            <a:ext cx="548640" cy="548640"/>
          </a:xfrm>
          <a:prstGeom prst="ellipse">
            <a:avLst/>
          </a:prstGeom>
          <a:solidFill>
            <a:srgbClr val="02BDC7"/>
          </a:solidFill>
          <a:ln w="12700">
            <a:solidFill>
              <a:srgbClr val="02BDC7"/>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Ask the </a:t>
            </a:r>
            <a:r>
              <a:rPr lang="en-US" sz="2600" dirty="0">
                <a:solidFill>
                  <a:srgbClr val="3C3828"/>
                </a:solidFill>
                <a:highlight>
                  <a:srgbClr val="FFE14D"/>
                </a:highlight>
                <a:latin typeface="Calibri" pitchFamily="34" charset="0"/>
                <a:ea typeface="Calibri" pitchFamily="34" charset="-122"/>
                <a:cs typeface="Calibri" pitchFamily="34" charset="-120"/>
              </a:rPr>
              <a:t>Tutor</a:t>
            </a:r>
            <a:r>
              <a:rPr lang="en-US" sz="2600" dirty="0">
                <a:solidFill>
                  <a:srgbClr val="3C3828"/>
                </a:solidFill>
                <a:latin typeface="Calibri" pitchFamily="34" charset="0"/>
                <a:ea typeface="Calibri" pitchFamily="34" charset="-122"/>
                <a:cs typeface="Calibri" pitchFamily="34" charset="-120"/>
              </a:rPr>
              <a:t> for feedback, then try a second version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FINISH</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Putting it All Together</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Clean up, title, submit, celebrate.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Finishing touches in YAWP!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Finishing touches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02BDC7"/>
          </a:solidFill>
          <a:ln w="12700">
            <a:solidFill>
              <a:srgbClr val="02BDC7"/>
            </a:solidFill>
            <a:prstDash val="solid"/>
          </a:ln>
        </p:spPr>
      </p:sp>
      <p:sp>
        <p:nvSpPr>
          <p:cNvPr id="10" name="Shape 7"/>
          <p:cNvSpPr/>
          <p:nvPr/>
        </p:nvSpPr>
        <p:spPr>
          <a:xfrm>
            <a:off x="960120" y="2286000"/>
            <a:ext cx="548640" cy="548640"/>
          </a:xfrm>
          <a:prstGeom prst="ellipse">
            <a:avLst/>
          </a:prstGeom>
          <a:solidFill>
            <a:srgbClr val="02BDC7"/>
          </a:solidFill>
          <a:ln w="12700">
            <a:solidFill>
              <a:srgbClr val="02BDC7"/>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Clean up.</a:t>
            </a:r>
            <a:r>
              <a:rPr lang="en-US" sz="1800" dirty="0">
                <a:solidFill>
                  <a:srgbClr val="3C3828"/>
                </a:solidFill>
                <a:latin typeface="Calibri" pitchFamily="34" charset="0"/>
                <a:ea typeface="Calibri" pitchFamily="34" charset="-122"/>
                <a:cs typeface="Calibri" pitchFamily="34" charset="-120"/>
              </a:rPr>
              <a:t> Delete your pre-writing, your observation and analysis notes, and headings like “Introduction.” Only the essay stays.</a:t>
            </a:r>
            <a:endParaRPr lang="en-US" sz="18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FB600"/>
          </a:solidFill>
          <a:ln w="12700">
            <a:solidFill>
              <a:srgbClr val="FFB600"/>
            </a:solidFill>
            <a:prstDash val="solid"/>
          </a:ln>
        </p:spPr>
      </p:sp>
      <p:sp>
        <p:nvSpPr>
          <p:cNvPr id="15" name="Shape 12"/>
          <p:cNvSpPr/>
          <p:nvPr/>
        </p:nvSpPr>
        <p:spPr>
          <a:xfrm>
            <a:off x="6530188" y="2286000"/>
            <a:ext cx="548640" cy="548640"/>
          </a:xfrm>
          <a:prstGeom prst="ellipse">
            <a:avLst/>
          </a:prstGeom>
          <a:solidFill>
            <a:srgbClr val="FFB600"/>
          </a:solidFill>
          <a:ln w="12700">
            <a:solidFill>
              <a:srgbClr val="FFB600"/>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Title it.</a:t>
            </a:r>
            <a:r>
              <a:rPr lang="en-US" sz="1800" dirty="0">
                <a:solidFill>
                  <a:srgbClr val="3C3828"/>
                </a:solidFill>
                <a:latin typeface="Calibri" pitchFamily="34" charset="0"/>
                <a:ea typeface="Calibri" pitchFamily="34" charset="-122"/>
                <a:cs typeface="Calibri" pitchFamily="34" charset="-120"/>
              </a:rPr>
              <a:t> Type your title on the first line, then use the toolbar to </a:t>
            </a:r>
            <a:r>
              <a:rPr lang="en-US" sz="1800" dirty="0">
                <a:solidFill>
                  <a:srgbClr val="3C3828"/>
                </a:solidFill>
                <a:highlight>
                  <a:srgbClr val="FFE14D"/>
                </a:highlight>
                <a:latin typeface="Calibri" pitchFamily="34" charset="0"/>
                <a:ea typeface="Calibri" pitchFamily="34" charset="-122"/>
                <a:cs typeface="Calibri" pitchFamily="34" charset="-120"/>
              </a:rPr>
              <a:t>center</a:t>
            </a:r>
            <a:r>
              <a:rPr lang="en-US" sz="1800" dirty="0">
                <a:solidFill>
                  <a:srgbClr val="3C3828"/>
                </a:solidFill>
                <a:latin typeface="Calibri" pitchFamily="34" charset="0"/>
                <a:ea typeface="Calibri" pitchFamily="34" charset="-122"/>
                <a:cs typeface="Calibri" pitchFamily="34" charset="-120"/>
              </a:rPr>
              <a:t> and </a:t>
            </a:r>
            <a:r>
              <a:rPr lang="en-US" sz="1800" dirty="0">
                <a:solidFill>
                  <a:srgbClr val="3C3828"/>
                </a:solidFill>
                <a:highlight>
                  <a:srgbClr val="FFE14D"/>
                </a:highlight>
                <a:latin typeface="Calibri" pitchFamily="34" charset="0"/>
                <a:ea typeface="Calibri" pitchFamily="34" charset="-122"/>
                <a:cs typeface="Calibri" pitchFamily="34" charset="-120"/>
              </a:rPr>
              <a:t>italicize</a:t>
            </a:r>
            <a:r>
              <a:rPr lang="en-US" sz="1800" dirty="0">
                <a:solidFill>
                  <a:srgbClr val="3C3828"/>
                </a:solidFill>
                <a:latin typeface="Calibri" pitchFamily="34" charset="0"/>
                <a:ea typeface="Calibri" pitchFamily="34" charset="-122"/>
                <a:cs typeface="Calibri" pitchFamily="34" charset="-120"/>
              </a:rPr>
              <a:t> it.</a:t>
            </a:r>
            <a:endParaRPr lang="en-US" sz="18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FC4540"/>
          </a:solidFill>
          <a:ln w="12700">
            <a:solidFill>
              <a:srgbClr val="FC4540"/>
            </a:solidFill>
            <a:prstDash val="solid"/>
          </a:ln>
        </p:spPr>
      </p:sp>
      <p:sp>
        <p:nvSpPr>
          <p:cNvPr id="20" name="Shape 17"/>
          <p:cNvSpPr/>
          <p:nvPr/>
        </p:nvSpPr>
        <p:spPr>
          <a:xfrm>
            <a:off x="960120" y="4503420"/>
            <a:ext cx="548640" cy="548640"/>
          </a:xfrm>
          <a:prstGeom prst="ellipse">
            <a:avLst/>
          </a:prstGeom>
          <a:solidFill>
            <a:srgbClr val="FC4540"/>
          </a:solidFill>
          <a:ln w="12700">
            <a:solidFill>
              <a:srgbClr val="FC4540"/>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Keep it simple.</a:t>
            </a:r>
            <a:r>
              <a:rPr lang="en-US" sz="1800" dirty="0">
                <a:solidFill>
                  <a:srgbClr val="3C3828"/>
                </a:solidFill>
                <a:latin typeface="Calibri" pitchFamily="34" charset="0"/>
                <a:ea typeface="Calibri" pitchFamily="34" charset="-122"/>
                <a:cs typeface="Calibri" pitchFamily="34" charset="-120"/>
              </a:rPr>
              <a:t> YAWP! sets the font for you. Paragraphs stay left-aligned (only the title is centered), with an empty line between them.</a:t>
            </a:r>
            <a:endParaRPr lang="en-US" sz="18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9755"/>
          </a:solidFill>
          <a:ln w="12700">
            <a:solidFill>
              <a:srgbClr val="FF9755"/>
            </a:solidFill>
            <a:prstDash val="solid"/>
          </a:ln>
        </p:spPr>
      </p:sp>
      <p:sp>
        <p:nvSpPr>
          <p:cNvPr id="25" name="Shape 22"/>
          <p:cNvSpPr/>
          <p:nvPr/>
        </p:nvSpPr>
        <p:spPr>
          <a:xfrm>
            <a:off x="6530188" y="4503420"/>
            <a:ext cx="548640" cy="548640"/>
          </a:xfrm>
          <a:prstGeom prst="ellipse">
            <a:avLst/>
          </a:prstGeom>
          <a:solidFill>
            <a:srgbClr val="FF9755"/>
          </a:solidFill>
          <a:ln w="12700">
            <a:solidFill>
              <a:srgbClr val="FF9755"/>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Read it, then Submit.</a:t>
            </a:r>
            <a:r>
              <a:rPr lang="en-US" sz="1800" dirty="0">
                <a:solidFill>
                  <a:srgbClr val="3C3828"/>
                </a:solidFill>
                <a:latin typeface="Calibri" pitchFamily="34" charset="0"/>
                <a:ea typeface="Calibri" pitchFamily="34" charset="-122"/>
                <a:cs typeface="Calibri" pitchFamily="34" charset="-120"/>
              </a:rPr>
              <a:t> Read it once from the top, ask the Tutor for feedback if you want, then click </a:t>
            </a:r>
            <a:r>
              <a:rPr lang="en-US" sz="1800" dirty="0">
                <a:solidFill>
                  <a:srgbClr val="3C3828"/>
                </a:solidFill>
                <a:highlight>
                  <a:srgbClr val="FFE14D"/>
                </a:highlight>
                <a:latin typeface="Calibri" pitchFamily="34" charset="0"/>
                <a:ea typeface="Calibri" pitchFamily="34" charset="-122"/>
                <a:cs typeface="Calibri" pitchFamily="34" charset="-120"/>
              </a:rPr>
              <a:t>Submit.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Done</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finished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with a finished, titled essay.">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5539956" y="2417108"/>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5539956" y="241710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5898996" y="2793794"/>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5898996" y="279379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595835" y="371458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595835" y="371458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6997655" y="1747444"/>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6997655" y="174744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32918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3291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1955800"/>
            <a:ext cx="2286000" cy="1203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Title on the first line, </a:t>
            </a:r>
            <a:r>
              <a:rPr lang="en-US" sz="2000" dirty="0">
                <a:solidFill>
                  <a:srgbClr val="3C3828"/>
                </a:solidFill>
                <a:highlight>
                  <a:srgbClr val="FFE14D"/>
                </a:highlight>
                <a:latin typeface="Calibri" pitchFamily="34" charset="0"/>
                <a:ea typeface="Calibri" pitchFamily="34" charset="-122"/>
                <a:cs typeface="Calibri" pitchFamily="34" charset="-120"/>
              </a:rPr>
              <a:t>centered and in italics</a:t>
            </a:r>
            <a:endParaRPr lang="en-US" sz="2000" dirty="0"/>
          </a:p>
        </p:txBody>
      </p:sp>
      <p:sp>
        <p:nvSpPr>
          <p:cNvPr id="17" name="Shape 14"/>
          <p:cNvSpPr/>
          <p:nvPr/>
        </p:nvSpPr>
        <p:spPr>
          <a:xfrm>
            <a:off x="8579815" y="337820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3782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315976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Only the essay: no notes or headings</a:t>
            </a:r>
            <a:endParaRPr lang="en-US" sz="2000" dirty="0"/>
          </a:p>
        </p:txBody>
      </p:sp>
      <p:sp>
        <p:nvSpPr>
          <p:cNvPr id="20" name="Shape 17"/>
          <p:cNvSpPr/>
          <p:nvPr/>
        </p:nvSpPr>
        <p:spPr>
          <a:xfrm>
            <a:off x="8579815" y="427228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42722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405384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Paragraphs left-aligned</a:t>
            </a:r>
            <a:endParaRPr lang="en-US" sz="2000" dirty="0"/>
          </a:p>
        </p:txBody>
      </p:sp>
      <p:sp>
        <p:nvSpPr>
          <p:cNvPr id="23" name="Shape 20"/>
          <p:cNvSpPr/>
          <p:nvPr/>
        </p:nvSpPr>
        <p:spPr>
          <a:xfrm>
            <a:off x="8579815" y="508508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50850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947920"/>
            <a:ext cx="2286000" cy="73152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Then click </a:t>
            </a:r>
            <a:r>
              <a:rPr lang="en-US" sz="2000" dirty="0">
                <a:solidFill>
                  <a:srgbClr val="3C3828"/>
                </a:solidFill>
                <a:highlight>
                  <a:srgbClr val="FFE14D"/>
                </a:highlight>
                <a:latin typeface="Calibri" pitchFamily="34" charset="0"/>
                <a:ea typeface="Calibri" pitchFamily="34" charset="-122"/>
                <a:cs typeface="Calibri" pitchFamily="34" charset="-120"/>
              </a:rPr>
              <a:t>Submit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You wrote a thesis-driven essay. Celebrate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Titles and Formatting</dc:title>
  <dc:subject>Thesis-Driven Essay · Lesson 7</dc:subject>
  <dc:creator>PptxGenJS</dc:creator>
  <cp:lastModifiedBy>PptxGenJS</cp:lastModifiedBy>
  <cp:revision>1</cp:revision>
  <dcterms:created xsi:type="dcterms:W3CDTF">2026-10-18T15:59:21Z</dcterms:created>
  <dcterms:modified xsi:type="dcterms:W3CDTF">2026-10-18T15:59:21Z</dcterms:modified>
</cp:coreProperties>
</file>