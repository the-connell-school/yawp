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day of the program. Students have written their introductions, theses, body paragraphs and conclusions; all that’s left is the title. The title is the cherry on top of the ice cream sundae that is a great essay. We’ve all seen "English Essay" and "My Paper." Our students have invested real time in something original, so they deserve a title that is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run the whole review as a final quiz, maybe for an easy grade to reward their hard work. Delete these slides if you don’t want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Welcome the reader in and state the thesis. A, C and D are styles an intro can use, not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Welcome the reader in and state the thesis. A, C and D are styles an intro can use, not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Your thesis statement. It lives at the end of the introduction; the body paragraphs support, define and illustrate its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Your thesis statement. It lives at the end of the introduction; the body paragraphs support, define and illustrate its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False. Restating can feel very repetitive. A good conclusion offers final reflection, arguments, or a call to action based on everything you just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False. Restating can feel very repetitive. A good conclusion offers final reflection, arguments, or a call to action based on everything you just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question students still get wrong: some cling to "a good conclusion restates the thesis." Here’s the structure again for anyone still finishing. The Tutor shows this structure in its box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title. A lot of people dread it, but with the colon-title model it becomes pretty easy and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aloud. With each one we know exactly what the essay is about, and it makes us want to read it. The second is the sample essay’s.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title has two parts. The left side is a creative or "fun" element; the right side delivers a clear, direct description of the topic. Alone, each would be ordinary at best and confusing at worst: "Beyond the Boys’ Club" could be about single-sex schools, fraternities, men in politics… The right side gives it context; the left side gives the right side flavor. The right side doesn’t have to start with "How" (all three just happen to). The Tutor knows the colon title too and can help students draft and revise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stretch: clean up the document, put the title on it, format it simply, and submit.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Brian: "Be normal with your formatting. This is not the place to be creative." Some students like to center everything or pick fancy fonts; don’t. If you have your own formatting standard, use it. Then celebrate: ask students for a reflection on the process, or have them highlight their favorite part of their essay and add a comment saying why. Share the work: within the class, with other teachers or administrators. (The YAWP! program can also publish a class’s essays as a printed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finished essay in today’s YAWP! editor, ready to submit. They wrote a critical, thesis-driven essay that could stand up in any high school or college classroom. Good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spc="200" kern="0" dirty="0">
                <a:solidFill>
                  <a:srgbClr val="02BDC7"/>
                </a:solidFill>
                <a:latin typeface="Consolas" pitchFamily="34" charset="0"/>
                <a:ea typeface="Consolas" pitchFamily="34" charset="-122"/>
                <a:cs typeface="Consolas" pitchFamily="34" charset="-120"/>
              </a:rPr>
              <a:t>THESIS-DRIVEN ESSAY · LESSON 7</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6600" dirty="0">
                <a:solidFill>
                  <a:srgbClr val="3C3828"/>
                </a:solidFill>
                <a:highlight>
                  <a:srgbClr val="FFE14D"/>
                </a:highlight>
                <a:latin typeface="Georgia" pitchFamily="34" charset="0"/>
                <a:ea typeface="Georgia" pitchFamily="34" charset="-122"/>
                <a:cs typeface="Georgia" pitchFamily="34" charset="-120"/>
              </a:rPr>
              <a:t>Titles</a:t>
            </a:r>
            <a:endParaRPr lang="en-US" sz="6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The cherry on top, and the finishing touches</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OPTIONAL</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4000" dirty="0">
                <a:solidFill>
                  <a:srgbClr val="3C3828"/>
                </a:solidFill>
                <a:highlight>
                  <a:srgbClr val="FFE14D"/>
                </a:highlight>
                <a:latin typeface="Georgia" pitchFamily="34" charset="0"/>
                <a:ea typeface="Georgia" pitchFamily="34" charset="-122"/>
                <a:cs typeface="Georgia" pitchFamily="34" charset="-120"/>
              </a:rPr>
              <a:t>Course Review</a:t>
            </a:r>
            <a:endParaRPr lang="en-US" sz="40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Everything you’ve learned, one question at a time.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REVIEW · 1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54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54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54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54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REVIEW · 1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9755"/>
          </a:solidFill>
          <a:ln w="12700">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REVIEW · 2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06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067"/>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067"/>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067"/>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06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REVIEW · 2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331720"/>
            <a:ext cx="457200" cy="457200"/>
          </a:xfrm>
          <a:prstGeom prst="ellipse">
            <a:avLst/>
          </a:prstGeom>
          <a:solidFill>
            <a:srgbClr val="02BDC7"/>
          </a:solidFill>
          <a:ln w="12700">
            <a:solidFill>
              <a:srgbClr val="02BDC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REVIEW · 3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B60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B60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B60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B60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B60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REVIEW · 3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C4540"/>
          </a:solidFill>
          <a:ln w="12700">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REVIEW · 4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introduction paragraph’s MAIN function is to:</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9755"/>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Tell a story that illustrates the topic of your essay</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9755"/>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Give specific examples that support your thesis</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Define important terms that your reader may need to know</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9755"/>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Present questions that your essay will answer</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9755"/>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Welcome your reader into your discussion and state the thesis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REVIEW · 4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introduction paragraph’s MAIN function is to:</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Tell a story that illustrates the topic of your essay</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Give specific examples that support your thesis</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Define important terms that your reader may need to know</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Present questions that your essay will answer</a:t>
            </a:r>
            <a:endParaRPr lang="en-US" sz="2200" dirty="0"/>
          </a:p>
        </p:txBody>
      </p:sp>
      <p:sp>
        <p:nvSpPr>
          <p:cNvPr id="22" name="Shape 19"/>
          <p:cNvSpPr/>
          <p:nvPr/>
        </p:nvSpPr>
        <p:spPr>
          <a:xfrm>
            <a:off x="1097280" y="5257800"/>
            <a:ext cx="457200" cy="457200"/>
          </a:xfrm>
          <a:prstGeom prst="ellipse">
            <a:avLst/>
          </a:prstGeom>
          <a:solidFill>
            <a:srgbClr val="FC4067"/>
          </a:solidFill>
          <a:ln w="12700">
            <a:solidFill>
              <a:srgbClr val="FC406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Welcome your reader into your discussion and state the thesis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REVIEW · 5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would probably NOT show up in your body paragraphs?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423160"/>
            <a:ext cx="457200" cy="457200"/>
          </a:xfrm>
          <a:prstGeom prst="ellipse">
            <a:avLst/>
          </a:prstGeom>
          <a:solidFill>
            <a:srgbClr val="FFFEFA"/>
          </a:solidFill>
          <a:ln w="15875">
            <a:solidFill>
              <a:srgbClr val="02BDC7"/>
            </a:solidFill>
            <a:prstDash val="solid"/>
          </a:ln>
        </p:spPr>
      </p:sp>
      <p:sp>
        <p:nvSpPr>
          <p:cNvPr id="11" name="Text 8"/>
          <p:cNvSpPr/>
          <p:nvPr/>
        </p:nvSpPr>
        <p:spPr>
          <a:xfrm>
            <a:off x="1097280" y="24231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Supporting quotations about specific points</a:t>
            </a:r>
            <a:endParaRPr lang="en-US" sz="2800" dirty="0"/>
          </a:p>
        </p:txBody>
      </p:sp>
      <p:sp>
        <p:nvSpPr>
          <p:cNvPr id="13" name="Shape 10"/>
          <p:cNvSpPr/>
          <p:nvPr/>
        </p:nvSpPr>
        <p:spPr>
          <a:xfrm>
            <a:off x="1097280" y="3337560"/>
            <a:ext cx="457200" cy="457200"/>
          </a:xfrm>
          <a:prstGeom prst="ellipse">
            <a:avLst/>
          </a:prstGeom>
          <a:solidFill>
            <a:srgbClr val="FFFEFA"/>
          </a:solidFill>
          <a:ln w="15875">
            <a:solidFill>
              <a:srgbClr val="02BDC7"/>
            </a:solidFill>
            <a:prstDash val="solid"/>
          </a:ln>
        </p:spPr>
      </p:sp>
      <p:sp>
        <p:nvSpPr>
          <p:cNvPr id="14" name="Text 11"/>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Your opinions</a:t>
            </a:r>
            <a:endParaRPr lang="en-US" sz="2800" dirty="0"/>
          </a:p>
        </p:txBody>
      </p:sp>
      <p:sp>
        <p:nvSpPr>
          <p:cNvPr id="16" name="Shape 13"/>
          <p:cNvSpPr/>
          <p:nvPr/>
        </p:nvSpPr>
        <p:spPr>
          <a:xfrm>
            <a:off x="1097280" y="4251960"/>
            <a:ext cx="457200" cy="457200"/>
          </a:xfrm>
          <a:prstGeom prst="ellipse">
            <a:avLst/>
          </a:prstGeom>
          <a:solidFill>
            <a:srgbClr val="FFFEFA"/>
          </a:solidFill>
          <a:ln w="15875">
            <a:solidFill>
              <a:srgbClr val="02BDC7"/>
            </a:solidFill>
            <a:prstDash val="solid"/>
          </a:ln>
        </p:spPr>
      </p:sp>
      <p:sp>
        <p:nvSpPr>
          <p:cNvPr id="17" name="Text 14"/>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Your thesis statement</a:t>
            </a:r>
            <a:endParaRPr lang="en-US" sz="2800" dirty="0"/>
          </a:p>
        </p:txBody>
      </p:sp>
      <p:sp>
        <p:nvSpPr>
          <p:cNvPr id="19" name="Shape 16"/>
          <p:cNvSpPr/>
          <p:nvPr/>
        </p:nvSpPr>
        <p:spPr>
          <a:xfrm>
            <a:off x="1097280" y="5166360"/>
            <a:ext cx="457200" cy="457200"/>
          </a:xfrm>
          <a:prstGeom prst="ellipse">
            <a:avLst/>
          </a:prstGeom>
          <a:solidFill>
            <a:srgbClr val="FFFEFA"/>
          </a:solidFill>
          <a:ln w="15875">
            <a:solidFill>
              <a:srgbClr val="02BDC7"/>
            </a:solidFill>
            <a:prstDash val="solid"/>
          </a:ln>
        </p:spPr>
      </p:sp>
      <p:sp>
        <p:nvSpPr>
          <p:cNvPr id="20" name="Text 17"/>
          <p:cNvSpPr/>
          <p:nvPr/>
        </p:nvSpPr>
        <p:spPr>
          <a:xfrm>
            <a:off x="1097280" y="51663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9377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Analysis of other people’s arguments</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REVIEW · 5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would probably NOT show up in your body paragraphs?</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42316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4231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Supporting quotations about specific points</a:t>
            </a:r>
            <a:endParaRPr lang="en-US" sz="2800" dirty="0"/>
          </a:p>
        </p:txBody>
      </p:sp>
      <p:sp>
        <p:nvSpPr>
          <p:cNvPr id="13" name="Shape 10"/>
          <p:cNvSpPr/>
          <p:nvPr/>
        </p:nvSpPr>
        <p:spPr>
          <a:xfrm>
            <a:off x="1097280" y="333756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Your opinions</a:t>
            </a:r>
            <a:endParaRPr lang="en-US" sz="2800" dirty="0"/>
          </a:p>
        </p:txBody>
      </p:sp>
      <p:sp>
        <p:nvSpPr>
          <p:cNvPr id="16" name="Shape 13"/>
          <p:cNvSpPr/>
          <p:nvPr/>
        </p:nvSpPr>
        <p:spPr>
          <a:xfrm>
            <a:off x="1097280" y="4251960"/>
            <a:ext cx="457200" cy="457200"/>
          </a:xfrm>
          <a:prstGeom prst="ellipse">
            <a:avLst/>
          </a:prstGeom>
          <a:solidFill>
            <a:srgbClr val="FFB600"/>
          </a:solidFill>
          <a:ln w="12700">
            <a:solidFill>
              <a:srgbClr val="FFB600"/>
            </a:solidFill>
            <a:prstDash val="solid"/>
          </a:ln>
        </p:spPr>
      </p:sp>
      <p:sp>
        <p:nvSpPr>
          <p:cNvPr id="17" name="Text 14"/>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b="1" dirty="0">
                <a:solidFill>
                  <a:srgbClr val="3C3828"/>
                </a:solidFill>
                <a:highlight>
                  <a:srgbClr val="FFE14D"/>
                </a:highlight>
                <a:latin typeface="Calibri" pitchFamily="34" charset="0"/>
                <a:ea typeface="Calibri" pitchFamily="34" charset="-122"/>
                <a:cs typeface="Calibri" pitchFamily="34" charset="-120"/>
              </a:rPr>
              <a:t>Your thesis statement</a:t>
            </a:r>
            <a:endParaRPr lang="en-US" sz="2800" dirty="0"/>
          </a:p>
        </p:txBody>
      </p:sp>
      <p:sp>
        <p:nvSpPr>
          <p:cNvPr id="19" name="Shape 16"/>
          <p:cNvSpPr/>
          <p:nvPr/>
        </p:nvSpPr>
        <p:spPr>
          <a:xfrm>
            <a:off x="1097280" y="516636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51663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9377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Analysis of other people’s arguments</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REVIEW · 6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True or False: a good conclusion restates your thesis and main ideas.</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3337560"/>
            <a:ext cx="457200" cy="457200"/>
          </a:xfrm>
          <a:prstGeom prst="ellipse">
            <a:avLst/>
          </a:prstGeom>
          <a:solidFill>
            <a:srgbClr val="FFFEFA"/>
          </a:solidFill>
          <a:ln w="15875">
            <a:solidFill>
              <a:srgbClr val="FC4540"/>
            </a:solidFill>
            <a:prstDash val="solid"/>
          </a:ln>
        </p:spPr>
      </p:sp>
      <p:sp>
        <p:nvSpPr>
          <p:cNvPr id="11" name="Text 8"/>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True</a:t>
            </a:r>
            <a:endParaRPr lang="en-US" sz="2800" dirty="0"/>
          </a:p>
        </p:txBody>
      </p:sp>
      <p:sp>
        <p:nvSpPr>
          <p:cNvPr id="13" name="Shape 10"/>
          <p:cNvSpPr/>
          <p:nvPr/>
        </p:nvSpPr>
        <p:spPr>
          <a:xfrm>
            <a:off x="1097280" y="4251960"/>
            <a:ext cx="457200" cy="457200"/>
          </a:xfrm>
          <a:prstGeom prst="ellipse">
            <a:avLst/>
          </a:prstGeom>
          <a:solidFill>
            <a:srgbClr val="FFFEFA"/>
          </a:solidFill>
          <a:ln w="15875">
            <a:solidFill>
              <a:srgbClr val="FC4540"/>
            </a:solidFill>
            <a:prstDash val="solid"/>
          </a:ln>
        </p:spPr>
      </p:sp>
      <p:sp>
        <p:nvSpPr>
          <p:cNvPr id="14" name="Text 11"/>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False</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REVIEW · 6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True or False: a good conclusion restates your thesis and main ideas.</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333756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True</a:t>
            </a:r>
            <a:endParaRPr lang="en-US" sz="2800" dirty="0"/>
          </a:p>
        </p:txBody>
      </p:sp>
      <p:sp>
        <p:nvSpPr>
          <p:cNvPr id="13" name="Shape 10"/>
          <p:cNvSpPr/>
          <p:nvPr/>
        </p:nvSpPr>
        <p:spPr>
          <a:xfrm>
            <a:off x="1097280" y="4251960"/>
            <a:ext cx="457200" cy="457200"/>
          </a:xfrm>
          <a:prstGeom prst="ellipse">
            <a:avLst/>
          </a:prstGeom>
          <a:solidFill>
            <a:srgbClr val="FF9755"/>
          </a:solidFill>
          <a:ln w="12700">
            <a:solidFill>
              <a:srgbClr val="FF9755"/>
            </a:solidFill>
            <a:prstDash val="solid"/>
          </a:ln>
        </p:spPr>
      </p:sp>
      <p:sp>
        <p:nvSpPr>
          <p:cNvPr id="14" name="Text 11"/>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b="1" dirty="0">
                <a:solidFill>
                  <a:srgbClr val="3C3828"/>
                </a:solidFill>
                <a:highlight>
                  <a:srgbClr val="FFE14D"/>
                </a:highlight>
                <a:latin typeface="Calibri" pitchFamily="34" charset="0"/>
                <a:ea typeface="Calibri" pitchFamily="34" charset="-122"/>
                <a:cs typeface="Calibri" pitchFamily="34" charset="-120"/>
              </a:rPr>
              <a:t>False</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SUGGESTED CONCLUSION STRUCTURE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 conclusion that works</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uzzle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1752448" y="2121408"/>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1981048" y="2258568"/>
            <a:ext cx="384048" cy="384048"/>
          </a:xfrm>
          <a:prstGeom prst="ellipse">
            <a:avLst/>
          </a:prstGeom>
          <a:solidFill>
            <a:srgbClr val="02BDC7"/>
          </a:solidFill>
          <a:ln w="12700">
            <a:solidFill>
              <a:srgbClr val="02BDC7"/>
            </a:solidFill>
            <a:prstDash val="solid"/>
          </a:ln>
        </p:spPr>
      </p:sp>
      <p:sp>
        <p:nvSpPr>
          <p:cNvPr id="10" name="Text 7"/>
          <p:cNvSpPr/>
          <p:nvPr/>
        </p:nvSpPr>
        <p:spPr>
          <a:xfrm>
            <a:off x="1981048" y="2258568"/>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1</a:t>
            </a:r>
            <a:endParaRPr lang="en-US" sz="1600" dirty="0"/>
          </a:p>
        </p:txBody>
      </p:sp>
      <p:sp>
        <p:nvSpPr>
          <p:cNvPr id="11" name="Text 8"/>
          <p:cNvSpPr/>
          <p:nvPr/>
        </p:nvSpPr>
        <p:spPr>
          <a:xfrm>
            <a:off x="2575408" y="2121408"/>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Rhetorical question</a:t>
            </a:r>
            <a:endParaRPr lang="en-US" sz="2200" dirty="0"/>
          </a:p>
        </p:txBody>
      </p:sp>
      <p:sp>
        <p:nvSpPr>
          <p:cNvPr id="12" name="Shape 9"/>
          <p:cNvSpPr/>
          <p:nvPr/>
        </p:nvSpPr>
        <p:spPr>
          <a:xfrm>
            <a:off x="1752448" y="2907792"/>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3" name="Shape 10"/>
          <p:cNvSpPr/>
          <p:nvPr/>
        </p:nvSpPr>
        <p:spPr>
          <a:xfrm>
            <a:off x="1981048" y="3044952"/>
            <a:ext cx="384048" cy="384048"/>
          </a:xfrm>
          <a:prstGeom prst="ellipse">
            <a:avLst/>
          </a:prstGeom>
          <a:solidFill>
            <a:srgbClr val="FFB600"/>
          </a:solidFill>
          <a:ln w="12700">
            <a:solidFill>
              <a:srgbClr val="FFB600"/>
            </a:solidFill>
            <a:prstDash val="solid"/>
          </a:ln>
        </p:spPr>
      </p:sp>
      <p:sp>
        <p:nvSpPr>
          <p:cNvPr id="14" name="Text 11"/>
          <p:cNvSpPr/>
          <p:nvPr/>
        </p:nvSpPr>
        <p:spPr>
          <a:xfrm>
            <a:off x="1981048" y="3044952"/>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2</a:t>
            </a:r>
            <a:endParaRPr lang="en-US" sz="1600" dirty="0"/>
          </a:p>
        </p:txBody>
      </p:sp>
      <p:sp>
        <p:nvSpPr>
          <p:cNvPr id="15" name="Text 12"/>
          <p:cNvSpPr/>
          <p:nvPr/>
        </p:nvSpPr>
        <p:spPr>
          <a:xfrm>
            <a:off x="2575408" y="2907792"/>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Answer it directly (</a:t>
            </a:r>
            <a:r>
              <a:rPr lang="en-US" sz="2200" dirty="0">
                <a:solidFill>
                  <a:srgbClr val="3C3828"/>
                </a:solidFill>
                <a:highlight>
                  <a:srgbClr val="FFE14D"/>
                </a:highlight>
                <a:latin typeface="Calibri" pitchFamily="34" charset="0"/>
                <a:ea typeface="Calibri" pitchFamily="34" charset="-122"/>
                <a:cs typeface="Calibri" pitchFamily="34" charset="-120"/>
              </a:rPr>
              <a:t>“Perhaps…”</a:t>
            </a:r>
            <a:r>
              <a:rPr lang="en-US" sz="2200" dirty="0">
                <a:solidFill>
                  <a:srgbClr val="3C3828"/>
                </a:solidFill>
                <a:latin typeface="Calibri" pitchFamily="34" charset="0"/>
                <a:ea typeface="Calibri" pitchFamily="34" charset="-122"/>
                <a:cs typeface="Calibri" pitchFamily="34" charset="-120"/>
              </a:rPr>
              <a:t>)</a:t>
            </a:r>
            <a:endParaRPr lang="en-US" sz="2200" dirty="0"/>
          </a:p>
        </p:txBody>
      </p:sp>
      <p:sp>
        <p:nvSpPr>
          <p:cNvPr id="16" name="Shape 13"/>
          <p:cNvSpPr/>
          <p:nvPr/>
        </p:nvSpPr>
        <p:spPr>
          <a:xfrm>
            <a:off x="1752448" y="3694176"/>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7" name="Shape 14"/>
          <p:cNvSpPr/>
          <p:nvPr/>
        </p:nvSpPr>
        <p:spPr>
          <a:xfrm>
            <a:off x="1981048" y="3831336"/>
            <a:ext cx="384048" cy="384048"/>
          </a:xfrm>
          <a:prstGeom prst="ellipse">
            <a:avLst/>
          </a:prstGeom>
          <a:solidFill>
            <a:srgbClr val="FC4540"/>
          </a:solidFill>
          <a:ln w="12700">
            <a:solidFill>
              <a:srgbClr val="FC4540"/>
            </a:solidFill>
            <a:prstDash val="solid"/>
          </a:ln>
        </p:spPr>
      </p:sp>
      <p:sp>
        <p:nvSpPr>
          <p:cNvPr id="18" name="Text 15"/>
          <p:cNvSpPr/>
          <p:nvPr/>
        </p:nvSpPr>
        <p:spPr>
          <a:xfrm>
            <a:off x="1981048" y="3831336"/>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3</a:t>
            </a:r>
            <a:endParaRPr lang="en-US" sz="1600" dirty="0"/>
          </a:p>
        </p:txBody>
      </p:sp>
      <p:sp>
        <p:nvSpPr>
          <p:cNvPr id="19" name="Text 16"/>
          <p:cNvSpPr/>
          <p:nvPr/>
        </p:nvSpPr>
        <p:spPr>
          <a:xfrm>
            <a:off x="2575408" y="3694176"/>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2 sentences of opinion or analysis</a:t>
            </a:r>
            <a:endParaRPr lang="en-US" sz="2200" dirty="0"/>
          </a:p>
        </p:txBody>
      </p:sp>
      <p:sp>
        <p:nvSpPr>
          <p:cNvPr id="20" name="Shape 17"/>
          <p:cNvSpPr/>
          <p:nvPr/>
        </p:nvSpPr>
        <p:spPr>
          <a:xfrm>
            <a:off x="1752448" y="4480560"/>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1" name="Shape 18"/>
          <p:cNvSpPr/>
          <p:nvPr/>
        </p:nvSpPr>
        <p:spPr>
          <a:xfrm>
            <a:off x="1981048" y="4617720"/>
            <a:ext cx="384048" cy="384048"/>
          </a:xfrm>
          <a:prstGeom prst="ellipse">
            <a:avLst/>
          </a:prstGeom>
          <a:solidFill>
            <a:srgbClr val="FF9755"/>
          </a:solidFill>
          <a:ln w="12700">
            <a:solidFill>
              <a:srgbClr val="FF9755"/>
            </a:solidFill>
            <a:prstDash val="solid"/>
          </a:ln>
        </p:spPr>
      </p:sp>
      <p:sp>
        <p:nvSpPr>
          <p:cNvPr id="22" name="Text 19"/>
          <p:cNvSpPr/>
          <p:nvPr/>
        </p:nvSpPr>
        <p:spPr>
          <a:xfrm>
            <a:off x="1981048" y="4617720"/>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4</a:t>
            </a:r>
            <a:endParaRPr lang="en-US" sz="1600" dirty="0"/>
          </a:p>
        </p:txBody>
      </p:sp>
      <p:sp>
        <p:nvSpPr>
          <p:cNvPr id="23" name="Text 20"/>
          <p:cNvSpPr/>
          <p:nvPr/>
        </p:nvSpPr>
        <p:spPr>
          <a:xfrm>
            <a:off x="2575408" y="4480560"/>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Supporting quote (if working with a text)</a:t>
            </a:r>
            <a:endParaRPr lang="en-US" sz="2200" dirty="0"/>
          </a:p>
        </p:txBody>
      </p:sp>
      <p:sp>
        <p:nvSpPr>
          <p:cNvPr id="24" name="Shape 21"/>
          <p:cNvSpPr/>
          <p:nvPr/>
        </p:nvSpPr>
        <p:spPr>
          <a:xfrm>
            <a:off x="1752448" y="5266944"/>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5" name="Shape 22"/>
          <p:cNvSpPr/>
          <p:nvPr/>
        </p:nvSpPr>
        <p:spPr>
          <a:xfrm>
            <a:off x="1981048" y="5404104"/>
            <a:ext cx="384048" cy="384048"/>
          </a:xfrm>
          <a:prstGeom prst="ellipse">
            <a:avLst/>
          </a:prstGeom>
          <a:solidFill>
            <a:srgbClr val="FC4067"/>
          </a:solidFill>
          <a:ln w="12700">
            <a:solidFill>
              <a:srgbClr val="FC4067"/>
            </a:solidFill>
            <a:prstDash val="solid"/>
          </a:ln>
        </p:spPr>
      </p:sp>
      <p:sp>
        <p:nvSpPr>
          <p:cNvPr id="26" name="Text 23"/>
          <p:cNvSpPr/>
          <p:nvPr/>
        </p:nvSpPr>
        <p:spPr>
          <a:xfrm>
            <a:off x="1981048" y="5404104"/>
            <a:ext cx="384048" cy="384048"/>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5</a:t>
            </a:r>
            <a:endParaRPr lang="en-US" sz="1600" dirty="0"/>
          </a:p>
        </p:txBody>
      </p:sp>
      <p:sp>
        <p:nvSpPr>
          <p:cNvPr id="27" name="Text 24"/>
          <p:cNvSpPr/>
          <p:nvPr/>
        </p:nvSpPr>
        <p:spPr>
          <a:xfrm>
            <a:off x="2575408" y="5266944"/>
            <a:ext cx="7589520" cy="658368"/>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Final, concluding sentence: the big, final point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STEP 6</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4000" dirty="0">
                <a:solidFill>
                  <a:srgbClr val="3C3828"/>
                </a:solidFill>
                <a:highlight>
                  <a:srgbClr val="FFE14D"/>
                </a:highlight>
                <a:latin typeface="Georgia" pitchFamily="34" charset="0"/>
                <a:ea typeface="Georgia" pitchFamily="34" charset="-122"/>
                <a:cs typeface="Georgia" pitchFamily="34" charset="-120"/>
              </a:rPr>
              <a:t>Titling Your Essay</a:t>
            </a:r>
            <a:endParaRPr lang="en-US" sz="40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Informative, smart, and memorable.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GIVE YOUR ESSAY A TITLE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 colon title</a:t>
            </a:r>
            <a:endParaRPr lang="en-US" sz="36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Text 5"/>
          <p:cNvSpPr/>
          <p:nvPr/>
        </p:nvSpPr>
        <p:spPr>
          <a:xfrm>
            <a:off x="685800" y="1920240"/>
            <a:ext cx="10820095" cy="868680"/>
          </a:xfrm>
          <a:prstGeom prst="rect">
            <a:avLst/>
          </a:prstGeom>
          <a:noFill/>
          <a:ln/>
        </p:spPr>
        <p:txBody>
          <a:bodyPr wrap="square" lIns="0" tIns="0" rIns="0" bIns="0" rtlCol="0" anchor="t"/>
          <a:lstStyle/>
          <a:p>
            <a:pPr indent="0" marL="0">
              <a:buNone/>
            </a:pPr>
            <a:r>
              <a:rPr lang="en-US" sz="2200" dirty="0">
                <a:solidFill>
                  <a:srgbClr val="3C3828"/>
                </a:solidFill>
                <a:latin typeface="Calibri" pitchFamily="34" charset="0"/>
                <a:ea typeface="Calibri" pitchFamily="34" charset="-122"/>
                <a:cs typeface="Calibri" pitchFamily="34" charset="-120"/>
              </a:rPr>
              <a:t>Your title should be </a:t>
            </a:r>
            <a:r>
              <a:rPr lang="en-US" sz="2200" dirty="0">
                <a:solidFill>
                  <a:srgbClr val="3C3828"/>
                </a:solidFill>
                <a:highlight>
                  <a:srgbClr val="FFE14D"/>
                </a:highlight>
                <a:latin typeface="Calibri" pitchFamily="34" charset="0"/>
                <a:ea typeface="Calibri" pitchFamily="34" charset="-122"/>
                <a:cs typeface="Calibri" pitchFamily="34" charset="-120"/>
              </a:rPr>
              <a:t>informative, smart, and memorable.</a:t>
            </a:r>
            <a:r>
              <a:rPr lang="en-US" sz="2200" dirty="0">
                <a:solidFill>
                  <a:srgbClr val="3C3828"/>
                </a:solidFill>
                <a:latin typeface="Calibri" pitchFamily="34" charset="0"/>
                <a:ea typeface="Calibri" pitchFamily="34" charset="-122"/>
                <a:cs typeface="Calibri" pitchFamily="34" charset="-120"/>
              </a:rPr>
              <a:t> Don’t ever, ever, EVER title your essay “Essay” or “English Paper.” Let it indicate your topic in a thoughtful way. Try the colon title:</a:t>
            </a:r>
            <a:endParaRPr lang="en-US" sz="2200" dirty="0"/>
          </a:p>
        </p:txBody>
      </p:sp>
      <p:sp>
        <p:nvSpPr>
          <p:cNvPr id="9" name="Shape 6"/>
          <p:cNvSpPr/>
          <p:nvPr/>
        </p:nvSpPr>
        <p:spPr>
          <a:xfrm>
            <a:off x="685800"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7"/>
          <p:cNvSpPr/>
          <p:nvPr/>
        </p:nvSpPr>
        <p:spPr>
          <a:xfrm>
            <a:off x="813816" y="2971800"/>
            <a:ext cx="3137306" cy="91440"/>
          </a:xfrm>
          <a:prstGeom prst="rect">
            <a:avLst/>
          </a:prstGeom>
          <a:solidFill>
            <a:srgbClr val="FFB600"/>
          </a:solidFill>
          <a:ln w="12700">
            <a:solidFill>
              <a:srgbClr val="FFB600"/>
            </a:solidFill>
            <a:prstDash val="solid"/>
          </a:ln>
        </p:spPr>
      </p:sp>
      <p:sp>
        <p:nvSpPr>
          <p:cNvPr id="11" name="Shape 8"/>
          <p:cNvSpPr/>
          <p:nvPr/>
        </p:nvSpPr>
        <p:spPr>
          <a:xfrm>
            <a:off x="1005840" y="3337560"/>
            <a:ext cx="731520" cy="731520"/>
          </a:xfrm>
          <a:prstGeom prst="ellipse">
            <a:avLst/>
          </a:prstGeom>
          <a:solidFill>
            <a:srgbClr val="FFB600"/>
          </a:solidFill>
          <a:ln w="12700">
            <a:solidFill>
              <a:srgbClr val="FFB600"/>
            </a:solidFill>
            <a:prstDash val="solid"/>
          </a:ln>
        </p:spPr>
      </p:sp>
      <p:sp>
        <p:nvSpPr>
          <p:cNvPr id="12" name="Text 9"/>
          <p:cNvSpPr/>
          <p:nvPr/>
        </p:nvSpPr>
        <p:spPr>
          <a:xfrm>
            <a:off x="1005840"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3" name="Text 10"/>
          <p:cNvSpPr/>
          <p:nvPr/>
        </p:nvSpPr>
        <p:spPr>
          <a:xfrm>
            <a:off x="1005840" y="4251960"/>
            <a:ext cx="2753258" cy="1645920"/>
          </a:xfrm>
          <a:prstGeom prst="rect">
            <a:avLst/>
          </a:prstGeom>
          <a:noFill/>
          <a:ln/>
        </p:spPr>
        <p:txBody>
          <a:bodyPr wrap="square" lIns="0" tIns="0" rIns="0" bIns="0" rtlCol="0" anchor="t"/>
          <a:lstStyle/>
          <a:p>
            <a:pPr indent="0" marL="0">
              <a:buNone/>
            </a:pPr>
            <a:r>
              <a:rPr lang="en-US" sz="2300" dirty="0">
                <a:solidFill>
                  <a:srgbClr val="3C3828"/>
                </a:solidFill>
                <a:latin typeface="Calibri" pitchFamily="34" charset="0"/>
                <a:ea typeface="Calibri" pitchFamily="34" charset="-122"/>
                <a:cs typeface="Calibri" pitchFamily="34" charset="-120"/>
              </a:rPr>
              <a:t>Beyond the Boys’ Club: How Female Heroes Define the Avengers Legacy</a:t>
            </a:r>
            <a:endParaRPr lang="en-US" sz="2300" dirty="0"/>
          </a:p>
        </p:txBody>
      </p:sp>
      <p:sp>
        <p:nvSpPr>
          <p:cNvPr id="14" name="Shape 11"/>
          <p:cNvSpPr/>
          <p:nvPr/>
        </p:nvSpPr>
        <p:spPr>
          <a:xfrm>
            <a:off x="4399178"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5" name="Shape 12"/>
          <p:cNvSpPr/>
          <p:nvPr/>
        </p:nvSpPr>
        <p:spPr>
          <a:xfrm>
            <a:off x="4527194" y="2971800"/>
            <a:ext cx="3137306" cy="91440"/>
          </a:xfrm>
          <a:prstGeom prst="rect">
            <a:avLst/>
          </a:prstGeom>
          <a:solidFill>
            <a:srgbClr val="FC4540"/>
          </a:solidFill>
          <a:ln w="12700">
            <a:solidFill>
              <a:srgbClr val="FC4540"/>
            </a:solidFill>
            <a:prstDash val="solid"/>
          </a:ln>
        </p:spPr>
      </p:sp>
      <p:sp>
        <p:nvSpPr>
          <p:cNvPr id="16" name="Shape 13"/>
          <p:cNvSpPr/>
          <p:nvPr/>
        </p:nvSpPr>
        <p:spPr>
          <a:xfrm>
            <a:off x="4719218" y="3337560"/>
            <a:ext cx="731520" cy="731520"/>
          </a:xfrm>
          <a:prstGeom prst="ellipse">
            <a:avLst/>
          </a:prstGeom>
          <a:solidFill>
            <a:srgbClr val="FC4540"/>
          </a:solidFill>
          <a:ln w="12700">
            <a:solidFill>
              <a:srgbClr val="FC4540"/>
            </a:solidFill>
            <a:prstDash val="solid"/>
          </a:ln>
        </p:spPr>
      </p:sp>
      <p:sp>
        <p:nvSpPr>
          <p:cNvPr id="17" name="Text 14"/>
          <p:cNvSpPr/>
          <p:nvPr/>
        </p:nvSpPr>
        <p:spPr>
          <a:xfrm>
            <a:off x="4719218"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8" name="Text 15"/>
          <p:cNvSpPr/>
          <p:nvPr/>
        </p:nvSpPr>
        <p:spPr>
          <a:xfrm>
            <a:off x="4719218" y="4251960"/>
            <a:ext cx="2753258" cy="1645920"/>
          </a:xfrm>
          <a:prstGeom prst="rect">
            <a:avLst/>
          </a:prstGeom>
          <a:noFill/>
          <a:ln/>
        </p:spPr>
        <p:txBody>
          <a:bodyPr wrap="square" lIns="0" tIns="0" rIns="0" bIns="0" rtlCol="0" anchor="t"/>
          <a:lstStyle/>
          <a:p>
            <a:pPr indent="0" marL="0">
              <a:buNone/>
            </a:pPr>
            <a:r>
              <a:rPr lang="en-US" sz="2300" dirty="0">
                <a:solidFill>
                  <a:srgbClr val="3C3828"/>
                </a:solidFill>
                <a:latin typeface="Calibri" pitchFamily="34" charset="0"/>
                <a:ea typeface="Calibri" pitchFamily="34" charset="-122"/>
                <a:cs typeface="Calibri" pitchFamily="34" charset="-120"/>
              </a:rPr>
              <a:t>Bored in the USA: How Lack of Creativity in Schools Hurts Students and Teachers</a:t>
            </a:r>
            <a:endParaRPr lang="en-US" sz="2300" dirty="0"/>
          </a:p>
        </p:txBody>
      </p:sp>
      <p:sp>
        <p:nvSpPr>
          <p:cNvPr id="19" name="Shape 16"/>
          <p:cNvSpPr/>
          <p:nvPr/>
        </p:nvSpPr>
        <p:spPr>
          <a:xfrm>
            <a:off x="8112557" y="2971800"/>
            <a:ext cx="3393338" cy="3108960"/>
          </a:xfrm>
          <a:prstGeom prst="roundRect">
            <a:avLst>
              <a:gd name="adj" fmla="val 411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0" name="Shape 17"/>
          <p:cNvSpPr/>
          <p:nvPr/>
        </p:nvSpPr>
        <p:spPr>
          <a:xfrm>
            <a:off x="8240573" y="2971800"/>
            <a:ext cx="3137306" cy="91440"/>
          </a:xfrm>
          <a:prstGeom prst="rect">
            <a:avLst/>
          </a:prstGeom>
          <a:solidFill>
            <a:srgbClr val="FF9755"/>
          </a:solidFill>
          <a:ln w="12700">
            <a:solidFill>
              <a:srgbClr val="FF9755"/>
            </a:solidFill>
            <a:prstDash val="solid"/>
          </a:ln>
        </p:spPr>
      </p:sp>
      <p:sp>
        <p:nvSpPr>
          <p:cNvPr id="21" name="Shape 18"/>
          <p:cNvSpPr/>
          <p:nvPr/>
        </p:nvSpPr>
        <p:spPr>
          <a:xfrm>
            <a:off x="8432597" y="3337560"/>
            <a:ext cx="731520" cy="731520"/>
          </a:xfrm>
          <a:prstGeom prst="ellipse">
            <a:avLst/>
          </a:prstGeom>
          <a:solidFill>
            <a:srgbClr val="FF9755"/>
          </a:solidFill>
          <a:ln w="12700">
            <a:solidFill>
              <a:srgbClr val="FF9755"/>
            </a:solidFill>
            <a:prstDash val="solid"/>
          </a:ln>
        </p:spPr>
      </p:sp>
      <p:sp>
        <p:nvSpPr>
          <p:cNvPr id="22" name="Text 19"/>
          <p:cNvSpPr/>
          <p:nvPr/>
        </p:nvSpPr>
        <p:spPr>
          <a:xfrm>
            <a:off x="8432597" y="3337560"/>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3" name="Text 20"/>
          <p:cNvSpPr/>
          <p:nvPr/>
        </p:nvSpPr>
        <p:spPr>
          <a:xfrm>
            <a:off x="8432597" y="4251960"/>
            <a:ext cx="2753258" cy="1645920"/>
          </a:xfrm>
          <a:prstGeom prst="rect">
            <a:avLst/>
          </a:prstGeom>
          <a:noFill/>
          <a:ln/>
        </p:spPr>
        <p:txBody>
          <a:bodyPr wrap="square" lIns="0" tIns="0" rIns="0" bIns="0" rtlCol="0" anchor="t"/>
          <a:lstStyle/>
          <a:p>
            <a:pPr indent="0" marL="0">
              <a:buNone/>
            </a:pPr>
            <a:r>
              <a:rPr lang="en-US" sz="2300" dirty="0">
                <a:solidFill>
                  <a:srgbClr val="3C3828"/>
                </a:solidFill>
                <a:latin typeface="Calibri" pitchFamily="34" charset="0"/>
                <a:ea typeface="Calibri" pitchFamily="34" charset="-122"/>
                <a:cs typeface="Calibri" pitchFamily="34" charset="-120"/>
              </a:rPr>
              <a:t>Unlocked and Loaded: How Easy Gun Access Puts Children at Risk</a:t>
            </a:r>
            <a:endParaRPr lang="en-US" sz="23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GIVE YOUR ESSAY A TITLE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Two halves, one great title</a:t>
            </a:r>
            <a:endParaRPr lang="en-US" sz="3600" dirty="0"/>
          </a:p>
        </p:txBody>
      </p:sp>
      <p:sp>
        <p:nvSpPr>
          <p:cNvPr id="4" name="Shape 2"/>
          <p:cNvSpPr/>
          <p:nvPr/>
        </p:nvSpPr>
        <p:spPr>
          <a:xfrm>
            <a:off x="685800" y="1965960"/>
            <a:ext cx="10820095" cy="1737360"/>
          </a:xfrm>
          <a:prstGeom prst="roundRect">
            <a:avLst>
              <a:gd name="adj" fmla="val 736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10564063" cy="91440"/>
          </a:xfrm>
          <a:prstGeom prst="rect">
            <a:avLst/>
          </a:prstGeom>
          <a:solidFill>
            <a:srgbClr val="FFB600"/>
          </a:solidFill>
          <a:ln w="12700">
            <a:solidFill>
              <a:srgbClr val="FFB600"/>
            </a:solidFill>
            <a:prstDash val="solid"/>
          </a:ln>
        </p:spPr>
      </p:sp>
      <p:sp>
        <p:nvSpPr>
          <p:cNvPr id="6" name="Text 4"/>
          <p:cNvSpPr/>
          <p:nvPr/>
        </p:nvSpPr>
        <p:spPr>
          <a:xfrm>
            <a:off x="1005840" y="2130552"/>
            <a:ext cx="1828800" cy="274320"/>
          </a:xfrm>
          <a:prstGeom prst="rect">
            <a:avLst/>
          </a:prstGeom>
          <a:noFill/>
          <a:ln/>
        </p:spPr>
        <p:txBody>
          <a:bodyPr wrap="square" lIns="0" tIns="0" rIns="0" bIns="0" rtlCol="0" anchor="ctr"/>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THESIS</a:t>
            </a:r>
            <a:endParaRPr lang="en-US" sz="1200" dirty="0"/>
          </a:p>
        </p:txBody>
      </p:sp>
      <p:sp>
        <p:nvSpPr>
          <p:cNvPr id="7" name="Text 5"/>
          <p:cNvSpPr/>
          <p:nvPr/>
        </p:nvSpPr>
        <p:spPr>
          <a:xfrm>
            <a:off x="1005840" y="2423160"/>
            <a:ext cx="10180015" cy="1143000"/>
          </a:xfrm>
          <a:prstGeom prst="rect">
            <a:avLst/>
          </a:prstGeom>
          <a:noFill/>
          <a:ln/>
        </p:spPr>
        <p:txBody>
          <a:bodyPr wrap="square" lIns="0" tIns="0" rIns="0" bIns="0" rtlCol="0" anchor="t"/>
          <a:lstStyle/>
          <a:p>
            <a:pPr indent="0" marL="0">
              <a:lnSpc>
                <a:spcPct val="110000"/>
              </a:lnSpc>
              <a:buNone/>
            </a:pPr>
            <a:r>
              <a:rPr lang="en-US" sz="2200" b="1" dirty="0">
                <a:solidFill>
                  <a:srgbClr val="02BDC7"/>
                </a:solidFill>
                <a:latin typeface="Georgia" pitchFamily="34" charset="0"/>
                <a:ea typeface="Georgia" pitchFamily="34" charset="-122"/>
                <a:cs typeface="Georgia" pitchFamily="34" charset="-120"/>
              </a:rPr>
              <a:t>Beyond the Boys’ Club</a:t>
            </a:r>
            <a:r>
              <a:rPr lang="en-US" sz="2200" dirty="0">
                <a:solidFill>
                  <a:srgbClr val="3C3828"/>
                </a:solidFill>
                <a:latin typeface="Georgia" pitchFamily="34" charset="0"/>
                <a:ea typeface="Georgia" pitchFamily="34" charset="-122"/>
                <a:cs typeface="Georgia" pitchFamily="34" charset="-120"/>
              </a:rPr>
              <a:t>: </a:t>
            </a:r>
            <a:r>
              <a:rPr lang="en-US" sz="2200" b="1" dirty="0">
                <a:solidFill>
                  <a:srgbClr val="FFB600"/>
                </a:solidFill>
                <a:latin typeface="Georgia" pitchFamily="34" charset="0"/>
                <a:ea typeface="Georgia" pitchFamily="34" charset="-122"/>
                <a:cs typeface="Georgia" pitchFamily="34" charset="-120"/>
              </a:rPr>
              <a:t>How Female Heroes Define the Avengers Legacy</a:t>
            </a:r>
            <a:endParaRPr lang="en-US" sz="2200" dirty="0"/>
          </a:p>
        </p:txBody>
      </p:sp>
      <p:sp>
        <p:nvSpPr>
          <p:cNvPr id="8" name="Shape 6"/>
          <p:cNvSpPr/>
          <p:nvPr/>
        </p:nvSpPr>
        <p:spPr>
          <a:xfrm>
            <a:off x="868680" y="4201668"/>
            <a:ext cx="420624" cy="420624"/>
          </a:xfrm>
          <a:prstGeom prst="ellipse">
            <a:avLst/>
          </a:prstGeom>
          <a:solidFill>
            <a:srgbClr val="02BDC7"/>
          </a:solidFill>
          <a:ln w="12700">
            <a:solidFill>
              <a:srgbClr val="02BDC7"/>
            </a:solidFill>
            <a:prstDash val="solid"/>
          </a:ln>
        </p:spPr>
      </p:sp>
      <p:sp>
        <p:nvSpPr>
          <p:cNvPr id="9" name="Text 7"/>
          <p:cNvSpPr/>
          <p:nvPr/>
        </p:nvSpPr>
        <p:spPr>
          <a:xfrm>
            <a:off x="868680" y="4201668"/>
            <a:ext cx="420624" cy="420624"/>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508760" y="4023360"/>
            <a:ext cx="9814255" cy="777240"/>
          </a:xfrm>
          <a:prstGeom prst="rect">
            <a:avLst/>
          </a:prstGeom>
          <a:noFill/>
          <a:ln/>
        </p:spPr>
        <p:txBody>
          <a:bodyPr wrap="square" lIns="0" tIns="0" rIns="0" bIns="0" rtlCol="0" anchor="ctr"/>
          <a:lstStyle/>
          <a:p>
            <a:pPr indent="0" marL="0">
              <a:buNone/>
            </a:pPr>
            <a:r>
              <a:rPr lang="en-US" sz="1300" b="1" dirty="0">
                <a:solidFill>
                  <a:srgbClr val="02BDC7"/>
                </a:solidFill>
                <a:latin typeface="Consolas" pitchFamily="34" charset="0"/>
                <a:ea typeface="Consolas" pitchFamily="34" charset="-122"/>
                <a:cs typeface="Consolas" pitchFamily="34" charset="-120"/>
              </a:rPr>
              <a:t>Left of the colon · creative, fun: </a:t>
            </a:r>
            <a:r>
              <a:rPr lang="en-US" sz="2200" dirty="0">
                <a:solidFill>
                  <a:srgbClr val="3C3828"/>
                </a:solidFill>
                <a:latin typeface="Calibri" pitchFamily="34" charset="0"/>
                <a:ea typeface="Calibri" pitchFamily="34" charset="-122"/>
                <a:cs typeface="Calibri" pitchFamily="34" charset="-120"/>
              </a:rPr>
              <a:t>Beyond the Boys’ Club</a:t>
            </a:r>
            <a:endParaRPr lang="en-US" sz="1300" dirty="0"/>
          </a:p>
        </p:txBody>
      </p:sp>
      <p:sp>
        <p:nvSpPr>
          <p:cNvPr id="11" name="Shape 9"/>
          <p:cNvSpPr/>
          <p:nvPr/>
        </p:nvSpPr>
        <p:spPr>
          <a:xfrm>
            <a:off x="868680" y="4978908"/>
            <a:ext cx="420624" cy="420624"/>
          </a:xfrm>
          <a:prstGeom prst="ellipse">
            <a:avLst/>
          </a:prstGeom>
          <a:solidFill>
            <a:srgbClr val="FFB600"/>
          </a:solidFill>
          <a:ln w="12700">
            <a:solidFill>
              <a:srgbClr val="FFB600"/>
            </a:solidFill>
            <a:prstDash val="solid"/>
          </a:ln>
        </p:spPr>
      </p:sp>
      <p:sp>
        <p:nvSpPr>
          <p:cNvPr id="12" name="Text 10"/>
          <p:cNvSpPr/>
          <p:nvPr/>
        </p:nvSpPr>
        <p:spPr>
          <a:xfrm>
            <a:off x="868680" y="4978908"/>
            <a:ext cx="420624" cy="420624"/>
          </a:xfrm>
          <a:prstGeom prst="rect">
            <a:avLst/>
          </a:prstGeom>
          <a:noFill/>
          <a:ln/>
        </p:spPr>
        <p:txBody>
          <a:bodyPr wrap="square" lIns="0" tIns="0" rIns="0" bIns="0" rtlCol="0" anchor="ctr"/>
          <a:lstStyle/>
          <a:p>
            <a:pPr algn="ctr" indent="0" marL="0">
              <a:buNone/>
            </a:pPr>
            <a:r>
              <a:rPr lang="en-US" sz="1600" b="1" dirty="0">
                <a:solidFill>
                  <a:srgbClr val="FFFEFA"/>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508760" y="4800600"/>
            <a:ext cx="9814255" cy="777240"/>
          </a:xfrm>
          <a:prstGeom prst="rect">
            <a:avLst/>
          </a:prstGeom>
          <a:noFill/>
          <a:ln/>
        </p:spPr>
        <p:txBody>
          <a:bodyPr wrap="square" lIns="0" tIns="0" rIns="0" bIns="0" rtlCol="0" anchor="ctr"/>
          <a:lstStyle/>
          <a:p>
            <a:pPr indent="0" marL="0">
              <a:buNone/>
            </a:pPr>
            <a:r>
              <a:rPr lang="en-US" sz="1300" b="1" dirty="0">
                <a:solidFill>
                  <a:srgbClr val="FFB600"/>
                </a:solidFill>
                <a:latin typeface="Consolas" pitchFamily="34" charset="0"/>
                <a:ea typeface="Consolas" pitchFamily="34" charset="-122"/>
                <a:cs typeface="Consolas" pitchFamily="34" charset="-120"/>
              </a:rPr>
              <a:t>Right of the colon · clear, direct: </a:t>
            </a:r>
            <a:r>
              <a:rPr lang="en-US" sz="2200" dirty="0">
                <a:solidFill>
                  <a:srgbClr val="3C3828"/>
                </a:solidFill>
                <a:latin typeface="Calibri" pitchFamily="34" charset="0"/>
                <a:ea typeface="Calibri" pitchFamily="34" charset="-122"/>
                <a:cs typeface="Calibri" pitchFamily="34" charset="-120"/>
              </a:rPr>
              <a:t>How Female Heroes Define the Avengers Legacy</a:t>
            </a:r>
            <a:endParaRPr lang="en-US" sz="13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FINISH</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Putting it All Together</a:t>
            </a:r>
            <a:endParaRPr lang="en-US" sz="36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Clean up, title, submit, celebrate.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FINISHING TOUCHES IN YAWP!</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Finishing touches</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6596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65960"/>
            <a:ext cx="4993996" cy="91440"/>
          </a:xfrm>
          <a:prstGeom prst="rect">
            <a:avLst/>
          </a:prstGeom>
          <a:solidFill>
            <a:srgbClr val="02BDC7"/>
          </a:solidFill>
          <a:ln w="12700">
            <a:solidFill>
              <a:srgbClr val="02BDC7"/>
            </a:solidFill>
            <a:prstDash val="solid"/>
          </a:ln>
        </p:spPr>
      </p:sp>
      <p:sp>
        <p:nvSpPr>
          <p:cNvPr id="10" name="Shape 7"/>
          <p:cNvSpPr/>
          <p:nvPr/>
        </p:nvSpPr>
        <p:spPr>
          <a:xfrm>
            <a:off x="960120" y="2286000"/>
            <a:ext cx="548640" cy="548640"/>
          </a:xfrm>
          <a:prstGeom prst="ellipse">
            <a:avLst/>
          </a:prstGeom>
          <a:solidFill>
            <a:srgbClr val="02BDC7"/>
          </a:solidFill>
          <a:ln w="12700">
            <a:solidFill>
              <a:srgbClr val="02BDC7"/>
            </a:solidFill>
            <a:prstDash val="solid"/>
          </a:ln>
        </p:spPr>
      </p:sp>
      <p:sp>
        <p:nvSpPr>
          <p:cNvPr id="11" name="Text 8"/>
          <p:cNvSpPr/>
          <p:nvPr/>
        </p:nvSpPr>
        <p:spPr>
          <a:xfrm>
            <a:off x="960120" y="228600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1</a:t>
            </a:r>
            <a:endParaRPr lang="en-US" sz="2200" dirty="0"/>
          </a:p>
        </p:txBody>
      </p:sp>
      <p:sp>
        <p:nvSpPr>
          <p:cNvPr id="12" name="Text 9"/>
          <p:cNvSpPr/>
          <p:nvPr/>
        </p:nvSpPr>
        <p:spPr>
          <a:xfrm>
            <a:off x="1737360" y="2194560"/>
            <a:ext cx="3924148" cy="1485900"/>
          </a:xfrm>
          <a:prstGeom prst="rect">
            <a:avLst/>
          </a:prstGeom>
          <a:noFill/>
          <a:ln/>
        </p:spPr>
        <p:txBody>
          <a:bodyPr wrap="square" lIns="0" tIns="0" rIns="0" bIns="0" rtlCol="0" anchor="t"/>
          <a:lstStyle/>
          <a:p>
            <a:pPr indent="0" marL="0">
              <a:buNone/>
            </a:pPr>
            <a:r>
              <a:rPr lang="en-US" sz="1800" dirty="0">
                <a:solidFill>
                  <a:srgbClr val="3C3828"/>
                </a:solidFill>
                <a:highlight>
                  <a:srgbClr val="FFE14D"/>
                </a:highlight>
                <a:latin typeface="Calibri" pitchFamily="34" charset="0"/>
                <a:ea typeface="Calibri" pitchFamily="34" charset="-122"/>
                <a:cs typeface="Calibri" pitchFamily="34" charset="-120"/>
              </a:rPr>
              <a:t>Clean up.</a:t>
            </a:r>
            <a:r>
              <a:rPr lang="en-US" sz="1800" dirty="0">
                <a:solidFill>
                  <a:srgbClr val="3C3828"/>
                </a:solidFill>
                <a:latin typeface="Calibri" pitchFamily="34" charset="0"/>
                <a:ea typeface="Calibri" pitchFamily="34" charset="-122"/>
                <a:cs typeface="Calibri" pitchFamily="34" charset="-120"/>
              </a:rPr>
              <a:t> Delete your pre-writing, your observation and analysis notes, and headings like “Introduction.” Only the essay stays.</a:t>
            </a:r>
            <a:endParaRPr lang="en-US" sz="1800" dirty="0"/>
          </a:p>
        </p:txBody>
      </p:sp>
      <p:sp>
        <p:nvSpPr>
          <p:cNvPr id="13" name="Shape 10"/>
          <p:cNvSpPr/>
          <p:nvPr/>
        </p:nvSpPr>
        <p:spPr>
          <a:xfrm>
            <a:off x="6255868" y="196596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6383884" y="1965960"/>
            <a:ext cx="4993996" cy="91440"/>
          </a:xfrm>
          <a:prstGeom prst="rect">
            <a:avLst/>
          </a:prstGeom>
          <a:solidFill>
            <a:srgbClr val="FFB600"/>
          </a:solidFill>
          <a:ln w="12700">
            <a:solidFill>
              <a:srgbClr val="FFB600"/>
            </a:solidFill>
            <a:prstDash val="solid"/>
          </a:ln>
        </p:spPr>
      </p:sp>
      <p:sp>
        <p:nvSpPr>
          <p:cNvPr id="15" name="Shape 12"/>
          <p:cNvSpPr/>
          <p:nvPr/>
        </p:nvSpPr>
        <p:spPr>
          <a:xfrm>
            <a:off x="6530188" y="2286000"/>
            <a:ext cx="548640" cy="548640"/>
          </a:xfrm>
          <a:prstGeom prst="ellipse">
            <a:avLst/>
          </a:prstGeom>
          <a:solidFill>
            <a:srgbClr val="FFB600"/>
          </a:solidFill>
          <a:ln w="12700">
            <a:solidFill>
              <a:srgbClr val="FFB600"/>
            </a:solidFill>
            <a:prstDash val="solid"/>
          </a:ln>
        </p:spPr>
      </p:sp>
      <p:sp>
        <p:nvSpPr>
          <p:cNvPr id="16" name="Text 13"/>
          <p:cNvSpPr/>
          <p:nvPr/>
        </p:nvSpPr>
        <p:spPr>
          <a:xfrm>
            <a:off x="6530188" y="228600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2</a:t>
            </a:r>
            <a:endParaRPr lang="en-US" sz="2200" dirty="0"/>
          </a:p>
        </p:txBody>
      </p:sp>
      <p:sp>
        <p:nvSpPr>
          <p:cNvPr id="17" name="Text 14"/>
          <p:cNvSpPr/>
          <p:nvPr/>
        </p:nvSpPr>
        <p:spPr>
          <a:xfrm>
            <a:off x="7307428" y="2194560"/>
            <a:ext cx="3924148" cy="1485900"/>
          </a:xfrm>
          <a:prstGeom prst="rect">
            <a:avLst/>
          </a:prstGeom>
          <a:noFill/>
          <a:ln/>
        </p:spPr>
        <p:txBody>
          <a:bodyPr wrap="square" lIns="0" tIns="0" rIns="0" bIns="0" rtlCol="0" anchor="t"/>
          <a:lstStyle/>
          <a:p>
            <a:pPr indent="0" marL="0">
              <a:buNone/>
            </a:pPr>
            <a:r>
              <a:rPr lang="en-US" sz="1800" dirty="0">
                <a:solidFill>
                  <a:srgbClr val="3C3828"/>
                </a:solidFill>
                <a:highlight>
                  <a:srgbClr val="FFE14D"/>
                </a:highlight>
                <a:latin typeface="Calibri" pitchFamily="34" charset="0"/>
                <a:ea typeface="Calibri" pitchFamily="34" charset="-122"/>
                <a:cs typeface="Calibri" pitchFamily="34" charset="-120"/>
              </a:rPr>
              <a:t>Title it.</a:t>
            </a:r>
            <a:r>
              <a:rPr lang="en-US" sz="1800" dirty="0">
                <a:solidFill>
                  <a:srgbClr val="3C3828"/>
                </a:solidFill>
                <a:latin typeface="Calibri" pitchFamily="34" charset="0"/>
                <a:ea typeface="Calibri" pitchFamily="34" charset="-122"/>
                <a:cs typeface="Calibri" pitchFamily="34" charset="-120"/>
              </a:rPr>
              <a:t> Type your title on the first line, then use the toolbar to </a:t>
            </a:r>
            <a:r>
              <a:rPr lang="en-US" sz="1800" dirty="0">
                <a:solidFill>
                  <a:srgbClr val="3C3828"/>
                </a:solidFill>
                <a:highlight>
                  <a:srgbClr val="FFE14D"/>
                </a:highlight>
                <a:latin typeface="Calibri" pitchFamily="34" charset="0"/>
                <a:ea typeface="Calibri" pitchFamily="34" charset="-122"/>
                <a:cs typeface="Calibri" pitchFamily="34" charset="-120"/>
              </a:rPr>
              <a:t>center</a:t>
            </a:r>
            <a:r>
              <a:rPr lang="en-US" sz="1800" dirty="0">
                <a:solidFill>
                  <a:srgbClr val="3C3828"/>
                </a:solidFill>
                <a:latin typeface="Calibri" pitchFamily="34" charset="0"/>
                <a:ea typeface="Calibri" pitchFamily="34" charset="-122"/>
                <a:cs typeface="Calibri" pitchFamily="34" charset="-120"/>
              </a:rPr>
              <a:t> and </a:t>
            </a:r>
            <a:r>
              <a:rPr lang="en-US" sz="1800" dirty="0">
                <a:solidFill>
                  <a:srgbClr val="3C3828"/>
                </a:solidFill>
                <a:highlight>
                  <a:srgbClr val="FFE14D"/>
                </a:highlight>
                <a:latin typeface="Calibri" pitchFamily="34" charset="0"/>
                <a:ea typeface="Calibri" pitchFamily="34" charset="-122"/>
                <a:cs typeface="Calibri" pitchFamily="34" charset="-120"/>
              </a:rPr>
              <a:t>italicize</a:t>
            </a:r>
            <a:r>
              <a:rPr lang="en-US" sz="1800" dirty="0">
                <a:solidFill>
                  <a:srgbClr val="3C3828"/>
                </a:solidFill>
                <a:latin typeface="Calibri" pitchFamily="34" charset="0"/>
                <a:ea typeface="Calibri" pitchFamily="34" charset="-122"/>
                <a:cs typeface="Calibri" pitchFamily="34" charset="-120"/>
              </a:rPr>
              <a:t> it.</a:t>
            </a:r>
            <a:endParaRPr lang="en-US" sz="1800" dirty="0"/>
          </a:p>
        </p:txBody>
      </p:sp>
      <p:sp>
        <p:nvSpPr>
          <p:cNvPr id="18" name="Shape 15"/>
          <p:cNvSpPr/>
          <p:nvPr/>
        </p:nvSpPr>
        <p:spPr>
          <a:xfrm>
            <a:off x="685800" y="418338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13816" y="4183380"/>
            <a:ext cx="4993996" cy="91440"/>
          </a:xfrm>
          <a:prstGeom prst="rect">
            <a:avLst/>
          </a:prstGeom>
          <a:solidFill>
            <a:srgbClr val="FC4540"/>
          </a:solidFill>
          <a:ln w="12700">
            <a:solidFill>
              <a:srgbClr val="FC4540"/>
            </a:solidFill>
            <a:prstDash val="solid"/>
          </a:ln>
        </p:spPr>
      </p:sp>
      <p:sp>
        <p:nvSpPr>
          <p:cNvPr id="20" name="Shape 17"/>
          <p:cNvSpPr/>
          <p:nvPr/>
        </p:nvSpPr>
        <p:spPr>
          <a:xfrm>
            <a:off x="960120" y="4503420"/>
            <a:ext cx="548640" cy="548640"/>
          </a:xfrm>
          <a:prstGeom prst="ellipse">
            <a:avLst/>
          </a:prstGeom>
          <a:solidFill>
            <a:srgbClr val="FC4540"/>
          </a:solidFill>
          <a:ln w="12700">
            <a:solidFill>
              <a:srgbClr val="FC4540"/>
            </a:solidFill>
            <a:prstDash val="solid"/>
          </a:ln>
        </p:spPr>
      </p:sp>
      <p:sp>
        <p:nvSpPr>
          <p:cNvPr id="21" name="Text 18"/>
          <p:cNvSpPr/>
          <p:nvPr/>
        </p:nvSpPr>
        <p:spPr>
          <a:xfrm>
            <a:off x="960120" y="450342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3</a:t>
            </a:r>
            <a:endParaRPr lang="en-US" sz="2200" dirty="0"/>
          </a:p>
        </p:txBody>
      </p:sp>
      <p:sp>
        <p:nvSpPr>
          <p:cNvPr id="22" name="Text 19"/>
          <p:cNvSpPr/>
          <p:nvPr/>
        </p:nvSpPr>
        <p:spPr>
          <a:xfrm>
            <a:off x="1737360" y="4411980"/>
            <a:ext cx="3924148" cy="1485900"/>
          </a:xfrm>
          <a:prstGeom prst="rect">
            <a:avLst/>
          </a:prstGeom>
          <a:noFill/>
          <a:ln/>
        </p:spPr>
        <p:txBody>
          <a:bodyPr wrap="square" lIns="0" tIns="0" rIns="0" bIns="0" rtlCol="0" anchor="t"/>
          <a:lstStyle/>
          <a:p>
            <a:pPr indent="0" marL="0">
              <a:buNone/>
            </a:pPr>
            <a:r>
              <a:rPr lang="en-US" sz="1800" dirty="0">
                <a:solidFill>
                  <a:srgbClr val="3C3828"/>
                </a:solidFill>
                <a:highlight>
                  <a:srgbClr val="FFE14D"/>
                </a:highlight>
                <a:latin typeface="Calibri" pitchFamily="34" charset="0"/>
                <a:ea typeface="Calibri" pitchFamily="34" charset="-122"/>
                <a:cs typeface="Calibri" pitchFamily="34" charset="-120"/>
              </a:rPr>
              <a:t>Keep it simple.</a:t>
            </a:r>
            <a:r>
              <a:rPr lang="en-US" sz="1800" dirty="0">
                <a:solidFill>
                  <a:srgbClr val="3C3828"/>
                </a:solidFill>
                <a:latin typeface="Calibri" pitchFamily="34" charset="0"/>
                <a:ea typeface="Calibri" pitchFamily="34" charset="-122"/>
                <a:cs typeface="Calibri" pitchFamily="34" charset="-120"/>
              </a:rPr>
              <a:t> YAWP! sets the font for you. Paragraphs stay left-aligned (only the title is centered), with an empty line between them.</a:t>
            </a:r>
            <a:endParaRPr lang="en-US" sz="1800" dirty="0"/>
          </a:p>
        </p:txBody>
      </p:sp>
      <p:sp>
        <p:nvSpPr>
          <p:cNvPr id="23" name="Shape 20"/>
          <p:cNvSpPr/>
          <p:nvPr/>
        </p:nvSpPr>
        <p:spPr>
          <a:xfrm>
            <a:off x="6255868" y="4183380"/>
            <a:ext cx="5250028" cy="1897380"/>
          </a:xfrm>
          <a:prstGeom prst="roundRect">
            <a:avLst>
              <a:gd name="adj" fmla="val 674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4" name="Shape 21"/>
          <p:cNvSpPr/>
          <p:nvPr/>
        </p:nvSpPr>
        <p:spPr>
          <a:xfrm>
            <a:off x="6383884" y="4183380"/>
            <a:ext cx="4993996" cy="91440"/>
          </a:xfrm>
          <a:prstGeom prst="rect">
            <a:avLst/>
          </a:prstGeom>
          <a:solidFill>
            <a:srgbClr val="FF9755"/>
          </a:solidFill>
          <a:ln w="12700">
            <a:solidFill>
              <a:srgbClr val="FF9755"/>
            </a:solidFill>
            <a:prstDash val="solid"/>
          </a:ln>
        </p:spPr>
      </p:sp>
      <p:sp>
        <p:nvSpPr>
          <p:cNvPr id="25" name="Shape 22"/>
          <p:cNvSpPr/>
          <p:nvPr/>
        </p:nvSpPr>
        <p:spPr>
          <a:xfrm>
            <a:off x="6530188" y="4503420"/>
            <a:ext cx="548640" cy="548640"/>
          </a:xfrm>
          <a:prstGeom prst="ellipse">
            <a:avLst/>
          </a:prstGeom>
          <a:solidFill>
            <a:srgbClr val="FF9755"/>
          </a:solidFill>
          <a:ln w="12700">
            <a:solidFill>
              <a:srgbClr val="FF9755"/>
            </a:solidFill>
            <a:prstDash val="solid"/>
          </a:ln>
        </p:spPr>
      </p:sp>
      <p:sp>
        <p:nvSpPr>
          <p:cNvPr id="26" name="Text 23"/>
          <p:cNvSpPr/>
          <p:nvPr/>
        </p:nvSpPr>
        <p:spPr>
          <a:xfrm>
            <a:off x="6530188" y="4503420"/>
            <a:ext cx="548640" cy="548640"/>
          </a:xfrm>
          <a:prstGeom prst="rect">
            <a:avLst/>
          </a:prstGeom>
          <a:noFill/>
          <a:ln/>
        </p:spPr>
        <p:txBody>
          <a:bodyPr wrap="square" lIns="0" tIns="0" rIns="0" bIns="0" rtlCol="0" anchor="ctr"/>
          <a:lstStyle/>
          <a:p>
            <a:pPr algn="ctr" indent="0" marL="0">
              <a:buNone/>
            </a:pPr>
            <a:r>
              <a:rPr lang="en-US" sz="2200" b="1" dirty="0">
                <a:solidFill>
                  <a:srgbClr val="FFFEFA"/>
                </a:solidFill>
                <a:latin typeface="Georgia" pitchFamily="34" charset="0"/>
                <a:ea typeface="Georgia" pitchFamily="34" charset="-122"/>
                <a:cs typeface="Georgia" pitchFamily="34" charset="-120"/>
              </a:rPr>
              <a:t>4</a:t>
            </a:r>
            <a:endParaRPr lang="en-US" sz="2200" dirty="0"/>
          </a:p>
        </p:txBody>
      </p:sp>
      <p:sp>
        <p:nvSpPr>
          <p:cNvPr id="27" name="Text 24"/>
          <p:cNvSpPr/>
          <p:nvPr/>
        </p:nvSpPr>
        <p:spPr>
          <a:xfrm>
            <a:off x="7307428" y="4411980"/>
            <a:ext cx="3924148" cy="1485900"/>
          </a:xfrm>
          <a:prstGeom prst="rect">
            <a:avLst/>
          </a:prstGeom>
          <a:noFill/>
          <a:ln/>
        </p:spPr>
        <p:txBody>
          <a:bodyPr wrap="square" lIns="0" tIns="0" rIns="0" bIns="0" rtlCol="0" anchor="t"/>
          <a:lstStyle/>
          <a:p>
            <a:pPr indent="0" marL="0">
              <a:buNone/>
            </a:pPr>
            <a:r>
              <a:rPr lang="en-US" sz="1800" dirty="0">
                <a:solidFill>
                  <a:srgbClr val="3C3828"/>
                </a:solidFill>
                <a:highlight>
                  <a:srgbClr val="FFE14D"/>
                </a:highlight>
                <a:latin typeface="Calibri" pitchFamily="34" charset="0"/>
                <a:ea typeface="Calibri" pitchFamily="34" charset="-122"/>
                <a:cs typeface="Calibri" pitchFamily="34" charset="-120"/>
              </a:rPr>
              <a:t>Read it, then Submit.</a:t>
            </a:r>
            <a:r>
              <a:rPr lang="en-US" sz="1800" dirty="0">
                <a:solidFill>
                  <a:srgbClr val="3C3828"/>
                </a:solidFill>
                <a:latin typeface="Calibri" pitchFamily="34" charset="0"/>
                <a:ea typeface="Calibri" pitchFamily="34" charset="-122"/>
                <a:cs typeface="Calibri" pitchFamily="34" charset="-120"/>
              </a:rPr>
              <a:t> Read it once from the top, ask the Tutor for feedback if you want, then click </a:t>
            </a:r>
            <a:r>
              <a:rPr lang="en-US" sz="1800" dirty="0">
                <a:solidFill>
                  <a:srgbClr val="3C3828"/>
                </a:solidFill>
                <a:highlight>
                  <a:srgbClr val="FFE14D"/>
                </a:highlight>
                <a:latin typeface="Calibri" pitchFamily="34" charset="0"/>
                <a:ea typeface="Calibri" pitchFamily="34" charset="-122"/>
                <a:cs typeface="Calibri" pitchFamily="34" charset="-120"/>
              </a:rPr>
              <a:t>Submit.</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DONE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finished looks like</a:t>
            </a:r>
            <a:endParaRPr lang="en-US" sz="3600" dirty="0"/>
          </a:p>
        </p:txBody>
      </p:sp>
      <p:sp>
        <p:nvSpPr>
          <p:cNvPr id="4" name="Shape 2"/>
          <p:cNvSpPr/>
          <p:nvPr/>
        </p:nvSpPr>
        <p:spPr>
          <a:xfrm>
            <a:off x="685800" y="1828800"/>
            <a:ext cx="6949440" cy="4150360"/>
          </a:xfrm>
          <a:prstGeom prst="roundRect">
            <a:avLst>
              <a:gd name="adj" fmla="val 308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YAWP! editor with a finished, titled essay.">    </p:cNvPr>
          <p:cNvPicPr>
            <a:picLocks noChangeAspect="1"/>
          </p:cNvPicPr>
          <p:nvPr/>
        </p:nvPicPr>
        <p:blipFill>
          <a:blip r:embed="rId1"/>
          <a:stretch>
            <a:fillRect/>
          </a:stretch>
        </p:blipFill>
        <p:spPr>
          <a:xfrm>
            <a:off x="813816" y="1956816"/>
            <a:ext cx="6693408" cy="3894328"/>
          </a:xfrm>
          <a:prstGeom prst="rect">
            <a:avLst/>
          </a:prstGeom>
        </p:spPr>
      </p:pic>
      <p:sp>
        <p:nvSpPr>
          <p:cNvPr id="6" name="Shape 3"/>
          <p:cNvSpPr/>
          <p:nvPr/>
        </p:nvSpPr>
        <p:spPr>
          <a:xfrm>
            <a:off x="8183880" y="2505456"/>
            <a:ext cx="292608" cy="292608"/>
          </a:xfrm>
          <a:prstGeom prst="ellipse">
            <a:avLst/>
          </a:prstGeom>
          <a:solidFill>
            <a:srgbClr val="FFB600"/>
          </a:solidFill>
          <a:ln w="12700">
            <a:solidFill>
              <a:srgbClr val="FFB600"/>
            </a:solidFill>
            <a:prstDash val="solid"/>
          </a:ln>
        </p:spPr>
      </p:sp>
      <p:sp>
        <p:nvSpPr>
          <p:cNvPr id="7" name="Text 4"/>
          <p:cNvSpPr/>
          <p:nvPr/>
        </p:nvSpPr>
        <p:spPr>
          <a:xfrm>
            <a:off x="8659368" y="21945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Title on the first line, </a:t>
            </a:r>
            <a:r>
              <a:rPr lang="en-US" sz="2000" dirty="0">
                <a:solidFill>
                  <a:srgbClr val="3C3828"/>
                </a:solidFill>
                <a:highlight>
                  <a:srgbClr val="FFE14D"/>
                </a:highlight>
                <a:latin typeface="Calibri" pitchFamily="34" charset="0"/>
                <a:ea typeface="Calibri" pitchFamily="34" charset="-122"/>
                <a:cs typeface="Calibri" pitchFamily="34" charset="-120"/>
              </a:rPr>
              <a:t>centered and in italics</a:t>
            </a:r>
            <a:endParaRPr lang="en-US" sz="2000" dirty="0"/>
          </a:p>
        </p:txBody>
      </p:sp>
      <p:sp>
        <p:nvSpPr>
          <p:cNvPr id="8" name="Shape 5"/>
          <p:cNvSpPr/>
          <p:nvPr/>
        </p:nvSpPr>
        <p:spPr>
          <a:xfrm>
            <a:off x="8183880" y="3419856"/>
            <a:ext cx="292608" cy="292608"/>
          </a:xfrm>
          <a:prstGeom prst="ellipse">
            <a:avLst/>
          </a:prstGeom>
          <a:solidFill>
            <a:srgbClr val="FC4540"/>
          </a:solidFill>
          <a:ln w="12700">
            <a:solidFill>
              <a:srgbClr val="FC4540"/>
            </a:solidFill>
            <a:prstDash val="solid"/>
          </a:ln>
        </p:spPr>
      </p:sp>
      <p:sp>
        <p:nvSpPr>
          <p:cNvPr id="9" name="Text 6"/>
          <p:cNvSpPr/>
          <p:nvPr/>
        </p:nvSpPr>
        <p:spPr>
          <a:xfrm>
            <a:off x="8659368" y="31089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Only the essay: no notes or headings</a:t>
            </a:r>
            <a:endParaRPr lang="en-US" sz="2000" dirty="0"/>
          </a:p>
        </p:txBody>
      </p:sp>
      <p:sp>
        <p:nvSpPr>
          <p:cNvPr id="10" name="Shape 7"/>
          <p:cNvSpPr/>
          <p:nvPr/>
        </p:nvSpPr>
        <p:spPr>
          <a:xfrm>
            <a:off x="8183880" y="4334256"/>
            <a:ext cx="292608" cy="292608"/>
          </a:xfrm>
          <a:prstGeom prst="ellipse">
            <a:avLst/>
          </a:prstGeom>
          <a:solidFill>
            <a:srgbClr val="FF9755"/>
          </a:solidFill>
          <a:ln w="12700">
            <a:solidFill>
              <a:srgbClr val="FF9755"/>
            </a:solidFill>
            <a:prstDash val="solid"/>
          </a:ln>
        </p:spPr>
      </p:sp>
      <p:sp>
        <p:nvSpPr>
          <p:cNvPr id="11" name="Text 8"/>
          <p:cNvSpPr/>
          <p:nvPr/>
        </p:nvSpPr>
        <p:spPr>
          <a:xfrm>
            <a:off x="8659368" y="40233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Paragraphs left-aligned</a:t>
            </a:r>
            <a:endParaRPr lang="en-US" sz="2000" dirty="0"/>
          </a:p>
        </p:txBody>
      </p:sp>
      <p:sp>
        <p:nvSpPr>
          <p:cNvPr id="12" name="Shape 9"/>
          <p:cNvSpPr/>
          <p:nvPr/>
        </p:nvSpPr>
        <p:spPr>
          <a:xfrm>
            <a:off x="8183880" y="5248656"/>
            <a:ext cx="292608" cy="292608"/>
          </a:xfrm>
          <a:prstGeom prst="ellipse">
            <a:avLst/>
          </a:prstGeom>
          <a:solidFill>
            <a:srgbClr val="FC4067"/>
          </a:solidFill>
          <a:ln w="12700">
            <a:solidFill>
              <a:srgbClr val="FC4067"/>
            </a:solidFill>
            <a:prstDash val="solid"/>
          </a:ln>
        </p:spPr>
      </p:sp>
      <p:sp>
        <p:nvSpPr>
          <p:cNvPr id="13" name="Text 10"/>
          <p:cNvSpPr/>
          <p:nvPr/>
        </p:nvSpPr>
        <p:spPr>
          <a:xfrm>
            <a:off x="8659368" y="4937760"/>
            <a:ext cx="2846527" cy="91440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Then click </a:t>
            </a:r>
            <a:r>
              <a:rPr lang="en-US" sz="2000" dirty="0">
                <a:solidFill>
                  <a:srgbClr val="3C3828"/>
                </a:solidFill>
                <a:highlight>
                  <a:srgbClr val="FFE14D"/>
                </a:highlight>
                <a:latin typeface="Calibri" pitchFamily="34" charset="0"/>
                <a:ea typeface="Calibri" pitchFamily="34" charset="-122"/>
                <a:cs typeface="Calibri" pitchFamily="34" charset="-120"/>
              </a:rPr>
              <a:t>Submit</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Titles and Formatting</dc:title>
  <dc:subject>Thesis-Driven Essay · Lesson 7</dc:subject>
  <dc:creator>PptxGenJS</dc:creator>
  <cp:lastModifiedBy>PptxGenJS</cp:lastModifiedBy>
  <cp:revision>1</cp:revision>
  <dcterms:created xsi:type="dcterms:W3CDTF">2026-10-13T22:56:21Z</dcterms:created>
  <dcterms:modified xsi:type="dcterms:W3CDTF">2026-10-13T22:56:21Z</dcterms:modified>
</cp:coreProperties>
</file>