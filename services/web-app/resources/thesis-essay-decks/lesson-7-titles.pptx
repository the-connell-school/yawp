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day of the program. Students have written their introductions, theses, body paragraphs and conclusions; all that’s left is the title. The title is the cherry on top of the ice cream sundae that is a great essay. We’ve all seen "English Essay" and "My Paper." Our students have invested real time in something original, so they deserve a title that is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run the whole review as a final quiz, maybe for an easy grade to reward their hard work. Delete these slides if you don’t want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question students still get wrong: some cling to "a good conclusion restates the thesis." Here’s the structure again for anyone still finishing. The Tutor shows this structure in its box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title. A lot of people dread it, but with the colon-title model it becomes pretty easy and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aloud. With each one we know exactly what the essay is about, and it makes us want to read it. The second is the sample essay’s.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title has two parts. The left side is a creative or "fun" element; the right side delivers a clear, direct description of the topic. Alone, each would be ordinary at best and confusing at worst: "Beyond the Boys’ Club" could be about single-sex schools, fraternities, men in politics… The right side gives it context; the left side gives the right side flavor. The right side doesn’t have to start with "How" (all three just happen to). The Tutor knows the colon title too and can help students draft and revise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stretch: clean up the document, put the title on it, format it simply, and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Brian: "Be normal with your formatting. This is not the place to be creative." Some students like to center everything or pick fancy fonts; don’t. If you have your own formatting standard, use it. Then celebrate: ask students for a reflection on the process, or have them highlight their favorite part of their essay and add a comment saying why. Share the work: within the class, with other teachers or administrators. (The YAWP! program can also publish a class’s essays as a printed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finished essay in today’s YAWP! editor, ready to submit. They wrote a critical, thesis-driven essay that could stand up in any high school or college classroom. Good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7</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Titles</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The cherry on top, and the finishing touches</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OPTIONAL</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Course Review</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Everything you’ve learned, one question at a time.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9755"/>
          </a:solidFill>
          <a:ln w="12700">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02BDC7"/>
          </a:solidFill>
          <a:ln w="12700">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C4067"/>
          </a:solidFill>
          <a:ln w="12700">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9755"/>
          </a:solidFill>
          <a:ln w="12700">
            <a:solidFill>
              <a:srgbClr val="FF9755"/>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SUGGESTED CONCLUSION STRUCTURE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 conclusion that works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258568"/>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1" name="Text 8"/>
          <p:cNvSpPr/>
          <p:nvPr/>
        </p:nvSpPr>
        <p:spPr>
          <a:xfrm>
            <a:off x="2575408" y="2121408"/>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Rhetorical question</a:t>
            </a:r>
            <a:endParaRPr lang="en-US" sz="2200" dirty="0"/>
          </a:p>
        </p:txBody>
      </p:sp>
      <p:sp>
        <p:nvSpPr>
          <p:cNvPr id="12" name="Shape 9"/>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3044952"/>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5" name="Text 12"/>
          <p:cNvSpPr/>
          <p:nvPr/>
        </p:nvSpPr>
        <p:spPr>
          <a:xfrm>
            <a:off x="2575408" y="2907792"/>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Answer it directly (</a:t>
            </a:r>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“Perhaps…”</a:t>
            </a:r>
            <a:pPr indent="0" marL="0">
              <a:buNone/>
            </a:pPr>
            <a:r>
              <a:rPr lang="en-US" sz="2200" dirty="0">
                <a:solidFill>
                  <a:srgbClr val="3C3828"/>
                </a:solidFill>
                <a:latin typeface="Calibri" pitchFamily="34" charset="0"/>
                <a:ea typeface="Calibri" pitchFamily="34" charset="-122"/>
                <a:cs typeface="Calibri" pitchFamily="34" charset="-120"/>
              </a:rPr>
              <a:t>)</a:t>
            </a:r>
            <a:endParaRPr lang="en-US" sz="2200" dirty="0"/>
          </a:p>
        </p:txBody>
      </p:sp>
      <p:sp>
        <p:nvSpPr>
          <p:cNvPr id="16" name="Shape 13"/>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9" name="Text 16"/>
          <p:cNvSpPr/>
          <p:nvPr/>
        </p:nvSpPr>
        <p:spPr>
          <a:xfrm>
            <a:off x="2575408" y="3694176"/>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2 sentences of opinion or analysis</a:t>
            </a:r>
            <a:endParaRPr lang="en-US" sz="2200" dirty="0"/>
          </a:p>
        </p:txBody>
      </p:sp>
      <p:sp>
        <p:nvSpPr>
          <p:cNvPr id="20" name="Shape 17"/>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4617720"/>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4</a:t>
            </a:r>
            <a:endParaRPr lang="en-US" sz="1600" dirty="0"/>
          </a:p>
        </p:txBody>
      </p:sp>
      <p:sp>
        <p:nvSpPr>
          <p:cNvPr id="23" name="Text 20"/>
          <p:cNvSpPr/>
          <p:nvPr/>
        </p:nvSpPr>
        <p:spPr>
          <a:xfrm>
            <a:off x="2575408" y="4480560"/>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Supporting quote (if working with a text)</a:t>
            </a:r>
            <a:endParaRPr lang="en-US" sz="2200" dirty="0"/>
          </a:p>
        </p:txBody>
      </p:sp>
      <p:sp>
        <p:nvSpPr>
          <p:cNvPr id="24" name="Shape 21"/>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5404104"/>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5</a:t>
            </a:r>
            <a:endParaRPr lang="en-US" sz="1600" dirty="0"/>
          </a:p>
        </p:txBody>
      </p:sp>
      <p:sp>
        <p:nvSpPr>
          <p:cNvPr id="27" name="Text 24"/>
          <p:cNvSpPr/>
          <p:nvPr/>
        </p:nvSpPr>
        <p:spPr>
          <a:xfrm>
            <a:off x="2575408" y="5266944"/>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Final, concluding sentence: the big, final point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6</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Titling Your Essay</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Informative, smart, and memorable.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GIVE YOUR ESSAY A TITLE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colon title</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Your title should be </a:t>
            </a:r>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informative, smart, and memorable.</a:t>
            </a:r>
            <a:pPr indent="0" marL="0">
              <a:buNone/>
            </a:pPr>
            <a:r>
              <a:rPr lang="en-US" sz="2200" dirty="0">
                <a:solidFill>
                  <a:srgbClr val="3C3828"/>
                </a:solidFill>
                <a:latin typeface="Calibri" pitchFamily="34" charset="0"/>
                <a:ea typeface="Calibri" pitchFamily="34" charset="-122"/>
                <a:cs typeface="Calibri" pitchFamily="34" charset="-120"/>
              </a:rPr>
              <a:t> Don’t ever, ever, EVER title your essay “Essay” or “English Paper.” Let it indicate your topic in a thoughtful way. Try the colon title:</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FFB600"/>
          </a:solidFill>
          <a:ln w="12700">
            <a:solidFill>
              <a:srgbClr val="FFB600"/>
            </a:solidFill>
            <a:prstDash val="solid"/>
          </a:ln>
        </p:spPr>
      </p:sp>
      <p:sp>
        <p:nvSpPr>
          <p:cNvPr id="11" name="Shape 8"/>
          <p:cNvSpPr/>
          <p:nvPr/>
        </p:nvSpPr>
        <p:spPr>
          <a:xfrm>
            <a:off x="1005840" y="3337560"/>
            <a:ext cx="731520" cy="731520"/>
          </a:xfrm>
          <a:prstGeom prst="ellipse">
            <a:avLst/>
          </a:prstGeom>
          <a:solidFill>
            <a:srgbClr val="FFB600"/>
          </a:solidFill>
          <a:ln w="12700">
            <a:solidFill>
              <a:srgbClr val="FFB600"/>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300" dirty="0">
                <a:solidFill>
                  <a:srgbClr val="3C3828"/>
                </a:solidFill>
                <a:latin typeface="Calibri" pitchFamily="34" charset="0"/>
                <a:ea typeface="Calibri" pitchFamily="34" charset="-122"/>
                <a:cs typeface="Calibri" pitchFamily="34" charset="-120"/>
              </a:rPr>
              <a:t>Beyond the Boys’ Club: How Female Heroes Define the Avengers Legacy</a:t>
            </a:r>
            <a:endParaRPr lang="en-US" sz="23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C4540"/>
          </a:solidFill>
          <a:ln w="12700">
            <a:solidFill>
              <a:srgbClr val="FC4540"/>
            </a:solidFill>
            <a:prstDash val="solid"/>
          </a:ln>
        </p:spPr>
      </p:sp>
      <p:sp>
        <p:nvSpPr>
          <p:cNvPr id="16" name="Shape 13"/>
          <p:cNvSpPr/>
          <p:nvPr/>
        </p:nvSpPr>
        <p:spPr>
          <a:xfrm>
            <a:off x="4719218" y="3337560"/>
            <a:ext cx="731520" cy="731520"/>
          </a:xfrm>
          <a:prstGeom prst="ellipse">
            <a:avLst/>
          </a:prstGeom>
          <a:solidFill>
            <a:srgbClr val="FC4540"/>
          </a:solidFill>
          <a:ln w="12700">
            <a:solidFill>
              <a:srgbClr val="FC4540"/>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300" dirty="0">
                <a:solidFill>
                  <a:srgbClr val="3C3828"/>
                </a:solidFill>
                <a:latin typeface="Calibri" pitchFamily="34" charset="0"/>
                <a:ea typeface="Calibri" pitchFamily="34" charset="-122"/>
                <a:cs typeface="Calibri" pitchFamily="34" charset="-120"/>
              </a:rPr>
              <a:t>Bored in the USA: How Lack of Creativity in Schools Hurts Students and Teachers</a:t>
            </a:r>
            <a:endParaRPr lang="en-US" sz="23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FF9755"/>
          </a:solidFill>
          <a:ln w="12700">
            <a:solidFill>
              <a:srgbClr val="FF9755"/>
            </a:solidFill>
            <a:prstDash val="solid"/>
          </a:ln>
        </p:spPr>
      </p:sp>
      <p:sp>
        <p:nvSpPr>
          <p:cNvPr id="21" name="Shape 18"/>
          <p:cNvSpPr/>
          <p:nvPr/>
        </p:nvSpPr>
        <p:spPr>
          <a:xfrm>
            <a:off x="8432597" y="3337560"/>
            <a:ext cx="731520" cy="731520"/>
          </a:xfrm>
          <a:prstGeom prst="ellipse">
            <a:avLst/>
          </a:prstGeom>
          <a:solidFill>
            <a:srgbClr val="FF9755"/>
          </a:solidFill>
          <a:ln w="12700">
            <a:solidFill>
              <a:srgbClr val="FF9755"/>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300" dirty="0">
                <a:solidFill>
                  <a:srgbClr val="3C3828"/>
                </a:solidFill>
                <a:latin typeface="Calibri" pitchFamily="34" charset="0"/>
                <a:ea typeface="Calibri" pitchFamily="34" charset="-122"/>
                <a:cs typeface="Calibri" pitchFamily="34" charset="-120"/>
              </a:rPr>
              <a:t>Unlocked and Loaded: How Easy Gun Access Puts Children at Risk</a:t>
            </a:r>
            <a:endParaRPr lang="en-US" sz="2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GIVE YOUR ESSAY A TITLE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Two halves, one great title</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FFB600"/>
          </a:solidFill>
          <a:ln w="12700">
            <a:solidFill>
              <a:srgbClr val="FFB600"/>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Beyond the Boys’ Club</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FB600"/>
                </a:solidFill>
                <a:latin typeface="Georgia" pitchFamily="34" charset="0"/>
                <a:ea typeface="Georgia" pitchFamily="34" charset="-122"/>
                <a:cs typeface="Georgia" pitchFamily="34" charset="-120"/>
              </a:rPr>
              <a:t>How Female Heroes Define the Avengers Legacy</a:t>
            </a:r>
            <a:endParaRPr lang="en-US" sz="2200" dirty="0"/>
          </a:p>
        </p:txBody>
      </p:sp>
      <p:sp>
        <p:nvSpPr>
          <p:cNvPr id="8" name="Shape 6"/>
          <p:cNvSpPr/>
          <p:nvPr/>
        </p:nvSpPr>
        <p:spPr>
          <a:xfrm>
            <a:off x="868680" y="420166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20166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77724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Left of the colon · creative, fun: </a:t>
            </a:r>
            <a:pPr indent="0" marL="0">
              <a:buNone/>
            </a:pPr>
            <a:r>
              <a:rPr lang="en-US" sz="2200" dirty="0">
                <a:solidFill>
                  <a:srgbClr val="3C3828"/>
                </a:solidFill>
                <a:latin typeface="Calibri" pitchFamily="34" charset="0"/>
                <a:ea typeface="Calibri" pitchFamily="34" charset="-122"/>
                <a:cs typeface="Calibri" pitchFamily="34" charset="-120"/>
              </a:rPr>
              <a:t>Beyond the Boys’ Club</a:t>
            </a:r>
            <a:endParaRPr lang="en-US" sz="1300" dirty="0"/>
          </a:p>
        </p:txBody>
      </p:sp>
      <p:sp>
        <p:nvSpPr>
          <p:cNvPr id="11" name="Shape 9"/>
          <p:cNvSpPr/>
          <p:nvPr/>
        </p:nvSpPr>
        <p:spPr>
          <a:xfrm>
            <a:off x="868680" y="497890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97890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800600"/>
            <a:ext cx="9814255" cy="77724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Right of the colon · clear, direct: </a:t>
            </a:r>
            <a:pPr indent="0" marL="0">
              <a:buNone/>
            </a:pPr>
            <a:r>
              <a:rPr lang="en-US" sz="2200" dirty="0">
                <a:solidFill>
                  <a:srgbClr val="3C3828"/>
                </a:solidFill>
                <a:latin typeface="Calibri" pitchFamily="34" charset="0"/>
                <a:ea typeface="Calibri" pitchFamily="34" charset="-122"/>
                <a:cs typeface="Calibri" pitchFamily="34" charset="-120"/>
              </a:rPr>
              <a:t>How Female Heroes Define the Avengers Legacy</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FINISH</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Putting it All Together</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Clean up, title, submit, celebrate.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FINISHING TOUCHES IN YAWP!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Finishing touches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02BDC7"/>
          </a:solidFill>
          <a:ln w="12700">
            <a:solidFill>
              <a:srgbClr val="02BDC7"/>
            </a:solidFill>
            <a:prstDash val="solid"/>
          </a:ln>
        </p:spPr>
      </p:sp>
      <p:sp>
        <p:nvSpPr>
          <p:cNvPr id="10" name="Shape 7"/>
          <p:cNvSpPr/>
          <p:nvPr/>
        </p:nvSpPr>
        <p:spPr>
          <a:xfrm>
            <a:off x="960120" y="2286000"/>
            <a:ext cx="548640" cy="548640"/>
          </a:xfrm>
          <a:prstGeom prst="ellipse">
            <a:avLst/>
          </a:prstGeom>
          <a:solidFill>
            <a:srgbClr val="02BDC7"/>
          </a:solidFill>
          <a:ln w="12700">
            <a:solidFill>
              <a:srgbClr val="02BDC7"/>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Clean up.</a:t>
            </a:r>
            <a:pPr indent="0" marL="0">
              <a:buNone/>
            </a:pPr>
            <a:r>
              <a:rPr lang="en-US" sz="1800" dirty="0">
                <a:solidFill>
                  <a:srgbClr val="3C3828"/>
                </a:solidFill>
                <a:latin typeface="Calibri" pitchFamily="34" charset="0"/>
                <a:ea typeface="Calibri" pitchFamily="34" charset="-122"/>
                <a:cs typeface="Calibri" pitchFamily="34" charset="-120"/>
              </a:rPr>
              <a:t> Delete your pre-writing, your observation and analysis notes, and headings like “Introduction.” Only the essay stays.</a:t>
            </a:r>
            <a:endParaRPr lang="en-US" sz="18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FB600"/>
          </a:solidFill>
          <a:ln w="12700">
            <a:solidFill>
              <a:srgbClr val="FFB600"/>
            </a:solidFill>
            <a:prstDash val="solid"/>
          </a:ln>
        </p:spPr>
      </p:sp>
      <p:sp>
        <p:nvSpPr>
          <p:cNvPr id="15" name="Shape 12"/>
          <p:cNvSpPr/>
          <p:nvPr/>
        </p:nvSpPr>
        <p:spPr>
          <a:xfrm>
            <a:off x="6530188" y="2286000"/>
            <a:ext cx="548640" cy="548640"/>
          </a:xfrm>
          <a:prstGeom prst="ellipse">
            <a:avLst/>
          </a:prstGeom>
          <a:solidFill>
            <a:srgbClr val="FFB600"/>
          </a:solidFill>
          <a:ln w="12700">
            <a:solidFill>
              <a:srgbClr val="FFB600"/>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Title it.</a:t>
            </a:r>
            <a:pPr indent="0" marL="0">
              <a:buNone/>
            </a:pPr>
            <a:r>
              <a:rPr lang="en-US" sz="1800" dirty="0">
                <a:solidFill>
                  <a:srgbClr val="3C3828"/>
                </a:solidFill>
                <a:latin typeface="Calibri" pitchFamily="34" charset="0"/>
                <a:ea typeface="Calibri" pitchFamily="34" charset="-122"/>
                <a:cs typeface="Calibri" pitchFamily="34" charset="-120"/>
              </a:rPr>
              <a:t> Type your title on the first line, then use the toolbar to </a:t>
            </a:r>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center</a:t>
            </a:r>
            <a:pPr indent="0" marL="0">
              <a:buNone/>
            </a:pPr>
            <a:r>
              <a:rPr lang="en-US" sz="1800" dirty="0">
                <a:solidFill>
                  <a:srgbClr val="3C3828"/>
                </a:solidFill>
                <a:latin typeface="Calibri" pitchFamily="34" charset="0"/>
                <a:ea typeface="Calibri" pitchFamily="34" charset="-122"/>
                <a:cs typeface="Calibri" pitchFamily="34" charset="-120"/>
              </a:rPr>
              <a:t> and </a:t>
            </a:r>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italicize</a:t>
            </a:r>
            <a:pPr indent="0" marL="0">
              <a:buNone/>
            </a:pPr>
            <a:r>
              <a:rPr lang="en-US" sz="1800" dirty="0">
                <a:solidFill>
                  <a:srgbClr val="3C3828"/>
                </a:solidFill>
                <a:latin typeface="Calibri" pitchFamily="34" charset="0"/>
                <a:ea typeface="Calibri" pitchFamily="34" charset="-122"/>
                <a:cs typeface="Calibri" pitchFamily="34" charset="-120"/>
              </a:rPr>
              <a:t> it.</a:t>
            </a:r>
            <a:endParaRPr lang="en-US" sz="18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FC4540"/>
          </a:solidFill>
          <a:ln w="12700">
            <a:solidFill>
              <a:srgbClr val="FC4540"/>
            </a:solidFill>
            <a:prstDash val="solid"/>
          </a:ln>
        </p:spPr>
      </p:sp>
      <p:sp>
        <p:nvSpPr>
          <p:cNvPr id="20" name="Shape 17"/>
          <p:cNvSpPr/>
          <p:nvPr/>
        </p:nvSpPr>
        <p:spPr>
          <a:xfrm>
            <a:off x="960120" y="4503420"/>
            <a:ext cx="548640" cy="548640"/>
          </a:xfrm>
          <a:prstGeom prst="ellipse">
            <a:avLst/>
          </a:prstGeom>
          <a:solidFill>
            <a:srgbClr val="FC4540"/>
          </a:solidFill>
          <a:ln w="12700">
            <a:solidFill>
              <a:srgbClr val="FC4540"/>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Keep it simple.</a:t>
            </a:r>
            <a:pPr indent="0" marL="0">
              <a:buNone/>
            </a:pPr>
            <a:r>
              <a:rPr lang="en-US" sz="1800" dirty="0">
                <a:solidFill>
                  <a:srgbClr val="3C3828"/>
                </a:solidFill>
                <a:latin typeface="Calibri" pitchFamily="34" charset="0"/>
                <a:ea typeface="Calibri" pitchFamily="34" charset="-122"/>
                <a:cs typeface="Calibri" pitchFamily="34" charset="-120"/>
              </a:rPr>
              <a:t> YAWP! sets the font for you. Paragraphs stay left-aligned (only the title is centered), with an empty line between them.</a:t>
            </a:r>
            <a:endParaRPr lang="en-US" sz="18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9755"/>
          </a:solidFill>
          <a:ln w="12700">
            <a:solidFill>
              <a:srgbClr val="FF9755"/>
            </a:solidFill>
            <a:prstDash val="solid"/>
          </a:ln>
        </p:spPr>
      </p:sp>
      <p:sp>
        <p:nvSpPr>
          <p:cNvPr id="25" name="Shape 22"/>
          <p:cNvSpPr/>
          <p:nvPr/>
        </p:nvSpPr>
        <p:spPr>
          <a:xfrm>
            <a:off x="6530188" y="4503420"/>
            <a:ext cx="548640" cy="548640"/>
          </a:xfrm>
          <a:prstGeom prst="ellipse">
            <a:avLst/>
          </a:prstGeom>
          <a:solidFill>
            <a:srgbClr val="FF9755"/>
          </a:solidFill>
          <a:ln w="12700">
            <a:solidFill>
              <a:srgbClr val="FF9755"/>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Read it, then Submit.</a:t>
            </a:r>
            <a:pPr indent="0" marL="0">
              <a:buNone/>
            </a:pPr>
            <a:r>
              <a:rPr lang="en-US" sz="1800" dirty="0">
                <a:solidFill>
                  <a:srgbClr val="3C3828"/>
                </a:solidFill>
                <a:latin typeface="Calibri" pitchFamily="34" charset="0"/>
                <a:ea typeface="Calibri" pitchFamily="34" charset="-122"/>
                <a:cs typeface="Calibri" pitchFamily="34" charset="-120"/>
              </a:rPr>
              <a:t> Read it once from the top, ask the Tutor for feedback if you want, then click </a:t>
            </a:r>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Submit.</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DONE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finished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final.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Title on the first line,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centered and in italics</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Only the essay: no notes or headings</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Paragraphs left-aligned</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Then click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Submit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Titles and Formatting</dc:title>
  <dc:subject>Thesis-Driven Essay · Lesson 7</dc:subject>
  <dc:creator>PptxGenJS</dc:creator>
  <cp:lastModifiedBy>PptxGenJS</cp:lastModifiedBy>
  <cp:revision>1</cp:revision>
  <dcterms:created xsi:type="dcterms:W3CDTF">2026-10-12T23:05:23Z</dcterms:created>
  <dcterms:modified xsi:type="dcterms:W3CDTF">2026-10-12T23:05:23Z</dcterms:modified>
</cp:coreProperties>
</file>