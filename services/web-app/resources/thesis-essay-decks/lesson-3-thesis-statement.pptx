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theses and comment. Everyone needs a working thesis before they start the introduction; absent students can catch up with the 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n elephant.">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20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20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An elephant.">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eye icon">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1517373" y="2316541"/>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1517373" y="231654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725724" y="299822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725724" y="299822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863821" y="3725357"/>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863821" y="3725357"/>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05491" y="50432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05491" y="50432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4851464" y="2491740"/>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4851464" y="24917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5491544" y="235458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17" name="Shape 14"/>
          <p:cNvSpPr/>
          <p:nvPr/>
        </p:nvSpPr>
        <p:spPr>
          <a:xfrm>
            <a:off x="4851464" y="322326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485146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5491544" y="3086100"/>
            <a:ext cx="6014352" cy="73152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20" name="Shape 17"/>
          <p:cNvSpPr/>
          <p:nvPr/>
        </p:nvSpPr>
        <p:spPr>
          <a:xfrm>
            <a:off x="4851464" y="39547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4851464"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5491544" y="381762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23" name="Shape 20"/>
          <p:cNvSpPr/>
          <p:nvPr/>
        </p:nvSpPr>
        <p:spPr>
          <a:xfrm>
            <a:off x="4851464" y="468630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4851464" y="46863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5491544" y="454914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r>
              <a:rPr lang="en-US" sz="4000" dirty="0">
                <a:solidFill>
                  <a:srgbClr val="3C3828"/>
                </a:solidFill>
                <a:highlight>
                  <a:srgbClr val="FFE14D"/>
                </a:highlight>
                <a:latin typeface="Georgia" pitchFamily="34" charset="0"/>
                <a:ea typeface="Georgia" pitchFamily="34" charset="-122"/>
                <a:cs typeface="Georgia" pitchFamily="34" charset="-120"/>
              </a:rPr>
              <a:t>weak essays!</a:t>
            </a: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r>
              <a:rPr lang="en-US" sz="3000" dirty="0">
                <a:solidFill>
                  <a:srgbClr val="3C3828"/>
                </a:solidFill>
                <a:highlight>
                  <a:srgbClr val="FFE14D"/>
                </a:highlight>
                <a:latin typeface="Georgia" pitchFamily="34" charset="0"/>
                <a:ea typeface="Georgia" pitchFamily="34" charset="-122"/>
                <a:cs typeface="Georgia" pitchFamily="34" charset="-120"/>
              </a:rPr>
              <a:t>focal point</a:t>
            </a: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diamond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58419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Your thesis should be </a:t>
            </a:r>
            <a:r>
              <a:rPr lang="en-US" sz="2800" dirty="0">
                <a:solidFill>
                  <a:srgbClr val="3C3828"/>
                </a:solidFill>
                <a:highlight>
                  <a:srgbClr val="FFE14D"/>
                </a:highlight>
                <a:latin typeface="Calibri" pitchFamily="34" charset="0"/>
                <a:ea typeface="Calibri" pitchFamily="34" charset="-122"/>
                <a:cs typeface="Calibri" pitchFamily="34" charset="-120"/>
              </a:rPr>
              <a:t>one sentence</a:t>
            </a:r>
            <a:r>
              <a:rPr lang="en-US" sz="2800" dirty="0">
                <a:solidFill>
                  <a:srgbClr val="3C3828"/>
                </a:solidFill>
                <a:latin typeface="Calibri" pitchFamily="34" charset="0"/>
                <a:ea typeface="Calibri" pitchFamily="34" charset="-122"/>
                <a:cs typeface="Calibri" pitchFamily="34" charset="-120"/>
              </a:rPr>
              <a:t> long.</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58419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Your thesis should include </a:t>
            </a:r>
            <a:r>
              <a:rPr lang="en-US" sz="2800" dirty="0">
                <a:solidFill>
                  <a:srgbClr val="3C3828"/>
                </a:solidFill>
                <a:highlight>
                  <a:srgbClr val="FFE14D"/>
                </a:highlight>
                <a:latin typeface="Calibri" pitchFamily="34" charset="0"/>
                <a:ea typeface="Calibri" pitchFamily="34" charset="-122"/>
                <a:cs typeface="Calibri" pitchFamily="34" charset="-120"/>
              </a:rPr>
              <a:t>observation</a:t>
            </a:r>
            <a:r>
              <a:rPr lang="en-US" sz="2800" dirty="0">
                <a:solidFill>
                  <a:srgbClr val="3C3828"/>
                </a:solidFill>
                <a:latin typeface="Calibri" pitchFamily="34" charset="0"/>
                <a:ea typeface="Calibri" pitchFamily="34" charset="-122"/>
                <a:cs typeface="Calibri" pitchFamily="34" charset="-120"/>
              </a:rPr>
              <a:t> as well as </a:t>
            </a:r>
            <a:r>
              <a:rPr lang="en-US" sz="2800" dirty="0">
                <a:solidFill>
                  <a:srgbClr val="3C3828"/>
                </a:solidFill>
                <a:highlight>
                  <a:srgbClr val="FFE14D"/>
                </a:highlight>
                <a:latin typeface="Calibri" pitchFamily="34" charset="0"/>
                <a:ea typeface="Calibri" pitchFamily="34" charset="-122"/>
                <a:cs typeface="Calibri" pitchFamily="34" charset="-120"/>
              </a:rPr>
              <a:t>analysis.</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58419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Your thesis should be </a:t>
            </a:r>
            <a:r>
              <a:rPr lang="en-US" sz="2800" dirty="0">
                <a:solidFill>
                  <a:srgbClr val="3C3828"/>
                </a:solidFill>
                <a:highlight>
                  <a:srgbClr val="FFE14D"/>
                </a:highlight>
                <a:latin typeface="Calibri" pitchFamily="34" charset="0"/>
                <a:ea typeface="Calibri" pitchFamily="34" charset="-122"/>
                <a:cs typeface="Calibri" pitchFamily="34" charset="-120"/>
              </a:rPr>
              <a:t>specific.</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r>
              <a:rPr lang="en-US" sz="3000" dirty="0">
                <a:solidFill>
                  <a:srgbClr val="3C3828"/>
                </a:solidFill>
                <a:highlight>
                  <a:srgbClr val="FFE14D"/>
                </a:highlight>
                <a:latin typeface="Georgia" pitchFamily="34" charset="0"/>
                <a:ea typeface="Georgia" pitchFamily="34" charset="-122"/>
                <a:cs typeface="Georgia" pitchFamily="34" charset="-120"/>
              </a:rPr>
              <a:t>notice or see</a:t>
            </a: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02BDC7"/>
          </a:solidFill>
          <a:ln w="12700">
            <a:solidFill>
              <a:srgbClr val="02BDC7"/>
            </a:solidFill>
            <a:prstDash val="solid"/>
          </a:ln>
        </p:spPr>
      </p:sp>
      <p:sp>
        <p:nvSpPr>
          <p:cNvPr id="10" name="Shape 7"/>
          <p:cNvSpPr/>
          <p:nvPr/>
        </p:nvSpPr>
        <p:spPr>
          <a:xfrm>
            <a:off x="1005840" y="2584196"/>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Creative thinking is not prioritized in schools.</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584196"/>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Most classroom teachers teach the way they were taught.</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584196"/>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r>
              <a:rPr lang="en-US" sz="4000" dirty="0">
                <a:solidFill>
                  <a:srgbClr val="3C3828"/>
                </a:solidFill>
                <a:highlight>
                  <a:srgbClr val="FFE14D"/>
                </a:highlight>
                <a:latin typeface="Georgia" pitchFamily="34" charset="0"/>
                <a:ea typeface="Georgia" pitchFamily="34" charset="-122"/>
                <a:cs typeface="Georgia" pitchFamily="34" charset="-120"/>
              </a:rPr>
              <a:t>analysis,</a:t>
            </a: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observation and analysis</a:t>
            </a:r>
            <a:endParaRPr lang="en-US" sz="32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176479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On your document, create your own </a:t>
            </a:r>
            <a:r>
              <a:rPr lang="en-US" sz="2400" dirty="0">
                <a:solidFill>
                  <a:srgbClr val="3C3828"/>
                </a:solidFill>
                <a:highlight>
                  <a:srgbClr val="FFE14D"/>
                </a:highlight>
                <a:latin typeface="Georgia" pitchFamily="34" charset="0"/>
                <a:ea typeface="Georgia" pitchFamily="34" charset="-122"/>
                <a:cs typeface="Georgia" pitchFamily="34" charset="-120"/>
              </a:rPr>
              <a:t>Observation</a:t>
            </a:r>
            <a:r>
              <a:rPr lang="en-US" sz="2400" dirty="0">
                <a:solidFill>
                  <a:srgbClr val="3C3828"/>
                </a:solidFill>
                <a:latin typeface="Georgia" pitchFamily="34" charset="0"/>
                <a:ea typeface="Georgia" pitchFamily="34" charset="-122"/>
                <a:cs typeface="Georgia" pitchFamily="34" charset="-120"/>
              </a:rPr>
              <a:t> and </a:t>
            </a:r>
            <a:r>
              <a:rPr lang="en-US" sz="2400" dirty="0">
                <a:solidFill>
                  <a:srgbClr val="3C3828"/>
                </a:solidFill>
                <a:highlight>
                  <a:srgbClr val="FFE14D"/>
                </a:highlight>
                <a:latin typeface="Georgia" pitchFamily="34" charset="0"/>
                <a:ea typeface="Georgia" pitchFamily="34" charset="-122"/>
                <a:cs typeface="Georgia" pitchFamily="34" charset="-120"/>
              </a:rPr>
              <a:t>2–4 points of analysis.</a:t>
            </a:r>
            <a:r>
              <a:rPr lang="en-US" sz="2400" dirty="0">
                <a:solidFill>
                  <a:srgbClr val="3C3828"/>
                </a:solidFill>
                <a:latin typeface="Georgia" pitchFamily="34" charset="0"/>
                <a:ea typeface="Georgia" pitchFamily="34" charset="-122"/>
                <a:cs typeface="Georgia" pitchFamily="34" charset="-120"/>
              </a:rPr>
              <a:t> Use this model:</a:t>
            </a:r>
            <a:endParaRPr lang="en-US" sz="2400" dirty="0"/>
          </a:p>
          <a:p>
            <a:pPr indent="0" marL="0">
              <a:lnSpc>
                <a:spcPct val="120000"/>
              </a:lnSpc>
              <a:buNone/>
            </a:pP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Analysis:</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this is a limited approach to learning</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it puts too much emphasis on correctness</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Thesis Statement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021373"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021373"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755380" y="2417108"/>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755380"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5611764" y="275194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5611764" y="27519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5898996" y="3065845"/>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5898996" y="3065845"/>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205228"/>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20522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1924812"/>
            <a:ext cx="2286000" cy="1018032"/>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 Tutor says </a:t>
            </a: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400" dirty="0"/>
          </a:p>
        </p:txBody>
      </p:sp>
      <p:sp>
        <p:nvSpPr>
          <p:cNvPr id="17" name="Shape 14"/>
          <p:cNvSpPr/>
          <p:nvPr/>
        </p:nvSpPr>
        <p:spPr>
          <a:xfrm>
            <a:off x="8579815" y="3080004"/>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08000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2942844"/>
            <a:ext cx="2286000"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Observation first</a:t>
            </a:r>
            <a:endParaRPr lang="en-US" sz="2400" dirty="0"/>
          </a:p>
        </p:txBody>
      </p:sp>
      <p:sp>
        <p:nvSpPr>
          <p:cNvPr id="20" name="Shape 17"/>
          <p:cNvSpPr/>
          <p:nvPr/>
        </p:nvSpPr>
        <p:spPr>
          <a:xfrm>
            <a:off x="8579815" y="39547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674364"/>
            <a:ext cx="2286000" cy="1018032"/>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2–4 points of analysis</a:t>
            </a:r>
            <a:endParaRPr lang="en-US" sz="2400" dirty="0"/>
          </a:p>
        </p:txBody>
      </p:sp>
      <p:sp>
        <p:nvSpPr>
          <p:cNvPr id="23" name="Shape 20"/>
          <p:cNvSpPr/>
          <p:nvPr/>
        </p:nvSpPr>
        <p:spPr>
          <a:xfrm>
            <a:off x="8579815" y="4972812"/>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97281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692396"/>
            <a:ext cx="2286000" cy="1018032"/>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Then combine them into your thesis</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question icon">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timer icon">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lightbulb icon">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58419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One, complex, </a:t>
            </a:r>
            <a:r>
              <a:rPr lang="en-US" sz="2800" dirty="0">
                <a:solidFill>
                  <a:srgbClr val="3C3828"/>
                </a:solidFill>
                <a:highlight>
                  <a:srgbClr val="FFE14D"/>
                </a:highlight>
                <a:latin typeface="Calibri" pitchFamily="34" charset="0"/>
                <a:ea typeface="Calibri" pitchFamily="34" charset="-122"/>
                <a:cs typeface="Calibri" pitchFamily="34" charset="-120"/>
              </a:rPr>
              <a:t>concise</a:t>
            </a:r>
            <a:r>
              <a:rPr lang="en-US" sz="2800" dirty="0">
                <a:solidFill>
                  <a:srgbClr val="3C3828"/>
                </a:solidFill>
                <a:latin typeface="Calibri" pitchFamily="34" charset="0"/>
                <a:ea typeface="Calibri" pitchFamily="34" charset="-122"/>
                <a:cs typeface="Calibri" pitchFamily="34" charset="-120"/>
              </a:rPr>
              <a:t> sentence. (Concise does not equal brief!)</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58419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Includes </a:t>
            </a:r>
            <a:r>
              <a:rPr lang="en-US" sz="28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58419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Specific, not general.</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Spot the clutter</a:t>
            </a:r>
            <a:endParaRPr lang="en-US" sz="32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C4067"/>
          </a:solidFill>
          <a:ln w="12700">
            <a:solidFill>
              <a:srgbClr val="FC4067"/>
            </a:solidFill>
            <a:prstDash val="solid"/>
          </a:ln>
        </p:spPr>
      </p:sp>
      <p:sp>
        <p:nvSpPr>
          <p:cNvPr id="10" name="Text 7"/>
          <p:cNvSpPr/>
          <p:nvPr/>
        </p:nvSpPr>
        <p:spPr>
          <a:xfrm>
            <a:off x="1143000" y="1737360"/>
            <a:ext cx="9905695" cy="425196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Creative design in lesson plans </a:t>
            </a:r>
            <a:r>
              <a:rPr lang="en-US" sz="3200" b="1" dirty="0">
                <a:solidFill>
                  <a:srgbClr val="FC4067"/>
                </a:solidFill>
                <a:latin typeface="Georgia" pitchFamily="34" charset="0"/>
                <a:ea typeface="Georgia" pitchFamily="34" charset="-122"/>
                <a:cs typeface="Georgia" pitchFamily="34" charset="-120"/>
              </a:rPr>
              <a:t>is</a:t>
            </a:r>
            <a:r>
              <a:rPr lang="en-US" sz="3200" dirty="0">
                <a:solidFill>
                  <a:srgbClr val="3C3828"/>
                </a:solidFill>
                <a:latin typeface="Georgia" pitchFamily="34" charset="0"/>
                <a:ea typeface="Georgia" pitchFamily="34" charset="-122"/>
                <a:cs typeface="Georgia" pitchFamily="34" charset="-120"/>
              </a:rPr>
              <a:t> really important and </a:t>
            </a:r>
            <a:r>
              <a:rPr lang="en-US" sz="3200" b="1" dirty="0">
                <a:solidFill>
                  <a:srgbClr val="FC4067"/>
                </a:solidFill>
                <a:latin typeface="Georgia" pitchFamily="34" charset="0"/>
                <a:ea typeface="Georgia" pitchFamily="34" charset="-122"/>
                <a:cs typeface="Georgia" pitchFamily="34" charset="-120"/>
              </a:rPr>
              <a:t>is</a:t>
            </a:r>
            <a:r>
              <a:rPr lang="en-US" sz="3200" dirty="0">
                <a:solidFill>
                  <a:srgbClr val="3C3828"/>
                </a:solidFill>
                <a:latin typeface="Georgia" pitchFamily="34" charset="0"/>
                <a:ea typeface="Georgia" pitchFamily="34" charset="-122"/>
                <a:cs typeface="Georgia" pitchFamily="34" charset="-120"/>
              </a:rPr>
              <a:t> something that </a:t>
            </a:r>
            <a:r>
              <a:rPr lang="en-US" sz="3200" b="1" dirty="0">
                <a:solidFill>
                  <a:srgbClr val="FC4067"/>
                </a:solidFill>
                <a:latin typeface="Georgia" pitchFamily="34" charset="0"/>
                <a:ea typeface="Georgia" pitchFamily="34" charset="-122"/>
                <a:cs typeface="Georgia" pitchFamily="34" charset="-120"/>
              </a:rPr>
              <a:t>isn’t</a:t>
            </a: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r>
              <a:rPr lang="en-US" sz="4000" dirty="0">
                <a:solidFill>
                  <a:srgbClr val="3C3828"/>
                </a:solidFill>
                <a:highlight>
                  <a:srgbClr val="FFE14D"/>
                </a:highlight>
                <a:latin typeface="Georgia" pitchFamily="34" charset="0"/>
                <a:ea typeface="Georgia" pitchFamily="34" charset="-122"/>
                <a:cs typeface="Georgia" pitchFamily="34" charset="-120"/>
              </a:rPr>
              <a:t>concise.</a:t>
            </a:r>
            <a:r>
              <a:rPr lang="en-US" sz="40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600" dirty="0">
                <a:solidFill>
                  <a:srgbClr val="3C3828"/>
                </a:solidFill>
                <a:latin typeface="Georgia" pitchFamily="34" charset="0"/>
                <a:ea typeface="Georgia" pitchFamily="34" charset="-122"/>
                <a:cs typeface="Georgia" pitchFamily="34" charset="-120"/>
              </a:rPr>
              <a:t>Taking the verb “to be” out of a sentence is like </a:t>
            </a:r>
            <a:r>
              <a:rPr lang="en-US" sz="3600" dirty="0">
                <a:solidFill>
                  <a:srgbClr val="3C3828"/>
                </a:solidFill>
                <a:highlight>
                  <a:srgbClr val="FFE14D"/>
                </a:highlight>
                <a:latin typeface="Georgia" pitchFamily="34" charset="0"/>
                <a:ea typeface="Georgia" pitchFamily="34" charset="-122"/>
                <a:cs typeface="Georgia" pitchFamily="34" charset="-120"/>
              </a:rPr>
              <a:t>weeding a garden:</a:t>
            </a:r>
            <a:r>
              <a:rPr lang="en-US" sz="36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C4540"/>
                </a:solidFill>
                <a:latin typeface="Georgia" pitchFamily="34" charset="0"/>
                <a:ea typeface="Georgia" pitchFamily="34" charset="-122"/>
                <a:cs typeface="Georgia" pitchFamily="34" charset="-120"/>
              </a:rPr>
              <a:t>resulting in boring lessons</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introductions.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2026-10-18T15:59:20Z</dcterms:created>
  <dcterms:modified xsi:type="dcterms:W3CDTF">2026-10-18T15:59:20Z</dcterms:modified>
</cp:coreProperties>
</file>