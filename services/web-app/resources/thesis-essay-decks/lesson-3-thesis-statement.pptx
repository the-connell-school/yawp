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Thesis day. If all goes to plan, by the end of class every student has a strong, complex thesis statement and can begin actually writing. In pre-writing they went down into the mines, digging; today they come up with their treasure. Before you start, check student docs: anyone who still hasn’t found a specific focus may need a few more minutes of pre-writing on their diamond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review quiz starts here: this divider and the question-and-reveal pairs after it. Brian: "If that’s not your gig, delete the slides." Delete them together, or skip ahead to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Develop my ideas into a thesis statement and build my essay around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Asking questions and seeking answers about a topic. The same thing they did with the photo and in their pre-write.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review quiz. Brian: "If that’s not your gig, delete the slides." If you keep it, make it a game: read the question, take answers, then click to the reveal. Candy or other small prizes help. Answer: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reveal. Observation and analysis. Some students (and some of us) will pick B, the 5-paragraph-essay answer; our thesis is going to be more complex than a three-pronged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"What’s happening in this picture?" again, same process as last time: first only what they SEE. An elephant; people up on store balconies; signs and advertisements; sacks of grain or rice in front; a man in a red and white turban; a cart with blue wire; something in the elephant’s rear (a dart?); a lamppost with exposed wires; motorcycles and bicycles; people running up stairs. Let them go, then ask what they think is going on. When students offer a theory, ask: "What do you see that makes you say that?" That is the observation-to-analysis move they will make in their thesis today. (The New York Times "What’s Going On in This Picture?" series has hundreds more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caption. Plenty of students guess India. Point out what they just did: observed details, then analyzed them into a theory. That is exactly what a thesis statement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a student answer. The thesis statement: the starred spot at the bottom of the introduction on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it is in our form: starred, the last sentence of the introduction, the most important part of the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Pre-writing was a light lift for most kids, and it produced a topic that is theirs. That investment is what keeps them off the internet and off ChatGPT: they already know what they want to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recap of the pre-writing process, to get them ready to develop a thesis on the specific topic they landed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students have never written an essay like this, so "thesis statement" may be an abstract idea to them. Don’t dwell on the definition; the examples will do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these slides with the students. Have them read parts aloud if it keeps them engaged.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one problem with student thesis statements is that they are too general: "There are many themes in The Great Gatsby worth discussing." "Violence is a major problem in my community" is better but could be far more specific. Beware the 5-paragraph habit of three broad reasons; each of those is really its own essay. Specific is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 if students can define it before you show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three observations are all real, from Brian’s students pre-writing on the prompt "What’s wrong with education today?" The first is Haley’s, whose sample essay you may have read with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Haley’s observation, from her pre-writing. Ask: is this true? If it reflects reality, it’s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whether it reflects reality. Some kids will say "for some teachers, not for others." If it reflects reality somewhere, it’s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this reflect reality? Yes. So it’s true. All three are good observations.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they all are. Good observations. But…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great observations, but they are not thesis statements yet. They are the start of one. Now we add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students to read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the picture again. Calling out observations is not what I asked for; I asked you to analyze. Now let’s look at some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"creative thinking is not taught enough in schools," the analysis we might offer: this makes school boring for teachers and students; it takes away motivation and excitement; they don’t feel as accomplished as they could if they were creating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observation. Some analysis: old ideas and methods get recycled and new, current ideas are ignored; or simply, this is an ineffective teaching method. We could offer more; these are two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observation. This is a limited approach to learning; it puts too much emphasis on correctness; it ignores the personal expression of students’ experience. Again, there is more analysis available; these are the three we’ll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Their observation is basically the specific topic they arrived at through pre-writing: "my essay is going to be about how schools place too much emphasis on right and wrong answers." Then 2–4 pieces of analysis: opinions, reactions, conclusions. Make sure everyone is on the "Thesis Statement" step at the top of the Tutor. Work the room; don’t sit down. The more specific they get, the better: we’re putting the topic under a microscope. Students sometimes think a long essay needs a big topic; it’s the opposite. Big and general makes a boring essay.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Today’s YAWP! editor on the Thesis Statement step, with a sample observation, analysis and thesis typed in. The Tutor’s instructions are on the left; when students have a draft thesis, they can ask the Tutor for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Combine observation and analysis and you get the thesis from the sample essay. It’s all in there: every piece of the observation and analysis,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move: teachers too often teach the way they were taught, which creates an ineffective learning environment where old ideas and methods are recycled while new, current ideas are ignored. One single complex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third: the education system’s obsession with testing represents a limited approach to learning… It’s all in there. A beautiful, complex thesis statement.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English equation for a great thesis. Now have students combine their own observation and analysis into one sentence on their document. They can ask the Tutor for feedback; it will help clean up and refine the wording and keep the room moving instead of waiting on you. Watch for the Tutor sterilizing a student’s voice; help them keep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it: no essay until the thesis exists. After class, check every document for a working thesis; leave a positive comment, and where one is wordy or tangled, keep the original and add a "Revised thesis" below it so the student can see the difference. Don’t move on to the Introduction lesson until everyone who was here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of the core lesson. Everything after this is optional: "thesis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second half. Use it for your own understanding, or share it if your students’ writing is ready for it. You can also end the lesson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isn’t that "to be" is never allowed. The problem is that it creates wordy situations, which is why some teachers ban it outright.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forms of "to be" in one sentence, and the sentence sags under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Editing "to be" out forces a rephrase. Read the new sentence aloud next to the old one and ask which sounds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Taking "to be" out forces a rephrase, and the result is stronger and more direct. This is called being concise, and concise should be the goal in critical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is shorter now, and that is the point: there is space to say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reveal on the next slide: the same sentence, grown into a real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training programs don’t emphasize creative design in lesson plans" can now become: when teacher training programs do not emphasize creative design in lesson plans, teachers fail to understand their role as entertainers, resulting in boring lessons.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the power of removing "to be": it clears out words that have no power of their own. Officially the end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next class, read through the theses and comment. Everyone needs a working thesis before they start the introduction; absent students can catch up with the Tutor.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YAWP_HYBRID">
    <p:bg>
      <p:bgPr>
        <a:solidFill>
          <a:srgbClr val="F7F5EE"/>
        </a:solidFill>
      </p:bgPr>
    </p:bg>
    <p:spTree>
      <p:nvGrpSpPr>
        <p:cNvPr id="1" name=""/>
        <p:cNvGrpSpPr/>
        <p:nvPr/>
      </p:nvGrpSpPr>
      <p:grpSpPr>
        <a:xfrm>
          <a:off x="0" y="0"/>
          <a:ext cx="0" cy="0"/>
          <a:chOff x="0" y="0"/>
          <a:chExt cx="0" cy="0"/>
        </a:xfrm>
      </p:grpSpPr>
      <p:sp>
        <p:nvSpPr>
          <p:cNvPr id="2" name="Text 0"/>
          <p:cNvSpPr/>
          <p:nvPr/>
        </p:nvSpPr>
        <p:spPr>
          <a:xfrm>
            <a:off x="685800" y="6355080"/>
            <a:ext cx="1828800" cy="320040"/>
          </a:xfrm>
          <a:prstGeom prst="rect">
            <a:avLst/>
          </a:prstGeom>
          <a:noFill/>
          <a:ln/>
        </p:spPr>
        <p:txBody>
          <a:bodyPr wrap="square" lIns="0" tIns="0" rIns="0" bIns="0" rtlCol="0" anchor="ctr"/>
          <a:lstStyle/>
          <a:p>
            <a:pPr indent="0" marL="0">
              <a:buNone/>
            </a:pPr>
            <a:r>
              <a:rPr lang="en-US" sz="1100" b="1" dirty="0">
                <a:solidFill>
                  <a:srgbClr val="D27151"/>
                </a:solidFill>
                <a:latin typeface="Georgia" pitchFamily="34" charset="0"/>
                <a:ea typeface="Georgia" pitchFamily="34" charset="-122"/>
                <a:cs typeface="Georgia" pitchFamily="34" charset="-120"/>
              </a:rPr>
              <a:t>YAWP!</a:t>
            </a:r>
            <a:endParaRPr lang="en-US" sz="1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jp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2.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slideLayout" Target="../slideLayouts/slideLayout2.xml"/><Relationship Id="rId5"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slideLayout" Target="../slideLayouts/slideLayout2.xml"/><Relationship Id="rId5"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2.xml"/><Relationship Id="rId5"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4663440" cy="6858000"/>
          </a:xfrm>
          <a:prstGeom prst="rect">
            <a:avLst/>
          </a:prstGeom>
          <a:solidFill>
            <a:srgbClr val="02BDC7"/>
          </a:solidFill>
          <a:ln w="12700">
            <a:solidFill>
              <a:srgbClr val="02BDC7"/>
            </a:solidFill>
            <a:prstDash val="solid"/>
          </a:ln>
        </p:spPr>
      </p:sp>
      <p:sp>
        <p:nvSpPr>
          <p:cNvPr id="3" name="Shape 1"/>
          <p:cNvSpPr/>
          <p:nvPr/>
        </p:nvSpPr>
        <p:spPr>
          <a:xfrm>
            <a:off x="777240" y="1874520"/>
            <a:ext cx="3108960" cy="310896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4" name="Text 2"/>
          <p:cNvSpPr/>
          <p:nvPr/>
        </p:nvSpPr>
        <p:spPr>
          <a:xfrm>
            <a:off x="777240" y="2788920"/>
            <a:ext cx="3108960" cy="914400"/>
          </a:xfrm>
          <a:prstGeom prst="rect">
            <a:avLst/>
          </a:prstGeom>
          <a:noFill/>
          <a:ln/>
        </p:spPr>
        <p:txBody>
          <a:bodyPr wrap="square" lIns="0" tIns="0" rIns="0" bIns="0" rtlCol="0" anchor="ctr"/>
          <a:lstStyle/>
          <a:p>
            <a:pPr algn="ctr" indent="0" marL="0">
              <a:buNone/>
            </a:pPr>
            <a:r>
              <a:rPr lang="en-US" sz="6000" b="1" dirty="0">
                <a:solidFill>
                  <a:srgbClr val="3C3828"/>
                </a:solidFill>
                <a:latin typeface="Georgia" pitchFamily="34" charset="0"/>
                <a:ea typeface="Georgia" pitchFamily="34" charset="-122"/>
                <a:cs typeface="Georgia" pitchFamily="34" charset="-120"/>
              </a:rPr>
              <a:t>YAWP!</a:t>
            </a:r>
            <a:endParaRPr lang="en-US" sz="6000" dirty="0"/>
          </a:p>
        </p:txBody>
      </p:sp>
      <p:sp>
        <p:nvSpPr>
          <p:cNvPr id="5" name="Text 3"/>
          <p:cNvSpPr/>
          <p:nvPr/>
        </p:nvSpPr>
        <p:spPr>
          <a:xfrm>
            <a:off x="777240" y="3703320"/>
            <a:ext cx="3108960" cy="365760"/>
          </a:xfrm>
          <a:prstGeom prst="rect">
            <a:avLst/>
          </a:prstGeom>
          <a:noFill/>
          <a:ln/>
        </p:spPr>
        <p:txBody>
          <a:bodyPr wrap="square" lIns="0" tIns="0" rIns="0" bIns="0" rtlCol="0" anchor="ctr"/>
          <a:lstStyle/>
          <a:p>
            <a:pPr algn="ctr" indent="0" marL="0">
              <a:buNone/>
            </a:pPr>
            <a:r>
              <a:rPr lang="en-US" sz="1200" b="1" spc="300" kern="0" dirty="0">
                <a:solidFill>
                  <a:srgbClr val="D27151"/>
                </a:solidFill>
                <a:latin typeface="Consolas" pitchFamily="34" charset="0"/>
                <a:ea typeface="Consolas" pitchFamily="34" charset="-122"/>
                <a:cs typeface="Consolas" pitchFamily="34" charset="-120"/>
              </a:rPr>
              <a:t>WRITING PROGRAM</a:t>
            </a:r>
            <a:endParaRPr lang="en-US" sz="1200" dirty="0"/>
          </a:p>
        </p:txBody>
      </p:sp>
      <p:sp>
        <p:nvSpPr>
          <p:cNvPr id="6" name="Shape 4"/>
          <p:cNvSpPr/>
          <p:nvPr/>
        </p:nvSpPr>
        <p:spPr>
          <a:xfrm>
            <a:off x="2971800" y="1371600"/>
            <a:ext cx="1325880" cy="132588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3236976" y="1636776"/>
            <a:ext cx="795528" cy="795528"/>
          </a:xfrm>
          <a:prstGeom prst="rect">
            <a:avLst/>
          </a:prstGeom>
        </p:spPr>
      </p:pic>
      <p:sp>
        <p:nvSpPr>
          <p:cNvPr id="8" name="Shape 5"/>
          <p:cNvSpPr/>
          <p:nvPr/>
        </p:nvSpPr>
        <p:spPr>
          <a:xfrm>
            <a:off x="365760" y="2011680"/>
            <a:ext cx="914400" cy="91440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548640" y="2194560"/>
            <a:ext cx="548640" cy="548640"/>
          </a:xfrm>
          <a:prstGeom prst="rect">
            <a:avLst/>
          </a:prstGeom>
        </p:spPr>
      </p:pic>
      <p:sp>
        <p:nvSpPr>
          <p:cNvPr id="10" name="Shape 6"/>
          <p:cNvSpPr/>
          <p:nvPr/>
        </p:nvSpPr>
        <p:spPr>
          <a:xfrm>
            <a:off x="822960" y="4206240"/>
            <a:ext cx="1051560" cy="105156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1033272" y="4416552"/>
            <a:ext cx="630936" cy="630936"/>
          </a:xfrm>
          <a:prstGeom prst="rect">
            <a:avLst/>
          </a:prstGeom>
        </p:spPr>
      </p:pic>
      <p:sp>
        <p:nvSpPr>
          <p:cNvPr id="12" name="Shape 7"/>
          <p:cNvSpPr/>
          <p:nvPr/>
        </p:nvSpPr>
        <p:spPr>
          <a:xfrm>
            <a:off x="594360" y="3200400"/>
            <a:ext cx="256032" cy="256032"/>
          </a:xfrm>
          <a:prstGeom prst="ellipse">
            <a:avLst/>
          </a:prstGeom>
          <a:solidFill>
            <a:srgbClr val="FFFEFA"/>
          </a:solidFill>
          <a:ln w="12700">
            <a:solidFill>
              <a:srgbClr val="FFFEFA"/>
            </a:solidFill>
            <a:prstDash val="solid"/>
          </a:ln>
        </p:spPr>
      </p:sp>
      <p:sp>
        <p:nvSpPr>
          <p:cNvPr id="13" name="Shape 8"/>
          <p:cNvSpPr/>
          <p:nvPr/>
        </p:nvSpPr>
        <p:spPr>
          <a:xfrm>
            <a:off x="3931920" y="2971800"/>
            <a:ext cx="329184" cy="329184"/>
          </a:xfrm>
          <a:prstGeom prst="ellipse">
            <a:avLst/>
          </a:prstGeom>
          <a:solidFill>
            <a:srgbClr val="FC4067"/>
          </a:solidFill>
          <a:ln w="12700">
            <a:solidFill>
              <a:srgbClr val="FC4067"/>
            </a:solidFill>
            <a:prstDash val="solid"/>
          </a:ln>
        </p:spPr>
      </p:sp>
      <p:sp>
        <p:nvSpPr>
          <p:cNvPr id="14" name="Shape 9"/>
          <p:cNvSpPr/>
          <p:nvPr/>
        </p:nvSpPr>
        <p:spPr>
          <a:xfrm>
            <a:off x="3383280" y="5074920"/>
            <a:ext cx="457200" cy="457200"/>
          </a:xfrm>
          <a:prstGeom prst="ellipse">
            <a:avLst/>
          </a:prstGeom>
          <a:solidFill>
            <a:srgbClr val="FF9755"/>
          </a:solidFill>
          <a:ln w="12700">
            <a:solidFill>
              <a:srgbClr val="FF9755"/>
            </a:solidFill>
            <a:prstDash val="solid"/>
          </a:ln>
        </p:spPr>
      </p:sp>
      <p:sp>
        <p:nvSpPr>
          <p:cNvPr id="15" name="Shape 10"/>
          <p:cNvSpPr/>
          <p:nvPr/>
        </p:nvSpPr>
        <p:spPr>
          <a:xfrm>
            <a:off x="2651760" y="5303520"/>
            <a:ext cx="146304" cy="146304"/>
          </a:xfrm>
          <a:prstGeom prst="ellipse">
            <a:avLst/>
          </a:prstGeom>
          <a:solidFill>
            <a:srgbClr val="FFB600"/>
          </a:solidFill>
          <a:ln w="12700">
            <a:solidFill>
              <a:srgbClr val="FFB600"/>
            </a:solidFill>
            <a:prstDash val="solid"/>
          </a:ln>
        </p:spPr>
      </p:sp>
      <p:sp>
        <p:nvSpPr>
          <p:cNvPr id="16" name="Shape 11"/>
          <p:cNvSpPr/>
          <p:nvPr/>
        </p:nvSpPr>
        <p:spPr>
          <a:xfrm>
            <a:off x="1920240" y="5212080"/>
            <a:ext cx="182880" cy="182880"/>
          </a:xfrm>
          <a:prstGeom prst="ellipse">
            <a:avLst/>
          </a:prstGeom>
          <a:solidFill>
            <a:srgbClr val="FFFEFA"/>
          </a:solidFill>
          <a:ln w="12700">
            <a:solidFill>
              <a:srgbClr val="FFFEFA"/>
            </a:solidFill>
            <a:prstDash val="solid"/>
          </a:ln>
        </p:spPr>
      </p:sp>
      <p:sp>
        <p:nvSpPr>
          <p:cNvPr id="17" name="Text 12"/>
          <p:cNvSpPr/>
          <p:nvPr/>
        </p:nvSpPr>
        <p:spPr>
          <a:xfrm>
            <a:off x="5394960" y="2057400"/>
            <a:ext cx="6110935" cy="365760"/>
          </a:xfrm>
          <a:prstGeom prst="rect">
            <a:avLst/>
          </a:prstGeom>
          <a:noFill/>
          <a:ln/>
        </p:spPr>
        <p:txBody>
          <a:bodyPr wrap="square" lIns="0" tIns="0" rIns="0" bIns="0" rtlCol="0" anchor="ctr"/>
          <a:lstStyle/>
          <a:p>
            <a:pPr indent="0" marL="0">
              <a:buNone/>
            </a:pPr>
            <a:r>
              <a:rPr lang="en-US" sz="1300" b="1" spc="200" kern="0" dirty="0">
                <a:solidFill>
                  <a:srgbClr val="02BDC7"/>
                </a:solidFill>
                <a:latin typeface="Consolas" pitchFamily="34" charset="0"/>
                <a:ea typeface="Consolas" pitchFamily="34" charset="-122"/>
                <a:cs typeface="Consolas" pitchFamily="34" charset="-120"/>
              </a:rPr>
              <a:t>THESIS-DRIVEN ESSAY · LESSON 3</a:t>
            </a:r>
            <a:endParaRPr lang="en-US" sz="1300" dirty="0"/>
          </a:p>
        </p:txBody>
      </p:sp>
      <p:sp>
        <p:nvSpPr>
          <p:cNvPr id="18" name="Text 13"/>
          <p:cNvSpPr/>
          <p:nvPr/>
        </p:nvSpPr>
        <p:spPr>
          <a:xfrm>
            <a:off x="5394960" y="2468880"/>
            <a:ext cx="6110935" cy="1371600"/>
          </a:xfrm>
          <a:prstGeom prst="rect">
            <a:avLst/>
          </a:prstGeom>
          <a:noFill/>
          <a:ln/>
        </p:spPr>
        <p:txBody>
          <a:bodyPr wrap="square" lIns="0" tIns="0" rIns="0" bIns="0" rtlCol="0" anchor="ctr"/>
          <a:lstStyle/>
          <a:p>
            <a:pPr indent="0" marL="0">
              <a:buNone/>
            </a:pPr>
            <a:r>
              <a:rPr lang="en-US" sz="4600" dirty="0">
                <a:solidFill>
                  <a:srgbClr val="3C3828"/>
                </a:solidFill>
                <a:highlight>
                  <a:srgbClr val="FFE14D"/>
                </a:highlight>
                <a:latin typeface="Georgia" pitchFamily="34" charset="0"/>
                <a:ea typeface="Georgia" pitchFamily="34" charset="-122"/>
                <a:cs typeface="Georgia" pitchFamily="34" charset="-120"/>
              </a:rPr>
              <a:t>Thesis Statement</a:t>
            </a:r>
            <a:endParaRPr lang="en-US" sz="4600" dirty="0"/>
          </a:p>
        </p:txBody>
      </p:sp>
      <p:sp>
        <p:nvSpPr>
          <p:cNvPr id="19" name="Text 14"/>
          <p:cNvSpPr/>
          <p:nvPr/>
        </p:nvSpPr>
        <p:spPr>
          <a:xfrm>
            <a:off x="5394960" y="3931920"/>
            <a:ext cx="6110935" cy="640080"/>
          </a:xfrm>
          <a:prstGeom prst="rect">
            <a:avLst/>
          </a:prstGeom>
          <a:noFill/>
          <a:ln/>
        </p:spPr>
        <p:txBody>
          <a:bodyPr wrap="square" lIns="0" tIns="0" rIns="0" bIns="0" rtlCol="0" anchor="t"/>
          <a:lstStyle/>
          <a:p>
            <a:pPr indent="0" marL="0">
              <a:buNone/>
            </a:pPr>
            <a:r>
              <a:rPr lang="en-US" sz="2200" dirty="0">
                <a:solidFill>
                  <a:srgbClr val="7E7C78"/>
                </a:solidFill>
                <a:latin typeface="Calibri" pitchFamily="34" charset="0"/>
                <a:ea typeface="Calibri" pitchFamily="34" charset="-122"/>
                <a:cs typeface="Calibri" pitchFamily="34" charset="-120"/>
              </a:rPr>
              <a:t>From the mines, with treasure</a:t>
            </a:r>
            <a:endParaRPr lang="en-US" sz="2200" dirty="0"/>
          </a:p>
        </p:txBody>
      </p:sp>
      <p:sp>
        <p:nvSpPr>
          <p:cNvPr id="20" name="Shape 15"/>
          <p:cNvSpPr/>
          <p:nvPr/>
        </p:nvSpPr>
        <p:spPr>
          <a:xfrm>
            <a:off x="5394960" y="4800600"/>
            <a:ext cx="237744" cy="237744"/>
          </a:xfrm>
          <a:prstGeom prst="ellipse">
            <a:avLst/>
          </a:prstGeom>
          <a:solidFill>
            <a:srgbClr val="02BDC7"/>
          </a:solidFill>
          <a:ln w="12700">
            <a:solidFill>
              <a:srgbClr val="02BDC7"/>
            </a:solidFill>
            <a:prstDash val="solid"/>
          </a:ln>
        </p:spPr>
      </p:sp>
      <p:sp>
        <p:nvSpPr>
          <p:cNvPr id="21" name="Shape 16"/>
          <p:cNvSpPr/>
          <p:nvPr/>
        </p:nvSpPr>
        <p:spPr>
          <a:xfrm>
            <a:off x="5779008" y="4800600"/>
            <a:ext cx="237744" cy="237744"/>
          </a:xfrm>
          <a:prstGeom prst="ellipse">
            <a:avLst/>
          </a:prstGeom>
          <a:solidFill>
            <a:srgbClr val="FFB600"/>
          </a:solidFill>
          <a:ln w="12700">
            <a:solidFill>
              <a:srgbClr val="FFB600"/>
            </a:solidFill>
            <a:prstDash val="solid"/>
          </a:ln>
        </p:spPr>
      </p:sp>
      <p:sp>
        <p:nvSpPr>
          <p:cNvPr id="22" name="Shape 17"/>
          <p:cNvSpPr/>
          <p:nvPr/>
        </p:nvSpPr>
        <p:spPr>
          <a:xfrm>
            <a:off x="6163056" y="4800600"/>
            <a:ext cx="237744" cy="237744"/>
          </a:xfrm>
          <a:prstGeom prst="ellipse">
            <a:avLst/>
          </a:prstGeom>
          <a:solidFill>
            <a:srgbClr val="FC4540"/>
          </a:solidFill>
          <a:ln w="12700">
            <a:solidFill>
              <a:srgbClr val="FC4540"/>
            </a:solidFill>
            <a:prstDash val="solid"/>
          </a:ln>
        </p:spPr>
      </p:sp>
      <p:sp>
        <p:nvSpPr>
          <p:cNvPr id="23" name="Shape 18"/>
          <p:cNvSpPr/>
          <p:nvPr/>
        </p:nvSpPr>
        <p:spPr>
          <a:xfrm>
            <a:off x="6547104" y="4800600"/>
            <a:ext cx="237744" cy="237744"/>
          </a:xfrm>
          <a:prstGeom prst="ellipse">
            <a:avLst/>
          </a:prstGeom>
          <a:solidFill>
            <a:srgbClr val="FF9755"/>
          </a:solidFill>
          <a:ln w="12700">
            <a:solidFill>
              <a:srgbClr val="FF9755"/>
            </a:solidFill>
            <a:prstDash val="solid"/>
          </a:ln>
        </p:spPr>
      </p:sp>
      <p:sp>
        <p:nvSpPr>
          <p:cNvPr id="24" name="Shape 19"/>
          <p:cNvSpPr/>
          <p:nvPr/>
        </p:nvSpPr>
        <p:spPr>
          <a:xfrm>
            <a:off x="6931152" y="4800600"/>
            <a:ext cx="237744" cy="237744"/>
          </a:xfrm>
          <a:prstGeom prst="ellipse">
            <a:avLst/>
          </a:prstGeom>
          <a:solidFill>
            <a:srgbClr val="FC4067"/>
          </a:solidFill>
          <a:ln w="12700">
            <a:solidFill>
              <a:srgbClr val="FC406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OPTIONAL</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4000" dirty="0">
                <a:solidFill>
                  <a:srgbClr val="3C3828"/>
                </a:solidFill>
                <a:highlight>
                  <a:srgbClr val="FFE14D"/>
                </a:highlight>
                <a:latin typeface="Georgia" pitchFamily="34" charset="0"/>
                <a:ea typeface="Georgia" pitchFamily="34" charset="-122"/>
                <a:cs typeface="Georgia" pitchFamily="34" charset="-120"/>
              </a:rPr>
              <a:t>Quick Review</a:t>
            </a:r>
            <a:endParaRPr lang="en-US" sz="40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What we’ve learned so far, one question at a time.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1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54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54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54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54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54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REVIEW · 1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What’s the best way to write an essay?</a:t>
            </a:r>
            <a:endParaRPr lang="en-US" sz="3000" dirty="0"/>
          </a:p>
        </p:txBody>
      </p:sp>
      <p:sp>
        <p:nvSpPr>
          <p:cNvPr id="4" name="Shape 2"/>
          <p:cNvSpPr/>
          <p:nvPr/>
        </p:nvSpPr>
        <p:spPr>
          <a:xfrm>
            <a:off x="10637215" y="457200"/>
            <a:ext cx="868680" cy="86868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02BDC7"/>
          </a:solidFill>
          <a:ln w="12700">
            <a:solidFill>
              <a:srgbClr val="02BDC7"/>
            </a:solidFill>
            <a:prstDash val="solid"/>
          </a:ln>
        </p:spPr>
      </p:sp>
      <p:sp>
        <p:nvSpPr>
          <p:cNvPr id="7" name="Shape 4"/>
          <p:cNvSpPr/>
          <p:nvPr/>
        </p:nvSpPr>
        <p:spPr>
          <a:xfrm>
            <a:off x="11460175" y="1307592"/>
            <a:ext cx="128016" cy="128016"/>
          </a:xfrm>
          <a:prstGeom prst="ellipse">
            <a:avLst/>
          </a:prstGeom>
          <a:solidFill>
            <a:srgbClr val="FFB600"/>
          </a:solidFill>
          <a:ln w="12700">
            <a:solidFill>
              <a:srgbClr val="FFB60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9755"/>
          </a:solidFill>
          <a:ln w="12700">
            <a:solidFill>
              <a:srgbClr val="FF9755"/>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Just start writing and hope some good ideas come out.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Take my ideas and plug them into a formula, like the 5-paragraph essay.</a:t>
            </a:r>
            <a:endParaRPr lang="en-US" sz="2200" dirty="0"/>
          </a:p>
        </p:txBody>
      </p:sp>
      <p:sp>
        <p:nvSpPr>
          <p:cNvPr id="16" name="Shape 13"/>
          <p:cNvSpPr/>
          <p:nvPr/>
        </p:nvSpPr>
        <p:spPr>
          <a:xfrm>
            <a:off x="1097280" y="3794760"/>
            <a:ext cx="457200" cy="457200"/>
          </a:xfrm>
          <a:prstGeom prst="ellipse">
            <a:avLst/>
          </a:prstGeom>
          <a:solidFill>
            <a:srgbClr val="FF9755"/>
          </a:solidFill>
          <a:ln w="12700">
            <a:solidFill>
              <a:srgbClr val="FF9755"/>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Develop my ideas into a thesis statement and build my essay around that.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ChatGPT, duh.</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I have never actually written an essay, so I have no idea.</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REVIEW · 2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067"/>
          </a:solidFill>
          <a:ln w="12700">
            <a:solidFill>
              <a:srgbClr val="FC4067"/>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C406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C4067"/>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C4067"/>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C4067"/>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C4067"/>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C4067"/>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REVIEW · 2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Critical thinking is best defined as:</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2331720"/>
            <a:ext cx="457200" cy="457200"/>
          </a:xfrm>
          <a:prstGeom prst="ellipse">
            <a:avLst/>
          </a:prstGeom>
          <a:solidFill>
            <a:srgbClr val="02BDC7"/>
          </a:solidFill>
          <a:ln w="12700">
            <a:solidFill>
              <a:srgbClr val="02BDC7"/>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Asking questions and seeking answers about a topic in order to develop a position on it</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weaknesses in an argument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D6D4CC"/>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Finding all of the strengths in an argument</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Arguing a specific point of view in front of an audience</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Researching experts’ perspectives and arguments on a topic in order to develop a position on it</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REVIEW · 3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FB600"/>
          </a:solidFill>
          <a:ln w="12700">
            <a:solidFill>
              <a:srgbClr val="FFB60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9755"/>
          </a:solidFill>
          <a:ln w="12700">
            <a:solidFill>
              <a:srgbClr val="FF9755"/>
            </a:solidFill>
            <a:prstDash val="solid"/>
          </a:ln>
        </p:spPr>
      </p:sp>
      <p:sp>
        <p:nvSpPr>
          <p:cNvPr id="7" name="Shape 4"/>
          <p:cNvSpPr/>
          <p:nvPr/>
        </p:nvSpPr>
        <p:spPr>
          <a:xfrm>
            <a:off x="11460175" y="1307592"/>
            <a:ext cx="128016" cy="128016"/>
          </a:xfrm>
          <a:prstGeom prst="ellipse">
            <a:avLst/>
          </a:prstGeom>
          <a:solidFill>
            <a:srgbClr val="FC4067"/>
          </a:solidFill>
          <a:ln w="12700">
            <a:solidFill>
              <a:srgbClr val="FC406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FB600"/>
          </a:solidFill>
          <a:ln w="12700">
            <a:solidFill>
              <a:srgbClr val="FFB60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FFB600"/>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FFB600"/>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FFEFA"/>
          </a:solidFill>
          <a:ln w="15875">
            <a:solidFill>
              <a:srgbClr val="FFB60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FFB600"/>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FFB600"/>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FFB600"/>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3C382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REVIEW · 3 OF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Which of the following is MOST TRUE about a good thesis statement?</a:t>
            </a:r>
            <a:endParaRPr lang="en-US" sz="30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1920240"/>
            <a:ext cx="10820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920240"/>
            <a:ext cx="10564063" cy="91440"/>
          </a:xfrm>
          <a:prstGeom prst="rect">
            <a:avLst/>
          </a:prstGeom>
          <a:solidFill>
            <a:srgbClr val="FC4540"/>
          </a:solidFill>
          <a:ln w="12700">
            <a:solidFill>
              <a:srgbClr val="FC4540"/>
            </a:solidFill>
            <a:prstDash val="solid"/>
          </a:ln>
        </p:spPr>
      </p:sp>
      <p:sp>
        <p:nvSpPr>
          <p:cNvPr id="10" name="Shape 7"/>
          <p:cNvSpPr/>
          <p:nvPr/>
        </p:nvSpPr>
        <p:spPr>
          <a:xfrm>
            <a:off x="1097280" y="2331720"/>
            <a:ext cx="457200" cy="457200"/>
          </a:xfrm>
          <a:prstGeom prst="ellipse">
            <a:avLst/>
          </a:prstGeom>
          <a:solidFill>
            <a:srgbClr val="FFFEFA"/>
          </a:solidFill>
          <a:ln w="15875">
            <a:solidFill>
              <a:srgbClr val="D6D4CC"/>
            </a:solidFill>
            <a:prstDash val="solid"/>
          </a:ln>
        </p:spPr>
      </p:sp>
      <p:sp>
        <p:nvSpPr>
          <p:cNvPr id="11" name="Text 8"/>
          <p:cNvSpPr/>
          <p:nvPr/>
        </p:nvSpPr>
        <p:spPr>
          <a:xfrm>
            <a:off x="1097280" y="233172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a</a:t>
            </a:r>
            <a:endParaRPr lang="en-US" sz="1400" dirty="0"/>
          </a:p>
        </p:txBody>
      </p:sp>
      <p:sp>
        <p:nvSpPr>
          <p:cNvPr id="12" name="Text 9"/>
          <p:cNvSpPr/>
          <p:nvPr/>
        </p:nvSpPr>
        <p:spPr>
          <a:xfrm>
            <a:off x="1783080" y="219456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easy for the reader to agree with.</a:t>
            </a:r>
            <a:endParaRPr lang="en-US" sz="2200" dirty="0"/>
          </a:p>
        </p:txBody>
      </p:sp>
      <p:sp>
        <p:nvSpPr>
          <p:cNvPr id="13" name="Shape 10"/>
          <p:cNvSpPr/>
          <p:nvPr/>
        </p:nvSpPr>
        <p:spPr>
          <a:xfrm>
            <a:off x="1097280" y="3063240"/>
            <a:ext cx="457200" cy="457200"/>
          </a:xfrm>
          <a:prstGeom prst="ellipse">
            <a:avLst/>
          </a:prstGeom>
          <a:solidFill>
            <a:srgbClr val="FFFEFA"/>
          </a:solidFill>
          <a:ln w="15875">
            <a:solidFill>
              <a:srgbClr val="D6D4CC"/>
            </a:solidFill>
            <a:prstDash val="solid"/>
          </a:ln>
        </p:spPr>
      </p:sp>
      <p:sp>
        <p:nvSpPr>
          <p:cNvPr id="14" name="Text 11"/>
          <p:cNvSpPr/>
          <p:nvPr/>
        </p:nvSpPr>
        <p:spPr>
          <a:xfrm>
            <a:off x="1097280" y="306324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b</a:t>
            </a:r>
            <a:endParaRPr lang="en-US" sz="1400" dirty="0"/>
          </a:p>
        </p:txBody>
      </p:sp>
      <p:sp>
        <p:nvSpPr>
          <p:cNvPr id="15" name="Text 12"/>
          <p:cNvSpPr/>
          <p:nvPr/>
        </p:nvSpPr>
        <p:spPr>
          <a:xfrm>
            <a:off x="1783080" y="292608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2–3 pieces of support.</a:t>
            </a:r>
            <a:endParaRPr lang="en-US" sz="2200" dirty="0"/>
          </a:p>
        </p:txBody>
      </p:sp>
      <p:sp>
        <p:nvSpPr>
          <p:cNvPr id="16" name="Shape 13"/>
          <p:cNvSpPr/>
          <p:nvPr/>
        </p:nvSpPr>
        <p:spPr>
          <a:xfrm>
            <a:off x="1097280" y="3794760"/>
            <a:ext cx="457200" cy="457200"/>
          </a:xfrm>
          <a:prstGeom prst="ellipse">
            <a:avLst/>
          </a:prstGeom>
          <a:solidFill>
            <a:srgbClr val="FC4540"/>
          </a:solidFill>
          <a:ln w="12700">
            <a:solidFill>
              <a:srgbClr val="FC4540"/>
            </a:solidFill>
            <a:prstDash val="solid"/>
          </a:ln>
        </p:spPr>
      </p:sp>
      <p:sp>
        <p:nvSpPr>
          <p:cNvPr id="17" name="Text 14"/>
          <p:cNvSpPr/>
          <p:nvPr/>
        </p:nvSpPr>
        <p:spPr>
          <a:xfrm>
            <a:off x="1097280" y="3794760"/>
            <a:ext cx="457200" cy="457200"/>
          </a:xfrm>
          <a:prstGeom prst="rect">
            <a:avLst/>
          </a:prstGeom>
          <a:noFill/>
          <a:ln/>
        </p:spPr>
        <p:txBody>
          <a:bodyPr wrap="square" lIns="0" tIns="0" rIns="0" bIns="0" rtlCol="0" anchor="ctr"/>
          <a:lstStyle/>
          <a:p>
            <a:pPr algn="ctr" indent="0" marL="0">
              <a:buNone/>
            </a:pPr>
            <a:r>
              <a:rPr lang="en-US" sz="1400" b="1" dirty="0">
                <a:solidFill>
                  <a:srgbClr val="FFFEFA"/>
                </a:solidFill>
                <a:latin typeface="Consolas" pitchFamily="34" charset="0"/>
                <a:ea typeface="Consolas" pitchFamily="34" charset="-122"/>
                <a:cs typeface="Consolas" pitchFamily="34" charset="-120"/>
              </a:rPr>
              <a:t>c</a:t>
            </a:r>
            <a:endParaRPr lang="en-US" sz="1400" dirty="0"/>
          </a:p>
        </p:txBody>
      </p:sp>
      <p:sp>
        <p:nvSpPr>
          <p:cNvPr id="18" name="Text 15"/>
          <p:cNvSpPr/>
          <p:nvPr/>
        </p:nvSpPr>
        <p:spPr>
          <a:xfrm>
            <a:off x="1783080" y="3657600"/>
            <a:ext cx="9357055" cy="731520"/>
          </a:xfrm>
          <a:prstGeom prst="rect">
            <a:avLst/>
          </a:prstGeom>
          <a:noFill/>
          <a:ln/>
        </p:spPr>
        <p:txBody>
          <a:bodyPr wrap="square" lIns="0" tIns="0" rIns="0" bIns="0" rtlCol="0" anchor="ctr"/>
          <a:lstStyle/>
          <a:p>
            <a:pPr indent="0" marL="0">
              <a:buNone/>
            </a:pPr>
            <a:r>
              <a:rPr lang="en-US" sz="2200" b="1" dirty="0">
                <a:solidFill>
                  <a:srgbClr val="3C3828"/>
                </a:solidFill>
                <a:highlight>
                  <a:srgbClr val="FFE14D"/>
                </a:highlight>
                <a:latin typeface="Calibri" pitchFamily="34" charset="0"/>
                <a:ea typeface="Calibri" pitchFamily="34" charset="-122"/>
                <a:cs typeface="Calibri" pitchFamily="34" charset="-120"/>
              </a:rPr>
              <a:t>A good thesis statement contains observation and analysis.</a:t>
            </a:r>
            <a:endParaRPr lang="en-US" sz="2200" dirty="0"/>
          </a:p>
        </p:txBody>
      </p:sp>
      <p:sp>
        <p:nvSpPr>
          <p:cNvPr id="19" name="Shape 16"/>
          <p:cNvSpPr/>
          <p:nvPr/>
        </p:nvSpPr>
        <p:spPr>
          <a:xfrm>
            <a:off x="1097280" y="4526280"/>
            <a:ext cx="457200" cy="457200"/>
          </a:xfrm>
          <a:prstGeom prst="ellipse">
            <a:avLst/>
          </a:prstGeom>
          <a:solidFill>
            <a:srgbClr val="FFFEFA"/>
          </a:solidFill>
          <a:ln w="15875">
            <a:solidFill>
              <a:srgbClr val="D6D4CC"/>
            </a:solidFill>
            <a:prstDash val="solid"/>
          </a:ln>
        </p:spPr>
      </p:sp>
      <p:sp>
        <p:nvSpPr>
          <p:cNvPr id="20" name="Text 17"/>
          <p:cNvSpPr/>
          <p:nvPr/>
        </p:nvSpPr>
        <p:spPr>
          <a:xfrm>
            <a:off x="1097280" y="452628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d</a:t>
            </a:r>
            <a:endParaRPr lang="en-US" sz="1400" dirty="0"/>
          </a:p>
        </p:txBody>
      </p:sp>
      <p:sp>
        <p:nvSpPr>
          <p:cNvPr id="21" name="Text 18"/>
          <p:cNvSpPr/>
          <p:nvPr/>
        </p:nvSpPr>
        <p:spPr>
          <a:xfrm>
            <a:off x="1783080" y="438912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contains research and facts.</a:t>
            </a:r>
            <a:endParaRPr lang="en-US" sz="2200" dirty="0"/>
          </a:p>
        </p:txBody>
      </p:sp>
      <p:sp>
        <p:nvSpPr>
          <p:cNvPr id="22" name="Shape 19"/>
          <p:cNvSpPr/>
          <p:nvPr/>
        </p:nvSpPr>
        <p:spPr>
          <a:xfrm>
            <a:off x="1097280" y="5257800"/>
            <a:ext cx="457200" cy="457200"/>
          </a:xfrm>
          <a:prstGeom prst="ellipse">
            <a:avLst/>
          </a:prstGeom>
          <a:solidFill>
            <a:srgbClr val="FFFEFA"/>
          </a:solidFill>
          <a:ln w="15875">
            <a:solidFill>
              <a:srgbClr val="D6D4CC"/>
            </a:solidFill>
            <a:prstDash val="solid"/>
          </a:ln>
        </p:spPr>
      </p:sp>
      <p:sp>
        <p:nvSpPr>
          <p:cNvPr id="23" name="Text 20"/>
          <p:cNvSpPr/>
          <p:nvPr/>
        </p:nvSpPr>
        <p:spPr>
          <a:xfrm>
            <a:off x="1097280" y="5257800"/>
            <a:ext cx="457200" cy="457200"/>
          </a:xfrm>
          <a:prstGeom prst="rect">
            <a:avLst/>
          </a:prstGeom>
          <a:noFill/>
          <a:ln/>
        </p:spPr>
        <p:txBody>
          <a:bodyPr wrap="square" lIns="0" tIns="0" rIns="0" bIns="0" rtlCol="0" anchor="ctr"/>
          <a:lstStyle/>
          <a:p>
            <a:pPr algn="ctr" indent="0" marL="0">
              <a:buNone/>
            </a:pPr>
            <a:r>
              <a:rPr lang="en-US" sz="1400" b="1" dirty="0">
                <a:solidFill>
                  <a:srgbClr val="7E7C78"/>
                </a:solidFill>
                <a:latin typeface="Consolas" pitchFamily="34" charset="0"/>
                <a:ea typeface="Consolas" pitchFamily="34" charset="-122"/>
                <a:cs typeface="Consolas" pitchFamily="34" charset="-120"/>
              </a:rPr>
              <a:t>e</a:t>
            </a:r>
            <a:endParaRPr lang="en-US" sz="1400" dirty="0"/>
          </a:p>
        </p:txBody>
      </p:sp>
      <p:sp>
        <p:nvSpPr>
          <p:cNvPr id="24" name="Text 21"/>
          <p:cNvSpPr/>
          <p:nvPr/>
        </p:nvSpPr>
        <p:spPr>
          <a:xfrm>
            <a:off x="1783080" y="5120640"/>
            <a:ext cx="9357055" cy="731520"/>
          </a:xfrm>
          <a:prstGeom prst="rect">
            <a:avLst/>
          </a:prstGeom>
          <a:noFill/>
          <a:ln/>
        </p:spPr>
        <p:txBody>
          <a:bodyPr wrap="square" lIns="0" tIns="0" rIns="0" bIns="0" rtlCol="0" anchor="ctr"/>
          <a:lstStyle/>
          <a:p>
            <a:pPr indent="0" marL="0">
              <a:buNone/>
            </a:pPr>
            <a:r>
              <a:rPr lang="en-US" sz="2200" dirty="0">
                <a:solidFill>
                  <a:srgbClr val="7E7C78"/>
                </a:solidFill>
                <a:latin typeface="Calibri" pitchFamily="34" charset="0"/>
                <a:ea typeface="Calibri" pitchFamily="34" charset="-122"/>
                <a:cs typeface="Calibri" pitchFamily="34" charset="-120"/>
              </a:rPr>
              <a:t>A good thesis statement is 1–2 sentences long.</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WARM-UP · OBSERVE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 details do you see in this picture?</a:t>
            </a:r>
            <a:endParaRPr lang="en-US" sz="30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920240"/>
            <a:ext cx="6452719"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9" name="Image 1" descr="An elephant.">    </p:cNvPr>
          <p:cNvPicPr>
            <a:picLocks noChangeAspect="1"/>
          </p:cNvPicPr>
          <p:nvPr/>
        </p:nvPicPr>
        <p:blipFill>
          <a:blip r:embed="rId2"/>
          <a:stretch>
            <a:fillRect/>
          </a:stretch>
        </p:blipFill>
        <p:spPr>
          <a:xfrm>
            <a:off x="813816" y="2048256"/>
            <a:ext cx="6196687" cy="3950208"/>
          </a:xfrm>
          <a:prstGeom prst="rect">
            <a:avLst/>
          </a:prstGeom>
        </p:spPr>
      </p:pic>
      <p:sp>
        <p:nvSpPr>
          <p:cNvPr id="10" name="Text 6"/>
          <p:cNvSpPr/>
          <p:nvPr/>
        </p:nvSpPr>
        <p:spPr>
          <a:xfrm>
            <a:off x="7641439" y="1965960"/>
            <a:ext cx="3864456" cy="4114800"/>
          </a:xfrm>
          <a:prstGeom prst="rect">
            <a:avLst/>
          </a:prstGeom>
          <a:noFill/>
          <a:ln/>
        </p:spPr>
        <p:txBody>
          <a:bodyPr wrap="square" lIns="0" tIns="0" rIns="0" bIns="0" rtlCol="0" anchor="ctr"/>
          <a:lstStyle/>
          <a:p>
            <a:pPr indent="0" marL="0">
              <a:spcAft>
                <a:spcPts val="1400"/>
              </a:spcAft>
              <a:buNone/>
            </a:pPr>
            <a:r>
              <a:rPr lang="en-US" sz="4000" dirty="0">
                <a:solidFill>
                  <a:srgbClr val="3C3828"/>
                </a:solidFill>
                <a:highlight>
                  <a:srgbClr val="FFE14D"/>
                </a:highlight>
                <a:latin typeface="Georgia" pitchFamily="34" charset="0"/>
                <a:ea typeface="Georgia" pitchFamily="34" charset="-122"/>
                <a:cs typeface="Georgia" pitchFamily="34" charset="-120"/>
              </a:rPr>
              <a:t>What more can you find?</a:t>
            </a:r>
            <a:endParaRPr lang="en-US" sz="4000" dirty="0"/>
          </a:p>
          <a:p>
            <a:pPr indent="0" marL="0">
              <a:spcAft>
                <a:spcPts val="1400"/>
              </a:spcAft>
              <a:buNone/>
            </a:pPr>
            <a:r>
              <a:rPr lang="en-US" sz="2000" dirty="0">
                <a:solidFill>
                  <a:srgbClr val="7E7C78"/>
                </a:solidFill>
                <a:latin typeface="Calibri" pitchFamily="34" charset="0"/>
                <a:ea typeface="Calibri" pitchFamily="34" charset="-122"/>
                <a:cs typeface="Calibri" pitchFamily="34" charset="-120"/>
              </a:rPr>
              <a:t>Then: what’s going on in this picture?</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THE REVEAL</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was going on</a:t>
            </a:r>
            <a:endParaRPr lang="en-US" sz="3600" dirty="0"/>
          </a:p>
        </p:txBody>
      </p:sp>
      <p:sp>
        <p:nvSpPr>
          <p:cNvPr id="4" name="Shape 2"/>
          <p:cNvSpPr/>
          <p:nvPr/>
        </p:nvSpPr>
        <p:spPr>
          <a:xfrm>
            <a:off x="685800" y="1920240"/>
            <a:ext cx="7391095" cy="4206240"/>
          </a:xfrm>
          <a:prstGeom prst="roundRect">
            <a:avLst>
              <a:gd name="adj" fmla="val 304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20240"/>
            <a:ext cx="7135063" cy="91440"/>
          </a:xfrm>
          <a:prstGeom prst="rect">
            <a:avLst/>
          </a:prstGeom>
          <a:solidFill>
            <a:srgbClr val="FFB600"/>
          </a:solidFill>
          <a:ln w="12700">
            <a:solidFill>
              <a:srgbClr val="FFB600"/>
            </a:solidFill>
            <a:prstDash val="solid"/>
          </a:ln>
        </p:spPr>
      </p:sp>
      <p:sp>
        <p:nvSpPr>
          <p:cNvPr id="6" name="Text 4"/>
          <p:cNvSpPr/>
          <p:nvPr/>
        </p:nvSpPr>
        <p:spPr>
          <a:xfrm>
            <a:off x="960120" y="2057400"/>
            <a:ext cx="1005840" cy="1097280"/>
          </a:xfrm>
          <a:prstGeom prst="rect">
            <a:avLst/>
          </a:prstGeom>
          <a:noFill/>
          <a:ln/>
        </p:spPr>
        <p:txBody>
          <a:bodyPr wrap="square" lIns="0" tIns="0" rIns="0" bIns="0" rtlCol="0" anchor="t"/>
          <a:lstStyle/>
          <a:p>
            <a:pPr indent="0" marL="0">
              <a:buNone/>
            </a:pPr>
            <a:r>
              <a:rPr lang="en-US" sz="9600" dirty="0">
                <a:solidFill>
                  <a:srgbClr val="FFB600"/>
                </a:solidFill>
                <a:latin typeface="Georgia" pitchFamily="34" charset="0"/>
                <a:ea typeface="Georgia" pitchFamily="34" charset="-122"/>
                <a:cs typeface="Georgia" pitchFamily="34" charset="-120"/>
              </a:rPr>
              <a:t>“</a:t>
            </a:r>
            <a:endParaRPr lang="en-US" sz="9600" dirty="0"/>
          </a:p>
        </p:txBody>
      </p:sp>
      <p:sp>
        <p:nvSpPr>
          <p:cNvPr id="7" name="Text 5"/>
          <p:cNvSpPr/>
          <p:nvPr/>
        </p:nvSpPr>
        <p:spPr>
          <a:xfrm>
            <a:off x="1828800" y="2286000"/>
            <a:ext cx="5790895" cy="2880360"/>
          </a:xfrm>
          <a:prstGeom prst="rect">
            <a:avLst/>
          </a:prstGeom>
          <a:noFill/>
          <a:ln/>
        </p:spPr>
        <p:txBody>
          <a:bodyPr wrap="square" lIns="0" tIns="0" rIns="0" bIns="0" rtlCol="0" anchor="ctr"/>
          <a:lstStyle/>
          <a:p>
            <a:pPr indent="0" marL="0">
              <a:lnSpc>
                <a:spcPct val="120000"/>
              </a:lnSpc>
              <a:buNone/>
            </a:pPr>
            <a:r>
              <a:rPr lang="en-US" sz="2000" i="1" dirty="0">
                <a:solidFill>
                  <a:srgbClr val="3C3828"/>
                </a:solidFill>
                <a:latin typeface="Georgia" pitchFamily="34" charset="0"/>
                <a:ea typeface="Georgia" pitchFamily="34" charset="-122"/>
                <a:cs typeface="Georgia" pitchFamily="34" charset="-120"/>
              </a:rPr>
              <a:t>This elephant wandered out of a forest and into the streets of a city in North Bengal, India, attacking houses, shops and vehicles over a period of hours. The elephant was finally calmed with three tranquilizer darts. The clash appeared to have a happy ending: the authorities said they returned the creature to the forest.</a:t>
            </a:r>
            <a:endParaRPr lang="en-US" sz="2000" dirty="0"/>
          </a:p>
        </p:txBody>
      </p:sp>
      <p:sp>
        <p:nvSpPr>
          <p:cNvPr id="8" name="Text 6"/>
          <p:cNvSpPr/>
          <p:nvPr/>
        </p:nvSpPr>
        <p:spPr>
          <a:xfrm>
            <a:off x="1828800" y="5349240"/>
            <a:ext cx="5790895" cy="457200"/>
          </a:xfrm>
          <a:prstGeom prst="rect">
            <a:avLst/>
          </a:prstGeom>
          <a:noFill/>
          <a:ln/>
        </p:spPr>
        <p:txBody>
          <a:bodyPr wrap="square" lIns="0" tIns="0" rIns="0" bIns="0" rtlCol="0" anchor="ctr"/>
          <a:lstStyle/>
          <a:p>
            <a:pPr indent="0" marL="0">
              <a:buNone/>
            </a:pPr>
            <a:r>
              <a:rPr lang="en-US" sz="1800" dirty="0">
                <a:solidFill>
                  <a:srgbClr val="7E7C78"/>
                </a:solidFill>
                <a:latin typeface="Calibri" pitchFamily="34" charset="0"/>
                <a:ea typeface="Calibri" pitchFamily="34" charset="-122"/>
                <a:cs typeface="Calibri" pitchFamily="34" charset="-120"/>
              </a:rPr>
              <a:t>— Photo caption, The New York Times</a:t>
            </a:r>
            <a:endParaRPr lang="en-US" sz="1800" dirty="0"/>
          </a:p>
        </p:txBody>
      </p:sp>
      <p:sp>
        <p:nvSpPr>
          <p:cNvPr id="9" name="Shape 7"/>
          <p:cNvSpPr/>
          <p:nvPr/>
        </p:nvSpPr>
        <p:spPr>
          <a:xfrm>
            <a:off x="8488375" y="3039867"/>
            <a:ext cx="3017520" cy="1966987"/>
          </a:xfrm>
          <a:prstGeom prst="roundRect">
            <a:avLst>
              <a:gd name="adj" fmla="val 650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10" name="Image 0" descr="An elephant.">    </p:cNvPr>
          <p:cNvPicPr>
            <a:picLocks noChangeAspect="1"/>
          </p:cNvPicPr>
          <p:nvPr/>
        </p:nvPicPr>
        <p:blipFill>
          <a:blip r:embed="rId1"/>
          <a:stretch>
            <a:fillRect/>
          </a:stretch>
        </p:blipFill>
        <p:spPr>
          <a:xfrm>
            <a:off x="8616391" y="3167883"/>
            <a:ext cx="2761488" cy="1710955"/>
          </a:xfrm>
          <a:prstGeom prst="rect">
            <a:avLst/>
          </a:prstGeom>
        </p:spPr>
      </p:pic>
      <p:sp>
        <p:nvSpPr>
          <p:cNvPr id="11" name="Shape 8"/>
          <p:cNvSpPr/>
          <p:nvPr/>
        </p:nvSpPr>
        <p:spPr>
          <a:xfrm>
            <a:off x="10820095" y="2628387"/>
            <a:ext cx="777240" cy="777240"/>
          </a:xfrm>
          <a:prstGeom prst="ellipse">
            <a:avLst/>
          </a:prstGeom>
          <a:solidFill>
            <a:srgbClr val="02BDC7"/>
          </a:solidFill>
          <a:ln w="12700">
            <a:solidFill>
              <a:srgbClr val="02BDC7"/>
            </a:solidFill>
            <a:prstDash val="solid"/>
          </a:ln>
        </p:spPr>
      </p:sp>
      <p:pic>
        <p:nvPicPr>
          <p:cNvPr id="12" name="Image 1" descr="eye icon">    </p:cNvPr>
          <p:cNvPicPr>
            <a:picLocks noChangeAspect="1"/>
          </p:cNvPicPr>
          <p:nvPr/>
        </p:nvPicPr>
        <p:blipFill>
          <a:blip r:embed="rId2"/>
          <a:stretch>
            <a:fillRect/>
          </a:stretch>
        </p:blipFill>
        <p:spPr>
          <a:xfrm>
            <a:off x="10975543" y="2783835"/>
            <a:ext cx="466344" cy="466344"/>
          </a:xfrm>
          <a:prstGeom prst="rect">
            <a:avLst/>
          </a:prstGeom>
        </p:spPr>
      </p:pic>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QUICK REVIEW</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What do we need to figure out before we can write a great essay?</a:t>
            </a:r>
            <a:endParaRPr lang="en-US" sz="30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Hopefully someone in the room says it: </a:t>
            </a:r>
            <a:r>
              <a:rPr lang="en-US" sz="4000" dirty="0">
                <a:solidFill>
                  <a:srgbClr val="3C3828"/>
                </a:solidFill>
                <a:highlight>
                  <a:srgbClr val="FFE14D"/>
                </a:highlight>
                <a:latin typeface="Georgia" pitchFamily="34" charset="0"/>
                <a:ea typeface="Georgia" pitchFamily="34" charset="-122"/>
                <a:cs typeface="Georgia" pitchFamily="34" charset="-120"/>
              </a:rPr>
              <a:t>a thesis statement.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 FORM</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The Critical Essay Form</a:t>
            </a:r>
            <a:endParaRPr lang="en-US" sz="3200" dirty="0"/>
          </a:p>
        </p:txBody>
      </p:sp>
      <p:sp>
        <p:nvSpPr>
          <p:cNvPr id="4" name="Shape 2"/>
          <p:cNvSpPr/>
          <p:nvPr/>
        </p:nvSpPr>
        <p:spPr>
          <a:xfrm>
            <a:off x="685800" y="1417320"/>
            <a:ext cx="3708464" cy="4800600"/>
          </a:xfrm>
          <a:prstGeom prst="roundRect">
            <a:avLst>
              <a:gd name="adj" fmla="val 345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critical essay form: introduction, body paragraphs and conclusion.">    </p:cNvPr>
          <p:cNvPicPr>
            <a:picLocks noChangeAspect="1"/>
          </p:cNvPicPr>
          <p:nvPr/>
        </p:nvPicPr>
        <p:blipFill>
          <a:blip r:embed="rId1"/>
          <a:stretch>
            <a:fillRect/>
          </a:stretch>
        </p:blipFill>
        <p:spPr>
          <a:xfrm>
            <a:off x="813816" y="1545336"/>
            <a:ext cx="3452432" cy="4544568"/>
          </a:xfrm>
          <a:prstGeom prst="rect">
            <a:avLst/>
          </a:prstGeom>
        </p:spPr>
      </p:pic>
      <p:sp>
        <p:nvSpPr>
          <p:cNvPr id="6" name="Shape 3"/>
          <p:cNvSpPr/>
          <p:nvPr/>
        </p:nvSpPr>
        <p:spPr>
          <a:xfrm>
            <a:off x="1517373" y="2316541"/>
            <a:ext cx="457200" cy="457200"/>
          </a:xfrm>
          <a:prstGeom prst="ellipse">
            <a:avLst/>
          </a:prstGeom>
          <a:solidFill>
            <a:srgbClr val="02BDC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7" name="Text 4"/>
          <p:cNvSpPr/>
          <p:nvPr/>
        </p:nvSpPr>
        <p:spPr>
          <a:xfrm>
            <a:off x="1517373" y="231654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8" name="Shape 5"/>
          <p:cNvSpPr/>
          <p:nvPr/>
        </p:nvSpPr>
        <p:spPr>
          <a:xfrm>
            <a:off x="2725724" y="2998226"/>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9" name="Text 6"/>
          <p:cNvSpPr/>
          <p:nvPr/>
        </p:nvSpPr>
        <p:spPr>
          <a:xfrm>
            <a:off x="2725724" y="2998226"/>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0" name="Shape 7"/>
          <p:cNvSpPr/>
          <p:nvPr/>
        </p:nvSpPr>
        <p:spPr>
          <a:xfrm>
            <a:off x="2863821" y="3725357"/>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1" name="Text 8"/>
          <p:cNvSpPr/>
          <p:nvPr/>
        </p:nvSpPr>
        <p:spPr>
          <a:xfrm>
            <a:off x="2863821" y="3725357"/>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2" name="Shape 9"/>
          <p:cNvSpPr/>
          <p:nvPr/>
        </p:nvSpPr>
        <p:spPr>
          <a:xfrm>
            <a:off x="3105491" y="5043282"/>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3" name="Text 10"/>
          <p:cNvSpPr/>
          <p:nvPr/>
        </p:nvSpPr>
        <p:spPr>
          <a:xfrm>
            <a:off x="3105491" y="5043282"/>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14" name="Shape 11"/>
          <p:cNvSpPr/>
          <p:nvPr/>
        </p:nvSpPr>
        <p:spPr>
          <a:xfrm>
            <a:off x="4851464" y="2491740"/>
            <a:ext cx="457200" cy="457200"/>
          </a:xfrm>
          <a:prstGeom prst="ellipse">
            <a:avLst/>
          </a:prstGeom>
          <a:solidFill>
            <a:srgbClr val="02BDC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5" name="Text 12"/>
          <p:cNvSpPr/>
          <p:nvPr/>
        </p:nvSpPr>
        <p:spPr>
          <a:xfrm>
            <a:off x="4851464" y="249174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6" name="Text 13"/>
          <p:cNvSpPr/>
          <p:nvPr/>
        </p:nvSpPr>
        <p:spPr>
          <a:xfrm>
            <a:off x="5491544" y="2354580"/>
            <a:ext cx="6014352"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Introduction</a:t>
            </a:r>
            <a:endParaRPr lang="en-US" sz="2400" dirty="0"/>
          </a:p>
        </p:txBody>
      </p:sp>
      <p:sp>
        <p:nvSpPr>
          <p:cNvPr id="17" name="Shape 14"/>
          <p:cNvSpPr/>
          <p:nvPr/>
        </p:nvSpPr>
        <p:spPr>
          <a:xfrm>
            <a:off x="4851464" y="3223260"/>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8" name="Text 15"/>
          <p:cNvSpPr/>
          <p:nvPr/>
        </p:nvSpPr>
        <p:spPr>
          <a:xfrm>
            <a:off x="4851464" y="322326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9" name="Text 16"/>
          <p:cNvSpPr/>
          <p:nvPr/>
        </p:nvSpPr>
        <p:spPr>
          <a:xfrm>
            <a:off x="5491544" y="3086100"/>
            <a:ext cx="6014352" cy="731520"/>
          </a:xfrm>
          <a:prstGeom prst="rect">
            <a:avLst/>
          </a:prstGeom>
          <a:noFill/>
          <a:ln/>
        </p:spPr>
        <p:txBody>
          <a:bodyPr wrap="square" lIns="0" tIns="0" rIns="0" bIns="0" rtlCol="0" anchor="ctr"/>
          <a:lstStyle/>
          <a:p>
            <a:pPr indent="0" marL="0">
              <a:buNone/>
            </a:pPr>
            <a:r>
              <a:rPr lang="en-US" sz="2400" dirty="0">
                <a:solidFill>
                  <a:srgbClr val="3C3828"/>
                </a:solidFill>
                <a:highlight>
                  <a:srgbClr val="FFE14D"/>
                </a:highlight>
                <a:latin typeface="Calibri" pitchFamily="34" charset="0"/>
                <a:ea typeface="Calibri" pitchFamily="34" charset="-122"/>
                <a:cs typeface="Calibri" pitchFamily="34" charset="-120"/>
              </a:rPr>
              <a:t>Thesis statement</a:t>
            </a:r>
            <a:r>
              <a:rPr lang="en-US" sz="2400" dirty="0">
                <a:solidFill>
                  <a:srgbClr val="3C3828"/>
                </a:solidFill>
                <a:latin typeface="Calibri" pitchFamily="34" charset="0"/>
                <a:ea typeface="Calibri" pitchFamily="34" charset="-122"/>
                <a:cs typeface="Calibri" pitchFamily="34" charset="-120"/>
              </a:rPr>
              <a:t> ★ the most important part</a:t>
            </a:r>
            <a:endParaRPr lang="en-US" sz="2400" dirty="0"/>
          </a:p>
        </p:txBody>
      </p:sp>
      <p:sp>
        <p:nvSpPr>
          <p:cNvPr id="20" name="Shape 17"/>
          <p:cNvSpPr/>
          <p:nvPr/>
        </p:nvSpPr>
        <p:spPr>
          <a:xfrm>
            <a:off x="4851464" y="3954780"/>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1" name="Text 18"/>
          <p:cNvSpPr/>
          <p:nvPr/>
        </p:nvSpPr>
        <p:spPr>
          <a:xfrm>
            <a:off x="4851464" y="395478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22" name="Text 19"/>
          <p:cNvSpPr/>
          <p:nvPr/>
        </p:nvSpPr>
        <p:spPr>
          <a:xfrm>
            <a:off x="5491544" y="3817620"/>
            <a:ext cx="6014352"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Body paragraphs</a:t>
            </a:r>
            <a:endParaRPr lang="en-US" sz="2400" dirty="0"/>
          </a:p>
        </p:txBody>
      </p:sp>
      <p:sp>
        <p:nvSpPr>
          <p:cNvPr id="23" name="Shape 20"/>
          <p:cNvSpPr/>
          <p:nvPr/>
        </p:nvSpPr>
        <p:spPr>
          <a:xfrm>
            <a:off x="4851464" y="468630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4" name="Text 21"/>
          <p:cNvSpPr/>
          <p:nvPr/>
        </p:nvSpPr>
        <p:spPr>
          <a:xfrm>
            <a:off x="4851464" y="468630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5" name="Text 22"/>
          <p:cNvSpPr/>
          <p:nvPr/>
        </p:nvSpPr>
        <p:spPr>
          <a:xfrm>
            <a:off x="5491544" y="4549140"/>
            <a:ext cx="6014352"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Conclusion</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REMEMBER</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Great thesis statements lead to great essays!</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(And weak or non-existent thesis statements lead to </a:t>
            </a:r>
            <a:r>
              <a:rPr lang="en-US" sz="4000" dirty="0">
                <a:solidFill>
                  <a:srgbClr val="3C3828"/>
                </a:solidFill>
                <a:highlight>
                  <a:srgbClr val="FFE14D"/>
                </a:highlight>
                <a:latin typeface="Georgia" pitchFamily="34" charset="0"/>
                <a:ea typeface="Georgia" pitchFamily="34" charset="-122"/>
                <a:cs typeface="Georgia" pitchFamily="34" charset="-120"/>
              </a:rPr>
              <a:t>weak essays!</a:t>
            </a:r>
            <a:r>
              <a:rPr lang="en-US" sz="4000" dirty="0">
                <a:solidFill>
                  <a:srgbClr val="3C3828"/>
                </a:solidFill>
                <a:latin typeface="Georgia" pitchFamily="34" charset="0"/>
                <a:ea typeface="Georgia" pitchFamily="34" charset="-122"/>
                <a:cs typeface="Georgia" pitchFamily="34" charset="-120"/>
              </a:rPr>
              <a: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WHERE WE ARE</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All of your pre-writing…</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02BDC7"/>
          </a:solidFill>
          <a:ln w="12700">
            <a:solidFill>
              <a:srgbClr val="02BDC7"/>
            </a:solidFill>
            <a:prstDash val="solid"/>
          </a:ln>
        </p:spPr>
      </p:sp>
      <p:sp>
        <p:nvSpPr>
          <p:cNvPr id="6" name="Shape 4"/>
          <p:cNvSpPr/>
          <p:nvPr/>
        </p:nvSpPr>
        <p:spPr>
          <a:xfrm>
            <a:off x="685800" y="2423160"/>
            <a:ext cx="5181448" cy="256032"/>
          </a:xfrm>
          <a:prstGeom prst="rect">
            <a:avLst/>
          </a:prstGeom>
          <a:solidFill>
            <a:srgbClr val="02BDC7"/>
          </a:solidFill>
          <a:ln w="12700">
            <a:solidFill>
              <a:srgbClr val="02BDC7"/>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WHAT IT’S FOR</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…serves the purpose of </a:t>
            </a:r>
            <a:r>
              <a:rPr lang="en-US" sz="2100" dirty="0">
                <a:solidFill>
                  <a:srgbClr val="3C3828"/>
                </a:solidFill>
                <a:highlight>
                  <a:srgbClr val="FFE14D"/>
                </a:highlight>
                <a:latin typeface="Georgia" pitchFamily="34" charset="0"/>
                <a:ea typeface="Georgia" pitchFamily="34" charset="-122"/>
                <a:cs typeface="Georgia" pitchFamily="34" charset="-120"/>
              </a:rPr>
              <a:t>narrowing your topic</a:t>
            </a:r>
            <a:r>
              <a:rPr lang="en-US" sz="2100" dirty="0">
                <a:solidFill>
                  <a:srgbClr val="3C3828"/>
                </a:solidFill>
                <a:latin typeface="Georgia" pitchFamily="34" charset="0"/>
                <a:ea typeface="Georgia" pitchFamily="34" charset="-122"/>
                <a:cs typeface="Georgia" pitchFamily="34" charset="-120"/>
              </a:rPr>
              <a:t> so that you can write your thesis.</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Flush out all of your ideas and opinions about the subject. Ask and answer, ask and answer, ask and answer.</a:t>
            </a:r>
            <a:endParaRPr lang="en-US" sz="21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FF9755"/>
          </a:solidFill>
          <a:ln w="12700">
            <a:solidFill>
              <a:srgbClr val="FF9755"/>
            </a:solidFill>
            <a:prstDash val="solid"/>
          </a:ln>
        </p:spPr>
      </p:sp>
      <p:sp>
        <p:nvSpPr>
          <p:cNvPr id="11" name="Shape 9"/>
          <p:cNvSpPr/>
          <p:nvPr/>
        </p:nvSpPr>
        <p:spPr>
          <a:xfrm>
            <a:off x="6324448" y="2423160"/>
            <a:ext cx="5181448" cy="256032"/>
          </a:xfrm>
          <a:prstGeom prst="rect">
            <a:avLst/>
          </a:prstGeom>
          <a:solidFill>
            <a:srgbClr val="FF9755"/>
          </a:solidFill>
          <a:ln w="12700">
            <a:solidFill>
              <a:srgbClr val="FF9755"/>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WHERE IT LEADS</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Your discussion should become more specific as you go, until your answers start to resemble some pretty intelligent thoughts and conclusions.</a:t>
            </a:r>
            <a:endParaRPr lang="en-US" sz="2100" dirty="0"/>
          </a:p>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When you get to this point, you’re very close to </a:t>
            </a:r>
            <a:r>
              <a:rPr lang="en-US" sz="2100" dirty="0">
                <a:solidFill>
                  <a:srgbClr val="3C3828"/>
                </a:solidFill>
                <a:highlight>
                  <a:srgbClr val="FFE14D"/>
                </a:highlight>
                <a:latin typeface="Georgia" pitchFamily="34" charset="0"/>
                <a:ea typeface="Georgia" pitchFamily="34" charset="-122"/>
                <a:cs typeface="Georgia" pitchFamily="34" charset="-120"/>
              </a:rPr>
              <a:t>pinning down your thesis.</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STEP 2</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Develop a Thesis Statement</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Observation + analysis, in one sentence.</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DEFINITION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Your thesis statement represents the </a:t>
            </a:r>
            <a:r>
              <a:rPr lang="en-US" sz="3000" dirty="0">
                <a:solidFill>
                  <a:srgbClr val="3C3828"/>
                </a:solidFill>
                <a:highlight>
                  <a:srgbClr val="FFE14D"/>
                </a:highlight>
                <a:latin typeface="Georgia" pitchFamily="34" charset="0"/>
                <a:ea typeface="Georgia" pitchFamily="34" charset="-122"/>
                <a:cs typeface="Georgia" pitchFamily="34" charset="-120"/>
              </a:rPr>
              <a:t>focal point</a:t>
            </a:r>
            <a:r>
              <a:rPr lang="en-US" sz="3000" dirty="0">
                <a:solidFill>
                  <a:srgbClr val="3C3828"/>
                </a:solidFill>
                <a:latin typeface="Georgia" pitchFamily="34" charset="0"/>
                <a:ea typeface="Georgia" pitchFamily="34" charset="-122"/>
                <a:cs typeface="Georgia" pitchFamily="34" charset="-120"/>
              </a:rPr>
              <a:t> of your essay.</a:t>
            </a:r>
            <a:endParaRPr lang="en-US" sz="3000" dirty="0"/>
          </a:p>
        </p:txBody>
      </p:sp>
      <p:sp>
        <p:nvSpPr>
          <p:cNvPr id="4" name="Shape 2"/>
          <p:cNvSpPr/>
          <p:nvPr/>
        </p:nvSpPr>
        <p:spPr>
          <a:xfrm>
            <a:off x="1051560" y="2926080"/>
            <a:ext cx="2194560" cy="2194560"/>
          </a:xfrm>
          <a:prstGeom prst="ellipse">
            <a:avLst/>
          </a:prstGeom>
          <a:solidFill>
            <a:srgbClr val="FC4067"/>
          </a:solidFill>
          <a:ln w="12700">
            <a:solidFill>
              <a:srgbClr val="FC4067"/>
            </a:solidFill>
            <a:prstDash val="solid"/>
          </a:ln>
        </p:spPr>
      </p:sp>
      <p:pic>
        <p:nvPicPr>
          <p:cNvPr id="5" name="Image 0" descr="diamond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B600"/>
          </a:solidFill>
          <a:ln w="12700">
            <a:solidFill>
              <a:srgbClr val="FFB600"/>
            </a:solidFill>
            <a:prstDash val="solid"/>
          </a:ln>
        </p:spPr>
      </p:sp>
      <p:sp>
        <p:nvSpPr>
          <p:cNvPr id="7" name="Shape 4"/>
          <p:cNvSpPr/>
          <p:nvPr/>
        </p:nvSpPr>
        <p:spPr>
          <a:xfrm>
            <a:off x="914400" y="4800600"/>
            <a:ext cx="201168" cy="201168"/>
          </a:xfrm>
          <a:prstGeom prst="ellipse">
            <a:avLst/>
          </a:prstGeom>
          <a:solidFill>
            <a:srgbClr val="FF9755"/>
          </a:solidFill>
          <a:ln w="12700">
            <a:solidFill>
              <a:srgbClr val="FF9755"/>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Everything else in the essay points back to it.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WORDING YOUR THESIS STATEMENT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Three rules for the sentence</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2218436"/>
            <a:ext cx="3137306" cy="91440"/>
          </a:xfrm>
          <a:prstGeom prst="rect">
            <a:avLst/>
          </a:prstGeom>
          <a:solidFill>
            <a:srgbClr val="FC4540"/>
          </a:solidFill>
          <a:ln w="12700">
            <a:solidFill>
              <a:srgbClr val="FC4540"/>
            </a:solidFill>
            <a:prstDash val="solid"/>
          </a:ln>
        </p:spPr>
      </p:sp>
      <p:sp>
        <p:nvSpPr>
          <p:cNvPr id="10" name="Shape 7"/>
          <p:cNvSpPr/>
          <p:nvPr/>
        </p:nvSpPr>
        <p:spPr>
          <a:xfrm>
            <a:off x="1005840" y="2584196"/>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Your thesis should be </a:t>
            </a:r>
            <a:r>
              <a:rPr lang="en-US" sz="2800" dirty="0">
                <a:solidFill>
                  <a:srgbClr val="3C3828"/>
                </a:solidFill>
                <a:highlight>
                  <a:srgbClr val="FFE14D"/>
                </a:highlight>
                <a:latin typeface="Calibri" pitchFamily="34" charset="0"/>
                <a:ea typeface="Calibri" pitchFamily="34" charset="-122"/>
                <a:cs typeface="Calibri" pitchFamily="34" charset="-120"/>
              </a:rPr>
              <a:t>one sentence</a:t>
            </a:r>
            <a:r>
              <a:rPr lang="en-US" sz="2800" dirty="0">
                <a:solidFill>
                  <a:srgbClr val="3C3828"/>
                </a:solidFill>
                <a:latin typeface="Calibri" pitchFamily="34" charset="0"/>
                <a:ea typeface="Calibri" pitchFamily="34" charset="-122"/>
                <a:cs typeface="Calibri" pitchFamily="34" charset="-120"/>
              </a:rPr>
              <a:t> long.</a:t>
            </a:r>
            <a:endParaRPr lang="en-US" sz="2800" dirty="0"/>
          </a:p>
        </p:txBody>
      </p:sp>
      <p:sp>
        <p:nvSpPr>
          <p:cNvPr id="13" name="Shape 10"/>
          <p:cNvSpPr/>
          <p:nvPr/>
        </p:nvSpPr>
        <p:spPr>
          <a:xfrm>
            <a:off x="4399178"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2218436"/>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584196"/>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Your thesis should include </a:t>
            </a:r>
            <a:r>
              <a:rPr lang="en-US" sz="2800" dirty="0">
                <a:solidFill>
                  <a:srgbClr val="3C3828"/>
                </a:solidFill>
                <a:highlight>
                  <a:srgbClr val="FFE14D"/>
                </a:highlight>
                <a:latin typeface="Calibri" pitchFamily="34" charset="0"/>
                <a:ea typeface="Calibri" pitchFamily="34" charset="-122"/>
                <a:cs typeface="Calibri" pitchFamily="34" charset="-120"/>
              </a:rPr>
              <a:t>observation</a:t>
            </a:r>
            <a:r>
              <a:rPr lang="en-US" sz="2800" dirty="0">
                <a:solidFill>
                  <a:srgbClr val="3C3828"/>
                </a:solidFill>
                <a:latin typeface="Calibri" pitchFamily="34" charset="0"/>
                <a:ea typeface="Calibri" pitchFamily="34" charset="-122"/>
                <a:cs typeface="Calibri" pitchFamily="34" charset="-120"/>
              </a:rPr>
              <a:t> as well as </a:t>
            </a:r>
            <a:r>
              <a:rPr lang="en-US" sz="2800" dirty="0">
                <a:solidFill>
                  <a:srgbClr val="3C3828"/>
                </a:solidFill>
                <a:highlight>
                  <a:srgbClr val="FFE14D"/>
                </a:highlight>
                <a:latin typeface="Calibri" pitchFamily="34" charset="0"/>
                <a:ea typeface="Calibri" pitchFamily="34" charset="-122"/>
                <a:cs typeface="Calibri" pitchFamily="34" charset="-120"/>
              </a:rPr>
              <a:t>analysis.</a:t>
            </a:r>
            <a:endParaRPr lang="en-US" sz="2800" dirty="0"/>
          </a:p>
        </p:txBody>
      </p:sp>
      <p:sp>
        <p:nvSpPr>
          <p:cNvPr id="18" name="Shape 15"/>
          <p:cNvSpPr/>
          <p:nvPr/>
        </p:nvSpPr>
        <p:spPr>
          <a:xfrm>
            <a:off x="8112557"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2218436"/>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584196"/>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Your thesis should be </a:t>
            </a:r>
            <a:r>
              <a:rPr lang="en-US" sz="2800" dirty="0">
                <a:solidFill>
                  <a:srgbClr val="3C3828"/>
                </a:solidFill>
                <a:highlight>
                  <a:srgbClr val="FFE14D"/>
                </a:highlight>
                <a:latin typeface="Calibri" pitchFamily="34" charset="0"/>
                <a:ea typeface="Calibri" pitchFamily="34" charset="-122"/>
                <a:cs typeface="Calibri" pitchFamily="34" charset="-120"/>
              </a:rPr>
              <a:t>specific.</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do we mean by </a:t>
            </a:r>
            <a:r>
              <a:rPr lang="en-US" sz="3600" dirty="0">
                <a:solidFill>
                  <a:srgbClr val="3C3828"/>
                </a:solidFill>
                <a:highlight>
                  <a:srgbClr val="FFE14D"/>
                </a:highlight>
                <a:latin typeface="Georgia" pitchFamily="34" charset="0"/>
                <a:ea typeface="Georgia" pitchFamily="34" charset="-122"/>
                <a:cs typeface="Georgia" pitchFamily="34" charset="-120"/>
              </a:rPr>
              <a:t>“observation”?</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Ask the room first.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An observation is something we </a:t>
            </a:r>
            <a:r>
              <a:rPr lang="en-US" sz="3000" dirty="0">
                <a:solidFill>
                  <a:srgbClr val="3C3828"/>
                </a:solidFill>
                <a:highlight>
                  <a:srgbClr val="FFE14D"/>
                </a:highlight>
                <a:latin typeface="Georgia" pitchFamily="34" charset="0"/>
                <a:ea typeface="Georgia" pitchFamily="34" charset="-122"/>
                <a:cs typeface="Georgia" pitchFamily="34" charset="-120"/>
              </a:rPr>
              <a:t>notice or see</a:t>
            </a:r>
            <a:r>
              <a:rPr lang="en-US" sz="3000" dirty="0">
                <a:solidFill>
                  <a:srgbClr val="3C3828"/>
                </a:solidFill>
                <a:latin typeface="Georgia" pitchFamily="34" charset="0"/>
                <a:ea typeface="Georgia" pitchFamily="34" charset="-122"/>
                <a:cs typeface="Georgia" pitchFamily="34" charset="-120"/>
              </a:rPr>
              <a:t> about a subject.</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Like the picture: what we see. Let’s look at some examples…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 · EXAMPLE 1</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Is this true? Does it reflect reality?</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“Creative thinking is not prioritized in schools.”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 · EXAMPLE 2</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Is this true? Does it reflect reality?</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“Most classroom teachers teach the way they were taught.”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 · EXAMPLE 3</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Is this true? Does it reflect reality?</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eye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“Schools place too much emphasis on right and wrong answers.”</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Three good observations</a:t>
            </a:r>
            <a:endParaRPr lang="en-US" sz="36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2218436"/>
            <a:ext cx="3137306" cy="91440"/>
          </a:xfrm>
          <a:prstGeom prst="rect">
            <a:avLst/>
          </a:prstGeom>
          <a:solidFill>
            <a:srgbClr val="02BDC7"/>
          </a:solidFill>
          <a:ln w="12700">
            <a:solidFill>
              <a:srgbClr val="02BDC7"/>
            </a:solidFill>
            <a:prstDash val="solid"/>
          </a:ln>
        </p:spPr>
      </p:sp>
      <p:sp>
        <p:nvSpPr>
          <p:cNvPr id="10" name="Shape 7"/>
          <p:cNvSpPr/>
          <p:nvPr/>
        </p:nvSpPr>
        <p:spPr>
          <a:xfrm>
            <a:off x="1005840" y="2584196"/>
            <a:ext cx="731520" cy="731520"/>
          </a:xfrm>
          <a:prstGeom prst="ellipse">
            <a:avLst/>
          </a:prstGeom>
          <a:solidFill>
            <a:srgbClr val="02BDC7"/>
          </a:solidFill>
          <a:ln w="12700">
            <a:solidFill>
              <a:srgbClr val="02BDC7"/>
            </a:solidFill>
            <a:prstDash val="solid"/>
          </a:ln>
        </p:spPr>
      </p:sp>
      <p:sp>
        <p:nvSpPr>
          <p:cNvPr id="11" name="Text 8"/>
          <p:cNvSpPr/>
          <p:nvPr/>
        </p:nvSpPr>
        <p:spPr>
          <a:xfrm>
            <a:off x="1005840"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Creative thinking is not prioritized in schools.</a:t>
            </a:r>
            <a:endParaRPr lang="en-US" sz="2800" dirty="0"/>
          </a:p>
        </p:txBody>
      </p:sp>
      <p:sp>
        <p:nvSpPr>
          <p:cNvPr id="13" name="Shape 10"/>
          <p:cNvSpPr/>
          <p:nvPr/>
        </p:nvSpPr>
        <p:spPr>
          <a:xfrm>
            <a:off x="4399178"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2218436"/>
            <a:ext cx="3137306" cy="91440"/>
          </a:xfrm>
          <a:prstGeom prst="rect">
            <a:avLst/>
          </a:prstGeom>
          <a:solidFill>
            <a:srgbClr val="FFB600"/>
          </a:solidFill>
          <a:ln w="12700">
            <a:solidFill>
              <a:srgbClr val="FFB600"/>
            </a:solidFill>
            <a:prstDash val="solid"/>
          </a:ln>
        </p:spPr>
      </p:sp>
      <p:sp>
        <p:nvSpPr>
          <p:cNvPr id="15" name="Shape 12"/>
          <p:cNvSpPr/>
          <p:nvPr/>
        </p:nvSpPr>
        <p:spPr>
          <a:xfrm>
            <a:off x="4719218" y="2584196"/>
            <a:ext cx="731520" cy="731520"/>
          </a:xfrm>
          <a:prstGeom prst="ellipse">
            <a:avLst/>
          </a:prstGeom>
          <a:solidFill>
            <a:srgbClr val="FFB600"/>
          </a:solidFill>
          <a:ln w="12700">
            <a:solidFill>
              <a:srgbClr val="FFB600"/>
            </a:solidFill>
            <a:prstDash val="solid"/>
          </a:ln>
        </p:spPr>
      </p:sp>
      <p:sp>
        <p:nvSpPr>
          <p:cNvPr id="16" name="Text 13"/>
          <p:cNvSpPr/>
          <p:nvPr/>
        </p:nvSpPr>
        <p:spPr>
          <a:xfrm>
            <a:off x="4719218"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Most classroom teachers teach the way they were taught.</a:t>
            </a:r>
            <a:endParaRPr lang="en-US" sz="2800" dirty="0"/>
          </a:p>
        </p:txBody>
      </p:sp>
      <p:sp>
        <p:nvSpPr>
          <p:cNvPr id="18" name="Shape 15"/>
          <p:cNvSpPr/>
          <p:nvPr/>
        </p:nvSpPr>
        <p:spPr>
          <a:xfrm>
            <a:off x="8112557"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2218436"/>
            <a:ext cx="3137306" cy="91440"/>
          </a:xfrm>
          <a:prstGeom prst="rect">
            <a:avLst/>
          </a:prstGeom>
          <a:solidFill>
            <a:srgbClr val="FC4540"/>
          </a:solidFill>
          <a:ln w="12700">
            <a:solidFill>
              <a:srgbClr val="FC4540"/>
            </a:solidFill>
            <a:prstDash val="solid"/>
          </a:ln>
        </p:spPr>
      </p:sp>
      <p:sp>
        <p:nvSpPr>
          <p:cNvPr id="20" name="Shape 17"/>
          <p:cNvSpPr/>
          <p:nvPr/>
        </p:nvSpPr>
        <p:spPr>
          <a:xfrm>
            <a:off x="8432597" y="2584196"/>
            <a:ext cx="731520" cy="731520"/>
          </a:xfrm>
          <a:prstGeom prst="ellipse">
            <a:avLst/>
          </a:prstGeom>
          <a:solidFill>
            <a:srgbClr val="FC4540"/>
          </a:solidFill>
          <a:ln w="12700">
            <a:solidFill>
              <a:srgbClr val="FC4540"/>
            </a:solidFill>
            <a:prstDash val="solid"/>
          </a:ln>
        </p:spPr>
      </p:sp>
      <p:sp>
        <p:nvSpPr>
          <p:cNvPr id="21" name="Text 18"/>
          <p:cNvSpPr/>
          <p:nvPr/>
        </p:nvSpPr>
        <p:spPr>
          <a:xfrm>
            <a:off x="8432597"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Schools place too much emphasis on right and wrong answers.</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BUT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So what????</a:t>
            </a:r>
            <a:endParaRPr lang="en-US" sz="36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question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Without </a:t>
            </a:r>
            <a:r>
              <a:rPr lang="en-US" sz="4000" dirty="0">
                <a:solidFill>
                  <a:srgbClr val="3C3828"/>
                </a:solidFill>
                <a:highlight>
                  <a:srgbClr val="FFE14D"/>
                </a:highlight>
                <a:latin typeface="Georgia" pitchFamily="34" charset="0"/>
                <a:ea typeface="Georgia" pitchFamily="34" charset="-122"/>
                <a:cs typeface="Georgia" pitchFamily="34" charset="-120"/>
              </a:rPr>
              <a:t>analysis,</a:t>
            </a:r>
            <a:r>
              <a:rPr lang="en-US" sz="4000" dirty="0">
                <a:solidFill>
                  <a:srgbClr val="3C3828"/>
                </a:solidFill>
                <a:latin typeface="Georgia" pitchFamily="34" charset="0"/>
                <a:ea typeface="Georgia" pitchFamily="34" charset="-122"/>
                <a:cs typeface="Georgia" pitchFamily="34" charset="-120"/>
              </a:rPr>
              <a:t> your thesis statement will fall flat.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What do we mean by </a:t>
            </a:r>
            <a:r>
              <a:rPr lang="en-US" sz="3600" dirty="0">
                <a:solidFill>
                  <a:srgbClr val="3C3828"/>
                </a:solidFill>
                <a:highlight>
                  <a:srgbClr val="FFE14D"/>
                </a:highlight>
                <a:latin typeface="Georgia" pitchFamily="34" charset="0"/>
                <a:ea typeface="Georgia" pitchFamily="34" charset="-122"/>
                <a:cs typeface="Georgia" pitchFamily="34" charset="-120"/>
              </a:rPr>
              <a:t>“analysis”?</a:t>
            </a:r>
            <a:endParaRPr lang="en-US" sz="3600" dirty="0"/>
          </a:p>
        </p:txBody>
      </p:sp>
      <p:sp>
        <p:nvSpPr>
          <p:cNvPr id="4" name="Shape 2"/>
          <p:cNvSpPr/>
          <p:nvPr/>
        </p:nvSpPr>
        <p:spPr>
          <a:xfrm>
            <a:off x="1051560" y="2926080"/>
            <a:ext cx="2194560" cy="2194560"/>
          </a:xfrm>
          <a:prstGeom prst="ellipse">
            <a:avLst/>
          </a:prstGeom>
          <a:solidFill>
            <a:srgbClr val="FF9755"/>
          </a:solidFill>
          <a:ln w="12700">
            <a:solidFill>
              <a:srgbClr val="FF9755"/>
            </a:solidFill>
            <a:prstDash val="solid"/>
          </a:ln>
        </p:spPr>
      </p:sp>
      <p:pic>
        <p:nvPicPr>
          <p:cNvPr id="5" name="Image 0" descr="question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02BDC7"/>
          </a:solidFill>
          <a:ln w="12700">
            <a:solidFill>
              <a:srgbClr val="02BDC7"/>
            </a:solidFill>
            <a:prstDash val="solid"/>
          </a:ln>
        </p:spPr>
      </p:sp>
      <p:sp>
        <p:nvSpPr>
          <p:cNvPr id="7" name="Shape 4"/>
          <p:cNvSpPr/>
          <p:nvPr/>
        </p:nvSpPr>
        <p:spPr>
          <a:xfrm>
            <a:off x="914400" y="4800600"/>
            <a:ext cx="201168" cy="201168"/>
          </a:xfrm>
          <a:prstGeom prst="ellipse">
            <a:avLst/>
          </a:prstGeom>
          <a:solidFill>
            <a:srgbClr val="FC4540"/>
          </a:solidFill>
          <a:ln w="12700">
            <a:solidFill>
              <a:srgbClr val="FC454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Ask the room first.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2600" dirty="0">
                <a:solidFill>
                  <a:srgbClr val="3C3828"/>
                </a:solidFill>
                <a:latin typeface="Georgia" pitchFamily="34" charset="0"/>
                <a:ea typeface="Georgia" pitchFamily="34" charset="-122"/>
                <a:cs typeface="Georgia" pitchFamily="34" charset="-120"/>
              </a:rPr>
              <a:t>Analysis is a </a:t>
            </a:r>
            <a:r>
              <a:rPr lang="en-US" sz="2600" dirty="0">
                <a:solidFill>
                  <a:srgbClr val="3C3828"/>
                </a:solidFill>
                <a:highlight>
                  <a:srgbClr val="FFE14D"/>
                </a:highlight>
                <a:latin typeface="Georgia" pitchFamily="34" charset="0"/>
                <a:ea typeface="Georgia" pitchFamily="34" charset="-122"/>
                <a:cs typeface="Georgia" pitchFamily="34" charset="-120"/>
              </a:rPr>
              <a:t>reaction, argument, examination, or conclusion</a:t>
            </a:r>
            <a:r>
              <a:rPr lang="en-US" sz="2600" dirty="0">
                <a:solidFill>
                  <a:srgbClr val="3C3828"/>
                </a:solidFill>
                <a:latin typeface="Georgia" pitchFamily="34" charset="0"/>
                <a:ea typeface="Georgia" pitchFamily="34" charset="-122"/>
                <a:cs typeface="Georgia" pitchFamily="34" charset="-120"/>
              </a:rPr>
              <a:t> based on an observation.</a:t>
            </a:r>
            <a:endParaRPr lang="en-US" sz="2600" dirty="0"/>
          </a:p>
        </p:txBody>
      </p:sp>
      <p:sp>
        <p:nvSpPr>
          <p:cNvPr id="4" name="Shape 2"/>
          <p:cNvSpPr/>
          <p:nvPr/>
        </p:nvSpPr>
        <p:spPr>
          <a:xfrm>
            <a:off x="1051560" y="2926080"/>
            <a:ext cx="2194560" cy="2194560"/>
          </a:xfrm>
          <a:prstGeom prst="ellipse">
            <a:avLst/>
          </a:prstGeom>
          <a:solidFill>
            <a:srgbClr val="FF9755"/>
          </a:solidFill>
          <a:ln w="12700">
            <a:solidFill>
              <a:srgbClr val="FF9755"/>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02BDC7"/>
          </a:solidFill>
          <a:ln w="12700">
            <a:solidFill>
              <a:srgbClr val="02BDC7"/>
            </a:solidFill>
            <a:prstDash val="solid"/>
          </a:ln>
        </p:spPr>
      </p:sp>
      <p:sp>
        <p:nvSpPr>
          <p:cNvPr id="7" name="Shape 4"/>
          <p:cNvSpPr/>
          <p:nvPr/>
        </p:nvSpPr>
        <p:spPr>
          <a:xfrm>
            <a:off x="914400" y="4800600"/>
            <a:ext cx="201168" cy="201168"/>
          </a:xfrm>
          <a:prstGeom prst="ellipse">
            <a:avLst/>
          </a:prstGeom>
          <a:solidFill>
            <a:srgbClr val="FC4540"/>
          </a:solidFill>
          <a:ln w="12700">
            <a:solidFill>
              <a:srgbClr val="FC454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If I asked what’s happening in the picture and you just said “elephant, motorcycles, people,” I’d wonder what was wrong with you.</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ADD 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Add analysis: example 1</a:t>
            </a:r>
            <a:endParaRPr lang="en-US" sz="3600" dirty="0"/>
          </a:p>
        </p:txBody>
      </p:sp>
      <p:sp>
        <p:nvSpPr>
          <p:cNvPr id="4" name="Shape 2"/>
          <p:cNvSpPr/>
          <p:nvPr/>
        </p:nvSpPr>
        <p:spPr>
          <a:xfrm>
            <a:off x="685800"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3383280"/>
          </a:xfrm>
          <a:prstGeom prst="rect">
            <a:avLst/>
          </a:prstGeom>
          <a:noFill/>
          <a:ln/>
        </p:spPr>
        <p:txBody>
          <a:bodyPr wrap="square" lIns="0" tIns="0" rIns="0" bIns="0" rtlCol="0" anchor="t"/>
          <a:lstStyle/>
          <a:p>
            <a:pPr indent="0" marL="0">
              <a:lnSpc>
                <a:spcPct val="110000"/>
              </a:lnSpc>
              <a:spcAft>
                <a:spcPts val="600"/>
              </a:spcAft>
              <a:buNone/>
            </a:pPr>
            <a:r>
              <a:rPr lang="en-US" sz="3000" dirty="0">
                <a:solidFill>
                  <a:srgbClr val="3C3828"/>
                </a:solidFill>
                <a:latin typeface="Georgia" pitchFamily="34" charset="0"/>
                <a:ea typeface="Georgia" pitchFamily="34" charset="-122"/>
                <a:cs typeface="Georgia" pitchFamily="34" charset="-120"/>
              </a:rPr>
              <a:t>Creative thinking is not taught enough in schools.</a:t>
            </a:r>
            <a:endParaRPr lang="en-US" sz="3000" dirty="0"/>
          </a:p>
        </p:txBody>
      </p:sp>
      <p:sp>
        <p:nvSpPr>
          <p:cNvPr id="8" name="Shape 6"/>
          <p:cNvSpPr/>
          <p:nvPr/>
        </p:nvSpPr>
        <p:spPr>
          <a:xfrm>
            <a:off x="6278728"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33832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makes school boring for teachers and students</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…takes away their motivation and excitement</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…they don’t feel as accomplished</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ADD 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Add analysis: example 2</a:t>
            </a:r>
            <a:endParaRPr lang="en-US" sz="3600" dirty="0"/>
          </a:p>
        </p:txBody>
      </p:sp>
      <p:sp>
        <p:nvSpPr>
          <p:cNvPr id="4" name="Shape 2"/>
          <p:cNvSpPr/>
          <p:nvPr/>
        </p:nvSpPr>
        <p:spPr>
          <a:xfrm>
            <a:off x="685800"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3383280"/>
          </a:xfrm>
          <a:prstGeom prst="rect">
            <a:avLst/>
          </a:prstGeom>
          <a:noFill/>
          <a:ln/>
        </p:spPr>
        <p:txBody>
          <a:bodyPr wrap="square" lIns="0" tIns="0" rIns="0" bIns="0" rtlCol="0" anchor="t"/>
          <a:lstStyle/>
          <a:p>
            <a:pPr indent="0" marL="0">
              <a:lnSpc>
                <a:spcPct val="110000"/>
              </a:lnSpc>
              <a:spcAft>
                <a:spcPts val="600"/>
              </a:spcAft>
              <a:buNone/>
            </a:pPr>
            <a:r>
              <a:rPr lang="en-US" sz="3000" dirty="0">
                <a:solidFill>
                  <a:srgbClr val="3C3828"/>
                </a:solidFill>
                <a:latin typeface="Georgia" pitchFamily="34" charset="0"/>
                <a:ea typeface="Georgia" pitchFamily="34" charset="-122"/>
                <a:cs typeface="Georgia" pitchFamily="34" charset="-120"/>
              </a:rPr>
              <a:t>Most classroom teachers teach the way they were taught.</a:t>
            </a:r>
            <a:endParaRPr lang="en-US" sz="3000" dirty="0"/>
          </a:p>
        </p:txBody>
      </p:sp>
      <p:sp>
        <p:nvSpPr>
          <p:cNvPr id="8" name="Shape 6"/>
          <p:cNvSpPr/>
          <p:nvPr/>
        </p:nvSpPr>
        <p:spPr>
          <a:xfrm>
            <a:off x="6278728"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33832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creates a situation where old ideas and methods are recycled, and new, current ideas are ignored</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is an ineffective teaching method</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ADD ANALYSIS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Add analysis: example 3</a:t>
            </a:r>
            <a:endParaRPr lang="en-US" sz="3600" dirty="0"/>
          </a:p>
        </p:txBody>
      </p:sp>
      <p:sp>
        <p:nvSpPr>
          <p:cNvPr id="4" name="Shape 2"/>
          <p:cNvSpPr/>
          <p:nvPr/>
        </p:nvSpPr>
        <p:spPr>
          <a:xfrm>
            <a:off x="685800"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3383280"/>
          </a:xfrm>
          <a:prstGeom prst="rect">
            <a:avLst/>
          </a:prstGeom>
          <a:noFill/>
          <a:ln/>
        </p:spPr>
        <p:txBody>
          <a:bodyPr wrap="square" lIns="0" tIns="0" rIns="0" bIns="0" rtlCol="0" anchor="t"/>
          <a:lstStyle/>
          <a:p>
            <a:pPr indent="0" marL="0">
              <a:lnSpc>
                <a:spcPct val="110000"/>
              </a:lnSpc>
              <a:spcAft>
                <a:spcPts val="600"/>
              </a:spcAft>
              <a:buNone/>
            </a:pPr>
            <a:r>
              <a:rPr lang="en-US" sz="3000" dirty="0">
                <a:solidFill>
                  <a:srgbClr val="3C3828"/>
                </a:solidFill>
                <a:latin typeface="Georgia" pitchFamily="34" charset="0"/>
                <a:ea typeface="Georgia" pitchFamily="34" charset="-122"/>
                <a:cs typeface="Georgia" pitchFamily="34" charset="-120"/>
              </a:rPr>
              <a:t>Schools place too much emphasis on right and wrong answers.</a:t>
            </a:r>
            <a:endParaRPr lang="en-US" sz="3000" dirty="0"/>
          </a:p>
        </p:txBody>
      </p:sp>
      <p:sp>
        <p:nvSpPr>
          <p:cNvPr id="8" name="Shape 6"/>
          <p:cNvSpPr/>
          <p:nvPr/>
        </p:nvSpPr>
        <p:spPr>
          <a:xfrm>
            <a:off x="6278728" y="1965960"/>
            <a:ext cx="522716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338328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…this is a limited approach to learning</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…it puts too much emphasis on correctness</a:t>
            </a:r>
            <a:endParaRPr lang="en-US" sz="2200" dirty="0"/>
          </a:p>
          <a:p>
            <a:pPr marL="342900" indent="-342900">
              <a:lnSpc>
                <a:spcPct val="110000"/>
              </a:lnSpc>
              <a:spcAft>
                <a:spcPts val="600"/>
              </a:spcAft>
              <a:buSzPct val="100000"/>
              <a:buChar char="●"/>
            </a:pPr>
            <a:r>
              <a:rPr lang="en-US" sz="2200" dirty="0">
                <a:solidFill>
                  <a:srgbClr val="3C3828"/>
                </a:solidFill>
                <a:latin typeface="Calibri" pitchFamily="34" charset="0"/>
                <a:ea typeface="Calibri" pitchFamily="34" charset="-122"/>
                <a:cs typeface="Calibri" pitchFamily="34" charset="-120"/>
              </a:rPr>
              <a:t>…it ignores the personal expression of students’ experience</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WRITING ACTIVITY</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Your observation and analysis</a:t>
            </a:r>
            <a:endParaRPr lang="en-US" sz="3200" dirty="0"/>
          </a:p>
        </p:txBody>
      </p:sp>
      <p:sp>
        <p:nvSpPr>
          <p:cNvPr id="4" name="Shape 2"/>
          <p:cNvSpPr/>
          <p:nvPr/>
        </p:nvSpPr>
        <p:spPr>
          <a:xfrm>
            <a:off x="10637215" y="457200"/>
            <a:ext cx="868680" cy="868680"/>
          </a:xfrm>
          <a:prstGeom prst="ellipse">
            <a:avLst/>
          </a:prstGeom>
          <a:solidFill>
            <a:srgbClr val="02BDC7"/>
          </a:solidFill>
          <a:ln w="12700">
            <a:solidFill>
              <a:srgbClr val="02BDC7"/>
            </a:solidFill>
            <a:prstDash val="solid"/>
          </a:ln>
        </p:spPr>
      </p:sp>
      <p:pic>
        <p:nvPicPr>
          <p:cNvPr id="5" name="Image 0" descr="puzzle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540"/>
          </a:solidFill>
          <a:ln w="12700">
            <a:solidFill>
              <a:srgbClr val="FC4540"/>
            </a:solidFill>
            <a:prstDash val="solid"/>
          </a:ln>
        </p:spPr>
      </p:sp>
      <p:sp>
        <p:nvSpPr>
          <p:cNvPr id="7" name="Shape 4"/>
          <p:cNvSpPr/>
          <p:nvPr/>
        </p:nvSpPr>
        <p:spPr>
          <a:xfrm>
            <a:off x="11460175" y="1307592"/>
            <a:ext cx="128016" cy="128016"/>
          </a:xfrm>
          <a:prstGeom prst="ellipse">
            <a:avLst/>
          </a:prstGeom>
          <a:solidFill>
            <a:srgbClr val="FF9755"/>
          </a:solidFill>
          <a:ln w="12700">
            <a:solidFill>
              <a:srgbClr val="FF9755"/>
            </a:solidFill>
            <a:prstDash val="solid"/>
          </a:ln>
        </p:spPr>
      </p:sp>
      <p:sp>
        <p:nvSpPr>
          <p:cNvPr id="8" name="Shape 5"/>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417320"/>
            <a:ext cx="10564063" cy="91440"/>
          </a:xfrm>
          <a:prstGeom prst="rect">
            <a:avLst/>
          </a:prstGeom>
          <a:solidFill>
            <a:srgbClr val="02BDC7"/>
          </a:solidFill>
          <a:ln w="12700">
            <a:solidFill>
              <a:srgbClr val="02BDC7"/>
            </a:solidFill>
            <a:prstDash val="solid"/>
          </a:ln>
        </p:spPr>
      </p:sp>
      <p:sp>
        <p:nvSpPr>
          <p:cNvPr id="10" name="Shape 7"/>
          <p:cNvSpPr/>
          <p:nvPr/>
        </p:nvSpPr>
        <p:spPr>
          <a:xfrm>
            <a:off x="1097280" y="1764792"/>
            <a:ext cx="3840480" cy="420624"/>
          </a:xfrm>
          <a:prstGeom prst="roundRect">
            <a:avLst>
              <a:gd name="adj" fmla="val 50000"/>
            </a:avLst>
          </a:prstGeom>
          <a:solidFill>
            <a:srgbClr val="02BDC7"/>
          </a:solidFill>
          <a:ln w="12700">
            <a:solidFill>
              <a:srgbClr val="02BDC7"/>
            </a:solidFill>
            <a:prstDash val="solid"/>
          </a:ln>
        </p:spPr>
      </p:sp>
      <p:sp>
        <p:nvSpPr>
          <p:cNvPr id="11" name="Text 8"/>
          <p:cNvSpPr/>
          <p:nvPr/>
        </p:nvSpPr>
        <p:spPr>
          <a:xfrm>
            <a:off x="1097280" y="1764792"/>
            <a:ext cx="3840480" cy="420624"/>
          </a:xfrm>
          <a:prstGeom prst="rect">
            <a:avLst/>
          </a:prstGeom>
          <a:noFill/>
          <a:ln/>
        </p:spPr>
        <p:txBody>
          <a:bodyPr wrap="square" lIns="0" tIns="0" rIns="0" bIns="0" rtlCol="0" anchor="ctr"/>
          <a:lstStyle/>
          <a:p>
            <a:pPr algn="ctr" indent="0" marL="0">
              <a:buNone/>
            </a:pPr>
            <a:r>
              <a:rPr lang="en-US" sz="1200" b="1" spc="150" kern="0" dirty="0">
                <a:solidFill>
                  <a:srgbClr val="FFFEFA"/>
                </a:solidFill>
                <a:latin typeface="Consolas" pitchFamily="34" charset="0"/>
                <a:ea typeface="Consolas" pitchFamily="34" charset="-122"/>
                <a:cs typeface="Consolas" pitchFamily="34" charset="-120"/>
              </a:rPr>
              <a:t>ON YOUR DOCUMENT</a:t>
            </a:r>
            <a:endParaRPr lang="en-US" sz="1200" dirty="0"/>
          </a:p>
        </p:txBody>
      </p:sp>
      <p:sp>
        <p:nvSpPr>
          <p:cNvPr id="12" name="Text 9"/>
          <p:cNvSpPr/>
          <p:nvPr/>
        </p:nvSpPr>
        <p:spPr>
          <a:xfrm>
            <a:off x="1097280" y="2331720"/>
            <a:ext cx="9997135" cy="3657600"/>
          </a:xfrm>
          <a:prstGeom prst="rect">
            <a:avLst/>
          </a:prstGeom>
          <a:noFill/>
          <a:ln/>
        </p:spPr>
        <p:txBody>
          <a:bodyPr wrap="square" lIns="0" tIns="0" rIns="0" bIns="0" rtlCol="0" anchor="t"/>
          <a:lstStyle/>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On your document, create your own </a:t>
            </a:r>
            <a:r>
              <a:rPr lang="en-US" sz="2400" dirty="0">
                <a:solidFill>
                  <a:srgbClr val="3C3828"/>
                </a:solidFill>
                <a:highlight>
                  <a:srgbClr val="FFE14D"/>
                </a:highlight>
                <a:latin typeface="Georgia" pitchFamily="34" charset="0"/>
                <a:ea typeface="Georgia" pitchFamily="34" charset="-122"/>
                <a:cs typeface="Georgia" pitchFamily="34" charset="-120"/>
              </a:rPr>
              <a:t>Observation</a:t>
            </a:r>
            <a:r>
              <a:rPr lang="en-US" sz="2400" dirty="0">
                <a:solidFill>
                  <a:srgbClr val="3C3828"/>
                </a:solidFill>
                <a:latin typeface="Georgia" pitchFamily="34" charset="0"/>
                <a:ea typeface="Georgia" pitchFamily="34" charset="-122"/>
                <a:cs typeface="Georgia" pitchFamily="34" charset="-120"/>
              </a:rPr>
              <a:t> and </a:t>
            </a:r>
            <a:r>
              <a:rPr lang="en-US" sz="2400" dirty="0">
                <a:solidFill>
                  <a:srgbClr val="3C3828"/>
                </a:solidFill>
                <a:highlight>
                  <a:srgbClr val="FFE14D"/>
                </a:highlight>
                <a:latin typeface="Georgia" pitchFamily="34" charset="0"/>
                <a:ea typeface="Georgia" pitchFamily="34" charset="-122"/>
                <a:cs typeface="Georgia" pitchFamily="34" charset="-120"/>
              </a:rPr>
              <a:t>2–4 points of analysis.</a:t>
            </a:r>
            <a:r>
              <a:rPr lang="en-US" sz="2400" dirty="0">
                <a:solidFill>
                  <a:srgbClr val="3C3828"/>
                </a:solidFill>
                <a:latin typeface="Georgia" pitchFamily="34" charset="0"/>
                <a:ea typeface="Georgia" pitchFamily="34" charset="-122"/>
                <a:cs typeface="Georgia" pitchFamily="34" charset="-120"/>
              </a:rPr>
              <a:t> Use this model:</a:t>
            </a:r>
            <a:endParaRPr lang="en-US" sz="2400" dirty="0"/>
          </a:p>
          <a:p>
            <a:pPr indent="0" marL="0">
              <a:lnSpc>
                <a:spcPct val="120000"/>
              </a:lnSpc>
              <a:buNone/>
            </a:pPr>
            <a:endParaRPr lang="en-US" sz="2400" dirty="0"/>
          </a:p>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Observation: Schools place too much emphasis on right and wrong answers.</a:t>
            </a:r>
            <a:endParaRPr lang="en-US" sz="2400" dirty="0"/>
          </a:p>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Analysis:</a:t>
            </a:r>
            <a:endParaRPr lang="en-US" sz="2400" dirty="0"/>
          </a:p>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 this is a limited approach to learning</a:t>
            </a:r>
            <a:endParaRPr lang="en-US" sz="2400" dirty="0"/>
          </a:p>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 it puts too much emphasis on correctness</a:t>
            </a:r>
            <a:endParaRPr lang="en-US" sz="2400" dirty="0"/>
          </a:p>
          <a:p>
            <a:pPr indent="0" marL="0">
              <a:lnSpc>
                <a:spcPct val="120000"/>
              </a:lnSpc>
              <a:buNone/>
            </a:pPr>
            <a:r>
              <a:rPr lang="en-US" sz="2400" dirty="0">
                <a:solidFill>
                  <a:srgbClr val="3C3828"/>
                </a:solidFill>
                <a:latin typeface="Georgia" pitchFamily="34" charset="0"/>
                <a:ea typeface="Georgia" pitchFamily="34" charset="-122"/>
                <a:cs typeface="Georgia" pitchFamily="34" charset="-120"/>
              </a:rPr>
              <a:t>• it ignores the personal expression of students’ experience</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YOUR TURN</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What it looks like</a:t>
            </a:r>
            <a:endParaRPr lang="en-US" sz="3200" dirty="0"/>
          </a:p>
        </p:txBody>
      </p:sp>
      <p:sp>
        <p:nvSpPr>
          <p:cNvPr id="4" name="Shape 2"/>
          <p:cNvSpPr/>
          <p:nvPr/>
        </p:nvSpPr>
        <p:spPr>
          <a:xfrm>
            <a:off x="685800" y="1596904"/>
            <a:ext cx="7436815" cy="4441431"/>
          </a:xfrm>
          <a:prstGeom prst="roundRect">
            <a:avLst>
              <a:gd name="adj" fmla="val 2882"/>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pic>
        <p:nvPicPr>
          <p:cNvPr id="5" name="Image 0" descr="The YAWP! editor on the Thesis Statement step.">    </p:cNvPr>
          <p:cNvPicPr>
            <a:picLocks noChangeAspect="1"/>
          </p:cNvPicPr>
          <p:nvPr/>
        </p:nvPicPr>
        <p:blipFill>
          <a:blip r:embed="rId1"/>
          <a:stretch>
            <a:fillRect/>
          </a:stretch>
        </p:blipFill>
        <p:spPr>
          <a:xfrm>
            <a:off x="813816" y="1724920"/>
            <a:ext cx="7180783" cy="4185399"/>
          </a:xfrm>
          <a:prstGeom prst="rect">
            <a:avLst/>
          </a:prstGeom>
        </p:spPr>
      </p:pic>
      <p:sp>
        <p:nvSpPr>
          <p:cNvPr id="6" name="Shape 3"/>
          <p:cNvSpPr/>
          <p:nvPr/>
        </p:nvSpPr>
        <p:spPr>
          <a:xfrm>
            <a:off x="2021373" y="1822781"/>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7" name="Text 4"/>
          <p:cNvSpPr/>
          <p:nvPr/>
        </p:nvSpPr>
        <p:spPr>
          <a:xfrm>
            <a:off x="2021373" y="1822781"/>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8" name="Shape 5"/>
          <p:cNvSpPr/>
          <p:nvPr/>
        </p:nvSpPr>
        <p:spPr>
          <a:xfrm>
            <a:off x="5755380" y="2417108"/>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9" name="Text 6"/>
          <p:cNvSpPr/>
          <p:nvPr/>
        </p:nvSpPr>
        <p:spPr>
          <a:xfrm>
            <a:off x="5755380" y="2417108"/>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0" name="Shape 7"/>
          <p:cNvSpPr/>
          <p:nvPr/>
        </p:nvSpPr>
        <p:spPr>
          <a:xfrm>
            <a:off x="5611764" y="275194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1" name="Text 8"/>
          <p:cNvSpPr/>
          <p:nvPr/>
        </p:nvSpPr>
        <p:spPr>
          <a:xfrm>
            <a:off x="5611764" y="275194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2" name="Shape 9"/>
          <p:cNvSpPr/>
          <p:nvPr/>
        </p:nvSpPr>
        <p:spPr>
          <a:xfrm>
            <a:off x="5898996" y="3065845"/>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3" name="Text 10"/>
          <p:cNvSpPr/>
          <p:nvPr/>
        </p:nvSpPr>
        <p:spPr>
          <a:xfrm>
            <a:off x="5898996" y="3065845"/>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14" name="Shape 11"/>
          <p:cNvSpPr/>
          <p:nvPr/>
        </p:nvSpPr>
        <p:spPr>
          <a:xfrm>
            <a:off x="8579815" y="2205228"/>
            <a:ext cx="457200" cy="457200"/>
          </a:xfrm>
          <a:prstGeom prst="ellipse">
            <a:avLst/>
          </a:prstGeom>
          <a:solidFill>
            <a:srgbClr val="FFB60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5" name="Text 12"/>
          <p:cNvSpPr/>
          <p:nvPr/>
        </p:nvSpPr>
        <p:spPr>
          <a:xfrm>
            <a:off x="8579815" y="2205228"/>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6" name="Text 13"/>
          <p:cNvSpPr/>
          <p:nvPr/>
        </p:nvSpPr>
        <p:spPr>
          <a:xfrm>
            <a:off x="9219895" y="1924812"/>
            <a:ext cx="2286000" cy="1018032"/>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The Tutor says </a:t>
            </a:r>
            <a:r>
              <a:rPr lang="en-US" sz="2400" dirty="0">
                <a:solidFill>
                  <a:srgbClr val="3C3828"/>
                </a:solidFill>
                <a:highlight>
                  <a:srgbClr val="FFE14D"/>
                </a:highlight>
                <a:latin typeface="Calibri" pitchFamily="34" charset="0"/>
                <a:ea typeface="Calibri" pitchFamily="34" charset="-122"/>
                <a:cs typeface="Calibri" pitchFamily="34" charset="-120"/>
              </a:rPr>
              <a:t>Thesis Statement</a:t>
            </a:r>
            <a:endParaRPr lang="en-US" sz="2400" dirty="0"/>
          </a:p>
        </p:txBody>
      </p:sp>
      <p:sp>
        <p:nvSpPr>
          <p:cNvPr id="17" name="Shape 14"/>
          <p:cNvSpPr/>
          <p:nvPr/>
        </p:nvSpPr>
        <p:spPr>
          <a:xfrm>
            <a:off x="8579815" y="3080004"/>
            <a:ext cx="457200" cy="457200"/>
          </a:xfrm>
          <a:prstGeom prst="ellipse">
            <a:avLst/>
          </a:prstGeom>
          <a:solidFill>
            <a:srgbClr val="FC4540"/>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18" name="Text 15"/>
          <p:cNvSpPr/>
          <p:nvPr/>
        </p:nvSpPr>
        <p:spPr>
          <a:xfrm>
            <a:off x="8579815" y="3080004"/>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9" name="Text 16"/>
          <p:cNvSpPr/>
          <p:nvPr/>
        </p:nvSpPr>
        <p:spPr>
          <a:xfrm>
            <a:off x="9219895" y="2942844"/>
            <a:ext cx="2286000" cy="731520"/>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Observation first</a:t>
            </a:r>
            <a:endParaRPr lang="en-US" sz="2400" dirty="0"/>
          </a:p>
        </p:txBody>
      </p:sp>
      <p:sp>
        <p:nvSpPr>
          <p:cNvPr id="20" name="Shape 17"/>
          <p:cNvSpPr/>
          <p:nvPr/>
        </p:nvSpPr>
        <p:spPr>
          <a:xfrm>
            <a:off x="8579815" y="3954780"/>
            <a:ext cx="457200" cy="457200"/>
          </a:xfrm>
          <a:prstGeom prst="ellipse">
            <a:avLst/>
          </a:prstGeom>
          <a:solidFill>
            <a:srgbClr val="FF9755"/>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1" name="Text 18"/>
          <p:cNvSpPr/>
          <p:nvPr/>
        </p:nvSpPr>
        <p:spPr>
          <a:xfrm>
            <a:off x="8579815" y="3954780"/>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22" name="Text 19"/>
          <p:cNvSpPr/>
          <p:nvPr/>
        </p:nvSpPr>
        <p:spPr>
          <a:xfrm>
            <a:off x="9219895" y="3674364"/>
            <a:ext cx="2286000" cy="1018032"/>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2–4 points of analysis</a:t>
            </a:r>
            <a:endParaRPr lang="en-US" sz="2400" dirty="0"/>
          </a:p>
        </p:txBody>
      </p:sp>
      <p:sp>
        <p:nvSpPr>
          <p:cNvPr id="23" name="Shape 20"/>
          <p:cNvSpPr/>
          <p:nvPr/>
        </p:nvSpPr>
        <p:spPr>
          <a:xfrm>
            <a:off x="8579815" y="4972812"/>
            <a:ext cx="457200" cy="457200"/>
          </a:xfrm>
          <a:prstGeom prst="ellipse">
            <a:avLst/>
          </a:prstGeom>
          <a:solidFill>
            <a:srgbClr val="FC4067"/>
          </a:solidFill>
          <a:ln w="25400">
            <a:solidFill>
              <a:srgbClr val="FFFEFA"/>
            </a:solidFill>
            <a:prstDash val="solid"/>
          </a:ln>
          <a:effectLst>
            <a:outerShdw sx="100000" sy="100000" kx="0" ky="0" algn="bl" rotWithShape="0" blurRad="50800" dist="19050" dir="5400000">
              <a:srgbClr val="3C3828">
                <a:alpha val="25000"/>
              </a:srgbClr>
            </a:outerShdw>
          </a:effectLst>
        </p:spPr>
      </p:sp>
      <p:sp>
        <p:nvSpPr>
          <p:cNvPr id="24" name="Text 21"/>
          <p:cNvSpPr/>
          <p:nvPr/>
        </p:nvSpPr>
        <p:spPr>
          <a:xfrm>
            <a:off x="8579815" y="4972812"/>
            <a:ext cx="457200" cy="457200"/>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4</a:t>
            </a:r>
            <a:endParaRPr lang="en-US" sz="1800" dirty="0"/>
          </a:p>
        </p:txBody>
      </p:sp>
      <p:sp>
        <p:nvSpPr>
          <p:cNvPr id="25" name="Text 22"/>
          <p:cNvSpPr/>
          <p:nvPr/>
        </p:nvSpPr>
        <p:spPr>
          <a:xfrm>
            <a:off x="9219895" y="4692396"/>
            <a:ext cx="2286000" cy="1018032"/>
          </a:xfrm>
          <a:prstGeom prst="rect">
            <a:avLst/>
          </a:prstGeom>
          <a:noFill/>
          <a:ln/>
        </p:spPr>
        <p:txBody>
          <a:bodyPr wrap="square" lIns="0" tIns="0" rIns="0" bIns="0" rtlCol="0" anchor="ctr"/>
          <a:lstStyle/>
          <a:p>
            <a:pPr indent="0" marL="0">
              <a:buNone/>
            </a:pPr>
            <a:r>
              <a:rPr lang="en-US" sz="2400" dirty="0">
                <a:solidFill>
                  <a:srgbClr val="3C3828"/>
                </a:solidFill>
                <a:latin typeface="Calibri" pitchFamily="34" charset="0"/>
                <a:ea typeface="Calibri" pitchFamily="34" charset="-122"/>
                <a:cs typeface="Calibri" pitchFamily="34" charset="-120"/>
              </a:rPr>
              <a:t>Then combine them into your thesis</a:t>
            </a:r>
            <a:endParaRPr lang="en-US" sz="24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COMBINE O &amp; A TO FORM A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Combine them: example 1</a:t>
            </a:r>
            <a:endParaRPr lang="en-US" sz="3600" dirty="0"/>
          </a:p>
        </p:txBody>
      </p:sp>
      <p:sp>
        <p:nvSpPr>
          <p:cNvPr id="4" name="Shape 2"/>
          <p:cNvSpPr/>
          <p:nvPr/>
        </p:nvSpPr>
        <p:spPr>
          <a:xfrm>
            <a:off x="685800"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1417320"/>
          </a:xfrm>
          <a:prstGeom prst="rect">
            <a:avLst/>
          </a:prstGeom>
          <a:noFill/>
          <a:ln/>
        </p:spPr>
        <p:txBody>
          <a:bodyPr wrap="square" lIns="0" tIns="0" rIns="0" bIns="0" rtlCol="0" anchor="t"/>
          <a:lstStyle/>
          <a:p>
            <a:pPr indent="0" marL="0">
              <a:lnSpc>
                <a:spcPct val="110000"/>
              </a:lnSpc>
              <a:spcAft>
                <a:spcPts val="600"/>
              </a:spcAft>
              <a:buNone/>
            </a:pPr>
            <a:r>
              <a:rPr lang="en-US" sz="2400" dirty="0">
                <a:solidFill>
                  <a:srgbClr val="3C3828"/>
                </a:solidFill>
                <a:latin typeface="Georgia" pitchFamily="34" charset="0"/>
                <a:ea typeface="Georgia" pitchFamily="34" charset="-122"/>
                <a:cs typeface="Georgia" pitchFamily="34" charset="-120"/>
              </a:rPr>
              <a:t>Creativity is not prioritized enough in schools.</a:t>
            </a:r>
            <a:endParaRPr lang="en-US" sz="2400" dirty="0"/>
          </a:p>
        </p:txBody>
      </p:sp>
      <p:sp>
        <p:nvSpPr>
          <p:cNvPr id="8" name="Shape 6"/>
          <p:cNvSpPr/>
          <p:nvPr/>
        </p:nvSpPr>
        <p:spPr>
          <a:xfrm>
            <a:off x="6278728"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14173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makes school boring for teachers and students</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…takes away their motivation and excitement</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…they don’t feel as accomplished</a:t>
            </a:r>
            <a:endParaRPr lang="en-US" sz="1800" dirty="0"/>
          </a:p>
        </p:txBody>
      </p:sp>
      <p:sp>
        <p:nvSpPr>
          <p:cNvPr id="12" name="Text 10"/>
          <p:cNvSpPr/>
          <p:nvPr/>
        </p:nvSpPr>
        <p:spPr>
          <a:xfrm>
            <a:off x="685800" y="4133088"/>
            <a:ext cx="10820095" cy="384048"/>
          </a:xfrm>
          <a:prstGeom prst="rect">
            <a:avLst/>
          </a:prstGeom>
          <a:noFill/>
          <a:ln/>
        </p:spPr>
        <p:txBody>
          <a:bodyPr wrap="square" lIns="0" tIns="0" rIns="0" bIns="0" rtlCol="0" anchor="ctr"/>
          <a:lstStyle/>
          <a:p>
            <a:pPr algn="ctr" indent="0" marL="0">
              <a:buNone/>
            </a:pPr>
            <a:r>
              <a:rPr lang="en-US" sz="2600" b="1" dirty="0">
                <a:solidFill>
                  <a:srgbClr val="7E7C78"/>
                </a:solidFill>
                <a:latin typeface="Georgia" pitchFamily="34" charset="0"/>
                <a:ea typeface="Georgia" pitchFamily="34" charset="-122"/>
                <a:cs typeface="Georgia" pitchFamily="34" charset="-120"/>
              </a:rPr>
              <a:t>=</a:t>
            </a:r>
            <a:endParaRPr lang="en-US" sz="2600" dirty="0"/>
          </a:p>
        </p:txBody>
      </p:sp>
      <p:sp>
        <p:nvSpPr>
          <p:cNvPr id="13" name="Shape 11"/>
          <p:cNvSpPr/>
          <p:nvPr/>
        </p:nvSpPr>
        <p:spPr>
          <a:xfrm>
            <a:off x="685800" y="4526280"/>
            <a:ext cx="10820095" cy="1554480"/>
          </a:xfrm>
          <a:prstGeom prst="roundRect">
            <a:avLst>
              <a:gd name="adj" fmla="val 823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2"/>
          <p:cNvSpPr/>
          <p:nvPr/>
        </p:nvSpPr>
        <p:spPr>
          <a:xfrm>
            <a:off x="813816" y="4526280"/>
            <a:ext cx="10564063" cy="91440"/>
          </a:xfrm>
          <a:prstGeom prst="rect">
            <a:avLst/>
          </a:prstGeom>
          <a:solidFill>
            <a:srgbClr val="FC4540"/>
          </a:solidFill>
          <a:ln w="12700">
            <a:solidFill>
              <a:srgbClr val="FC4540"/>
            </a:solidFill>
            <a:prstDash val="solid"/>
          </a:ln>
        </p:spPr>
      </p:sp>
      <p:sp>
        <p:nvSpPr>
          <p:cNvPr id="15" name="Text 13"/>
          <p:cNvSpPr/>
          <p:nvPr/>
        </p:nvSpPr>
        <p:spPr>
          <a:xfrm>
            <a:off x="1005840" y="4690872"/>
            <a:ext cx="1828800"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a:t>
            </a:r>
            <a:endParaRPr lang="en-US" sz="1200" dirty="0"/>
          </a:p>
        </p:txBody>
      </p:sp>
      <p:sp>
        <p:nvSpPr>
          <p:cNvPr id="16" name="Text 14"/>
          <p:cNvSpPr/>
          <p:nvPr/>
        </p:nvSpPr>
        <p:spPr>
          <a:xfrm>
            <a:off x="1005840" y="4965192"/>
            <a:ext cx="10180015" cy="1005840"/>
          </a:xfrm>
          <a:prstGeom prst="rect">
            <a:avLst/>
          </a:prstGeom>
          <a:noFill/>
          <a:ln/>
        </p:spPr>
        <p:txBody>
          <a:bodyPr wrap="square" lIns="0" tIns="0" rIns="0" bIns="0" rtlCol="0" anchor="t"/>
          <a:lstStyle/>
          <a:p>
            <a:pPr indent="0" marL="0">
              <a:lnSpc>
                <a:spcPct val="110000"/>
              </a:lnSpc>
              <a:buNone/>
            </a:pPr>
            <a:r>
              <a:rPr lang="en-US" sz="2100" dirty="0">
                <a:solidFill>
                  <a:srgbClr val="3C3828"/>
                </a:solidFill>
                <a:latin typeface="Georgia" pitchFamily="34" charset="0"/>
                <a:ea typeface="Georgia" pitchFamily="34" charset="-122"/>
                <a:cs typeface="Georgia" pitchFamily="34" charset="-120"/>
              </a:rPr>
              <a:t>When schools fail to prioritize creativity in teaching, school becomes boring for both students and teachers, resulting in a lack of shared motivation, excitement, and accomplishment.</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COMBINE O &amp; A TO FORM A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Combine them: example 2</a:t>
            </a:r>
            <a:endParaRPr lang="en-US" sz="3600" dirty="0"/>
          </a:p>
        </p:txBody>
      </p:sp>
      <p:sp>
        <p:nvSpPr>
          <p:cNvPr id="4" name="Shape 2"/>
          <p:cNvSpPr/>
          <p:nvPr/>
        </p:nvSpPr>
        <p:spPr>
          <a:xfrm>
            <a:off x="685800"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1417320"/>
          </a:xfrm>
          <a:prstGeom prst="rect">
            <a:avLst/>
          </a:prstGeom>
          <a:noFill/>
          <a:ln/>
        </p:spPr>
        <p:txBody>
          <a:bodyPr wrap="square" lIns="0" tIns="0" rIns="0" bIns="0" rtlCol="0" anchor="t"/>
          <a:lstStyle/>
          <a:p>
            <a:pPr indent="0" marL="0">
              <a:lnSpc>
                <a:spcPct val="110000"/>
              </a:lnSpc>
              <a:spcAft>
                <a:spcPts val="600"/>
              </a:spcAft>
              <a:buNone/>
            </a:pPr>
            <a:r>
              <a:rPr lang="en-US" sz="2400" dirty="0">
                <a:solidFill>
                  <a:srgbClr val="3C3828"/>
                </a:solidFill>
                <a:latin typeface="Georgia" pitchFamily="34" charset="0"/>
                <a:ea typeface="Georgia" pitchFamily="34" charset="-122"/>
                <a:cs typeface="Georgia" pitchFamily="34" charset="-120"/>
              </a:rPr>
              <a:t>Most classroom teachers teach the way they were taught.</a:t>
            </a:r>
            <a:endParaRPr lang="en-US" sz="2400" dirty="0"/>
          </a:p>
        </p:txBody>
      </p:sp>
      <p:sp>
        <p:nvSpPr>
          <p:cNvPr id="8" name="Shape 6"/>
          <p:cNvSpPr/>
          <p:nvPr/>
        </p:nvSpPr>
        <p:spPr>
          <a:xfrm>
            <a:off x="6278728"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14173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creates a situation where old ideas and methods are recycled, and new, current ideas are ignored</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is an ineffective teaching method</a:t>
            </a:r>
            <a:endParaRPr lang="en-US" sz="1800" dirty="0"/>
          </a:p>
        </p:txBody>
      </p:sp>
      <p:sp>
        <p:nvSpPr>
          <p:cNvPr id="12" name="Text 10"/>
          <p:cNvSpPr/>
          <p:nvPr/>
        </p:nvSpPr>
        <p:spPr>
          <a:xfrm>
            <a:off x="685800" y="4133088"/>
            <a:ext cx="10820095" cy="384048"/>
          </a:xfrm>
          <a:prstGeom prst="rect">
            <a:avLst/>
          </a:prstGeom>
          <a:noFill/>
          <a:ln/>
        </p:spPr>
        <p:txBody>
          <a:bodyPr wrap="square" lIns="0" tIns="0" rIns="0" bIns="0" rtlCol="0" anchor="ctr"/>
          <a:lstStyle/>
          <a:p>
            <a:pPr algn="ctr" indent="0" marL="0">
              <a:buNone/>
            </a:pPr>
            <a:r>
              <a:rPr lang="en-US" sz="2600" b="1" dirty="0">
                <a:solidFill>
                  <a:srgbClr val="7E7C78"/>
                </a:solidFill>
                <a:latin typeface="Georgia" pitchFamily="34" charset="0"/>
                <a:ea typeface="Georgia" pitchFamily="34" charset="-122"/>
                <a:cs typeface="Georgia" pitchFamily="34" charset="-120"/>
              </a:rPr>
              <a:t>=</a:t>
            </a:r>
            <a:endParaRPr lang="en-US" sz="2600" dirty="0"/>
          </a:p>
        </p:txBody>
      </p:sp>
      <p:sp>
        <p:nvSpPr>
          <p:cNvPr id="13" name="Shape 11"/>
          <p:cNvSpPr/>
          <p:nvPr/>
        </p:nvSpPr>
        <p:spPr>
          <a:xfrm>
            <a:off x="685800" y="4526280"/>
            <a:ext cx="10820095" cy="1554480"/>
          </a:xfrm>
          <a:prstGeom prst="roundRect">
            <a:avLst>
              <a:gd name="adj" fmla="val 823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2"/>
          <p:cNvSpPr/>
          <p:nvPr/>
        </p:nvSpPr>
        <p:spPr>
          <a:xfrm>
            <a:off x="813816" y="4526280"/>
            <a:ext cx="10564063" cy="91440"/>
          </a:xfrm>
          <a:prstGeom prst="rect">
            <a:avLst/>
          </a:prstGeom>
          <a:solidFill>
            <a:srgbClr val="FC4540"/>
          </a:solidFill>
          <a:ln w="12700">
            <a:solidFill>
              <a:srgbClr val="FC4540"/>
            </a:solidFill>
            <a:prstDash val="solid"/>
          </a:ln>
        </p:spPr>
      </p:sp>
      <p:sp>
        <p:nvSpPr>
          <p:cNvPr id="15" name="Text 13"/>
          <p:cNvSpPr/>
          <p:nvPr/>
        </p:nvSpPr>
        <p:spPr>
          <a:xfrm>
            <a:off x="1005840" y="4690872"/>
            <a:ext cx="1828800"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a:t>
            </a:r>
            <a:endParaRPr lang="en-US" sz="1200" dirty="0"/>
          </a:p>
        </p:txBody>
      </p:sp>
      <p:sp>
        <p:nvSpPr>
          <p:cNvPr id="16" name="Text 14"/>
          <p:cNvSpPr/>
          <p:nvPr/>
        </p:nvSpPr>
        <p:spPr>
          <a:xfrm>
            <a:off x="1005840" y="4965192"/>
            <a:ext cx="10180015" cy="1005840"/>
          </a:xfrm>
          <a:prstGeom prst="rect">
            <a:avLst/>
          </a:prstGeom>
          <a:noFill/>
          <a:ln/>
        </p:spPr>
        <p:txBody>
          <a:bodyPr wrap="square" lIns="0" tIns="0" rIns="0" bIns="0" rtlCol="0" anchor="t"/>
          <a:lstStyle/>
          <a:p>
            <a:pPr indent="0" marL="0">
              <a:lnSpc>
                <a:spcPct val="110000"/>
              </a:lnSpc>
              <a:buNone/>
            </a:pPr>
            <a:r>
              <a:rPr lang="en-US" sz="2100" dirty="0">
                <a:solidFill>
                  <a:srgbClr val="3C3828"/>
                </a:solidFill>
                <a:latin typeface="Georgia" pitchFamily="34" charset="0"/>
                <a:ea typeface="Georgia" pitchFamily="34" charset="-122"/>
                <a:cs typeface="Georgia" pitchFamily="34" charset="-120"/>
              </a:rPr>
              <a:t>Teachers too often teach the way they were taught, which creates an ineffective learning environment where old ideas and methods are recycled, while new, current ideas are ignored.</a:t>
            </a:r>
            <a:endParaRPr lang="en-US" sz="21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COMBINE O &amp; A TO FORM A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Combine them: example 3</a:t>
            </a:r>
            <a:endParaRPr lang="en-US" sz="3600" dirty="0"/>
          </a:p>
        </p:txBody>
      </p:sp>
      <p:sp>
        <p:nvSpPr>
          <p:cNvPr id="4" name="Shape 2"/>
          <p:cNvSpPr/>
          <p:nvPr/>
        </p:nvSpPr>
        <p:spPr>
          <a:xfrm>
            <a:off x="685800"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4971136" cy="91440"/>
          </a:xfrm>
          <a:prstGeom prst="rect">
            <a:avLst/>
          </a:prstGeom>
          <a:solidFill>
            <a:srgbClr val="02BDC7"/>
          </a:solidFill>
          <a:ln w="12700">
            <a:solidFill>
              <a:srgbClr val="02BDC7"/>
            </a:solidFill>
            <a:prstDash val="solid"/>
          </a:ln>
        </p:spPr>
      </p:sp>
      <p:sp>
        <p:nvSpPr>
          <p:cNvPr id="6" name="Text 4"/>
          <p:cNvSpPr/>
          <p:nvPr/>
        </p:nvSpPr>
        <p:spPr>
          <a:xfrm>
            <a:off x="1005840" y="2167128"/>
            <a:ext cx="4587088" cy="32004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OBSERVATION</a:t>
            </a:r>
            <a:endParaRPr lang="en-US" sz="1200" dirty="0"/>
          </a:p>
        </p:txBody>
      </p:sp>
      <p:sp>
        <p:nvSpPr>
          <p:cNvPr id="7" name="Text 5"/>
          <p:cNvSpPr/>
          <p:nvPr/>
        </p:nvSpPr>
        <p:spPr>
          <a:xfrm>
            <a:off x="1005840" y="2514600"/>
            <a:ext cx="4587088" cy="1417320"/>
          </a:xfrm>
          <a:prstGeom prst="rect">
            <a:avLst/>
          </a:prstGeom>
          <a:noFill/>
          <a:ln/>
        </p:spPr>
        <p:txBody>
          <a:bodyPr wrap="square" lIns="0" tIns="0" rIns="0" bIns="0" rtlCol="0" anchor="t"/>
          <a:lstStyle/>
          <a:p>
            <a:pPr indent="0" marL="0">
              <a:lnSpc>
                <a:spcPct val="110000"/>
              </a:lnSpc>
              <a:spcAft>
                <a:spcPts val="600"/>
              </a:spcAft>
              <a:buNone/>
            </a:pPr>
            <a:r>
              <a:rPr lang="en-US" sz="2400" dirty="0">
                <a:solidFill>
                  <a:srgbClr val="3C3828"/>
                </a:solidFill>
                <a:latin typeface="Georgia" pitchFamily="34" charset="0"/>
                <a:ea typeface="Georgia" pitchFamily="34" charset="-122"/>
                <a:cs typeface="Georgia" pitchFamily="34" charset="-120"/>
              </a:rPr>
              <a:t>Schools place too much emphasis on right and wrong answers.</a:t>
            </a:r>
            <a:endParaRPr lang="en-US" sz="2400" dirty="0"/>
          </a:p>
        </p:txBody>
      </p:sp>
      <p:sp>
        <p:nvSpPr>
          <p:cNvPr id="8" name="Shape 6"/>
          <p:cNvSpPr/>
          <p:nvPr/>
        </p:nvSpPr>
        <p:spPr>
          <a:xfrm>
            <a:off x="6278728" y="1965960"/>
            <a:ext cx="5227168" cy="2148840"/>
          </a:xfrm>
          <a:prstGeom prst="roundRect">
            <a:avLst>
              <a:gd name="adj" fmla="val 595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7"/>
          <p:cNvSpPr/>
          <p:nvPr/>
        </p:nvSpPr>
        <p:spPr>
          <a:xfrm>
            <a:off x="6406744" y="1965960"/>
            <a:ext cx="4971136" cy="91440"/>
          </a:xfrm>
          <a:prstGeom prst="rect">
            <a:avLst/>
          </a:prstGeom>
          <a:solidFill>
            <a:srgbClr val="FF9755"/>
          </a:solidFill>
          <a:ln w="12700">
            <a:solidFill>
              <a:srgbClr val="FF9755"/>
            </a:solidFill>
            <a:prstDash val="solid"/>
          </a:ln>
        </p:spPr>
      </p:sp>
      <p:sp>
        <p:nvSpPr>
          <p:cNvPr id="10" name="Text 8"/>
          <p:cNvSpPr/>
          <p:nvPr/>
        </p:nvSpPr>
        <p:spPr>
          <a:xfrm>
            <a:off x="6598768" y="2167128"/>
            <a:ext cx="4587088" cy="320040"/>
          </a:xfrm>
          <a:prstGeom prst="rect">
            <a:avLst/>
          </a:prstGeom>
          <a:noFill/>
          <a:ln/>
        </p:spPr>
        <p:txBody>
          <a:bodyPr wrap="square" lIns="0" tIns="0" rIns="0" bIns="0" rtlCol="0" anchor="ctr"/>
          <a:lstStyle/>
          <a:p>
            <a:pPr indent="0" marL="0">
              <a:buNone/>
            </a:pPr>
            <a:r>
              <a:rPr lang="en-US" sz="1200" b="1" spc="200" kern="0" dirty="0">
                <a:solidFill>
                  <a:srgbClr val="FF9755"/>
                </a:solidFill>
                <a:latin typeface="Consolas" pitchFamily="34" charset="0"/>
                <a:ea typeface="Consolas" pitchFamily="34" charset="-122"/>
                <a:cs typeface="Consolas" pitchFamily="34" charset="-120"/>
              </a:rPr>
              <a:t>ANALYSIS</a:t>
            </a:r>
            <a:endParaRPr lang="en-US" sz="1200" dirty="0"/>
          </a:p>
        </p:txBody>
      </p:sp>
      <p:sp>
        <p:nvSpPr>
          <p:cNvPr id="11" name="Text 9"/>
          <p:cNvSpPr/>
          <p:nvPr/>
        </p:nvSpPr>
        <p:spPr>
          <a:xfrm>
            <a:off x="6598768" y="2514600"/>
            <a:ext cx="4587088" cy="1417320"/>
          </a:xfrm>
          <a:prstGeom prst="rect">
            <a:avLst/>
          </a:prstGeom>
          <a:noFill/>
          <a:ln/>
        </p:spPr>
        <p:txBody>
          <a:bodyPr wrap="square" lIns="0" tIns="0" rIns="0" bIns="0" rtlCol="0" anchor="t"/>
          <a:lstStyle/>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…this is a limited approach to learning</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…it puts too much emphasis on correctness</a:t>
            </a:r>
            <a:endParaRPr lang="en-US" sz="1800" dirty="0"/>
          </a:p>
          <a:p>
            <a:pPr marL="342900" indent="-342900">
              <a:lnSpc>
                <a:spcPct val="110000"/>
              </a:lnSpc>
              <a:spcAft>
                <a:spcPts val="600"/>
              </a:spcAft>
              <a:buSzPct val="100000"/>
              <a:buChar char="●"/>
            </a:pPr>
            <a:r>
              <a:rPr lang="en-US" sz="1800" dirty="0">
                <a:solidFill>
                  <a:srgbClr val="3C3828"/>
                </a:solidFill>
                <a:latin typeface="Calibri" pitchFamily="34" charset="0"/>
                <a:ea typeface="Calibri" pitchFamily="34" charset="-122"/>
                <a:cs typeface="Calibri" pitchFamily="34" charset="-120"/>
              </a:rPr>
              <a:t>…it ignores the personal expression of students’ experience</a:t>
            </a:r>
            <a:endParaRPr lang="en-US" sz="1800" dirty="0"/>
          </a:p>
        </p:txBody>
      </p:sp>
      <p:sp>
        <p:nvSpPr>
          <p:cNvPr id="12" name="Text 10"/>
          <p:cNvSpPr/>
          <p:nvPr/>
        </p:nvSpPr>
        <p:spPr>
          <a:xfrm>
            <a:off x="685800" y="4133088"/>
            <a:ext cx="10820095" cy="384048"/>
          </a:xfrm>
          <a:prstGeom prst="rect">
            <a:avLst/>
          </a:prstGeom>
          <a:noFill/>
          <a:ln/>
        </p:spPr>
        <p:txBody>
          <a:bodyPr wrap="square" lIns="0" tIns="0" rIns="0" bIns="0" rtlCol="0" anchor="ctr"/>
          <a:lstStyle/>
          <a:p>
            <a:pPr algn="ctr" indent="0" marL="0">
              <a:buNone/>
            </a:pPr>
            <a:r>
              <a:rPr lang="en-US" sz="2600" b="1" dirty="0">
                <a:solidFill>
                  <a:srgbClr val="7E7C78"/>
                </a:solidFill>
                <a:latin typeface="Georgia" pitchFamily="34" charset="0"/>
                <a:ea typeface="Georgia" pitchFamily="34" charset="-122"/>
                <a:cs typeface="Georgia" pitchFamily="34" charset="-120"/>
              </a:rPr>
              <a:t>=</a:t>
            </a:r>
            <a:endParaRPr lang="en-US" sz="2600" dirty="0"/>
          </a:p>
        </p:txBody>
      </p:sp>
      <p:sp>
        <p:nvSpPr>
          <p:cNvPr id="13" name="Shape 11"/>
          <p:cNvSpPr/>
          <p:nvPr/>
        </p:nvSpPr>
        <p:spPr>
          <a:xfrm>
            <a:off x="685800" y="4526280"/>
            <a:ext cx="10820095" cy="1554480"/>
          </a:xfrm>
          <a:prstGeom prst="roundRect">
            <a:avLst>
              <a:gd name="adj" fmla="val 8235"/>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2"/>
          <p:cNvSpPr/>
          <p:nvPr/>
        </p:nvSpPr>
        <p:spPr>
          <a:xfrm>
            <a:off x="813816" y="4526280"/>
            <a:ext cx="10564063" cy="91440"/>
          </a:xfrm>
          <a:prstGeom prst="rect">
            <a:avLst/>
          </a:prstGeom>
          <a:solidFill>
            <a:srgbClr val="FC4540"/>
          </a:solidFill>
          <a:ln w="12700">
            <a:solidFill>
              <a:srgbClr val="FC4540"/>
            </a:solidFill>
            <a:prstDash val="solid"/>
          </a:ln>
        </p:spPr>
      </p:sp>
      <p:sp>
        <p:nvSpPr>
          <p:cNvPr id="15" name="Text 13"/>
          <p:cNvSpPr/>
          <p:nvPr/>
        </p:nvSpPr>
        <p:spPr>
          <a:xfrm>
            <a:off x="1005840" y="4690872"/>
            <a:ext cx="1828800" cy="274320"/>
          </a:xfrm>
          <a:prstGeom prst="rect">
            <a:avLst/>
          </a:prstGeom>
          <a:noFill/>
          <a:ln/>
        </p:spPr>
        <p:txBody>
          <a:bodyPr wrap="square" lIns="0" tIns="0" rIns="0" bIns="0" rtlCol="0" anchor="ctr"/>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a:t>
            </a:r>
            <a:endParaRPr lang="en-US" sz="1200" dirty="0"/>
          </a:p>
        </p:txBody>
      </p:sp>
      <p:sp>
        <p:nvSpPr>
          <p:cNvPr id="16" name="Text 14"/>
          <p:cNvSpPr/>
          <p:nvPr/>
        </p:nvSpPr>
        <p:spPr>
          <a:xfrm>
            <a:off x="1005840" y="4965192"/>
            <a:ext cx="10180015" cy="1005840"/>
          </a:xfrm>
          <a:prstGeom prst="rect">
            <a:avLst/>
          </a:prstGeom>
          <a:noFill/>
          <a:ln/>
        </p:spPr>
        <p:txBody>
          <a:bodyPr wrap="square" lIns="0" tIns="0" rIns="0" bIns="0" rtlCol="0" anchor="t"/>
          <a:lstStyle/>
          <a:p>
            <a:pPr indent="0" marL="0">
              <a:lnSpc>
                <a:spcPct val="110000"/>
              </a:lnSpc>
              <a:buNone/>
            </a:pPr>
            <a:r>
              <a:rPr lang="en-US" sz="1800" dirty="0">
                <a:solidFill>
                  <a:srgbClr val="3C3828"/>
                </a:solidFill>
                <a:latin typeface="Georgia" pitchFamily="34" charset="0"/>
                <a:ea typeface="Georgia" pitchFamily="34" charset="-122"/>
                <a:cs typeface="Georgia" pitchFamily="34" charset="-120"/>
              </a:rPr>
              <a:t>The education system’s obsession with testing represents a limited approach to learning that puts too much emphasis on right and wrong answers and ignores the personal learning experience of individual students.</a:t>
            </a:r>
            <a:endParaRPr lang="en-US" sz="1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E9B3"/>
        </a:solidFill>
      </p:bgPr>
    </p:bg>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THE 2 COMPONENTS OF AN EFFECTIVE THESIS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The equation for a thesis statement</a:t>
            </a:r>
            <a:endParaRPr lang="en-US" sz="3000" dirty="0"/>
          </a:p>
        </p:txBody>
      </p:sp>
      <p:sp>
        <p:nvSpPr>
          <p:cNvPr id="4" name="Shape 2"/>
          <p:cNvSpPr/>
          <p:nvPr/>
        </p:nvSpPr>
        <p:spPr>
          <a:xfrm>
            <a:off x="1272388" y="2194560"/>
            <a:ext cx="2606040" cy="2606040"/>
          </a:xfrm>
          <a:prstGeom prst="ellipse">
            <a:avLst/>
          </a:prstGeom>
          <a:solidFill>
            <a:srgbClr val="02BDC7"/>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5" name="Image 0" descr="question icon">    </p:cNvPr>
          <p:cNvPicPr>
            <a:picLocks noChangeAspect="1"/>
          </p:cNvPicPr>
          <p:nvPr/>
        </p:nvPicPr>
        <p:blipFill>
          <a:blip r:embed="rId1"/>
          <a:stretch>
            <a:fillRect/>
          </a:stretch>
        </p:blipFill>
        <p:spPr>
          <a:xfrm>
            <a:off x="2163928" y="2560320"/>
            <a:ext cx="822960" cy="822960"/>
          </a:xfrm>
          <a:prstGeom prst="rect">
            <a:avLst/>
          </a:prstGeom>
        </p:spPr>
      </p:pic>
      <p:sp>
        <p:nvSpPr>
          <p:cNvPr id="6" name="Text 3"/>
          <p:cNvSpPr/>
          <p:nvPr/>
        </p:nvSpPr>
        <p:spPr>
          <a:xfrm>
            <a:off x="145526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Observation</a:t>
            </a:r>
            <a:endParaRPr lang="en-US" sz="2600" dirty="0"/>
          </a:p>
        </p:txBody>
      </p:sp>
      <p:sp>
        <p:nvSpPr>
          <p:cNvPr id="7" name="Text 4"/>
          <p:cNvSpPr/>
          <p:nvPr/>
        </p:nvSpPr>
        <p:spPr>
          <a:xfrm>
            <a:off x="387842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8" name="Shape 5"/>
          <p:cNvSpPr/>
          <p:nvPr/>
        </p:nvSpPr>
        <p:spPr>
          <a:xfrm>
            <a:off x="4792828" y="2194560"/>
            <a:ext cx="2606040" cy="2606040"/>
          </a:xfrm>
          <a:prstGeom prst="ellipse">
            <a:avLst/>
          </a:prstGeom>
          <a:solidFill>
            <a:srgbClr val="FF9755"/>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9" name="Image 1" descr="timer icon">    </p:cNvPr>
          <p:cNvPicPr>
            <a:picLocks noChangeAspect="1"/>
          </p:cNvPicPr>
          <p:nvPr/>
        </p:nvPicPr>
        <p:blipFill>
          <a:blip r:embed="rId2"/>
          <a:stretch>
            <a:fillRect/>
          </a:stretch>
        </p:blipFill>
        <p:spPr>
          <a:xfrm>
            <a:off x="5684368" y="2560320"/>
            <a:ext cx="822960" cy="822960"/>
          </a:xfrm>
          <a:prstGeom prst="rect">
            <a:avLst/>
          </a:prstGeom>
        </p:spPr>
      </p:pic>
      <p:sp>
        <p:nvSpPr>
          <p:cNvPr id="10" name="Text 6"/>
          <p:cNvSpPr/>
          <p:nvPr/>
        </p:nvSpPr>
        <p:spPr>
          <a:xfrm>
            <a:off x="497570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Analysis</a:t>
            </a:r>
            <a:endParaRPr lang="en-US" sz="2600" dirty="0"/>
          </a:p>
        </p:txBody>
      </p:sp>
      <p:sp>
        <p:nvSpPr>
          <p:cNvPr id="11" name="Text 7"/>
          <p:cNvSpPr/>
          <p:nvPr/>
        </p:nvSpPr>
        <p:spPr>
          <a:xfrm>
            <a:off x="7398868" y="2194560"/>
            <a:ext cx="914400" cy="2606040"/>
          </a:xfrm>
          <a:prstGeom prst="rect">
            <a:avLst/>
          </a:prstGeom>
          <a:noFill/>
          <a:ln/>
        </p:spPr>
        <p:txBody>
          <a:bodyPr wrap="square" lIns="0" tIns="0" rIns="0" bIns="0" rtlCol="0" anchor="ctr"/>
          <a:lstStyle/>
          <a:p>
            <a:pPr algn="ctr" indent="0" marL="0">
              <a:buNone/>
            </a:pPr>
            <a:r>
              <a:rPr lang="en-US" sz="6000" dirty="0">
                <a:solidFill>
                  <a:srgbClr val="3C3828"/>
                </a:solidFill>
                <a:latin typeface="Georgia" pitchFamily="34" charset="0"/>
                <a:ea typeface="Georgia" pitchFamily="34" charset="-122"/>
                <a:cs typeface="Georgia" pitchFamily="34" charset="-120"/>
              </a:rPr>
              <a:t>=</a:t>
            </a:r>
            <a:endParaRPr lang="en-US" sz="6000" dirty="0"/>
          </a:p>
        </p:txBody>
      </p:sp>
      <p:sp>
        <p:nvSpPr>
          <p:cNvPr id="12" name="Shape 8"/>
          <p:cNvSpPr/>
          <p:nvPr/>
        </p:nvSpPr>
        <p:spPr>
          <a:xfrm>
            <a:off x="8313268" y="2194560"/>
            <a:ext cx="2606040" cy="2606040"/>
          </a:xfrm>
          <a:prstGeom prst="ellipse">
            <a:avLst/>
          </a:prstGeom>
          <a:solidFill>
            <a:srgbClr val="FC4540"/>
          </a:solidFill>
          <a:ln w="38100">
            <a:solidFill>
              <a:srgbClr val="FFFEFA"/>
            </a:solidFill>
            <a:prstDash val="solid"/>
          </a:ln>
          <a:effectLst>
            <a:outerShdw sx="100000" sy="100000" kx="0" ky="0" algn="bl" rotWithShape="0" blurRad="127000" dist="38100" dir="5400000">
              <a:srgbClr val="3C3828">
                <a:alpha val="14000"/>
              </a:srgbClr>
            </a:outerShdw>
          </a:effectLst>
        </p:spPr>
      </p:sp>
      <p:pic>
        <p:nvPicPr>
          <p:cNvPr id="13" name="Image 2" descr="lightbulb icon">    </p:cNvPr>
          <p:cNvPicPr>
            <a:picLocks noChangeAspect="1"/>
          </p:cNvPicPr>
          <p:nvPr/>
        </p:nvPicPr>
        <p:blipFill>
          <a:blip r:embed="rId3"/>
          <a:stretch>
            <a:fillRect/>
          </a:stretch>
        </p:blipFill>
        <p:spPr>
          <a:xfrm>
            <a:off x="9204808" y="2560320"/>
            <a:ext cx="822960" cy="822960"/>
          </a:xfrm>
          <a:prstGeom prst="rect">
            <a:avLst/>
          </a:prstGeom>
        </p:spPr>
      </p:pic>
      <p:sp>
        <p:nvSpPr>
          <p:cNvPr id="14" name="Text 9"/>
          <p:cNvSpPr/>
          <p:nvPr/>
        </p:nvSpPr>
        <p:spPr>
          <a:xfrm>
            <a:off x="8496148" y="3429000"/>
            <a:ext cx="2240280" cy="914400"/>
          </a:xfrm>
          <a:prstGeom prst="rect">
            <a:avLst/>
          </a:prstGeom>
          <a:noFill/>
          <a:ln/>
        </p:spPr>
        <p:txBody>
          <a:bodyPr wrap="square" lIns="0" tIns="0" rIns="0" bIns="0" rtlCol="0" anchor="ctr"/>
          <a:lstStyle/>
          <a:p>
            <a:pPr algn="ctr" indent="0" marL="0">
              <a:buNone/>
            </a:pPr>
            <a:r>
              <a:rPr lang="en-US" sz="2600" b="1" dirty="0">
                <a:solidFill>
                  <a:srgbClr val="FFFEFA"/>
                </a:solidFill>
                <a:latin typeface="Georgia" pitchFamily="34" charset="0"/>
                <a:ea typeface="Georgia" pitchFamily="34" charset="-122"/>
                <a:cs typeface="Georgia" pitchFamily="34" charset="-120"/>
              </a:rPr>
              <a:t>Complex thesis</a:t>
            </a:r>
            <a:endParaRPr lang="en-US" sz="2600" dirty="0"/>
          </a:p>
        </p:txBody>
      </p:sp>
      <p:sp>
        <p:nvSpPr>
          <p:cNvPr id="15" name="Text 10"/>
          <p:cNvSpPr/>
          <p:nvPr/>
        </p:nvSpPr>
        <p:spPr>
          <a:xfrm>
            <a:off x="685800" y="5120640"/>
            <a:ext cx="10820095" cy="457200"/>
          </a:xfrm>
          <a:prstGeom prst="rect">
            <a:avLst/>
          </a:prstGeom>
          <a:noFill/>
          <a:ln/>
        </p:spPr>
        <p:txBody>
          <a:bodyPr wrap="square" lIns="0" tIns="0" rIns="0" bIns="0" rtlCol="0" anchor="ctr"/>
          <a:lstStyle/>
          <a:p>
            <a:pPr algn="ctr" indent="0" marL="0">
              <a:buNone/>
            </a:pPr>
            <a:r>
              <a:rPr lang="en-US" sz="2000" i="1" dirty="0">
                <a:solidFill>
                  <a:srgbClr val="7E7C78"/>
                </a:solidFill>
                <a:latin typeface="Calibri" pitchFamily="34" charset="0"/>
                <a:ea typeface="Calibri" pitchFamily="34" charset="-122"/>
                <a:cs typeface="Calibri" pitchFamily="34" charset="-120"/>
              </a:rPr>
              <a:t>Now combine yours.</a:t>
            </a:r>
            <a:endParaRPr lang="en-US" sz="2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DON’T FORGET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Crafting a thesis statement that works is vital to the rest of your essay…</a:t>
            </a:r>
            <a:endParaRPr lang="en-US" sz="30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thumbs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…so don’t ever begin writing your essay until you’ve created a </a:t>
            </a:r>
            <a:r>
              <a:rPr lang="en-US" sz="4000" dirty="0">
                <a:solidFill>
                  <a:srgbClr val="3C3828"/>
                </a:solidFill>
                <a:highlight>
                  <a:srgbClr val="FFE14D"/>
                </a:highlight>
                <a:latin typeface="Georgia" pitchFamily="34" charset="0"/>
                <a:ea typeface="Georgia" pitchFamily="34" charset="-122"/>
                <a:cs typeface="Georgia" pitchFamily="34" charset="-120"/>
              </a:rPr>
              <a:t>strong thesis statement!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THESIS REVIEW</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Thesis review</a:t>
            </a:r>
            <a:endParaRPr lang="en-US" sz="3600" dirty="0"/>
          </a:p>
        </p:txBody>
      </p:sp>
      <p:sp>
        <p:nvSpPr>
          <p:cNvPr id="4" name="Shape 2"/>
          <p:cNvSpPr/>
          <p:nvPr/>
        </p:nvSpPr>
        <p:spPr>
          <a:xfrm>
            <a:off x="10637215" y="457200"/>
            <a:ext cx="868680" cy="868680"/>
          </a:xfrm>
          <a:prstGeom prst="ellipse">
            <a:avLst/>
          </a:prstGeom>
          <a:solidFill>
            <a:srgbClr val="FC4540"/>
          </a:solidFill>
          <a:ln w="12700">
            <a:solidFill>
              <a:srgbClr val="FC4540"/>
            </a:solidFill>
            <a:prstDash val="solid"/>
          </a:ln>
        </p:spPr>
      </p:sp>
      <p:pic>
        <p:nvPicPr>
          <p:cNvPr id="5" name="Image 0" descr="pencil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C4067"/>
          </a:solidFill>
          <a:ln w="12700">
            <a:solidFill>
              <a:srgbClr val="FC4067"/>
            </a:solidFill>
            <a:prstDash val="solid"/>
          </a:ln>
        </p:spPr>
      </p:sp>
      <p:sp>
        <p:nvSpPr>
          <p:cNvPr id="7" name="Shape 4"/>
          <p:cNvSpPr/>
          <p:nvPr/>
        </p:nvSpPr>
        <p:spPr>
          <a:xfrm>
            <a:off x="11460175" y="1307592"/>
            <a:ext cx="128016" cy="128016"/>
          </a:xfrm>
          <a:prstGeom prst="ellipse">
            <a:avLst/>
          </a:prstGeom>
          <a:solidFill>
            <a:srgbClr val="02BDC7"/>
          </a:solidFill>
          <a:ln w="12700">
            <a:solidFill>
              <a:srgbClr val="02BDC7"/>
            </a:solidFill>
            <a:prstDash val="solid"/>
          </a:ln>
        </p:spPr>
      </p:sp>
      <p:sp>
        <p:nvSpPr>
          <p:cNvPr id="8" name="Shape 5"/>
          <p:cNvSpPr/>
          <p:nvPr/>
        </p:nvSpPr>
        <p:spPr>
          <a:xfrm>
            <a:off x="685800"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2218436"/>
            <a:ext cx="3137306" cy="91440"/>
          </a:xfrm>
          <a:prstGeom prst="rect">
            <a:avLst/>
          </a:prstGeom>
          <a:solidFill>
            <a:srgbClr val="FC4540"/>
          </a:solidFill>
          <a:ln w="12700">
            <a:solidFill>
              <a:srgbClr val="FC4540"/>
            </a:solidFill>
            <a:prstDash val="solid"/>
          </a:ln>
        </p:spPr>
      </p:sp>
      <p:sp>
        <p:nvSpPr>
          <p:cNvPr id="10" name="Shape 7"/>
          <p:cNvSpPr/>
          <p:nvPr/>
        </p:nvSpPr>
        <p:spPr>
          <a:xfrm>
            <a:off x="1005840" y="2584196"/>
            <a:ext cx="731520" cy="731520"/>
          </a:xfrm>
          <a:prstGeom prst="ellipse">
            <a:avLst/>
          </a:prstGeom>
          <a:solidFill>
            <a:srgbClr val="FC4540"/>
          </a:solidFill>
          <a:ln w="12700">
            <a:solidFill>
              <a:srgbClr val="FC4540"/>
            </a:solidFill>
            <a:prstDash val="solid"/>
          </a:ln>
        </p:spPr>
      </p:sp>
      <p:sp>
        <p:nvSpPr>
          <p:cNvPr id="11" name="Text 8"/>
          <p:cNvSpPr/>
          <p:nvPr/>
        </p:nvSpPr>
        <p:spPr>
          <a:xfrm>
            <a:off x="1005840"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1</a:t>
            </a:r>
            <a:endParaRPr lang="en-US" sz="3000" dirty="0"/>
          </a:p>
        </p:txBody>
      </p:sp>
      <p:sp>
        <p:nvSpPr>
          <p:cNvPr id="12" name="Text 9"/>
          <p:cNvSpPr/>
          <p:nvPr/>
        </p:nvSpPr>
        <p:spPr>
          <a:xfrm>
            <a:off x="1005840"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One, complex, </a:t>
            </a:r>
            <a:r>
              <a:rPr lang="en-US" sz="2800" dirty="0">
                <a:solidFill>
                  <a:srgbClr val="3C3828"/>
                </a:solidFill>
                <a:highlight>
                  <a:srgbClr val="FFE14D"/>
                </a:highlight>
                <a:latin typeface="Calibri" pitchFamily="34" charset="0"/>
                <a:ea typeface="Calibri" pitchFamily="34" charset="-122"/>
                <a:cs typeface="Calibri" pitchFamily="34" charset="-120"/>
              </a:rPr>
              <a:t>concise</a:t>
            </a:r>
            <a:r>
              <a:rPr lang="en-US" sz="2800" dirty="0">
                <a:solidFill>
                  <a:srgbClr val="3C3828"/>
                </a:solidFill>
                <a:latin typeface="Calibri" pitchFamily="34" charset="0"/>
                <a:ea typeface="Calibri" pitchFamily="34" charset="-122"/>
                <a:cs typeface="Calibri" pitchFamily="34" charset="-120"/>
              </a:rPr>
              <a:t> sentence. (Concise does not equal brief!)</a:t>
            </a:r>
            <a:endParaRPr lang="en-US" sz="2800" dirty="0"/>
          </a:p>
        </p:txBody>
      </p:sp>
      <p:sp>
        <p:nvSpPr>
          <p:cNvPr id="13" name="Shape 10"/>
          <p:cNvSpPr/>
          <p:nvPr/>
        </p:nvSpPr>
        <p:spPr>
          <a:xfrm>
            <a:off x="4399178"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4" name="Shape 11"/>
          <p:cNvSpPr/>
          <p:nvPr/>
        </p:nvSpPr>
        <p:spPr>
          <a:xfrm>
            <a:off x="4527194" y="2218436"/>
            <a:ext cx="3137306" cy="91440"/>
          </a:xfrm>
          <a:prstGeom prst="rect">
            <a:avLst/>
          </a:prstGeom>
          <a:solidFill>
            <a:srgbClr val="FF9755"/>
          </a:solidFill>
          <a:ln w="12700">
            <a:solidFill>
              <a:srgbClr val="FF9755"/>
            </a:solidFill>
            <a:prstDash val="solid"/>
          </a:ln>
        </p:spPr>
      </p:sp>
      <p:sp>
        <p:nvSpPr>
          <p:cNvPr id="15" name="Shape 12"/>
          <p:cNvSpPr/>
          <p:nvPr/>
        </p:nvSpPr>
        <p:spPr>
          <a:xfrm>
            <a:off x="4719218" y="2584196"/>
            <a:ext cx="731520" cy="731520"/>
          </a:xfrm>
          <a:prstGeom prst="ellipse">
            <a:avLst/>
          </a:prstGeom>
          <a:solidFill>
            <a:srgbClr val="FF9755"/>
          </a:solidFill>
          <a:ln w="12700">
            <a:solidFill>
              <a:srgbClr val="FF9755"/>
            </a:solidFill>
            <a:prstDash val="solid"/>
          </a:ln>
        </p:spPr>
      </p:sp>
      <p:sp>
        <p:nvSpPr>
          <p:cNvPr id="16" name="Text 13"/>
          <p:cNvSpPr/>
          <p:nvPr/>
        </p:nvSpPr>
        <p:spPr>
          <a:xfrm>
            <a:off x="4719218"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2</a:t>
            </a:r>
            <a:endParaRPr lang="en-US" sz="3000" dirty="0"/>
          </a:p>
        </p:txBody>
      </p:sp>
      <p:sp>
        <p:nvSpPr>
          <p:cNvPr id="17" name="Text 14"/>
          <p:cNvSpPr/>
          <p:nvPr/>
        </p:nvSpPr>
        <p:spPr>
          <a:xfrm>
            <a:off x="4719218"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Includes </a:t>
            </a:r>
            <a:r>
              <a:rPr lang="en-US" sz="2800" dirty="0">
                <a:solidFill>
                  <a:srgbClr val="3C3828"/>
                </a:solidFill>
                <a:highlight>
                  <a:srgbClr val="FFE14D"/>
                </a:highlight>
                <a:latin typeface="Calibri" pitchFamily="34" charset="0"/>
                <a:ea typeface="Calibri" pitchFamily="34" charset="-122"/>
                <a:cs typeface="Calibri" pitchFamily="34" charset="-120"/>
              </a:rPr>
              <a:t>observation + analysis.</a:t>
            </a:r>
            <a:endParaRPr lang="en-US" sz="2800" dirty="0"/>
          </a:p>
        </p:txBody>
      </p:sp>
      <p:sp>
        <p:nvSpPr>
          <p:cNvPr id="18" name="Shape 15"/>
          <p:cNvSpPr/>
          <p:nvPr/>
        </p:nvSpPr>
        <p:spPr>
          <a:xfrm>
            <a:off x="8112557" y="2218436"/>
            <a:ext cx="3393338" cy="3609848"/>
          </a:xfrm>
          <a:prstGeom prst="roundRect">
            <a:avLst>
              <a:gd name="adj" fmla="val 3773"/>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9" name="Shape 16"/>
          <p:cNvSpPr/>
          <p:nvPr/>
        </p:nvSpPr>
        <p:spPr>
          <a:xfrm>
            <a:off x="8240573" y="2218436"/>
            <a:ext cx="3137306" cy="91440"/>
          </a:xfrm>
          <a:prstGeom prst="rect">
            <a:avLst/>
          </a:prstGeom>
          <a:solidFill>
            <a:srgbClr val="FC4067"/>
          </a:solidFill>
          <a:ln w="12700">
            <a:solidFill>
              <a:srgbClr val="FC4067"/>
            </a:solidFill>
            <a:prstDash val="solid"/>
          </a:ln>
        </p:spPr>
      </p:sp>
      <p:sp>
        <p:nvSpPr>
          <p:cNvPr id="20" name="Shape 17"/>
          <p:cNvSpPr/>
          <p:nvPr/>
        </p:nvSpPr>
        <p:spPr>
          <a:xfrm>
            <a:off x="8432597" y="2584196"/>
            <a:ext cx="731520" cy="731520"/>
          </a:xfrm>
          <a:prstGeom prst="ellipse">
            <a:avLst/>
          </a:prstGeom>
          <a:solidFill>
            <a:srgbClr val="FC4067"/>
          </a:solidFill>
          <a:ln w="12700">
            <a:solidFill>
              <a:srgbClr val="FC4067"/>
            </a:solidFill>
            <a:prstDash val="solid"/>
          </a:ln>
        </p:spPr>
      </p:sp>
      <p:sp>
        <p:nvSpPr>
          <p:cNvPr id="21" name="Text 18"/>
          <p:cNvSpPr/>
          <p:nvPr/>
        </p:nvSpPr>
        <p:spPr>
          <a:xfrm>
            <a:off x="8432597" y="2584196"/>
            <a:ext cx="731520" cy="731520"/>
          </a:xfrm>
          <a:prstGeom prst="rect">
            <a:avLst/>
          </a:prstGeom>
          <a:noFill/>
          <a:ln/>
        </p:spPr>
        <p:txBody>
          <a:bodyPr wrap="square" lIns="0" tIns="0" rIns="0" bIns="0" rtlCol="0" anchor="ctr"/>
          <a:lstStyle/>
          <a:p>
            <a:pPr algn="ctr" indent="0" marL="0">
              <a:buNone/>
            </a:pPr>
            <a:r>
              <a:rPr lang="en-US" sz="3000" b="1" dirty="0">
                <a:solidFill>
                  <a:srgbClr val="FFFEFA"/>
                </a:solidFill>
                <a:latin typeface="Georgia" pitchFamily="34" charset="0"/>
                <a:ea typeface="Georgia" pitchFamily="34" charset="-122"/>
                <a:cs typeface="Georgia" pitchFamily="34" charset="-120"/>
              </a:rPr>
              <a:t>3</a:t>
            </a:r>
            <a:endParaRPr lang="en-US" sz="3000" dirty="0"/>
          </a:p>
        </p:txBody>
      </p:sp>
      <p:sp>
        <p:nvSpPr>
          <p:cNvPr id="22" name="Text 19"/>
          <p:cNvSpPr/>
          <p:nvPr/>
        </p:nvSpPr>
        <p:spPr>
          <a:xfrm>
            <a:off x="8432597" y="3498596"/>
            <a:ext cx="2753258" cy="2146808"/>
          </a:xfrm>
          <a:prstGeom prst="rect">
            <a:avLst/>
          </a:prstGeom>
          <a:noFill/>
          <a:ln/>
        </p:spPr>
        <p:txBody>
          <a:bodyPr wrap="square" lIns="0" tIns="0" rIns="0" bIns="0" rtlCol="0" anchor="t"/>
          <a:lstStyle/>
          <a:p>
            <a:pPr indent="0" marL="0">
              <a:buNone/>
            </a:pPr>
            <a:r>
              <a:rPr lang="en-US" sz="2800" dirty="0">
                <a:solidFill>
                  <a:srgbClr val="3C3828"/>
                </a:solidFill>
                <a:latin typeface="Calibri" pitchFamily="34" charset="0"/>
                <a:ea typeface="Calibri" pitchFamily="34" charset="-122"/>
                <a:cs typeface="Calibri" pitchFamily="34" charset="-120"/>
              </a:rPr>
              <a:t>Specific, not general.</a:t>
            </a:r>
            <a:endParaRPr lang="en-US" sz="28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C8EEF0"/>
        </a:solidFill>
      </p:bgPr>
    </p:bg>
    <p:spTree>
      <p:nvGrpSpPr>
        <p:cNvPr id="1" name=""/>
        <p:cNvGrpSpPr/>
        <p:nvPr/>
      </p:nvGrpSpPr>
      <p:grpSpPr>
        <a:xfrm>
          <a:off x="0" y="0"/>
          <a:ext cx="0" cy="0"/>
          <a:chOff x="0" y="0"/>
          <a:chExt cx="0" cy="0"/>
        </a:xfrm>
      </p:grpSpPr>
      <p:sp>
        <p:nvSpPr>
          <p:cNvPr id="2" name="Shape 0"/>
          <p:cNvSpPr/>
          <p:nvPr/>
        </p:nvSpPr>
        <p:spPr>
          <a:xfrm>
            <a:off x="3626968" y="960120"/>
            <a:ext cx="4937760" cy="4937760"/>
          </a:xfrm>
          <a:prstGeom prst="ellipse">
            <a:avLst/>
          </a:prstGeom>
          <a:solidFill>
            <a:srgbClr val="FFFEFA"/>
          </a:solidFill>
          <a:ln w="12700">
            <a:solidFill>
              <a:srgbClr val="FFFEFA"/>
            </a:solidFill>
            <a:prstDash val="solid"/>
          </a:ln>
          <a:effectLst>
            <a:outerShdw sx="100000" sy="100000" kx="0" ky="0" algn="bl" rotWithShape="0" blurRad="203200" dist="50800" dir="5400000">
              <a:srgbClr val="3C3828">
                <a:alpha val="14000"/>
              </a:srgbClr>
            </a:outerShdw>
          </a:effectLst>
        </p:spPr>
      </p:sp>
      <p:sp>
        <p:nvSpPr>
          <p:cNvPr id="3" name="Text 1"/>
          <p:cNvSpPr/>
          <p:nvPr/>
        </p:nvSpPr>
        <p:spPr>
          <a:xfrm>
            <a:off x="3626968" y="2286000"/>
            <a:ext cx="4937760" cy="457200"/>
          </a:xfrm>
          <a:prstGeom prst="rect">
            <a:avLst/>
          </a:prstGeom>
          <a:noFill/>
          <a:ln/>
        </p:spPr>
        <p:txBody>
          <a:bodyPr wrap="square" lIns="0" tIns="0" rIns="0" bIns="0" rtlCol="0" anchor="ctr"/>
          <a:lstStyle/>
          <a:p>
            <a:pPr algn="ctr" indent="0" marL="0">
              <a:buNone/>
            </a:pPr>
            <a:r>
              <a:rPr lang="en-US" sz="1600" b="1" spc="300" kern="0" dirty="0">
                <a:solidFill>
                  <a:srgbClr val="02BDC7"/>
                </a:solidFill>
                <a:latin typeface="Consolas" pitchFamily="34" charset="0"/>
                <a:ea typeface="Consolas" pitchFamily="34" charset="-122"/>
                <a:cs typeface="Consolas" pitchFamily="34" charset="-120"/>
              </a:rPr>
              <a:t>THESIS 2.0</a:t>
            </a:r>
            <a:endParaRPr lang="en-US" sz="1600" dirty="0"/>
          </a:p>
        </p:txBody>
      </p:sp>
      <p:sp>
        <p:nvSpPr>
          <p:cNvPr id="4" name="Text 2"/>
          <p:cNvSpPr/>
          <p:nvPr/>
        </p:nvSpPr>
        <p:spPr>
          <a:xfrm>
            <a:off x="3626968" y="2743200"/>
            <a:ext cx="4937760" cy="1143000"/>
          </a:xfrm>
          <a:prstGeom prst="rect">
            <a:avLst/>
          </a:prstGeom>
          <a:noFill/>
          <a:ln/>
        </p:spPr>
        <p:txBody>
          <a:bodyPr wrap="square" lIns="0" tIns="0" rIns="0" bIns="0" rtlCol="0" anchor="ctr"/>
          <a:lstStyle/>
          <a:p>
            <a:pPr algn="ctr" indent="0" marL="0">
              <a:buNone/>
            </a:pPr>
            <a:r>
              <a:rPr lang="en-US" sz="3600" dirty="0">
                <a:solidFill>
                  <a:srgbClr val="3C3828"/>
                </a:solidFill>
                <a:highlight>
                  <a:srgbClr val="FFE14D"/>
                </a:highlight>
                <a:latin typeface="Georgia" pitchFamily="34" charset="0"/>
                <a:ea typeface="Georgia" pitchFamily="34" charset="-122"/>
                <a:cs typeface="Georgia" pitchFamily="34" charset="-120"/>
              </a:rPr>
              <a:t>Avoid the verb “to be”</a:t>
            </a:r>
            <a:endParaRPr lang="en-US" sz="3600" dirty="0"/>
          </a:p>
        </p:txBody>
      </p:sp>
      <p:sp>
        <p:nvSpPr>
          <p:cNvPr id="5" name="Text 3"/>
          <p:cNvSpPr/>
          <p:nvPr/>
        </p:nvSpPr>
        <p:spPr>
          <a:xfrm>
            <a:off x="4358488" y="3977640"/>
            <a:ext cx="3474720" cy="822960"/>
          </a:xfrm>
          <a:prstGeom prst="rect">
            <a:avLst/>
          </a:prstGeom>
          <a:noFill/>
          <a:ln/>
        </p:spPr>
        <p:txBody>
          <a:bodyPr wrap="square" lIns="0" tIns="0" rIns="0" bIns="0" rtlCol="0" anchor="t"/>
          <a:lstStyle/>
          <a:p>
            <a:pPr algn="ctr" indent="0" marL="0">
              <a:buNone/>
            </a:pPr>
            <a:r>
              <a:rPr lang="en-US" sz="1800" i="1" dirty="0">
                <a:solidFill>
                  <a:srgbClr val="7E7C78"/>
                </a:solidFill>
                <a:latin typeface="Calibri" pitchFamily="34" charset="0"/>
                <a:ea typeface="Calibri" pitchFamily="34" charset="-122"/>
                <a:cs typeface="Calibri" pitchFamily="34" charset="-120"/>
              </a:rPr>
              <a:t>Optional: for you, or for a class that’s ready.</a:t>
            </a:r>
            <a:endParaRPr lang="en-US" sz="1800" dirty="0"/>
          </a:p>
        </p:txBody>
      </p:sp>
      <p:sp>
        <p:nvSpPr>
          <p:cNvPr id="6" name="Shape 4"/>
          <p:cNvSpPr/>
          <p:nvPr/>
        </p:nvSpPr>
        <p:spPr>
          <a:xfrm>
            <a:off x="7558888" y="640080"/>
            <a:ext cx="1417320" cy="1417320"/>
          </a:xfrm>
          <a:prstGeom prst="ellipse">
            <a:avLst/>
          </a:prstGeom>
          <a:solidFill>
            <a:srgbClr val="FFB600"/>
          </a:solidFill>
          <a:ln w="12700">
            <a:solidFill>
              <a:srgbClr val="FFB600"/>
            </a:solidFill>
            <a:prstDash val="solid"/>
          </a:ln>
        </p:spPr>
      </p:sp>
      <p:pic>
        <p:nvPicPr>
          <p:cNvPr id="7" name="Image 0" descr="lightbulb icon">    </p:cNvPr>
          <p:cNvPicPr>
            <a:picLocks noChangeAspect="1"/>
          </p:cNvPicPr>
          <p:nvPr/>
        </p:nvPicPr>
        <p:blipFill>
          <a:blip r:embed="rId1"/>
          <a:stretch>
            <a:fillRect/>
          </a:stretch>
        </p:blipFill>
        <p:spPr>
          <a:xfrm>
            <a:off x="7842352" y="923544"/>
            <a:ext cx="850392" cy="850392"/>
          </a:xfrm>
          <a:prstGeom prst="rect">
            <a:avLst/>
          </a:prstGeom>
        </p:spPr>
      </p:pic>
      <p:sp>
        <p:nvSpPr>
          <p:cNvPr id="8" name="Shape 5"/>
          <p:cNvSpPr/>
          <p:nvPr/>
        </p:nvSpPr>
        <p:spPr>
          <a:xfrm>
            <a:off x="2941168" y="1463040"/>
            <a:ext cx="1005840" cy="1005840"/>
          </a:xfrm>
          <a:prstGeom prst="ellipse">
            <a:avLst/>
          </a:prstGeom>
          <a:solidFill>
            <a:srgbClr val="FF9755"/>
          </a:solidFill>
          <a:ln w="12700">
            <a:solidFill>
              <a:srgbClr val="FF9755"/>
            </a:solidFill>
            <a:prstDash val="solid"/>
          </a:ln>
        </p:spPr>
      </p:sp>
      <p:pic>
        <p:nvPicPr>
          <p:cNvPr id="9" name="Image 1" descr="puzzle icon">    </p:cNvPr>
          <p:cNvPicPr>
            <a:picLocks noChangeAspect="1"/>
          </p:cNvPicPr>
          <p:nvPr/>
        </p:nvPicPr>
        <p:blipFill>
          <a:blip r:embed="rId2"/>
          <a:stretch>
            <a:fillRect/>
          </a:stretch>
        </p:blipFill>
        <p:spPr>
          <a:xfrm>
            <a:off x="3142336" y="1664208"/>
            <a:ext cx="603504" cy="603504"/>
          </a:xfrm>
          <a:prstGeom prst="rect">
            <a:avLst/>
          </a:prstGeom>
        </p:spPr>
      </p:pic>
      <p:sp>
        <p:nvSpPr>
          <p:cNvPr id="10" name="Shape 6"/>
          <p:cNvSpPr/>
          <p:nvPr/>
        </p:nvSpPr>
        <p:spPr>
          <a:xfrm>
            <a:off x="3718408" y="4800600"/>
            <a:ext cx="1188720" cy="1188720"/>
          </a:xfrm>
          <a:prstGeom prst="ellipse">
            <a:avLst/>
          </a:prstGeom>
          <a:solidFill>
            <a:srgbClr val="FC4540"/>
          </a:solidFill>
          <a:ln w="12700">
            <a:solidFill>
              <a:srgbClr val="FC4540"/>
            </a:solidFill>
            <a:prstDash val="solid"/>
          </a:ln>
        </p:spPr>
      </p:sp>
      <p:pic>
        <p:nvPicPr>
          <p:cNvPr id="11" name="Image 2" descr="thumbs icon">    </p:cNvPr>
          <p:cNvPicPr>
            <a:picLocks noChangeAspect="1"/>
          </p:cNvPicPr>
          <p:nvPr/>
        </p:nvPicPr>
        <p:blipFill>
          <a:blip r:embed="rId3"/>
          <a:stretch>
            <a:fillRect/>
          </a:stretch>
        </p:blipFill>
        <p:spPr>
          <a:xfrm>
            <a:off x="3956152" y="5038344"/>
            <a:ext cx="713232" cy="713232"/>
          </a:xfrm>
          <a:prstGeom prst="rect">
            <a:avLst/>
          </a:prstGeom>
        </p:spPr>
      </p:pic>
      <p:sp>
        <p:nvSpPr>
          <p:cNvPr id="12" name="Shape 7"/>
          <p:cNvSpPr/>
          <p:nvPr/>
        </p:nvSpPr>
        <p:spPr>
          <a:xfrm>
            <a:off x="3124048" y="2743200"/>
            <a:ext cx="274320" cy="274320"/>
          </a:xfrm>
          <a:prstGeom prst="ellipse">
            <a:avLst/>
          </a:prstGeom>
          <a:solidFill>
            <a:srgbClr val="FFFEFA"/>
          </a:solidFill>
          <a:ln w="12700">
            <a:solidFill>
              <a:srgbClr val="FFFEFA"/>
            </a:solidFill>
            <a:prstDash val="solid"/>
          </a:ln>
        </p:spPr>
      </p:sp>
      <p:sp>
        <p:nvSpPr>
          <p:cNvPr id="13" name="Shape 8"/>
          <p:cNvSpPr/>
          <p:nvPr/>
        </p:nvSpPr>
        <p:spPr>
          <a:xfrm>
            <a:off x="8701888" y="2423160"/>
            <a:ext cx="438912" cy="438912"/>
          </a:xfrm>
          <a:prstGeom prst="ellipse">
            <a:avLst/>
          </a:prstGeom>
          <a:solidFill>
            <a:srgbClr val="FC4067"/>
          </a:solidFill>
          <a:ln w="12700">
            <a:solidFill>
              <a:srgbClr val="FC4067"/>
            </a:solidFill>
            <a:prstDash val="solid"/>
          </a:ln>
        </p:spPr>
      </p:sp>
      <p:sp>
        <p:nvSpPr>
          <p:cNvPr id="14" name="Shape 9"/>
          <p:cNvSpPr/>
          <p:nvPr/>
        </p:nvSpPr>
        <p:spPr>
          <a:xfrm>
            <a:off x="8976208" y="2057400"/>
            <a:ext cx="146304" cy="146304"/>
          </a:xfrm>
          <a:prstGeom prst="ellipse">
            <a:avLst/>
          </a:prstGeom>
          <a:solidFill>
            <a:srgbClr val="FFFEFA"/>
          </a:solidFill>
          <a:ln w="12700">
            <a:solidFill>
              <a:srgbClr val="FFFEFA"/>
            </a:solidFill>
            <a:prstDash val="solid"/>
          </a:ln>
        </p:spPr>
      </p:sp>
      <p:sp>
        <p:nvSpPr>
          <p:cNvPr id="15" name="Shape 10"/>
          <p:cNvSpPr/>
          <p:nvPr/>
        </p:nvSpPr>
        <p:spPr>
          <a:xfrm>
            <a:off x="7650328" y="5760720"/>
            <a:ext cx="457200" cy="457200"/>
          </a:xfrm>
          <a:prstGeom prst="ellipse">
            <a:avLst/>
          </a:prstGeom>
          <a:solidFill>
            <a:srgbClr val="FC4067"/>
          </a:solidFill>
          <a:ln w="12700">
            <a:solidFill>
              <a:srgbClr val="FC4067"/>
            </a:solidFill>
            <a:prstDash val="solid"/>
          </a:ln>
        </p:spPr>
      </p:sp>
      <p:sp>
        <p:nvSpPr>
          <p:cNvPr id="16" name="Shape 11"/>
          <p:cNvSpPr/>
          <p:nvPr/>
        </p:nvSpPr>
        <p:spPr>
          <a:xfrm>
            <a:off x="8290408" y="5989320"/>
            <a:ext cx="640080" cy="640080"/>
          </a:xfrm>
          <a:prstGeom prst="ellipse">
            <a:avLst/>
          </a:prstGeom>
          <a:solidFill>
            <a:srgbClr val="FF9755"/>
          </a:solidFill>
          <a:ln w="12700">
            <a:solidFill>
              <a:srgbClr val="FF9755"/>
            </a:solidFill>
            <a:prstDash val="solid"/>
          </a:ln>
        </p:spPr>
      </p:sp>
      <p:sp>
        <p:nvSpPr>
          <p:cNvPr id="17" name="Shape 12"/>
          <p:cNvSpPr/>
          <p:nvPr/>
        </p:nvSpPr>
        <p:spPr>
          <a:xfrm>
            <a:off x="3306928" y="4480560"/>
            <a:ext cx="365760" cy="365760"/>
          </a:xfrm>
          <a:prstGeom prst="ellipse">
            <a:avLst/>
          </a:prstGeom>
          <a:solidFill>
            <a:srgbClr val="FF9755"/>
          </a:solidFill>
          <a:ln w="12700">
            <a:solidFill>
              <a:srgbClr val="FF9755"/>
            </a:solidFill>
            <a:prstDash val="solid"/>
          </a:ln>
        </p:spPr>
      </p:sp>
      <p:sp>
        <p:nvSpPr>
          <p:cNvPr id="18" name="Shape 13"/>
          <p:cNvSpPr/>
          <p:nvPr/>
        </p:nvSpPr>
        <p:spPr>
          <a:xfrm>
            <a:off x="4815688" y="5852160"/>
            <a:ext cx="219456" cy="219456"/>
          </a:xfrm>
          <a:prstGeom prst="ellipse">
            <a:avLst/>
          </a:prstGeom>
          <a:solidFill>
            <a:srgbClr val="02BDC7"/>
          </a:solidFill>
          <a:ln w="12700">
            <a:solidFill>
              <a:srgbClr val="02BDC7"/>
            </a:solidFill>
            <a:prstDash val="solid"/>
          </a:ln>
        </p:spPr>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THESIS 2.0</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Avoid the verb </a:t>
            </a:r>
            <a:r>
              <a:rPr lang="en-US" sz="3600" dirty="0">
                <a:solidFill>
                  <a:srgbClr val="3C3828"/>
                </a:solidFill>
                <a:highlight>
                  <a:srgbClr val="FFE14D"/>
                </a:highlight>
                <a:latin typeface="Georgia" pitchFamily="34" charset="0"/>
                <a:ea typeface="Georgia" pitchFamily="34" charset="-122"/>
                <a:cs typeface="Georgia" pitchFamily="34" charset="-120"/>
              </a:rPr>
              <a:t>“to be”</a:t>
            </a:r>
            <a:endParaRPr lang="en-US" sz="3600" dirty="0"/>
          </a:p>
        </p:txBody>
      </p:sp>
      <p:sp>
        <p:nvSpPr>
          <p:cNvPr id="4" name="Shape 2"/>
          <p:cNvSpPr/>
          <p:nvPr/>
        </p:nvSpPr>
        <p:spPr>
          <a:xfrm>
            <a:off x="1051560" y="2926080"/>
            <a:ext cx="2194560" cy="2194560"/>
          </a:xfrm>
          <a:prstGeom prst="ellipse">
            <a:avLst/>
          </a:prstGeom>
          <a:solidFill>
            <a:srgbClr val="FC4067"/>
          </a:solidFill>
          <a:ln w="12700">
            <a:solidFill>
              <a:srgbClr val="FC4067"/>
            </a:solidFill>
            <a:prstDash val="solid"/>
          </a:ln>
        </p:spPr>
      </p:sp>
      <p:pic>
        <p:nvPicPr>
          <p:cNvPr id="5" name="Image 0" descr="pencil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B600"/>
          </a:solidFill>
          <a:ln w="12700">
            <a:solidFill>
              <a:srgbClr val="FFB600"/>
            </a:solidFill>
            <a:prstDash val="solid"/>
          </a:ln>
        </p:spPr>
      </p:sp>
      <p:sp>
        <p:nvSpPr>
          <p:cNvPr id="7" name="Shape 4"/>
          <p:cNvSpPr/>
          <p:nvPr/>
        </p:nvSpPr>
        <p:spPr>
          <a:xfrm>
            <a:off x="914400" y="4800600"/>
            <a:ext cx="201168" cy="201168"/>
          </a:xfrm>
          <a:prstGeom prst="ellipse">
            <a:avLst/>
          </a:prstGeom>
          <a:solidFill>
            <a:srgbClr val="FF9755"/>
          </a:solidFill>
          <a:ln w="12700">
            <a:solidFill>
              <a:srgbClr val="FF9755"/>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It creates wordy situations. It’s a little word that needs other words to make it work. For example…</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685800" y="274320"/>
            <a:ext cx="9357055" cy="320040"/>
          </a:xfrm>
          <a:prstGeom prst="rect">
            <a:avLst/>
          </a:prstGeom>
          <a:noFill/>
          <a:ln/>
        </p:spPr>
        <p:txBody>
          <a:bodyPr wrap="square" lIns="0" tIns="0" rIns="0" bIns="0" rtlCol="0" anchor="b"/>
          <a:lstStyle/>
          <a:p>
            <a:pPr indent="0" marL="0">
              <a:buNone/>
            </a:pPr>
            <a:r>
              <a:rPr lang="en-US" sz="1200" b="1" spc="200" kern="0" dirty="0">
                <a:solidFill>
                  <a:srgbClr val="FC4067"/>
                </a:solidFill>
                <a:latin typeface="Consolas" pitchFamily="34" charset="0"/>
                <a:ea typeface="Consolas" pitchFamily="34" charset="-122"/>
                <a:cs typeface="Consolas" pitchFamily="34" charset="-120"/>
              </a:rPr>
              <a:t>WITH THE VERB “TO BE”</a:t>
            </a:r>
            <a:endParaRPr lang="en-US" sz="1200" dirty="0"/>
          </a:p>
        </p:txBody>
      </p:sp>
      <p:sp>
        <p:nvSpPr>
          <p:cNvPr id="3" name="Text 1"/>
          <p:cNvSpPr/>
          <p:nvPr/>
        </p:nvSpPr>
        <p:spPr>
          <a:xfrm>
            <a:off x="685800" y="621792"/>
            <a:ext cx="9357055" cy="640080"/>
          </a:xfrm>
          <a:prstGeom prst="rect">
            <a:avLst/>
          </a:prstGeom>
          <a:noFill/>
          <a:ln/>
        </p:spPr>
        <p:txBody>
          <a:bodyPr wrap="square" lIns="0" tIns="0" rIns="0" bIns="0" rtlCol="0" anchor="t"/>
          <a:lstStyle/>
          <a:p>
            <a:pPr indent="0" marL="0">
              <a:buNone/>
            </a:pPr>
            <a:r>
              <a:rPr lang="en-US" sz="3200" dirty="0">
                <a:solidFill>
                  <a:srgbClr val="3C3828"/>
                </a:solidFill>
                <a:latin typeface="Georgia" pitchFamily="34" charset="0"/>
                <a:ea typeface="Georgia" pitchFamily="34" charset="-122"/>
                <a:cs typeface="Georgia" pitchFamily="34" charset="-120"/>
              </a:rPr>
              <a:t>Spot the clutter</a:t>
            </a:r>
            <a:endParaRPr lang="en-US" sz="3200" dirty="0"/>
          </a:p>
        </p:txBody>
      </p:sp>
      <p:sp>
        <p:nvSpPr>
          <p:cNvPr id="4" name="Shape 2"/>
          <p:cNvSpPr/>
          <p:nvPr/>
        </p:nvSpPr>
        <p:spPr>
          <a:xfrm>
            <a:off x="10637215" y="457200"/>
            <a:ext cx="868680" cy="868680"/>
          </a:xfrm>
          <a:prstGeom prst="ellipse">
            <a:avLst/>
          </a:prstGeom>
          <a:solidFill>
            <a:srgbClr val="FC4067"/>
          </a:solidFill>
          <a:ln w="12700">
            <a:solidFill>
              <a:srgbClr val="FC4067"/>
            </a:solidFill>
            <a:prstDash val="solid"/>
          </a:ln>
        </p:spPr>
      </p:sp>
      <p:pic>
        <p:nvPicPr>
          <p:cNvPr id="5" name="Image 0" descr="question icon">    </p:cNvPr>
          <p:cNvPicPr>
            <a:picLocks noChangeAspect="1"/>
          </p:cNvPicPr>
          <p:nvPr/>
        </p:nvPicPr>
        <p:blipFill>
          <a:blip r:embed="rId1"/>
          <a:stretch>
            <a:fillRect/>
          </a:stretch>
        </p:blipFill>
        <p:spPr>
          <a:xfrm>
            <a:off x="10810951" y="630936"/>
            <a:ext cx="521208" cy="521208"/>
          </a:xfrm>
          <a:prstGeom prst="rect">
            <a:avLst/>
          </a:prstGeom>
        </p:spPr>
      </p:pic>
      <p:sp>
        <p:nvSpPr>
          <p:cNvPr id="6" name="Shape 3"/>
          <p:cNvSpPr/>
          <p:nvPr/>
        </p:nvSpPr>
        <p:spPr>
          <a:xfrm>
            <a:off x="10344607" y="530352"/>
            <a:ext cx="182880" cy="182880"/>
          </a:xfrm>
          <a:prstGeom prst="ellipse">
            <a:avLst/>
          </a:prstGeom>
          <a:solidFill>
            <a:srgbClr val="FFB600"/>
          </a:solidFill>
          <a:ln w="12700">
            <a:solidFill>
              <a:srgbClr val="FFB600"/>
            </a:solidFill>
            <a:prstDash val="solid"/>
          </a:ln>
        </p:spPr>
      </p:sp>
      <p:sp>
        <p:nvSpPr>
          <p:cNvPr id="7" name="Shape 4"/>
          <p:cNvSpPr/>
          <p:nvPr/>
        </p:nvSpPr>
        <p:spPr>
          <a:xfrm>
            <a:off x="11460175" y="1307592"/>
            <a:ext cx="128016" cy="128016"/>
          </a:xfrm>
          <a:prstGeom prst="ellipse">
            <a:avLst/>
          </a:prstGeom>
          <a:solidFill>
            <a:srgbClr val="FC4540"/>
          </a:solidFill>
          <a:ln w="12700">
            <a:solidFill>
              <a:srgbClr val="FC4540"/>
            </a:solidFill>
            <a:prstDash val="solid"/>
          </a:ln>
        </p:spPr>
      </p:sp>
      <p:sp>
        <p:nvSpPr>
          <p:cNvPr id="8" name="Shape 5"/>
          <p:cNvSpPr/>
          <p:nvPr/>
        </p:nvSpPr>
        <p:spPr>
          <a:xfrm>
            <a:off x="685800" y="1417320"/>
            <a:ext cx="10820095" cy="4800600"/>
          </a:xfrm>
          <a:prstGeom prst="roundRect">
            <a:avLst>
              <a:gd name="adj" fmla="val 2667"/>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9" name="Shape 6"/>
          <p:cNvSpPr/>
          <p:nvPr/>
        </p:nvSpPr>
        <p:spPr>
          <a:xfrm>
            <a:off x="813816" y="1417320"/>
            <a:ext cx="10564063" cy="91440"/>
          </a:xfrm>
          <a:prstGeom prst="rect">
            <a:avLst/>
          </a:prstGeom>
          <a:solidFill>
            <a:srgbClr val="FC4067"/>
          </a:solidFill>
          <a:ln w="12700">
            <a:solidFill>
              <a:srgbClr val="FC4067"/>
            </a:solidFill>
            <a:prstDash val="solid"/>
          </a:ln>
        </p:spPr>
      </p:sp>
      <p:sp>
        <p:nvSpPr>
          <p:cNvPr id="10" name="Text 7"/>
          <p:cNvSpPr/>
          <p:nvPr/>
        </p:nvSpPr>
        <p:spPr>
          <a:xfrm>
            <a:off x="1143000" y="1737360"/>
            <a:ext cx="9905695" cy="4251960"/>
          </a:xfrm>
          <a:prstGeom prst="rect">
            <a:avLst/>
          </a:prstGeom>
          <a:noFill/>
          <a:ln/>
        </p:spPr>
        <p:txBody>
          <a:bodyPr wrap="square" lIns="0" tIns="0" rIns="0" bIns="0" rtlCol="0" anchor="ctr"/>
          <a:lstStyle/>
          <a:p>
            <a:pPr indent="0" marL="0">
              <a:lnSpc>
                <a:spcPct val="115000"/>
              </a:lnSpc>
              <a:buNone/>
            </a:pPr>
            <a:r>
              <a:rPr lang="en-US" sz="3200" dirty="0">
                <a:solidFill>
                  <a:srgbClr val="3C3828"/>
                </a:solidFill>
                <a:latin typeface="Georgia" pitchFamily="34" charset="0"/>
                <a:ea typeface="Georgia" pitchFamily="34" charset="-122"/>
                <a:cs typeface="Georgia" pitchFamily="34" charset="-120"/>
              </a:rPr>
              <a:t>Creative design in lesson plans </a:t>
            </a:r>
            <a:r>
              <a:rPr lang="en-US" sz="3200" b="1" dirty="0">
                <a:solidFill>
                  <a:srgbClr val="FC4067"/>
                </a:solidFill>
                <a:latin typeface="Georgia" pitchFamily="34" charset="0"/>
                <a:ea typeface="Georgia" pitchFamily="34" charset="-122"/>
                <a:cs typeface="Georgia" pitchFamily="34" charset="-120"/>
              </a:rPr>
              <a:t>is</a:t>
            </a:r>
            <a:r>
              <a:rPr lang="en-US" sz="3200" dirty="0">
                <a:solidFill>
                  <a:srgbClr val="3C3828"/>
                </a:solidFill>
                <a:latin typeface="Georgia" pitchFamily="34" charset="0"/>
                <a:ea typeface="Georgia" pitchFamily="34" charset="-122"/>
                <a:cs typeface="Georgia" pitchFamily="34" charset="-120"/>
              </a:rPr>
              <a:t> really important and </a:t>
            </a:r>
            <a:r>
              <a:rPr lang="en-US" sz="3200" b="1" dirty="0">
                <a:solidFill>
                  <a:srgbClr val="FC4067"/>
                </a:solidFill>
                <a:latin typeface="Georgia" pitchFamily="34" charset="0"/>
                <a:ea typeface="Georgia" pitchFamily="34" charset="-122"/>
                <a:cs typeface="Georgia" pitchFamily="34" charset="-120"/>
              </a:rPr>
              <a:t>is</a:t>
            </a:r>
            <a:r>
              <a:rPr lang="en-US" sz="3200" dirty="0">
                <a:solidFill>
                  <a:srgbClr val="3C3828"/>
                </a:solidFill>
                <a:latin typeface="Georgia" pitchFamily="34" charset="0"/>
                <a:ea typeface="Georgia" pitchFamily="34" charset="-122"/>
                <a:cs typeface="Georgia" pitchFamily="34" charset="-120"/>
              </a:rPr>
              <a:t> something that </a:t>
            </a:r>
            <a:r>
              <a:rPr lang="en-US" sz="3200" b="1" dirty="0">
                <a:solidFill>
                  <a:srgbClr val="FC4067"/>
                </a:solidFill>
                <a:latin typeface="Georgia" pitchFamily="34" charset="0"/>
                <a:ea typeface="Georgia" pitchFamily="34" charset="-122"/>
                <a:cs typeface="Georgia" pitchFamily="34" charset="-120"/>
              </a:rPr>
              <a:t>isn’t</a:t>
            </a:r>
            <a:r>
              <a:rPr lang="en-US" sz="3200" dirty="0">
                <a:solidFill>
                  <a:srgbClr val="3C3828"/>
                </a:solidFill>
                <a:latin typeface="Georgia" pitchFamily="34" charset="0"/>
                <a:ea typeface="Georgia" pitchFamily="34" charset="-122"/>
                <a:cs typeface="Georgia" pitchFamily="34" charset="-120"/>
              </a:rPr>
              <a:t> taught in teacher training programs.</a:t>
            </a:r>
            <a:endParaRPr lang="en-US" sz="3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CHANGE TO</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000" dirty="0">
                <a:solidFill>
                  <a:srgbClr val="3C3828"/>
                </a:solidFill>
                <a:latin typeface="Georgia" pitchFamily="34" charset="0"/>
                <a:ea typeface="Georgia" pitchFamily="34" charset="-122"/>
                <a:cs typeface="Georgia" pitchFamily="34" charset="-120"/>
              </a:rPr>
              <a:t>Teacher training programs don’t emphasize creative design in lesson plans.</a:t>
            </a:r>
            <a:endParaRPr lang="en-US" sz="30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pencil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This is much better. It gives the sentence a stronger, more direct feel. This is called being </a:t>
            </a:r>
            <a:r>
              <a:rPr lang="en-US" sz="4000" dirty="0">
                <a:solidFill>
                  <a:srgbClr val="3C3828"/>
                </a:solidFill>
                <a:highlight>
                  <a:srgbClr val="FFE14D"/>
                </a:highlight>
                <a:latin typeface="Georgia" pitchFamily="34" charset="0"/>
                <a:ea typeface="Georgia" pitchFamily="34" charset="-122"/>
                <a:cs typeface="Georgia" pitchFamily="34" charset="-120"/>
              </a:rPr>
              <a:t>concise.</a:t>
            </a:r>
            <a:r>
              <a:rPr lang="en-US" sz="4000" dirty="0">
                <a:solidFill>
                  <a:srgbClr val="3C3828"/>
                </a:solidFill>
                <a:latin typeface="Georgia" pitchFamily="34" charset="0"/>
                <a:ea typeface="Georgia" pitchFamily="34" charset="-122"/>
                <a:cs typeface="Georgia" pitchFamily="34" charset="-120"/>
              </a:rPr>
              <a:t> And being concise should be your goal in critical writing.</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BEFORE AND AFTER</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Edit the verb “to be” out</a:t>
            </a:r>
            <a:endParaRPr lang="en-US" sz="3600" dirty="0"/>
          </a:p>
        </p:txBody>
      </p:sp>
      <p:sp>
        <p:nvSpPr>
          <p:cNvPr id="4" name="Shape 2"/>
          <p:cNvSpPr/>
          <p:nvPr/>
        </p:nvSpPr>
        <p:spPr>
          <a:xfrm>
            <a:off x="685800"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685800" y="1965960"/>
            <a:ext cx="5181448" cy="713232"/>
          </a:xfrm>
          <a:prstGeom prst="roundRect">
            <a:avLst>
              <a:gd name="adj" fmla="val 17949"/>
            </a:avLst>
          </a:prstGeom>
          <a:solidFill>
            <a:srgbClr val="FC4540"/>
          </a:solidFill>
          <a:ln w="12700">
            <a:solidFill>
              <a:srgbClr val="FC4540"/>
            </a:solidFill>
            <a:prstDash val="solid"/>
          </a:ln>
        </p:spPr>
      </p:sp>
      <p:sp>
        <p:nvSpPr>
          <p:cNvPr id="6" name="Shape 4"/>
          <p:cNvSpPr/>
          <p:nvPr/>
        </p:nvSpPr>
        <p:spPr>
          <a:xfrm>
            <a:off x="685800" y="2423160"/>
            <a:ext cx="5181448" cy="256032"/>
          </a:xfrm>
          <a:prstGeom prst="rect">
            <a:avLst/>
          </a:prstGeom>
          <a:solidFill>
            <a:srgbClr val="FC4540"/>
          </a:solidFill>
          <a:ln w="12700">
            <a:solidFill>
              <a:srgbClr val="FC4540"/>
            </a:solidFill>
            <a:prstDash val="solid"/>
          </a:ln>
        </p:spPr>
      </p:sp>
      <p:sp>
        <p:nvSpPr>
          <p:cNvPr id="7" name="Text 5"/>
          <p:cNvSpPr/>
          <p:nvPr/>
        </p:nvSpPr>
        <p:spPr>
          <a:xfrm>
            <a:off x="1051560"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WITH THE VERB TO BE</a:t>
            </a:r>
            <a:endParaRPr lang="en-US" sz="1500" dirty="0"/>
          </a:p>
        </p:txBody>
      </p:sp>
      <p:sp>
        <p:nvSpPr>
          <p:cNvPr id="8" name="Text 6"/>
          <p:cNvSpPr/>
          <p:nvPr/>
        </p:nvSpPr>
        <p:spPr>
          <a:xfrm>
            <a:off x="1051560"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100" dirty="0">
                <a:solidFill>
                  <a:srgbClr val="3C3828"/>
                </a:solidFill>
                <a:latin typeface="Georgia" pitchFamily="34" charset="0"/>
                <a:ea typeface="Georgia" pitchFamily="34" charset="-122"/>
                <a:cs typeface="Georgia" pitchFamily="34" charset="-120"/>
              </a:rPr>
              <a:t>Creative design in lesson plans is really important and is something that isn’t taught in teacher training programs.</a:t>
            </a:r>
            <a:endParaRPr lang="en-US" sz="2100" dirty="0"/>
          </a:p>
        </p:txBody>
      </p:sp>
      <p:sp>
        <p:nvSpPr>
          <p:cNvPr id="9" name="Shape 7"/>
          <p:cNvSpPr/>
          <p:nvPr/>
        </p:nvSpPr>
        <p:spPr>
          <a:xfrm>
            <a:off x="6324448" y="1965960"/>
            <a:ext cx="5181448" cy="4114800"/>
          </a:xfrm>
          <a:prstGeom prst="roundRect">
            <a:avLst>
              <a:gd name="adj" fmla="val 3111"/>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10" name="Shape 8"/>
          <p:cNvSpPr/>
          <p:nvPr/>
        </p:nvSpPr>
        <p:spPr>
          <a:xfrm>
            <a:off x="6324448" y="1965960"/>
            <a:ext cx="5181448" cy="713232"/>
          </a:xfrm>
          <a:prstGeom prst="roundRect">
            <a:avLst>
              <a:gd name="adj" fmla="val 17949"/>
            </a:avLst>
          </a:prstGeom>
          <a:solidFill>
            <a:srgbClr val="02BDC7"/>
          </a:solidFill>
          <a:ln w="12700">
            <a:solidFill>
              <a:srgbClr val="02BDC7"/>
            </a:solidFill>
            <a:prstDash val="solid"/>
          </a:ln>
        </p:spPr>
      </p:sp>
      <p:sp>
        <p:nvSpPr>
          <p:cNvPr id="11" name="Shape 9"/>
          <p:cNvSpPr/>
          <p:nvPr/>
        </p:nvSpPr>
        <p:spPr>
          <a:xfrm>
            <a:off x="6324448" y="2423160"/>
            <a:ext cx="5181448" cy="256032"/>
          </a:xfrm>
          <a:prstGeom prst="rect">
            <a:avLst/>
          </a:prstGeom>
          <a:solidFill>
            <a:srgbClr val="02BDC7"/>
          </a:solidFill>
          <a:ln w="12700">
            <a:solidFill>
              <a:srgbClr val="02BDC7"/>
            </a:solidFill>
            <a:prstDash val="solid"/>
          </a:ln>
        </p:spPr>
      </p:sp>
      <p:sp>
        <p:nvSpPr>
          <p:cNvPr id="12" name="Text 10"/>
          <p:cNvSpPr/>
          <p:nvPr/>
        </p:nvSpPr>
        <p:spPr>
          <a:xfrm>
            <a:off x="6690208" y="1965960"/>
            <a:ext cx="4449928" cy="713232"/>
          </a:xfrm>
          <a:prstGeom prst="rect">
            <a:avLst/>
          </a:prstGeom>
          <a:noFill/>
          <a:ln/>
        </p:spPr>
        <p:txBody>
          <a:bodyPr wrap="square" lIns="0" tIns="0" rIns="0" bIns="0" rtlCol="0" anchor="ctr"/>
          <a:lstStyle/>
          <a:p>
            <a:pPr indent="0" marL="0">
              <a:buNone/>
            </a:pPr>
            <a:r>
              <a:rPr lang="en-US" sz="1500" b="1" spc="200" kern="0" dirty="0">
                <a:solidFill>
                  <a:srgbClr val="FFFEFA"/>
                </a:solidFill>
                <a:latin typeface="Consolas" pitchFamily="34" charset="0"/>
                <a:ea typeface="Consolas" pitchFamily="34" charset="-122"/>
                <a:cs typeface="Consolas" pitchFamily="34" charset="-120"/>
              </a:rPr>
              <a:t>WITHOUT THE VERB TO BE</a:t>
            </a:r>
            <a:endParaRPr lang="en-US" sz="1500" dirty="0"/>
          </a:p>
        </p:txBody>
      </p:sp>
      <p:sp>
        <p:nvSpPr>
          <p:cNvPr id="13" name="Text 11"/>
          <p:cNvSpPr/>
          <p:nvPr/>
        </p:nvSpPr>
        <p:spPr>
          <a:xfrm>
            <a:off x="6690208" y="2926080"/>
            <a:ext cx="4449928" cy="2880360"/>
          </a:xfrm>
          <a:prstGeom prst="rect">
            <a:avLst/>
          </a:prstGeom>
          <a:noFill/>
          <a:ln/>
        </p:spPr>
        <p:txBody>
          <a:bodyPr wrap="square" lIns="0" tIns="0" rIns="0" bIns="0" rtlCol="0" anchor="t"/>
          <a:lstStyle/>
          <a:p>
            <a:pPr indent="0" marL="0">
              <a:lnSpc>
                <a:spcPct val="115000"/>
              </a:lnSpc>
              <a:spcAft>
                <a:spcPts val="1400"/>
              </a:spcAft>
              <a:buNone/>
            </a:pPr>
            <a:r>
              <a:rPr lang="en-US" sz="2600" dirty="0">
                <a:solidFill>
                  <a:srgbClr val="3C3828"/>
                </a:solidFill>
                <a:latin typeface="Georgia" pitchFamily="34" charset="0"/>
                <a:ea typeface="Georgia" pitchFamily="34" charset="-122"/>
                <a:cs typeface="Georgia" pitchFamily="34" charset="-120"/>
              </a:rPr>
              <a:t>Teacher training programs don’t emphasize creative design in lesson plans.</a:t>
            </a:r>
            <a:endParaRPr lang="en-US" sz="2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FB600"/>
                </a:solidFill>
                <a:latin typeface="Consolas" pitchFamily="34" charset="0"/>
                <a:ea typeface="Consolas" pitchFamily="34" charset="-122"/>
                <a:cs typeface="Consolas" pitchFamily="34" charset="-120"/>
              </a:rPr>
              <a:t>BUT WAIT</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But wait, there’s more!</a:t>
            </a:r>
            <a:endParaRPr lang="en-US" sz="3600" dirty="0"/>
          </a:p>
        </p:txBody>
      </p:sp>
      <p:sp>
        <p:nvSpPr>
          <p:cNvPr id="4" name="Shape 2"/>
          <p:cNvSpPr/>
          <p:nvPr/>
        </p:nvSpPr>
        <p:spPr>
          <a:xfrm>
            <a:off x="1051560" y="2926080"/>
            <a:ext cx="2194560" cy="2194560"/>
          </a:xfrm>
          <a:prstGeom prst="ellipse">
            <a:avLst/>
          </a:prstGeom>
          <a:solidFill>
            <a:srgbClr val="FFB600"/>
          </a:solidFill>
          <a:ln w="12700">
            <a:solidFill>
              <a:srgbClr val="FFB600"/>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F9755"/>
          </a:solidFill>
          <a:ln w="12700">
            <a:solidFill>
              <a:srgbClr val="FF9755"/>
            </a:solidFill>
            <a:prstDash val="solid"/>
          </a:ln>
        </p:spPr>
      </p:sp>
      <p:sp>
        <p:nvSpPr>
          <p:cNvPr id="7" name="Shape 4"/>
          <p:cNvSpPr/>
          <p:nvPr/>
        </p:nvSpPr>
        <p:spPr>
          <a:xfrm>
            <a:off x="914400" y="4800600"/>
            <a:ext cx="201168" cy="201168"/>
          </a:xfrm>
          <a:prstGeom prst="ellipse">
            <a:avLst/>
          </a:prstGeom>
          <a:solidFill>
            <a:srgbClr val="02BDC7"/>
          </a:solidFill>
          <a:ln w="12700">
            <a:solidFill>
              <a:srgbClr val="02BDC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Now that the “to be” clutter is gone, there’s room for </a:t>
            </a:r>
            <a:r>
              <a:rPr lang="en-US" sz="4000" dirty="0">
                <a:solidFill>
                  <a:srgbClr val="3C3828"/>
                </a:solidFill>
                <a:highlight>
                  <a:srgbClr val="FFE14D"/>
                </a:highlight>
                <a:latin typeface="Georgia" pitchFamily="34" charset="0"/>
                <a:ea typeface="Georgia" pitchFamily="34" charset="-122"/>
                <a:cs typeface="Georgia" pitchFamily="34" charset="-120"/>
              </a:rPr>
              <a:t>more good stuff.</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WEEDING THE GARDEN</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Room for better stuff to grow</a:t>
            </a:r>
            <a:endParaRPr lang="en-US" sz="3600" dirty="0"/>
          </a:p>
        </p:txBody>
      </p:sp>
      <p:sp>
        <p:nvSpPr>
          <p:cNvPr id="4" name="Shape 2"/>
          <p:cNvSpPr/>
          <p:nvPr/>
        </p:nvSpPr>
        <p:spPr>
          <a:xfrm>
            <a:off x="1051560" y="2926080"/>
            <a:ext cx="2194560" cy="2194560"/>
          </a:xfrm>
          <a:prstGeom prst="ellipse">
            <a:avLst/>
          </a:prstGeom>
          <a:solidFill>
            <a:srgbClr val="02BDC7"/>
          </a:solidFill>
          <a:ln w="12700">
            <a:solidFill>
              <a:srgbClr val="02BDC7"/>
            </a:solidFill>
            <a:prstDash val="solid"/>
          </a:ln>
        </p:spPr>
      </p:sp>
      <p:pic>
        <p:nvPicPr>
          <p:cNvPr id="5" name="Image 0" descr="lightbulb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540"/>
          </a:solidFill>
          <a:ln w="12700">
            <a:solidFill>
              <a:srgbClr val="FC4540"/>
            </a:solidFill>
            <a:prstDash val="solid"/>
          </a:ln>
        </p:spPr>
      </p:sp>
      <p:sp>
        <p:nvSpPr>
          <p:cNvPr id="7" name="Shape 4"/>
          <p:cNvSpPr/>
          <p:nvPr/>
        </p:nvSpPr>
        <p:spPr>
          <a:xfrm>
            <a:off x="914400" y="4800600"/>
            <a:ext cx="201168" cy="201168"/>
          </a:xfrm>
          <a:prstGeom prst="ellipse">
            <a:avLst/>
          </a:prstGeom>
          <a:solidFill>
            <a:srgbClr val="FC4067"/>
          </a:solidFill>
          <a:ln w="12700">
            <a:solidFill>
              <a:srgbClr val="FC4067"/>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3600" dirty="0">
                <a:solidFill>
                  <a:srgbClr val="3C3828"/>
                </a:solidFill>
                <a:latin typeface="Georgia" pitchFamily="34" charset="0"/>
                <a:ea typeface="Georgia" pitchFamily="34" charset="-122"/>
                <a:cs typeface="Georgia" pitchFamily="34" charset="-120"/>
              </a:rPr>
              <a:t>Taking the verb “to be” out of a sentence is like </a:t>
            </a:r>
            <a:r>
              <a:rPr lang="en-US" sz="3600" dirty="0">
                <a:solidFill>
                  <a:srgbClr val="3C3828"/>
                </a:solidFill>
                <a:highlight>
                  <a:srgbClr val="FFE14D"/>
                </a:highlight>
                <a:latin typeface="Georgia" pitchFamily="34" charset="0"/>
                <a:ea typeface="Georgia" pitchFamily="34" charset="-122"/>
                <a:cs typeface="Georgia" pitchFamily="34" charset="-120"/>
              </a:rPr>
              <a:t>weeding a garden:</a:t>
            </a:r>
            <a:r>
              <a:rPr lang="en-US" sz="3600" dirty="0">
                <a:solidFill>
                  <a:srgbClr val="3C3828"/>
                </a:solidFill>
                <a:latin typeface="Georgia" pitchFamily="34" charset="0"/>
                <a:ea typeface="Georgia" pitchFamily="34" charset="-122"/>
                <a:cs typeface="Georgia" pitchFamily="34" charset="-120"/>
              </a:rPr>
              <a:t> you remove the stuff you don’t need, and then there’s room for better stuff to grow. Check it out…</a:t>
            </a:r>
            <a:endParaRPr lang="en-US" sz="36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THIS CAN NOW BECOME THIS</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From a sentence to a thesis</a:t>
            </a:r>
            <a:endParaRPr lang="en-US" sz="3600" dirty="0"/>
          </a:p>
        </p:txBody>
      </p:sp>
      <p:sp>
        <p:nvSpPr>
          <p:cNvPr id="4" name="Shape 2"/>
          <p:cNvSpPr/>
          <p:nvPr/>
        </p:nvSpPr>
        <p:spPr>
          <a:xfrm>
            <a:off x="685800" y="1965960"/>
            <a:ext cx="10820095" cy="1737360"/>
          </a:xfrm>
          <a:prstGeom prst="roundRect">
            <a:avLst>
              <a:gd name="adj" fmla="val 7368"/>
            </a:avLst>
          </a:prstGeom>
          <a:solidFill>
            <a:srgbClr val="FFFEFA"/>
          </a:solidFill>
          <a:ln w="9525">
            <a:solidFill>
              <a:srgbClr val="D6D4CC"/>
            </a:solidFill>
            <a:prstDash val="solid"/>
          </a:ln>
          <a:effectLst>
            <a:outerShdw sx="100000" sy="100000" kx="0" ky="0" algn="bl" rotWithShape="0" blurRad="127000" dist="38100" dir="5400000">
              <a:srgbClr val="3C3828">
                <a:alpha val="12000"/>
              </a:srgbClr>
            </a:outerShdw>
          </a:effectLst>
        </p:spPr>
      </p:sp>
      <p:sp>
        <p:nvSpPr>
          <p:cNvPr id="5" name="Shape 3"/>
          <p:cNvSpPr/>
          <p:nvPr/>
        </p:nvSpPr>
        <p:spPr>
          <a:xfrm>
            <a:off x="813816" y="1965960"/>
            <a:ext cx="10564063" cy="91440"/>
          </a:xfrm>
          <a:prstGeom prst="rect">
            <a:avLst/>
          </a:prstGeom>
          <a:solidFill>
            <a:srgbClr val="02BDC7"/>
          </a:solidFill>
          <a:ln w="12700">
            <a:solidFill>
              <a:srgbClr val="02BDC7"/>
            </a:solidFill>
            <a:prstDash val="solid"/>
          </a:ln>
        </p:spPr>
      </p:sp>
      <p:sp>
        <p:nvSpPr>
          <p:cNvPr id="6" name="Text 4"/>
          <p:cNvSpPr/>
          <p:nvPr/>
        </p:nvSpPr>
        <p:spPr>
          <a:xfrm>
            <a:off x="1005840" y="2130552"/>
            <a:ext cx="1828800" cy="274320"/>
          </a:xfrm>
          <a:prstGeom prst="rect">
            <a:avLst/>
          </a:prstGeom>
          <a:noFill/>
          <a:ln/>
        </p:spPr>
        <p:txBody>
          <a:bodyPr wrap="square" lIns="0" tIns="0" rIns="0" bIns="0" rtlCol="0" anchor="ctr"/>
          <a:lstStyle/>
          <a:p>
            <a:pPr indent="0" marL="0">
              <a:buNone/>
            </a:pPr>
            <a:r>
              <a:rPr lang="en-US" sz="1200" b="1" spc="200" kern="0" dirty="0">
                <a:solidFill>
                  <a:srgbClr val="02BDC7"/>
                </a:solidFill>
                <a:latin typeface="Consolas" pitchFamily="34" charset="0"/>
                <a:ea typeface="Consolas" pitchFamily="34" charset="-122"/>
                <a:cs typeface="Consolas" pitchFamily="34" charset="-120"/>
              </a:rPr>
              <a:t>THESIS</a:t>
            </a:r>
            <a:endParaRPr lang="en-US" sz="1200" dirty="0"/>
          </a:p>
        </p:txBody>
      </p:sp>
      <p:sp>
        <p:nvSpPr>
          <p:cNvPr id="7" name="Text 5"/>
          <p:cNvSpPr/>
          <p:nvPr/>
        </p:nvSpPr>
        <p:spPr>
          <a:xfrm>
            <a:off x="1005840" y="2423160"/>
            <a:ext cx="10180015" cy="1143000"/>
          </a:xfrm>
          <a:prstGeom prst="rect">
            <a:avLst/>
          </a:prstGeom>
          <a:noFill/>
          <a:ln/>
        </p:spPr>
        <p:txBody>
          <a:bodyPr wrap="square" lIns="0" tIns="0" rIns="0" bIns="0" rtlCol="0" anchor="t"/>
          <a:lstStyle/>
          <a:p>
            <a:pPr indent="0" marL="0">
              <a:lnSpc>
                <a:spcPct val="110000"/>
              </a:lnSpc>
              <a:buNone/>
            </a:pPr>
            <a:r>
              <a:rPr lang="en-US" sz="2200" dirty="0">
                <a:solidFill>
                  <a:srgbClr val="3C3828"/>
                </a:solidFill>
                <a:latin typeface="Georgia" pitchFamily="34" charset="0"/>
                <a:ea typeface="Georgia" pitchFamily="34" charset="-122"/>
                <a:cs typeface="Georgia" pitchFamily="34" charset="-120"/>
              </a:rPr>
              <a:t>When </a:t>
            </a:r>
            <a:r>
              <a:rPr lang="en-US" sz="2200" b="1" dirty="0">
                <a:solidFill>
                  <a:srgbClr val="02BDC7"/>
                </a:solidFill>
                <a:latin typeface="Georgia" pitchFamily="34" charset="0"/>
                <a:ea typeface="Georgia" pitchFamily="34" charset="-122"/>
                <a:cs typeface="Georgia" pitchFamily="34" charset="-120"/>
              </a:rPr>
              <a:t>teacher training programs do not emphasize creative design in lesson plans</a:t>
            </a:r>
            <a:r>
              <a:rPr lang="en-US" sz="2200" dirty="0">
                <a:solidFill>
                  <a:srgbClr val="3C3828"/>
                </a:solidFill>
                <a:latin typeface="Georgia" pitchFamily="34" charset="0"/>
                <a:ea typeface="Georgia" pitchFamily="34" charset="-122"/>
                <a:cs typeface="Georgia" pitchFamily="34" charset="-120"/>
              </a:rPr>
              <a:t>, </a:t>
            </a:r>
            <a:r>
              <a:rPr lang="en-US" sz="2200" b="1" dirty="0">
                <a:solidFill>
                  <a:srgbClr val="FFB600"/>
                </a:solidFill>
                <a:latin typeface="Georgia" pitchFamily="34" charset="0"/>
                <a:ea typeface="Georgia" pitchFamily="34" charset="-122"/>
                <a:cs typeface="Georgia" pitchFamily="34" charset="-120"/>
              </a:rPr>
              <a:t>teachers fail to understand their role as entertainers</a:t>
            </a:r>
            <a:r>
              <a:rPr lang="en-US" sz="2200" dirty="0">
                <a:solidFill>
                  <a:srgbClr val="3C3828"/>
                </a:solidFill>
                <a:latin typeface="Georgia" pitchFamily="34" charset="0"/>
                <a:ea typeface="Georgia" pitchFamily="34" charset="-122"/>
                <a:cs typeface="Georgia" pitchFamily="34" charset="-120"/>
              </a:rPr>
              <a:t>, </a:t>
            </a:r>
            <a:r>
              <a:rPr lang="en-US" sz="2200" b="1" dirty="0">
                <a:solidFill>
                  <a:srgbClr val="FC4540"/>
                </a:solidFill>
                <a:latin typeface="Georgia" pitchFamily="34" charset="0"/>
                <a:ea typeface="Georgia" pitchFamily="34" charset="-122"/>
                <a:cs typeface="Georgia" pitchFamily="34" charset="-120"/>
              </a:rPr>
              <a:t>resulting in boring lessons</a:t>
            </a:r>
            <a:r>
              <a:rPr lang="en-US" sz="2200" dirty="0">
                <a:solidFill>
                  <a:srgbClr val="3C3828"/>
                </a:solidFill>
                <a:latin typeface="Georgia" pitchFamily="34" charset="0"/>
                <a:ea typeface="Georgia" pitchFamily="34" charset="-122"/>
                <a:cs typeface="Georgia" pitchFamily="34" charset="-120"/>
              </a:rPr>
              <a:t>.</a:t>
            </a:r>
            <a:endParaRPr lang="en-US" sz="2200" dirty="0"/>
          </a:p>
        </p:txBody>
      </p:sp>
      <p:sp>
        <p:nvSpPr>
          <p:cNvPr id="8" name="Shape 6"/>
          <p:cNvSpPr/>
          <p:nvPr/>
        </p:nvSpPr>
        <p:spPr>
          <a:xfrm>
            <a:off x="868680" y="4155948"/>
            <a:ext cx="420624" cy="420624"/>
          </a:xfrm>
          <a:prstGeom prst="ellipse">
            <a:avLst/>
          </a:prstGeom>
          <a:solidFill>
            <a:srgbClr val="02BDC7"/>
          </a:solidFill>
          <a:ln w="12700">
            <a:solidFill>
              <a:srgbClr val="02BDC7"/>
            </a:solidFill>
            <a:prstDash val="solid"/>
          </a:ln>
        </p:spPr>
      </p:sp>
      <p:sp>
        <p:nvSpPr>
          <p:cNvPr id="9" name="Text 7"/>
          <p:cNvSpPr/>
          <p:nvPr/>
        </p:nvSpPr>
        <p:spPr>
          <a:xfrm>
            <a:off x="868680" y="41559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1</a:t>
            </a:r>
            <a:endParaRPr lang="en-US" sz="1800" dirty="0"/>
          </a:p>
        </p:txBody>
      </p:sp>
      <p:sp>
        <p:nvSpPr>
          <p:cNvPr id="10" name="Text 8"/>
          <p:cNvSpPr/>
          <p:nvPr/>
        </p:nvSpPr>
        <p:spPr>
          <a:xfrm>
            <a:off x="1508760" y="4023360"/>
            <a:ext cx="9814255" cy="685800"/>
          </a:xfrm>
          <a:prstGeom prst="rect">
            <a:avLst/>
          </a:prstGeom>
          <a:noFill/>
          <a:ln/>
        </p:spPr>
        <p:txBody>
          <a:bodyPr wrap="square" lIns="0" tIns="0" rIns="0" bIns="0" rtlCol="0" anchor="ctr"/>
          <a:lstStyle/>
          <a:p>
            <a:pPr indent="0" marL="0">
              <a:buNone/>
            </a:pPr>
            <a:r>
              <a:rPr lang="en-US" sz="1300" b="1" dirty="0">
                <a:solidFill>
                  <a:srgbClr val="02BDC7"/>
                </a:solidFill>
                <a:latin typeface="Consolas" pitchFamily="34" charset="0"/>
                <a:ea typeface="Consolas" pitchFamily="34" charset="-122"/>
                <a:cs typeface="Consolas" pitchFamily="34" charset="-120"/>
              </a:rPr>
              <a:t>Observation: </a:t>
            </a:r>
            <a:r>
              <a:rPr lang="en-US" sz="2200" dirty="0">
                <a:solidFill>
                  <a:srgbClr val="3C3828"/>
                </a:solidFill>
                <a:latin typeface="Calibri" pitchFamily="34" charset="0"/>
                <a:ea typeface="Calibri" pitchFamily="34" charset="-122"/>
                <a:cs typeface="Calibri" pitchFamily="34" charset="-120"/>
              </a:rPr>
              <a:t>teacher training programs do not emphasize creative design in lesson plans</a:t>
            </a:r>
            <a:endParaRPr lang="en-US" sz="1300" dirty="0"/>
          </a:p>
        </p:txBody>
      </p:sp>
      <p:sp>
        <p:nvSpPr>
          <p:cNvPr id="11" name="Shape 9"/>
          <p:cNvSpPr/>
          <p:nvPr/>
        </p:nvSpPr>
        <p:spPr>
          <a:xfrm>
            <a:off x="868680" y="4841748"/>
            <a:ext cx="420624" cy="420624"/>
          </a:xfrm>
          <a:prstGeom prst="ellipse">
            <a:avLst/>
          </a:prstGeom>
          <a:solidFill>
            <a:srgbClr val="FFB600"/>
          </a:solidFill>
          <a:ln w="12700">
            <a:solidFill>
              <a:srgbClr val="FFB600"/>
            </a:solidFill>
            <a:prstDash val="solid"/>
          </a:ln>
        </p:spPr>
      </p:sp>
      <p:sp>
        <p:nvSpPr>
          <p:cNvPr id="12" name="Text 10"/>
          <p:cNvSpPr/>
          <p:nvPr/>
        </p:nvSpPr>
        <p:spPr>
          <a:xfrm>
            <a:off x="868680" y="48417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2</a:t>
            </a:r>
            <a:endParaRPr lang="en-US" sz="1800" dirty="0"/>
          </a:p>
        </p:txBody>
      </p:sp>
      <p:sp>
        <p:nvSpPr>
          <p:cNvPr id="13" name="Text 11"/>
          <p:cNvSpPr/>
          <p:nvPr/>
        </p:nvSpPr>
        <p:spPr>
          <a:xfrm>
            <a:off x="1508760" y="4709160"/>
            <a:ext cx="9814255" cy="685800"/>
          </a:xfrm>
          <a:prstGeom prst="rect">
            <a:avLst/>
          </a:prstGeom>
          <a:noFill/>
          <a:ln/>
        </p:spPr>
        <p:txBody>
          <a:bodyPr wrap="square" lIns="0" tIns="0" rIns="0" bIns="0" rtlCol="0" anchor="ctr"/>
          <a:lstStyle/>
          <a:p>
            <a:pPr indent="0" marL="0">
              <a:buNone/>
            </a:pPr>
            <a:r>
              <a:rPr lang="en-US" sz="1300" b="1" dirty="0">
                <a:solidFill>
                  <a:srgbClr val="FFB600"/>
                </a:solidFill>
                <a:latin typeface="Consolas" pitchFamily="34" charset="0"/>
                <a:ea typeface="Consolas" pitchFamily="34" charset="-122"/>
                <a:cs typeface="Consolas" pitchFamily="34" charset="-120"/>
              </a:rPr>
              <a:t>Analysis: </a:t>
            </a:r>
            <a:r>
              <a:rPr lang="en-US" sz="2200" dirty="0">
                <a:solidFill>
                  <a:srgbClr val="3C3828"/>
                </a:solidFill>
                <a:latin typeface="Calibri" pitchFamily="34" charset="0"/>
                <a:ea typeface="Calibri" pitchFamily="34" charset="-122"/>
                <a:cs typeface="Calibri" pitchFamily="34" charset="-120"/>
              </a:rPr>
              <a:t>teachers fail to understand their role as entertainers</a:t>
            </a:r>
            <a:endParaRPr lang="en-US" sz="1300" dirty="0"/>
          </a:p>
        </p:txBody>
      </p:sp>
      <p:sp>
        <p:nvSpPr>
          <p:cNvPr id="14" name="Shape 12"/>
          <p:cNvSpPr/>
          <p:nvPr/>
        </p:nvSpPr>
        <p:spPr>
          <a:xfrm>
            <a:off x="868680" y="5527548"/>
            <a:ext cx="420624" cy="420624"/>
          </a:xfrm>
          <a:prstGeom prst="ellipse">
            <a:avLst/>
          </a:prstGeom>
          <a:solidFill>
            <a:srgbClr val="FC4540"/>
          </a:solidFill>
          <a:ln w="12700">
            <a:solidFill>
              <a:srgbClr val="FC4540"/>
            </a:solidFill>
            <a:prstDash val="solid"/>
          </a:ln>
        </p:spPr>
      </p:sp>
      <p:sp>
        <p:nvSpPr>
          <p:cNvPr id="15" name="Text 13"/>
          <p:cNvSpPr/>
          <p:nvPr/>
        </p:nvSpPr>
        <p:spPr>
          <a:xfrm>
            <a:off x="868680" y="5527548"/>
            <a:ext cx="420624" cy="420624"/>
          </a:xfrm>
          <a:prstGeom prst="rect">
            <a:avLst/>
          </a:prstGeom>
          <a:noFill/>
          <a:ln/>
        </p:spPr>
        <p:txBody>
          <a:bodyPr wrap="square" lIns="0" tIns="0" rIns="0" bIns="0" rtlCol="0" anchor="ctr"/>
          <a:lstStyle/>
          <a:p>
            <a:pPr algn="ctr" indent="0" marL="0">
              <a:buNone/>
            </a:pPr>
            <a:r>
              <a:rPr lang="en-US" sz="1800" b="1" dirty="0">
                <a:solidFill>
                  <a:srgbClr val="FFFEFA"/>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508760" y="5394960"/>
            <a:ext cx="9814255" cy="685800"/>
          </a:xfrm>
          <a:prstGeom prst="rect">
            <a:avLst/>
          </a:prstGeom>
          <a:noFill/>
          <a:ln/>
        </p:spPr>
        <p:txBody>
          <a:bodyPr wrap="square" lIns="0" tIns="0" rIns="0" bIns="0" rtlCol="0" anchor="ctr"/>
          <a:lstStyle/>
          <a:p>
            <a:pPr indent="0" marL="0">
              <a:buNone/>
            </a:pPr>
            <a:r>
              <a:rPr lang="en-US" sz="1300" b="1" dirty="0">
                <a:solidFill>
                  <a:srgbClr val="FC4540"/>
                </a:solidFill>
                <a:latin typeface="Consolas" pitchFamily="34" charset="0"/>
                <a:ea typeface="Consolas" pitchFamily="34" charset="-122"/>
                <a:cs typeface="Consolas" pitchFamily="34" charset="-120"/>
              </a:rPr>
              <a:t>Analysis: </a:t>
            </a:r>
            <a:r>
              <a:rPr lang="en-US" sz="2200" dirty="0">
                <a:solidFill>
                  <a:srgbClr val="3C3828"/>
                </a:solidFill>
                <a:latin typeface="Calibri" pitchFamily="34" charset="0"/>
                <a:ea typeface="Calibri" pitchFamily="34" charset="-122"/>
                <a:cs typeface="Calibri" pitchFamily="34" charset="-120"/>
              </a:rPr>
              <a:t>resulting in boring lessons</a:t>
            </a:r>
            <a:endParaRPr lang="en-US" sz="13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685800" y="502920"/>
            <a:ext cx="9357055" cy="320040"/>
          </a:xfrm>
          <a:prstGeom prst="rect">
            <a:avLst/>
          </a:prstGeom>
          <a:noFill/>
          <a:ln/>
        </p:spPr>
        <p:txBody>
          <a:bodyPr wrap="square" lIns="0" tIns="0" rIns="0" bIns="0" rtlCol="0" anchor="b"/>
          <a:lstStyle/>
          <a:p>
            <a:pPr indent="0" marL="0">
              <a:buNone/>
            </a:pPr>
            <a:r>
              <a:rPr lang="en-US" sz="1200" b="1" spc="200" kern="0" dirty="0">
                <a:solidFill>
                  <a:srgbClr val="FC4540"/>
                </a:solidFill>
                <a:latin typeface="Consolas" pitchFamily="34" charset="0"/>
                <a:ea typeface="Consolas" pitchFamily="34" charset="-122"/>
                <a:cs typeface="Consolas" pitchFamily="34" charset="-120"/>
              </a:rPr>
              <a:t>WHOA</a:t>
            </a:r>
            <a:endParaRPr lang="en-US" sz="1200" dirty="0"/>
          </a:p>
        </p:txBody>
      </p:sp>
      <p:sp>
        <p:nvSpPr>
          <p:cNvPr id="3" name="Text 1"/>
          <p:cNvSpPr/>
          <p:nvPr/>
        </p:nvSpPr>
        <p:spPr>
          <a:xfrm>
            <a:off x="685800" y="868680"/>
            <a:ext cx="9357055" cy="960120"/>
          </a:xfrm>
          <a:prstGeom prst="rect">
            <a:avLst/>
          </a:prstGeom>
          <a:noFill/>
          <a:ln/>
        </p:spPr>
        <p:txBody>
          <a:bodyPr wrap="square" lIns="0" tIns="0" rIns="0" bIns="0" rtlCol="0" anchor="t"/>
          <a:lstStyle/>
          <a:p>
            <a:pPr indent="0" marL="0">
              <a:buNone/>
            </a:pPr>
            <a:r>
              <a:rPr lang="en-US" sz="3600" dirty="0">
                <a:solidFill>
                  <a:srgbClr val="3C3828"/>
                </a:solidFill>
                <a:latin typeface="Georgia" pitchFamily="34" charset="0"/>
                <a:ea typeface="Georgia" pitchFamily="34" charset="-122"/>
                <a:cs typeface="Georgia" pitchFamily="34" charset="-120"/>
              </a:rPr>
              <a:t>WHOA, DID YOU SEE THAT??????</a:t>
            </a:r>
            <a:endParaRPr lang="en-US" sz="3600" dirty="0"/>
          </a:p>
        </p:txBody>
      </p:sp>
      <p:sp>
        <p:nvSpPr>
          <p:cNvPr id="4" name="Shape 2"/>
          <p:cNvSpPr/>
          <p:nvPr/>
        </p:nvSpPr>
        <p:spPr>
          <a:xfrm>
            <a:off x="1051560" y="2926080"/>
            <a:ext cx="2194560" cy="2194560"/>
          </a:xfrm>
          <a:prstGeom prst="ellipse">
            <a:avLst/>
          </a:prstGeom>
          <a:solidFill>
            <a:srgbClr val="FC4540"/>
          </a:solidFill>
          <a:ln w="12700">
            <a:solidFill>
              <a:srgbClr val="FC4540"/>
            </a:solidFill>
            <a:prstDash val="solid"/>
          </a:ln>
        </p:spPr>
      </p:sp>
      <p:pic>
        <p:nvPicPr>
          <p:cNvPr id="5" name="Image 0" descr="thumbs icon">    </p:cNvPr>
          <p:cNvPicPr>
            <a:picLocks noChangeAspect="1"/>
          </p:cNvPicPr>
          <p:nvPr/>
        </p:nvPicPr>
        <p:blipFill>
          <a:blip r:embed="rId1"/>
          <a:stretch>
            <a:fillRect/>
          </a:stretch>
        </p:blipFill>
        <p:spPr>
          <a:xfrm>
            <a:off x="1490472" y="3364992"/>
            <a:ext cx="1316736" cy="1316736"/>
          </a:xfrm>
          <a:prstGeom prst="rect">
            <a:avLst/>
          </a:prstGeom>
        </p:spPr>
      </p:pic>
      <p:sp>
        <p:nvSpPr>
          <p:cNvPr id="6" name="Shape 3"/>
          <p:cNvSpPr/>
          <p:nvPr/>
        </p:nvSpPr>
        <p:spPr>
          <a:xfrm>
            <a:off x="3063240" y="2834640"/>
            <a:ext cx="310896" cy="310896"/>
          </a:xfrm>
          <a:prstGeom prst="ellipse">
            <a:avLst/>
          </a:prstGeom>
          <a:solidFill>
            <a:srgbClr val="FC4067"/>
          </a:solidFill>
          <a:ln w="12700">
            <a:solidFill>
              <a:srgbClr val="FC4067"/>
            </a:solidFill>
            <a:prstDash val="solid"/>
          </a:ln>
        </p:spPr>
      </p:sp>
      <p:sp>
        <p:nvSpPr>
          <p:cNvPr id="7" name="Shape 4"/>
          <p:cNvSpPr/>
          <p:nvPr/>
        </p:nvSpPr>
        <p:spPr>
          <a:xfrm>
            <a:off x="914400" y="4800600"/>
            <a:ext cx="201168" cy="201168"/>
          </a:xfrm>
          <a:prstGeom prst="ellipse">
            <a:avLst/>
          </a:prstGeom>
          <a:solidFill>
            <a:srgbClr val="FFB600"/>
          </a:solidFill>
          <a:ln w="12700">
            <a:solidFill>
              <a:srgbClr val="FFB600"/>
            </a:solidFill>
            <a:prstDash val="solid"/>
          </a:ln>
        </p:spPr>
      </p:sp>
      <p:sp>
        <p:nvSpPr>
          <p:cNvPr id="8" name="Text 5"/>
          <p:cNvSpPr/>
          <p:nvPr/>
        </p:nvSpPr>
        <p:spPr>
          <a:xfrm>
            <a:off x="3886200" y="1965960"/>
            <a:ext cx="7619695" cy="4114800"/>
          </a:xfrm>
          <a:prstGeom prst="rect">
            <a:avLst/>
          </a:prstGeom>
          <a:noFill/>
          <a:ln/>
        </p:spPr>
        <p:txBody>
          <a:bodyPr wrap="square" lIns="0" tIns="0" rIns="0" bIns="0" rtlCol="0" anchor="ctr"/>
          <a:lstStyle/>
          <a:p>
            <a:pPr indent="0" marL="0">
              <a:lnSpc>
                <a:spcPct val="115000"/>
              </a:lnSpc>
              <a:buNone/>
            </a:pPr>
            <a:r>
              <a:rPr lang="en-US" sz="4000" dirty="0">
                <a:solidFill>
                  <a:srgbClr val="3C3828"/>
                </a:solidFill>
                <a:latin typeface="Georgia" pitchFamily="34" charset="0"/>
                <a:ea typeface="Georgia" pitchFamily="34" charset="-122"/>
                <a:cs typeface="Georgia" pitchFamily="34" charset="-120"/>
              </a:rPr>
              <a:t>(How that lame thesis statement from before just became </a:t>
            </a:r>
            <a:r>
              <a:rPr lang="en-US" sz="4000" dirty="0">
                <a:solidFill>
                  <a:srgbClr val="3C3828"/>
                </a:solidFill>
                <a:highlight>
                  <a:srgbClr val="FFE14D"/>
                </a:highlight>
                <a:latin typeface="Georgia" pitchFamily="34" charset="0"/>
                <a:ea typeface="Georgia" pitchFamily="34" charset="-122"/>
                <a:cs typeface="Georgia" pitchFamily="34" charset="-120"/>
              </a:rPr>
              <a:t>kind of awesome?</a:t>
            </a:r>
            <a:r>
              <a:rPr lang="en-US" sz="4000" dirty="0">
                <a:solidFill>
                  <a:srgbClr val="3C3828"/>
                </a:solidFill>
                <a:latin typeface="Georgia" pitchFamily="34" charset="0"/>
                <a:ea typeface="Georgia" pitchFamily="34" charset="-122"/>
                <a:cs typeface="Georgia" pitchFamily="34" charset="-120"/>
              </a:rPr>
              <a:t>)</a:t>
            </a:r>
            <a:endParaRPr lang="en-US" sz="40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2BDC7"/>
        </a:solidFill>
      </p:bgPr>
    </p:bg>
    <p:spTree>
      <p:nvGrpSpPr>
        <p:cNvPr id="1" name=""/>
        <p:cNvGrpSpPr/>
        <p:nvPr/>
      </p:nvGrpSpPr>
      <p:grpSpPr>
        <a:xfrm>
          <a:off x="0" y="0"/>
          <a:ext cx="0" cy="0"/>
          <a:chOff x="0" y="0"/>
          <a:chExt cx="0" cy="0"/>
        </a:xfrm>
      </p:grpSpPr>
      <p:sp>
        <p:nvSpPr>
          <p:cNvPr id="2" name="Shape 0"/>
          <p:cNvSpPr/>
          <p:nvPr/>
        </p:nvSpPr>
        <p:spPr>
          <a:xfrm>
            <a:off x="4175608" y="1234440"/>
            <a:ext cx="3840480" cy="3840480"/>
          </a:xfrm>
          <a:prstGeom prst="ellipse">
            <a:avLst/>
          </a:prstGeom>
          <a:solidFill>
            <a:srgbClr val="FFFEFA"/>
          </a:solidFill>
          <a:ln w="12700">
            <a:solidFill>
              <a:srgbClr val="FFFEFA"/>
            </a:solidFill>
            <a:prstDash val="solid"/>
          </a:ln>
          <a:effectLst>
            <a:outerShdw sx="100000" sy="100000" kx="0" ky="0" algn="bl" rotWithShape="0" blurRad="177800" dist="50800" dir="5400000">
              <a:srgbClr val="3C3828">
                <a:alpha val="18000"/>
              </a:srgbClr>
            </a:outerShdw>
          </a:effectLst>
        </p:spPr>
      </p:sp>
      <p:sp>
        <p:nvSpPr>
          <p:cNvPr id="3" name="Text 1"/>
          <p:cNvSpPr/>
          <p:nvPr/>
        </p:nvSpPr>
        <p:spPr>
          <a:xfrm>
            <a:off x="4175608" y="2377440"/>
            <a:ext cx="3840480" cy="1097280"/>
          </a:xfrm>
          <a:prstGeom prst="rect">
            <a:avLst/>
          </a:prstGeom>
          <a:noFill/>
          <a:ln/>
        </p:spPr>
        <p:txBody>
          <a:bodyPr wrap="square" lIns="0" tIns="0" rIns="0" bIns="0" rtlCol="0" anchor="ctr"/>
          <a:lstStyle/>
          <a:p>
            <a:pPr algn="ctr" indent="0" marL="0">
              <a:buNone/>
            </a:pPr>
            <a:r>
              <a:rPr lang="en-US" sz="7200" b="1" dirty="0">
                <a:solidFill>
                  <a:srgbClr val="3C3828"/>
                </a:solidFill>
                <a:latin typeface="Georgia" pitchFamily="34" charset="0"/>
                <a:ea typeface="Georgia" pitchFamily="34" charset="-122"/>
                <a:cs typeface="Georgia" pitchFamily="34" charset="-120"/>
              </a:rPr>
              <a:t>YAWP!</a:t>
            </a:r>
            <a:endParaRPr lang="en-US" sz="7200" dirty="0"/>
          </a:p>
        </p:txBody>
      </p:sp>
      <p:sp>
        <p:nvSpPr>
          <p:cNvPr id="4" name="Text 2"/>
          <p:cNvSpPr/>
          <p:nvPr/>
        </p:nvSpPr>
        <p:spPr>
          <a:xfrm>
            <a:off x="4175608" y="3520440"/>
            <a:ext cx="3840480" cy="365760"/>
          </a:xfrm>
          <a:prstGeom prst="rect">
            <a:avLst/>
          </a:prstGeom>
          <a:noFill/>
          <a:ln/>
        </p:spPr>
        <p:txBody>
          <a:bodyPr wrap="square" lIns="0" tIns="0" rIns="0" bIns="0" rtlCol="0" anchor="ctr"/>
          <a:lstStyle/>
          <a:p>
            <a:pPr algn="ctr" indent="0" marL="0">
              <a:buNone/>
            </a:pPr>
            <a:r>
              <a:rPr lang="en-US" sz="1300" b="1" spc="300" kern="0" dirty="0">
                <a:solidFill>
                  <a:srgbClr val="D27151"/>
                </a:solidFill>
                <a:latin typeface="Consolas" pitchFamily="34" charset="0"/>
                <a:ea typeface="Consolas" pitchFamily="34" charset="-122"/>
                <a:cs typeface="Consolas" pitchFamily="34" charset="-120"/>
              </a:rPr>
              <a:t>WRITING PROGRAM</a:t>
            </a:r>
            <a:endParaRPr lang="en-US" sz="1300" dirty="0"/>
          </a:p>
        </p:txBody>
      </p:sp>
      <p:sp>
        <p:nvSpPr>
          <p:cNvPr id="5" name="Shape 3"/>
          <p:cNvSpPr/>
          <p:nvPr/>
        </p:nvSpPr>
        <p:spPr>
          <a:xfrm>
            <a:off x="6918808" y="777240"/>
            <a:ext cx="1463040" cy="1463040"/>
          </a:xfrm>
          <a:prstGeom prst="ellipse">
            <a:avLst/>
          </a:prstGeom>
          <a:solidFill>
            <a:srgbClr val="FFB600"/>
          </a:solidFill>
          <a:ln w="12700">
            <a:solidFill>
              <a:srgbClr val="FFB600"/>
            </a:solidFill>
            <a:prstDash val="solid"/>
          </a:ln>
        </p:spPr>
      </p:sp>
      <p:pic>
        <p:nvPicPr>
          <p:cNvPr id="6" name="Image 0" descr="lightbulb icon">    </p:cNvPr>
          <p:cNvPicPr>
            <a:picLocks noChangeAspect="1"/>
          </p:cNvPicPr>
          <p:nvPr/>
        </p:nvPicPr>
        <p:blipFill>
          <a:blip r:embed="rId1"/>
          <a:stretch>
            <a:fillRect/>
          </a:stretch>
        </p:blipFill>
        <p:spPr>
          <a:xfrm>
            <a:off x="7211416" y="1069848"/>
            <a:ext cx="877824" cy="877824"/>
          </a:xfrm>
          <a:prstGeom prst="rect">
            <a:avLst/>
          </a:prstGeom>
        </p:spPr>
      </p:pic>
      <p:sp>
        <p:nvSpPr>
          <p:cNvPr id="7" name="Shape 4"/>
          <p:cNvSpPr/>
          <p:nvPr/>
        </p:nvSpPr>
        <p:spPr>
          <a:xfrm>
            <a:off x="3626968" y="1508760"/>
            <a:ext cx="1005840" cy="1005840"/>
          </a:xfrm>
          <a:prstGeom prst="ellipse">
            <a:avLst/>
          </a:prstGeom>
          <a:solidFill>
            <a:srgbClr val="FF9755"/>
          </a:solidFill>
          <a:ln w="12700">
            <a:solidFill>
              <a:srgbClr val="FF9755"/>
            </a:solidFill>
            <a:prstDash val="solid"/>
          </a:ln>
        </p:spPr>
      </p:sp>
      <p:pic>
        <p:nvPicPr>
          <p:cNvPr id="8" name="Image 1" descr="puzzle icon">    </p:cNvPr>
          <p:cNvPicPr>
            <a:picLocks noChangeAspect="1"/>
          </p:cNvPicPr>
          <p:nvPr/>
        </p:nvPicPr>
        <p:blipFill>
          <a:blip r:embed="rId2"/>
          <a:stretch>
            <a:fillRect/>
          </a:stretch>
        </p:blipFill>
        <p:spPr>
          <a:xfrm>
            <a:off x="3828136" y="1709928"/>
            <a:ext cx="603504" cy="603504"/>
          </a:xfrm>
          <a:prstGeom prst="rect">
            <a:avLst/>
          </a:prstGeom>
        </p:spPr>
      </p:pic>
      <p:sp>
        <p:nvSpPr>
          <p:cNvPr id="9" name="Shape 5"/>
          <p:cNvSpPr/>
          <p:nvPr/>
        </p:nvSpPr>
        <p:spPr>
          <a:xfrm>
            <a:off x="4267048" y="4069080"/>
            <a:ext cx="1188720" cy="1188720"/>
          </a:xfrm>
          <a:prstGeom prst="ellipse">
            <a:avLst/>
          </a:prstGeom>
          <a:solidFill>
            <a:srgbClr val="FC4540"/>
          </a:solidFill>
          <a:ln w="12700">
            <a:solidFill>
              <a:srgbClr val="FC4540"/>
            </a:solidFill>
            <a:prstDash val="solid"/>
          </a:ln>
        </p:spPr>
      </p:sp>
      <p:pic>
        <p:nvPicPr>
          <p:cNvPr id="10" name="Image 2" descr="thumbs icon">    </p:cNvPr>
          <p:cNvPicPr>
            <a:picLocks noChangeAspect="1"/>
          </p:cNvPicPr>
          <p:nvPr/>
        </p:nvPicPr>
        <p:blipFill>
          <a:blip r:embed="rId3"/>
          <a:stretch>
            <a:fillRect/>
          </a:stretch>
        </p:blipFill>
        <p:spPr>
          <a:xfrm>
            <a:off x="4504792" y="4306824"/>
            <a:ext cx="713232" cy="713232"/>
          </a:xfrm>
          <a:prstGeom prst="rect">
            <a:avLst/>
          </a:prstGeom>
        </p:spPr>
      </p:pic>
      <p:sp>
        <p:nvSpPr>
          <p:cNvPr id="11" name="Shape 6"/>
          <p:cNvSpPr/>
          <p:nvPr/>
        </p:nvSpPr>
        <p:spPr>
          <a:xfrm>
            <a:off x="3855568" y="2971800"/>
            <a:ext cx="274320" cy="274320"/>
          </a:xfrm>
          <a:prstGeom prst="ellipse">
            <a:avLst/>
          </a:prstGeom>
          <a:solidFill>
            <a:srgbClr val="FFFEFA"/>
          </a:solidFill>
          <a:ln w="12700">
            <a:solidFill>
              <a:srgbClr val="FFFEFA"/>
            </a:solidFill>
            <a:prstDash val="solid"/>
          </a:ln>
        </p:spPr>
      </p:sp>
      <p:sp>
        <p:nvSpPr>
          <p:cNvPr id="12" name="Shape 7"/>
          <p:cNvSpPr/>
          <p:nvPr/>
        </p:nvSpPr>
        <p:spPr>
          <a:xfrm>
            <a:off x="8107528" y="2606040"/>
            <a:ext cx="411480" cy="411480"/>
          </a:xfrm>
          <a:prstGeom prst="ellipse">
            <a:avLst/>
          </a:prstGeom>
          <a:solidFill>
            <a:srgbClr val="FC4067"/>
          </a:solidFill>
          <a:ln w="12700">
            <a:solidFill>
              <a:srgbClr val="FC4067"/>
            </a:solidFill>
            <a:prstDash val="solid"/>
          </a:ln>
        </p:spPr>
      </p:sp>
      <p:sp>
        <p:nvSpPr>
          <p:cNvPr id="13" name="Shape 8"/>
          <p:cNvSpPr/>
          <p:nvPr/>
        </p:nvSpPr>
        <p:spPr>
          <a:xfrm>
            <a:off x="7558888" y="5120640"/>
            <a:ext cx="548640" cy="548640"/>
          </a:xfrm>
          <a:prstGeom prst="ellipse">
            <a:avLst/>
          </a:prstGeom>
          <a:solidFill>
            <a:srgbClr val="FF9755"/>
          </a:solidFill>
          <a:ln w="12700">
            <a:solidFill>
              <a:srgbClr val="FF9755"/>
            </a:solidFill>
            <a:prstDash val="solid"/>
          </a:ln>
        </p:spPr>
      </p:sp>
      <p:sp>
        <p:nvSpPr>
          <p:cNvPr id="14" name="Shape 9"/>
          <p:cNvSpPr/>
          <p:nvPr/>
        </p:nvSpPr>
        <p:spPr>
          <a:xfrm>
            <a:off x="6735928" y="5349240"/>
            <a:ext cx="164592" cy="164592"/>
          </a:xfrm>
          <a:prstGeom prst="ellipse">
            <a:avLst/>
          </a:prstGeom>
          <a:solidFill>
            <a:srgbClr val="FFB600"/>
          </a:solidFill>
          <a:ln w="12700">
            <a:solidFill>
              <a:srgbClr val="FFB600"/>
            </a:solidFill>
            <a:prstDash val="solid"/>
          </a:ln>
        </p:spPr>
      </p:sp>
      <p:sp>
        <p:nvSpPr>
          <p:cNvPr id="15" name="Shape 10"/>
          <p:cNvSpPr/>
          <p:nvPr/>
        </p:nvSpPr>
        <p:spPr>
          <a:xfrm>
            <a:off x="5455768" y="5257800"/>
            <a:ext cx="201168" cy="201168"/>
          </a:xfrm>
          <a:prstGeom prst="ellipse">
            <a:avLst/>
          </a:prstGeom>
          <a:solidFill>
            <a:srgbClr val="FFFEFA"/>
          </a:solidFill>
          <a:ln w="12700">
            <a:solidFill>
              <a:srgbClr val="FFFEFA"/>
            </a:solidFill>
            <a:prstDash val="solid"/>
          </a:ln>
        </p:spPr>
      </p:sp>
      <p:sp>
        <p:nvSpPr>
          <p:cNvPr id="16" name="Text 11"/>
          <p:cNvSpPr/>
          <p:nvPr/>
        </p:nvSpPr>
        <p:spPr>
          <a:xfrm>
            <a:off x="685800" y="5577840"/>
            <a:ext cx="10820095" cy="548640"/>
          </a:xfrm>
          <a:prstGeom prst="rect">
            <a:avLst/>
          </a:prstGeom>
          <a:noFill/>
          <a:ln/>
        </p:spPr>
        <p:txBody>
          <a:bodyPr wrap="square" lIns="0" tIns="0" rIns="0" bIns="0" rtlCol="0" anchor="ctr"/>
          <a:lstStyle/>
          <a:p>
            <a:pPr algn="ctr" indent="0" marL="0">
              <a:buNone/>
            </a:pPr>
            <a:r>
              <a:rPr lang="en-US" sz="2200" dirty="0">
                <a:solidFill>
                  <a:srgbClr val="FFFEFA"/>
                </a:solidFill>
                <a:latin typeface="Calibri" pitchFamily="34" charset="0"/>
                <a:ea typeface="Calibri" pitchFamily="34" charset="-122"/>
                <a:cs typeface="Calibri" pitchFamily="34" charset="-120"/>
              </a:rPr>
              <a:t>Next time: introductions.</a:t>
            </a:r>
            <a:endParaRPr lang="en-US" sz="2200" dirty="0"/>
          </a:p>
        </p:txBody>
      </p:sp>
      <p:sp>
        <p:nvSpPr>
          <p:cNvPr id="25" name="Slide Number Placeholder 0"/>
          <p:cNvSpPr>
            <a:spLocks noGrp="1"/>
          </p:cNvSpPr>
          <p:nvPr>
            <p:ph type="sldNum" sz="quarter" idx="4294967295"/>
          </p:nvPr>
        </p:nvSpPr>
        <p:spPr>
          <a:xfrm>
            <a:off x="10957255" y="6355080"/>
            <a:ext cx="548640" cy="320040"/>
          </a:xfrm>
          <a:prstGeom prst="rect">
            <a:avLst/>
          </a:prstGeom>
          <a:extLst>
            <a:ext uri="{C572A759-6A51-4108-AA02-DFA0A04FC94B}">
              <ma14:wrappingTextBoxFlag xmlns:ma14="http://schemas.microsoft.com/office/mac/drawingml/2011/main" val="0"/>
            </a:ext>
          </a:extLst>
        </p:spPr>
        <p:txBody>
          <a:bodyPr/>
          <a:lstStyle>
            <a:lvl1pPr>
              <a:defRPr sz="1000">
                <a:solidFill>
                  <a:srgbClr val="7E7C78"/>
                </a:solidFill>
                <a:latin typeface="Consolas"/>
                <a:ea typeface="Consolas"/>
                <a:cs typeface="Consolas"/>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YAWP!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Write a Thesis Statement</dc:title>
  <dc:subject>Thesis-Driven Essay · Lesson 3</dc:subject>
  <dc:creator>PptxGenJS</dc:creator>
  <cp:lastModifiedBy>PptxGenJS</cp:lastModifiedBy>
  <cp:revision>1</cp:revision>
  <dcterms:created xsi:type="dcterms:W3CDTF">2026-10-17T13:52:31Z</dcterms:created>
  <dcterms:modified xsi:type="dcterms:W3CDTF">2026-10-17T13:52:31Z</dcterms:modified>
</cp:coreProperties>
</file>