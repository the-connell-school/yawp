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day. If all goes to plan, by the end of class every student has a strong, complex thesis statement and can begin actually writing. In pre-writing they went down into the mines, digging; today they come up with their treasure. Before you start, check student docs: anyone who still hasn’t found a specific focus may need a few more minutes of pre-writing on their diamond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happening in this picture?" again, same process as last time: first only what they SEE. An elephant; people up on store balconies; signs and advertisements; sacks of grain or rice in front; a man in a red and white turban; a cart with blue wire; something in the elephant’s rear (a dart?); a lamppost with exposed wires; motorcycles and bicycles; people running up stairs. Let them go, then ask what they think is going on. When students offer a theory, ask: "What do you see that makes you say that?" That is the observation-to-analysis move they will make in their thesis today. (The New York Times "What’s Going On in This Picture?" series has hundreds more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caption. Plenty of students guess India. Point out what they just did: observed details, then analyzed them into a theory. That is exactly what a thesis statement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a student answer. The thesis statement: the starred spot at the bottom of the introduction on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it is in our form: starred, the last sentence of the introduction, the most important part of the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Pre-writing was a light lift for most kids, and it produced a topic that is theirs. That investment is what keeps them off the internet and off ChatGPT: they already know what they want to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recap of the pre-writing process, to get them ready to develop a thesis on the specific topic they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students have never written an essay like this, so "thesis statement" may be an abstract idea to them. Don’t dwell on the definition; the examples will do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these slides with the students. Have them read parts aloud if it keeps them engaged.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one problem with student thesis statements is that they are too general: "There are many themes in The Great Gatsby worth discussing." "Violence is a major problem in my community" is better but could be far more specific. Beware the 5-paragraph habit of three broad reasons; each of those is really its own essay. Specific is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if students can define it before you show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three observations are all real, from Brian’s students pre-writing on the prompt "What’s wrong with education today?" The first is Haley’s, whose sample essay you may have read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Haley’s observation, from her pre-writing. Ask: is this true? If it reflects reality, it’s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whether it reflects reality. Some kids will say "for some teachers, not for others." If it reflects reality somewhere, it’s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this reflect reality? Yes. So it’s true. All three are good observations.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they all are. Good observations.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great observations, but they are not thesis statements yet. They are the start of one. Now we add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students to read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the picture again. Calling out observations is not what I asked for; I asked you to analyze. Now let’s look at some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"creative thinking is not taught enough in schools," the analysis we might offer: this makes school boring for teachers and students; it takes away motivation and excitement; they don’t feel as accomplished as they could if they were creating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observation. Some analysis: old ideas and methods get recycled and new, current ideas are ignored; or simply, this is an ineffective teaching method. We could offer more; these are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observation. This is a limited approach to learning; it puts too much emphasis on correctness; it ignores the personal expression of students’ experience. Again, there is more analysis available; these are the three we’ll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observation is basically the specific topic they arrived at through pre-writing: "my essay is going to be about how schools place too much emphasis on right and wrong answers." Then 2–4 pieces of analysis: opinions, reactions, conclusions. Make sure everyone is on the "Thesis Statement" step at the top of the Tutor. Work the room; don’t sit down. The more specific they get, the better: we’re putting the topic under a microscope. Students sometimes think a long essay needs a big topic; it’s the opposite. Big and general makes a boring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Thesis Statement step, with a sample observation, analysis and thesis typed in. The Tutor’s instructions are on the left; when students have a draft thesis, they can ask the Tutor for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 observation and analysis and you get the thesis from the sample essay. It’s all in there: every piece of the observation and analysis,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move: teachers too often teach the way they were taught, which creates an ineffective learning environment where old ideas and methods are recycled while new, current ideas are ignored. One single complex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third: the education system’s obsession with testing represents a limited approach to learning… It’s all in there. A beautiful, complex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English equation for a great thesis. Now have students combine their own observation and analysis into one sentence on their document. They can ask the Tutor for feedback; it will help clean up and refine the wording and keep the room moving instead of waiting on you. Watch for the Tutor sterilizing a student’s voice; help them keep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it: no essay until the thesis exists. After class, check every document for a working thesis; leave a positive comment, and where one is wordy or tangled, keep the original and add a "Revised thesis" below it so the student can see the difference. Don’t move on to the Introduction lesson until everyone who was here has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the core lesson. Everything after this is optional: "thesis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second half. Use it for your own understanding, or share it if your students’ writing is ready for it. You can also end the lesson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isn’t that "to be" is never allowed. The problem is that it creates wordy situations, which is why some teachers ban it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forms of "to be" in one sentence, and the sentence sags under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Editing "to be" out forces a rephrase. Read the new sentence aloud next to the old one and ask which sounds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"to be" out forces a rephrase, and the result is stronger and more direct. This is called being concise, and concise should be the goal in critical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is shorter now, and that is the point: there is space to say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reveal on the next slide: the same sentence, grown into a real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training programs don’t emphasize creative design in lesson plans" can now become: when teacher training programs do not emphasize creative design in lesson plans, teachers fail to understand their role as entertainers, resulting in boring lessons.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power of removing "to be": it clears out words that have no power of their own. Officially the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3</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4600" dirty="0">
                <a:solidFill>
                  <a:srgbClr val="3C3828"/>
                </a:solidFill>
                <a:highlight>
                  <a:srgbClr val="FFE14D"/>
                </a:highlight>
                <a:latin typeface="Georgia" pitchFamily="34" charset="0"/>
                <a:ea typeface="Georgia" pitchFamily="34" charset="-122"/>
                <a:cs typeface="Georgia" pitchFamily="34" charset="-120"/>
              </a:rPr>
              <a:t>Thesis Statement</a:t>
            </a:r>
            <a:endParaRPr lang="en-US" sz="4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From the mines, with treasure</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OBSERVE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 details do you see in this picture?</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6452719"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home/user/yawp/services/web-app/scripts/thesis-essay-decks/assets/elephant.png">    </p:cNvPr>
          <p:cNvPicPr>
            <a:picLocks noChangeAspect="1"/>
          </p:cNvPicPr>
          <p:nvPr/>
        </p:nvPicPr>
        <p:blipFill>
          <a:blip r:embed="rId2"/>
          <a:stretch>
            <a:fillRect/>
          </a:stretch>
        </p:blipFill>
        <p:spPr>
          <a:xfrm>
            <a:off x="813816" y="2048256"/>
            <a:ext cx="6196687" cy="3950208"/>
          </a:xfrm>
          <a:prstGeom prst="rect">
            <a:avLst/>
          </a:prstGeom>
        </p:spPr>
      </p:pic>
      <p:sp>
        <p:nvSpPr>
          <p:cNvPr id="10" name="Text 6"/>
          <p:cNvSpPr/>
          <p:nvPr/>
        </p:nvSpPr>
        <p:spPr>
          <a:xfrm>
            <a:off x="7641439" y="1965960"/>
            <a:ext cx="3864456"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What more can you find?</a:t>
            </a:r>
            <a:endParaRPr lang="en-US" sz="4000" dirty="0"/>
          </a:p>
          <a:p>
            <a:pPr indent="0" marL="0">
              <a:spcAft>
                <a:spcPts val="1400"/>
              </a:spcAft>
              <a:buNone/>
            </a:pPr>
            <a:r>
              <a:rPr lang="en-US" sz="2000" dirty="0">
                <a:solidFill>
                  <a:srgbClr val="7E7C78"/>
                </a:solidFill>
                <a:latin typeface="Calibri" pitchFamily="34" charset="0"/>
                <a:ea typeface="Calibri" pitchFamily="34" charset="-122"/>
                <a:cs typeface="Calibri" pitchFamily="34" charset="-120"/>
              </a:rPr>
              <a:t>Then: what’s going on in this picture?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was going on</a:t>
            </a:r>
            <a:endParaRPr lang="en-US" sz="3600" dirty="0"/>
          </a:p>
        </p:txBody>
      </p:sp>
      <p:sp>
        <p:nvSpPr>
          <p:cNvPr id="4" name="Shape 2"/>
          <p:cNvSpPr/>
          <p:nvPr/>
        </p:nvSpPr>
        <p:spPr>
          <a:xfrm>
            <a:off x="685800" y="1920240"/>
            <a:ext cx="7391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7135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5790895" cy="2880360"/>
          </a:xfrm>
          <a:prstGeom prst="rect">
            <a:avLst/>
          </a:prstGeom>
          <a:noFill/>
          <a:ln/>
        </p:spPr>
        <p:txBody>
          <a:bodyPr wrap="square" lIns="0" tIns="0" rIns="0" bIns="0" rtlCol="0" anchor="ctr"/>
          <a:lstStyle/>
          <a:p>
            <a:pPr indent="0" marL="0">
              <a:lnSpc>
                <a:spcPct val="120000"/>
              </a:lnSpc>
              <a:buNone/>
            </a:pPr>
            <a:r>
              <a:rPr lang="en-US" sz="1900" i="1" dirty="0">
                <a:solidFill>
                  <a:srgbClr val="3C3828"/>
                </a:solidFill>
                <a:latin typeface="Georgia" pitchFamily="34" charset="0"/>
                <a:ea typeface="Georgia" pitchFamily="34" charset="-122"/>
                <a:cs typeface="Georgia" pitchFamily="34" charset="-120"/>
              </a:rPr>
              <a:t>This elephant wandered out of a forest and into the streets of a city in North Bengal, India, attacking houses, shops and vehicles over a period of hours. The elephant was finally calmed with three tranquilizer darts. The clash appeared to have a happy ending: the authorities said they returned the creature to the forest.</a:t>
            </a:r>
            <a:endParaRPr lang="en-US" sz="1900" dirty="0"/>
          </a:p>
        </p:txBody>
      </p:sp>
      <p:sp>
        <p:nvSpPr>
          <p:cNvPr id="8" name="Text 6"/>
          <p:cNvSpPr/>
          <p:nvPr/>
        </p:nvSpPr>
        <p:spPr>
          <a:xfrm>
            <a:off x="1828800" y="5349240"/>
            <a:ext cx="5790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Photo caption, The New York Times</a:t>
            </a:r>
            <a:endParaRPr lang="en-US" sz="1800" dirty="0"/>
          </a:p>
        </p:txBody>
      </p:sp>
      <p:sp>
        <p:nvSpPr>
          <p:cNvPr id="9" name="Shape 7"/>
          <p:cNvSpPr/>
          <p:nvPr/>
        </p:nvSpPr>
        <p:spPr>
          <a:xfrm>
            <a:off x="8488375" y="3039867"/>
            <a:ext cx="3017520" cy="1966987"/>
          </a:xfrm>
          <a:prstGeom prst="roundRect">
            <a:avLst>
              <a:gd name="adj" fmla="val 650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10" name="Image 0" descr="/home/user/yawp/services/web-app/scripts/thesis-essay-decks/assets/elephant.png">    </p:cNvPr>
          <p:cNvPicPr>
            <a:picLocks noChangeAspect="1"/>
          </p:cNvPicPr>
          <p:nvPr/>
        </p:nvPicPr>
        <p:blipFill>
          <a:blip r:embed="rId1"/>
          <a:stretch>
            <a:fillRect/>
          </a:stretch>
        </p:blipFill>
        <p:spPr>
          <a:xfrm>
            <a:off x="8616391" y="3167883"/>
            <a:ext cx="2761488" cy="1710955"/>
          </a:xfrm>
          <a:prstGeom prst="rect">
            <a:avLst/>
          </a:prstGeom>
        </p:spPr>
      </p:pic>
      <p:sp>
        <p:nvSpPr>
          <p:cNvPr id="11" name="Shape 8"/>
          <p:cNvSpPr/>
          <p:nvPr/>
        </p:nvSpPr>
        <p:spPr>
          <a:xfrm>
            <a:off x="10820095" y="2628387"/>
            <a:ext cx="777240" cy="777240"/>
          </a:xfrm>
          <a:prstGeom prst="ellipse">
            <a:avLst/>
          </a:prstGeom>
          <a:solidFill>
            <a:srgbClr val="02BDC7"/>
          </a:solidFill>
          <a:ln w="12700">
            <a:solidFill>
              <a:srgbClr val="02BDC7"/>
            </a:solidFill>
            <a:prstDash val="solid"/>
          </a:ln>
        </p:spPr>
      </p:sp>
      <p:pic>
        <p:nvPicPr>
          <p:cNvPr id="12" name="Image 1" descr="/home/user/yawp/services/web-app/scripts/thesis-essay-decks/assets/icons/eye.png">    </p:cNvPr>
          <p:cNvPicPr>
            <a:picLocks noChangeAspect="1"/>
          </p:cNvPicPr>
          <p:nvPr/>
        </p:nvPicPr>
        <p:blipFill>
          <a:blip r:embed="rId2"/>
          <a:stretch>
            <a:fillRect/>
          </a:stretch>
        </p:blipFill>
        <p:spPr>
          <a:xfrm>
            <a:off x="10975543" y="2783835"/>
            <a:ext cx="466344" cy="466344"/>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QUICK REVIEW</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 do we need to figure out before we can write a great essay?</a:t>
            </a:r>
            <a:endParaRPr lang="en-US" sz="30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Hopefully someone in the room says it: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a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critical-essay-form.png">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50545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21945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41985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3108960"/>
            <a:ext cx="6440691" cy="91440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pPr indent="0" marL="0">
              <a:buNone/>
            </a:pPr>
            <a:r>
              <a:rPr lang="en-US" sz="2400" dirty="0">
                <a:solidFill>
                  <a:srgbClr val="3C3828"/>
                </a:solidFill>
                <a:latin typeface="Calibri" pitchFamily="34" charset="0"/>
                <a:ea typeface="Calibri" pitchFamily="34" charset="-122"/>
                <a:cs typeface="Calibri" pitchFamily="34" charset="-120"/>
              </a:rPr>
              <a:t> ★ the most important part</a:t>
            </a:r>
            <a:endParaRPr lang="en-US" sz="2400" dirty="0"/>
          </a:p>
        </p:txBody>
      </p:sp>
      <p:sp>
        <p:nvSpPr>
          <p:cNvPr id="10" name="Shape 7"/>
          <p:cNvSpPr/>
          <p:nvPr/>
        </p:nvSpPr>
        <p:spPr>
          <a:xfrm>
            <a:off x="4589717" y="43342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40233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12" name="Shape 9"/>
          <p:cNvSpPr/>
          <p:nvPr/>
        </p:nvSpPr>
        <p:spPr>
          <a:xfrm>
            <a:off x="4589717" y="524865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9377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REMEMBER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Great thesis statements lead to great essays!</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(And weak or non-existent thesis statements lead to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weak essays!</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WHERE WE ARE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All of your pre-writing…</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02BDC7"/>
          </a:solidFill>
          <a:ln w="12700">
            <a:solidFill>
              <a:srgbClr val="02BDC7"/>
            </a:solidFill>
            <a:prstDash val="solid"/>
          </a:ln>
        </p:spPr>
      </p:sp>
      <p:sp>
        <p:nvSpPr>
          <p:cNvPr id="6" name="Shape 4"/>
          <p:cNvSpPr/>
          <p:nvPr/>
        </p:nvSpPr>
        <p:spPr>
          <a:xfrm>
            <a:off x="685800" y="2423160"/>
            <a:ext cx="5181448" cy="256032"/>
          </a:xfrm>
          <a:prstGeom prst="rect">
            <a:avLst/>
          </a:prstGeom>
          <a:solidFill>
            <a:srgbClr val="02BDC7"/>
          </a:solidFill>
          <a:ln w="12700">
            <a:solidFill>
              <a:srgbClr val="02BDC7"/>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WHAT IT’S FOR</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…serves the purpose of </a:t>
            </a:r>
            <a:pPr indent="0" marL="0">
              <a:lnSpc>
                <a:spcPct val="115000"/>
              </a:lnSpc>
              <a:buNone/>
            </a:pPr>
            <a:r>
              <a:rPr lang="en-US" sz="2100" dirty="0">
                <a:solidFill>
                  <a:srgbClr val="3C3828"/>
                </a:solidFill>
                <a:highlight>
                  <a:srgbClr val="FFE14D"/>
                </a:highlight>
                <a:latin typeface="Georgia" pitchFamily="34" charset="0"/>
                <a:ea typeface="Georgia" pitchFamily="34" charset="-122"/>
                <a:cs typeface="Georgia" pitchFamily="34" charset="-120"/>
              </a:rPr>
              <a:t>narrowing your topic</a:t>
            </a:r>
            <a:pPr indent="0" marL="0">
              <a:lnSpc>
                <a:spcPct val="115000"/>
              </a:lnSpc>
              <a:buNone/>
            </a:pPr>
            <a:r>
              <a:rPr lang="en-US" sz="2100" dirty="0">
                <a:solidFill>
                  <a:srgbClr val="3C3828"/>
                </a:solidFill>
                <a:latin typeface="Georgia" pitchFamily="34" charset="0"/>
                <a:ea typeface="Georgia" pitchFamily="34" charset="-122"/>
                <a:cs typeface="Georgia" pitchFamily="34" charset="-120"/>
              </a:rPr>
              <a:t> so that you can write your thesis.</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Flush out all of your ideas and opinions about the subject. Ask and answer, ask and answer, ask and answer.</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FF9755"/>
          </a:solidFill>
          <a:ln w="12700">
            <a:solidFill>
              <a:srgbClr val="FF9755"/>
            </a:solidFill>
            <a:prstDash val="solid"/>
          </a:ln>
        </p:spPr>
      </p:sp>
      <p:sp>
        <p:nvSpPr>
          <p:cNvPr id="11" name="Shape 9"/>
          <p:cNvSpPr/>
          <p:nvPr/>
        </p:nvSpPr>
        <p:spPr>
          <a:xfrm>
            <a:off x="6324448" y="2423160"/>
            <a:ext cx="5181448" cy="256032"/>
          </a:xfrm>
          <a:prstGeom prst="rect">
            <a:avLst/>
          </a:prstGeom>
          <a:solidFill>
            <a:srgbClr val="FF9755"/>
          </a:solidFill>
          <a:ln w="12700">
            <a:solidFill>
              <a:srgbClr val="FF9755"/>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WHERE IT LEADS</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Your discussion should become more specific as you go, until your answers start to resemble some pretty intelligent thoughts and conclusions.</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When you get to this point, you’re very close to </a:t>
            </a:r>
            <a:pPr indent="0" marL="0">
              <a:lnSpc>
                <a:spcPct val="115000"/>
              </a:lnSpc>
              <a:buNone/>
            </a:pPr>
            <a:r>
              <a:rPr lang="en-US" sz="2100" dirty="0">
                <a:solidFill>
                  <a:srgbClr val="3C3828"/>
                </a:solidFill>
                <a:highlight>
                  <a:srgbClr val="FFE14D"/>
                </a:highlight>
                <a:latin typeface="Georgia" pitchFamily="34" charset="0"/>
                <a:ea typeface="Georgia" pitchFamily="34" charset="-122"/>
                <a:cs typeface="Georgia" pitchFamily="34" charset="-120"/>
              </a:rPr>
              <a:t>pinning down your thesis.</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2</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Develop a Thesis Statement</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Observation + analysis, in one sentence.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DEFINITION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thesis statement represents the </a:t>
            </a:r>
            <a:pPr indent="0" marL="0">
              <a:buNone/>
            </a:pPr>
            <a:r>
              <a:rPr lang="en-US" sz="3000" dirty="0">
                <a:solidFill>
                  <a:srgbClr val="3C3828"/>
                </a:solidFill>
                <a:highlight>
                  <a:srgbClr val="FFE14D"/>
                </a:highlight>
                <a:latin typeface="Georgia" pitchFamily="34" charset="0"/>
                <a:ea typeface="Georgia" pitchFamily="34" charset="-122"/>
                <a:cs typeface="Georgia" pitchFamily="34" charset="-120"/>
              </a:rPr>
              <a:t>focal point</a:t>
            </a:r>
            <a:pPr indent="0" marL="0">
              <a:buNone/>
            </a:pPr>
            <a:r>
              <a:rPr lang="en-US" sz="3000" dirty="0">
                <a:solidFill>
                  <a:srgbClr val="3C3828"/>
                </a:solidFill>
                <a:latin typeface="Georgia" pitchFamily="34" charset="0"/>
                <a:ea typeface="Georgia" pitchFamily="34" charset="-122"/>
                <a:cs typeface="Georgia" pitchFamily="34" charset="-120"/>
              </a:rPr>
              <a:t> of your essay.</a:t>
            </a:r>
            <a:endParaRPr lang="en-US" sz="30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home/user/yawp/services/web-app/scripts/thesis-essay-decks/assets/icons/diamond.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Everything else in the essay points back to it.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WORDING YOUR THESIS STATEMENT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Three rules for the sentence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Your thesis should be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one sentence</a:t>
            </a:r>
            <a:pPr indent="0" marL="0">
              <a:buNone/>
            </a:pPr>
            <a:r>
              <a:rPr lang="en-US" sz="2600" dirty="0">
                <a:solidFill>
                  <a:srgbClr val="3C3828"/>
                </a:solidFill>
                <a:latin typeface="Calibri" pitchFamily="34" charset="0"/>
                <a:ea typeface="Calibri" pitchFamily="34" charset="-122"/>
                <a:cs typeface="Calibri" pitchFamily="34" charset="-120"/>
              </a:rPr>
              <a:t> long.</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Your thesis should include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observation</a:t>
            </a:r>
            <a:pPr indent="0" marL="0">
              <a:buNone/>
            </a:pPr>
            <a:r>
              <a:rPr lang="en-US" sz="2600" dirty="0">
                <a:solidFill>
                  <a:srgbClr val="3C3828"/>
                </a:solidFill>
                <a:latin typeface="Calibri" pitchFamily="34" charset="0"/>
                <a:ea typeface="Calibri" pitchFamily="34" charset="-122"/>
                <a:cs typeface="Calibri" pitchFamily="34" charset="-120"/>
              </a:rPr>
              <a:t> as well as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analysis.</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Your thesis should be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specific.</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we mean by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“observation”?</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Ask the room first.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An observation is something we </a:t>
            </a:r>
            <a:pPr indent="0" marL="0">
              <a:buNone/>
            </a:pPr>
            <a:r>
              <a:rPr lang="en-US" sz="3000" dirty="0">
                <a:solidFill>
                  <a:srgbClr val="3C3828"/>
                </a:solidFill>
                <a:highlight>
                  <a:srgbClr val="FFE14D"/>
                </a:highlight>
                <a:latin typeface="Georgia" pitchFamily="34" charset="0"/>
                <a:ea typeface="Georgia" pitchFamily="34" charset="-122"/>
                <a:cs typeface="Georgia" pitchFamily="34" charset="-120"/>
              </a:rPr>
              <a:t>notice or see</a:t>
            </a:r>
            <a:pPr indent="0" marL="0">
              <a:buNone/>
            </a:pPr>
            <a:r>
              <a:rPr lang="en-US" sz="3000" dirty="0">
                <a:solidFill>
                  <a:srgbClr val="3C3828"/>
                </a:solidFill>
                <a:latin typeface="Georgia" pitchFamily="34" charset="0"/>
                <a:ea typeface="Georgia" pitchFamily="34" charset="-122"/>
                <a:cs typeface="Georgia" pitchFamily="34" charset="-120"/>
              </a:rPr>
              <a:t> about a subject.</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Like the picture: what we see. Let’s look at some examples…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1</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“Creative thinking is not prioritized in schools.”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“Most classroom teachers teach the way they were taught.”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Three good observations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02BDC7"/>
          </a:solidFill>
          <a:ln w="12700">
            <a:solidFill>
              <a:srgbClr val="02BDC7"/>
            </a:solidFill>
            <a:prstDash val="solid"/>
          </a:ln>
        </p:spPr>
      </p:sp>
      <p:sp>
        <p:nvSpPr>
          <p:cNvPr id="10" name="Shape 7"/>
          <p:cNvSpPr/>
          <p:nvPr/>
        </p:nvSpPr>
        <p:spPr>
          <a:xfrm>
            <a:off x="1005840" y="2331720"/>
            <a:ext cx="731520" cy="731520"/>
          </a:xfrm>
          <a:prstGeom prst="ellipse">
            <a:avLst/>
          </a:prstGeom>
          <a:solidFill>
            <a:srgbClr val="02BDC7"/>
          </a:solidFill>
          <a:ln w="12700">
            <a:solidFill>
              <a:srgbClr val="02BDC7"/>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Creative thinking is not prioritized in schools.</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B600"/>
          </a:solidFill>
          <a:ln w="12700">
            <a:solidFill>
              <a:srgbClr val="FFB600"/>
            </a:solidFill>
            <a:prstDash val="solid"/>
          </a:ln>
        </p:spPr>
      </p:sp>
      <p:sp>
        <p:nvSpPr>
          <p:cNvPr id="15" name="Shape 12"/>
          <p:cNvSpPr/>
          <p:nvPr/>
        </p:nvSpPr>
        <p:spPr>
          <a:xfrm>
            <a:off x="4719218" y="2331720"/>
            <a:ext cx="731520" cy="731520"/>
          </a:xfrm>
          <a:prstGeom prst="ellipse">
            <a:avLst/>
          </a:prstGeom>
          <a:solidFill>
            <a:srgbClr val="FFB600"/>
          </a:solidFill>
          <a:ln w="12700">
            <a:solidFill>
              <a:srgbClr val="FFB600"/>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Most classroom teachers teach the way they were taught.</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540"/>
          </a:solidFill>
          <a:ln w="12700">
            <a:solidFill>
              <a:srgbClr val="FC4540"/>
            </a:solidFill>
            <a:prstDash val="solid"/>
          </a:ln>
        </p:spPr>
      </p:sp>
      <p:sp>
        <p:nvSpPr>
          <p:cNvPr id="20" name="Shape 17"/>
          <p:cNvSpPr/>
          <p:nvPr/>
        </p:nvSpPr>
        <p:spPr>
          <a:xfrm>
            <a:off x="8432597" y="2331720"/>
            <a:ext cx="731520" cy="731520"/>
          </a:xfrm>
          <a:prstGeom prst="ellipse">
            <a:avLst/>
          </a:prstGeom>
          <a:solidFill>
            <a:srgbClr val="FC4540"/>
          </a:solidFill>
          <a:ln w="12700">
            <a:solidFill>
              <a:srgbClr val="FC4540"/>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Schools place too much emphasis on right and wrong answers.</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BUT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So what????</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Without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analysis,</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 your thesis statement will fall flat.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we mean by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“analysis”?</a:t>
            </a:r>
            <a:endParaRPr lang="en-US" sz="3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Ask the room first.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2600" dirty="0">
                <a:solidFill>
                  <a:srgbClr val="3C3828"/>
                </a:solidFill>
                <a:latin typeface="Georgia" pitchFamily="34" charset="0"/>
                <a:ea typeface="Georgia" pitchFamily="34" charset="-122"/>
                <a:cs typeface="Georgia" pitchFamily="34" charset="-120"/>
              </a:rPr>
              <a:t>Analysis is a </a:t>
            </a:r>
            <a:pPr indent="0" marL="0">
              <a:buNone/>
            </a:pPr>
            <a:r>
              <a:rPr lang="en-US" sz="2600" dirty="0">
                <a:solidFill>
                  <a:srgbClr val="3C3828"/>
                </a:solidFill>
                <a:highlight>
                  <a:srgbClr val="FFE14D"/>
                </a:highlight>
                <a:latin typeface="Georgia" pitchFamily="34" charset="0"/>
                <a:ea typeface="Georgia" pitchFamily="34" charset="-122"/>
                <a:cs typeface="Georgia" pitchFamily="34" charset="-120"/>
              </a:rPr>
              <a:t>reaction, argument, examination, or conclusion</a:t>
            </a:r>
            <a:pPr indent="0" marL="0">
              <a:buNone/>
            </a:pPr>
            <a:r>
              <a:rPr lang="en-US" sz="2600" dirty="0">
                <a:solidFill>
                  <a:srgbClr val="3C3828"/>
                </a:solidFill>
                <a:latin typeface="Georgia" pitchFamily="34" charset="0"/>
                <a:ea typeface="Georgia" pitchFamily="34" charset="-122"/>
                <a:cs typeface="Georgia" pitchFamily="34" charset="-120"/>
              </a:rPr>
              <a:t> based on an observation.</a:t>
            </a:r>
            <a:endParaRPr lang="en-US" sz="2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If I asked what’s happening in the picture and you just said “elephant, motorcycles, people,” I’d wonder what was wrong with you.</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1</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Creative thinking is not taught enough in schools.</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makes school boring for teachers and students</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…takes away their motivation and excitement</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…they don’t feel as accomplished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2</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Most classroom teachers teach the way they were taught.</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creates a situation where old ideas and methods are recycled, and new, current ideas are ignored</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is an ineffective teaching method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3</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is a limited approach to learning</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…it puts too much emphasis on correctness</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…it ignores the personal expression of students’ experience</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WRITING ACTIVITY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observation and analysis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267712"/>
            <a:ext cx="3840480" cy="420624"/>
          </a:xfrm>
          <a:prstGeom prst="roundRect">
            <a:avLst>
              <a:gd name="adj" fmla="val 50000"/>
            </a:avLst>
          </a:prstGeom>
          <a:solidFill>
            <a:srgbClr val="02BDC7"/>
          </a:solidFill>
          <a:ln w="12700">
            <a:solidFill>
              <a:srgbClr val="02BDC7"/>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ON YOUR DOCUMENT</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On your document, create your own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Observation</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and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2–4 points of analysis.</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Use this model:</a:t>
            </a:r>
            <a:endParaRPr lang="en-US" sz="1800" dirty="0"/>
          </a:p>
          <a:p>
            <a:pPr indent="0" marL="0">
              <a:lnSpc>
                <a:spcPct val="120000"/>
              </a:lnSpc>
              <a:buNone/>
            </a:pP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Observation: Schools place too much emphasis on right and wrong answers.</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Analysis:</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this is a limited approach to learning</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it puts too much emphasis on correctness</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it ignores the personal expression of students’ experience</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thesis.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Thesis Statement</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Observation first</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2–4 points of analysis</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Then combine them into your thesis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1</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Creativity is not prioritized enough in schools.</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makes school boring for teachers and students</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…takes away their motivation and excitement</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…they don’t feel as accomplished</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2100"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2</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Most classroom teachers teach the way they were taught.</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creates a situation where old ideas and methods are recycled, and new, current ideas are ignored</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is an ineffective teaching method</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2100" dirty="0">
                <a:solidFill>
                  <a:srgbClr val="3C3828"/>
                </a:solidFill>
                <a:latin typeface="Georgia" pitchFamily="34" charset="0"/>
                <a:ea typeface="Georgia" pitchFamily="34" charset="-122"/>
                <a:cs typeface="Georgia" pitchFamily="34" charset="-120"/>
              </a:rPr>
              <a:t>Teachers too often teach the way they were taught, which creates an ineffective learning environment where old ideas and methods are recycled, while new, current ideas are ignored.</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3</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is a limited approach to learning</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…it puts too much emphasis on correctness</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…it ignores the personal expression of students’ experience</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1800" dirty="0">
                <a:solidFill>
                  <a:srgbClr val="3C3828"/>
                </a:solidFill>
                <a:latin typeface="Georgia" pitchFamily="34" charset="0"/>
                <a:ea typeface="Georgia" pitchFamily="34" charset="-122"/>
                <a:cs typeface="Georgia" pitchFamily="34" charset="-120"/>
              </a:rPr>
              <a:t>The education system’s obsession with testing represents a limited approach to learning that puts too much emphasis on right and wrong answers and ignores the personal learning experience of individual students.</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E9B3"/>
        </a:solidFill>
      </p:bgPr>
    </p:bg>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2 COMPONENTS OF AN EFFECTIVE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The equation for a thesis statement</a:t>
            </a:r>
            <a:endParaRPr lang="en-US" sz="3000" dirty="0"/>
          </a:p>
        </p:txBody>
      </p:sp>
      <p:sp>
        <p:nvSpPr>
          <p:cNvPr id="4" name="Shape 2"/>
          <p:cNvSpPr/>
          <p:nvPr/>
        </p:nvSpPr>
        <p:spPr>
          <a:xfrm>
            <a:off x="1272388" y="2194560"/>
            <a:ext cx="2606040" cy="2606040"/>
          </a:xfrm>
          <a:prstGeom prst="ellipse">
            <a:avLst/>
          </a:prstGeom>
          <a:solidFill>
            <a:srgbClr val="02BDC7"/>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5" name="Image 0" descr="/home/user/yawp/services/web-app/scripts/thesis-essay-decks/assets/icons/question.png">    </p:cNvPr>
          <p:cNvPicPr>
            <a:picLocks noChangeAspect="1"/>
          </p:cNvPicPr>
          <p:nvPr/>
        </p:nvPicPr>
        <p:blipFill>
          <a:blip r:embed="rId1"/>
          <a:stretch>
            <a:fillRect/>
          </a:stretch>
        </p:blipFill>
        <p:spPr>
          <a:xfrm>
            <a:off x="2163928" y="2560320"/>
            <a:ext cx="822960" cy="822960"/>
          </a:xfrm>
          <a:prstGeom prst="rect">
            <a:avLst/>
          </a:prstGeom>
        </p:spPr>
      </p:pic>
      <p:sp>
        <p:nvSpPr>
          <p:cNvPr id="6" name="Text 3"/>
          <p:cNvSpPr/>
          <p:nvPr/>
        </p:nvSpPr>
        <p:spPr>
          <a:xfrm>
            <a:off x="145526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Observation</a:t>
            </a:r>
            <a:endParaRPr lang="en-US" sz="2600" dirty="0"/>
          </a:p>
        </p:txBody>
      </p:sp>
      <p:sp>
        <p:nvSpPr>
          <p:cNvPr id="7" name="Text 4"/>
          <p:cNvSpPr/>
          <p:nvPr/>
        </p:nvSpPr>
        <p:spPr>
          <a:xfrm>
            <a:off x="387842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8" name="Shape 5"/>
          <p:cNvSpPr/>
          <p:nvPr/>
        </p:nvSpPr>
        <p:spPr>
          <a:xfrm>
            <a:off x="4792828" y="2194560"/>
            <a:ext cx="2606040" cy="2606040"/>
          </a:xfrm>
          <a:prstGeom prst="ellipse">
            <a:avLst/>
          </a:prstGeom>
          <a:solidFill>
            <a:srgbClr val="FF9755"/>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9" name="Image 1" descr="/home/user/yawp/services/web-app/scripts/thesis-essay-decks/assets/icons/timer.png">    </p:cNvPr>
          <p:cNvPicPr>
            <a:picLocks noChangeAspect="1"/>
          </p:cNvPicPr>
          <p:nvPr/>
        </p:nvPicPr>
        <p:blipFill>
          <a:blip r:embed="rId2"/>
          <a:stretch>
            <a:fillRect/>
          </a:stretch>
        </p:blipFill>
        <p:spPr>
          <a:xfrm>
            <a:off x="5684368" y="2560320"/>
            <a:ext cx="822960" cy="822960"/>
          </a:xfrm>
          <a:prstGeom prst="rect">
            <a:avLst/>
          </a:prstGeom>
        </p:spPr>
      </p:pic>
      <p:sp>
        <p:nvSpPr>
          <p:cNvPr id="10" name="Text 6"/>
          <p:cNvSpPr/>
          <p:nvPr/>
        </p:nvSpPr>
        <p:spPr>
          <a:xfrm>
            <a:off x="497570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Analysis</a:t>
            </a:r>
            <a:endParaRPr lang="en-US" sz="2600" dirty="0"/>
          </a:p>
        </p:txBody>
      </p:sp>
      <p:sp>
        <p:nvSpPr>
          <p:cNvPr id="11" name="Text 7"/>
          <p:cNvSpPr/>
          <p:nvPr/>
        </p:nvSpPr>
        <p:spPr>
          <a:xfrm>
            <a:off x="739886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12" name="Shape 8"/>
          <p:cNvSpPr/>
          <p:nvPr/>
        </p:nvSpPr>
        <p:spPr>
          <a:xfrm>
            <a:off x="8313268" y="2194560"/>
            <a:ext cx="2606040" cy="2606040"/>
          </a:xfrm>
          <a:prstGeom prst="ellipse">
            <a:avLst/>
          </a:prstGeom>
          <a:solidFill>
            <a:srgbClr val="FC4540"/>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13" name="Image 2" descr="/home/user/yawp/services/web-app/scripts/thesis-essay-decks/assets/icons/lightbulb.png">    </p:cNvPr>
          <p:cNvPicPr>
            <a:picLocks noChangeAspect="1"/>
          </p:cNvPicPr>
          <p:nvPr/>
        </p:nvPicPr>
        <p:blipFill>
          <a:blip r:embed="rId3"/>
          <a:stretch>
            <a:fillRect/>
          </a:stretch>
        </p:blipFill>
        <p:spPr>
          <a:xfrm>
            <a:off x="9204808" y="2560320"/>
            <a:ext cx="822960" cy="822960"/>
          </a:xfrm>
          <a:prstGeom prst="rect">
            <a:avLst/>
          </a:prstGeom>
        </p:spPr>
      </p:pic>
      <p:sp>
        <p:nvSpPr>
          <p:cNvPr id="14" name="Text 9"/>
          <p:cNvSpPr/>
          <p:nvPr/>
        </p:nvSpPr>
        <p:spPr>
          <a:xfrm>
            <a:off x="849614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Complex thesis</a:t>
            </a:r>
            <a:endParaRPr lang="en-US" sz="2600" dirty="0"/>
          </a:p>
        </p:txBody>
      </p:sp>
      <p:sp>
        <p:nvSpPr>
          <p:cNvPr id="15" name="Text 10"/>
          <p:cNvSpPr/>
          <p:nvPr/>
        </p:nvSpPr>
        <p:spPr>
          <a:xfrm>
            <a:off x="685800" y="5120640"/>
            <a:ext cx="10820095" cy="457200"/>
          </a:xfrm>
          <a:prstGeom prst="rect">
            <a:avLst/>
          </a:prstGeom>
          <a:noFill/>
          <a:ln/>
        </p:spPr>
        <p:txBody>
          <a:bodyPr wrap="square" lIns="0" tIns="0" rIns="0" bIns="0" rtlCol="0" anchor="ctr"/>
          <a:lstStyle/>
          <a:p>
            <a:pPr algn="ctr" indent="0" marL="0">
              <a:buNone/>
            </a:pPr>
            <a:r>
              <a:rPr lang="en-US" sz="2000" i="1" dirty="0">
                <a:solidFill>
                  <a:srgbClr val="7E7C78"/>
                </a:solidFill>
                <a:latin typeface="Calibri" pitchFamily="34" charset="0"/>
                <a:ea typeface="Calibri" pitchFamily="34" charset="-122"/>
                <a:cs typeface="Calibri" pitchFamily="34" charset="-120"/>
              </a:rPr>
              <a:t>Now combine yours.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DON’T FORGET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Crafting a thesis statement that works is vital to the rest of your essay…</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thumbs.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…so don’t ever begin writing your essay until you’ve created a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strong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 REVIEW</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Thesis review</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One, complex,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concise</a:t>
            </a:r>
            <a:pPr indent="0" marL="0">
              <a:buNone/>
            </a:pPr>
            <a:r>
              <a:rPr lang="en-US" sz="2600" dirty="0">
                <a:solidFill>
                  <a:srgbClr val="3C3828"/>
                </a:solidFill>
                <a:latin typeface="Calibri" pitchFamily="34" charset="0"/>
                <a:ea typeface="Calibri" pitchFamily="34" charset="-122"/>
                <a:cs typeface="Calibri" pitchFamily="34" charset="-120"/>
              </a:rPr>
              <a:t> sentence. (Concise does not equal brief!)</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Includes </a:t>
            </a:r>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observation + analysis.</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Specific, not general.</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THESIS 2.0</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Avoid the verb “to be”</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Optional: for you, or for a class that’s ready.</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THESIS 2.0</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Avoid the verb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“to be”</a:t>
            </a:r>
            <a:endParaRPr lang="en-US" sz="36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It creates wordy situations. It’s a little word that needs other words to make it work. For example…</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WITH THE VERB “TO BE”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Spot the clutter</a:t>
            </a:r>
            <a:endParaRPr lang="en-US" sz="36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Creative design in lesson plans </a:t>
            </a:r>
            <a:pPr indent="0" marL="0">
              <a:lnSpc>
                <a:spcPct val="125000"/>
              </a:lnSpc>
              <a:buNone/>
            </a:pPr>
            <a:r>
              <a:rPr lang="en-US" sz="3200" b="1" dirty="0">
                <a:solidFill>
                  <a:srgbClr val="FC4067"/>
                </a:solidFill>
                <a:latin typeface="Georgia" pitchFamily="34" charset="0"/>
                <a:ea typeface="Georgia" pitchFamily="34" charset="-122"/>
                <a:cs typeface="Georgia" pitchFamily="34" charset="-120"/>
              </a:rPr>
              <a:t>is</a:t>
            </a:r>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 really important and </a:t>
            </a:r>
            <a:pPr indent="0" marL="0">
              <a:lnSpc>
                <a:spcPct val="125000"/>
              </a:lnSpc>
              <a:buNone/>
            </a:pPr>
            <a:r>
              <a:rPr lang="en-US" sz="3200" b="1" dirty="0">
                <a:solidFill>
                  <a:srgbClr val="FC4067"/>
                </a:solidFill>
                <a:latin typeface="Georgia" pitchFamily="34" charset="0"/>
                <a:ea typeface="Georgia" pitchFamily="34" charset="-122"/>
                <a:cs typeface="Georgia" pitchFamily="34" charset="-120"/>
              </a:rPr>
              <a:t>is</a:t>
            </a:r>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 something that </a:t>
            </a:r>
            <a:pPr indent="0" marL="0">
              <a:lnSpc>
                <a:spcPct val="125000"/>
              </a:lnSpc>
              <a:buNone/>
            </a:pPr>
            <a:r>
              <a:rPr lang="en-US" sz="3200" b="1" dirty="0">
                <a:solidFill>
                  <a:srgbClr val="FC4067"/>
                </a:solidFill>
                <a:latin typeface="Georgia" pitchFamily="34" charset="0"/>
                <a:ea typeface="Georgia" pitchFamily="34" charset="-122"/>
                <a:cs typeface="Georgia" pitchFamily="34" charset="-120"/>
              </a:rPr>
              <a:t>isn’t</a:t>
            </a:r>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 taught in teacher training programs.</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CHANGE TO</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Teacher training programs don’t emphasize creative design in lesson plans.</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This is much better. It gives the sentence a stronger, more direct feel. This is called being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concise.</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And being concise should be your goal in critical writing.</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BEFORE AND AFTER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Edit the verb “to be” out</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WITH THE VERB TO BE</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Creative design in lesson plans is really important and is something that isn’t taught in teacher training programs.</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WITHOUT THE VERB TO BE</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Teacher training programs don’t emphasize creative design in lesson plans.</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BUT WAIT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But wait, there’s more!</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Now that the “to be” clutter is gone, there’s room for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more good stuff.</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WEEDING THE GARDEN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Room for better stuff to grow</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Taking the verb “to be” out of a sentence is like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weeding a garden:</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you remove the stuff you don’t need, and then there’s room for better stuff to grow. Check it out…</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THIS CAN NOW BECOME THIS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From a sentence to a thesis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pPr indent="0" marL="0">
              <a:lnSpc>
                <a:spcPct val="110000"/>
              </a:lnSpc>
              <a:buNone/>
            </a:pPr>
            <a:r>
              <a:rPr lang="en-US" sz="2200" b="1" dirty="0">
                <a:solidFill>
                  <a:srgbClr val="02BDC7"/>
                </a:solidFill>
                <a:latin typeface="Georgia" pitchFamily="34" charset="0"/>
                <a:ea typeface="Georgia" pitchFamily="34" charset="-122"/>
                <a:cs typeface="Georgia" pitchFamily="34" charset="-120"/>
              </a:rPr>
              <a:t>teacher training programs do not emphasize creative design in lesson plans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FB600"/>
                </a:solidFill>
                <a:latin typeface="Georgia" pitchFamily="34" charset="0"/>
                <a:ea typeface="Georgia" pitchFamily="34" charset="-122"/>
                <a:cs typeface="Georgia" pitchFamily="34" charset="-120"/>
              </a:rPr>
              <a:t>teachers fail to understand their role as entertainers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C4540"/>
                </a:solidFill>
                <a:latin typeface="Georgia" pitchFamily="34" charset="0"/>
                <a:ea typeface="Georgia" pitchFamily="34" charset="-122"/>
                <a:cs typeface="Georgia" pitchFamily="34" charset="-120"/>
              </a:rPr>
              <a:t>resulting in boring lessons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Observation: </a:t>
            </a:r>
            <a:pPr indent="0" marL="0">
              <a:buNone/>
            </a:pPr>
            <a:r>
              <a:rPr lang="en-US" sz="2200" dirty="0">
                <a:solidFill>
                  <a:srgbClr val="3C3828"/>
                </a:solidFill>
                <a:latin typeface="Calibri" pitchFamily="34" charset="0"/>
                <a:ea typeface="Calibri" pitchFamily="34" charset="-122"/>
                <a:cs typeface="Calibri" pitchFamily="34" charset="-120"/>
              </a:rPr>
              <a:t>teacher training programs do not emphasize creative design in lesson plans</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Analysis: </a:t>
            </a:r>
            <a:pPr indent="0" marL="0">
              <a:buNone/>
            </a:pPr>
            <a:r>
              <a:rPr lang="en-US" sz="2200" dirty="0">
                <a:solidFill>
                  <a:srgbClr val="3C3828"/>
                </a:solidFill>
                <a:latin typeface="Calibri" pitchFamily="34" charset="0"/>
                <a:ea typeface="Calibri" pitchFamily="34" charset="-122"/>
                <a:cs typeface="Calibri" pitchFamily="34" charset="-120"/>
              </a:rPr>
              <a:t>teachers fail to understand their role as entertainers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Analysis: </a:t>
            </a:r>
            <a:pPr indent="0" marL="0">
              <a:buNone/>
            </a:pPr>
            <a:r>
              <a:rPr lang="en-US" sz="2200" dirty="0">
                <a:solidFill>
                  <a:srgbClr val="3C3828"/>
                </a:solidFill>
                <a:latin typeface="Calibri" pitchFamily="34" charset="0"/>
                <a:ea typeface="Calibri" pitchFamily="34" charset="-122"/>
                <a:cs typeface="Calibri" pitchFamily="34" charset="-120"/>
              </a:rPr>
              <a:t>resulting in boring lessons</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WHOA</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WHOA, DID YOU SEE THAT??????</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thumbs.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(How that lame thesis statement from before just became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kind of awesome?</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Write a Thesis Statement</dc:title>
  <dc:subject>Thesis-Driven Essay · Lesson 3</dc:subject>
  <dc:creator>PptxGenJS</dc:creator>
  <cp:lastModifiedBy>PptxGenJS</cp:lastModifiedBy>
  <cp:revision>1</cp:revision>
  <dcterms:created xsi:type="dcterms:W3CDTF">2026-10-12T22:50:30Z</dcterms:created>
  <dcterms:modified xsi:type="dcterms:W3CDTF">2026-10-12T22:50:30Z</dcterms:modified>
</cp:coreProperties>
</file>