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their memories: what this assignment is and why we are here, especially for anyone who was out on Day 1. If you can, teach these lessons on consecutive days; the momentum and focus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reset of the big picture. Pre-writing is all about critical thinking: it is messy and stream of consciousness, and it gets cleaner and more specific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"What’s Going On in This Picture?" Ask only what they SEE, not yet what they think is happening. Students can list quietly (a great way to settle a room) or call things out. Point at each detail on the board as it is named and push for more: what is the man on the bike wearing? Which way is he looking? Every student talking about the picture is a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observation is exhausted, move to analysis: what do they think is happening? Let every theory run; never shut down a student who is engaging. Use the questions to go deeper. Deliveries suggest a morning rush, the shopping bag suggests midday. The cars and clothes put us in the past. Some will spot Paris; hold the reveal. Notice together that nobody seems to be helping the man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title and the photographer. This is nearly all we know: a real moment on a real street. Point out that the class just did exactly what a critical essay does: noticed details, asked questions, and built 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or have a student read it. Then break it down: what exactly is it asking? What counts as a community? What are you allowed to use as evidence? The key question: what kind of essay is this? A one-paragraph response? No: introduction, thesis statement, body paragraphs, and a conclusion. Optional: ask for a few first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one (with your own book) if the essay is about a text. Students will ask, "Can we really write about anything in the book?" Yes. Narrow prompts produce a hundred near-identical essays nobody cares about; open prompts let students write about what matters to them. Keep a few specific prompts in your pocket for students who want more direction. Delete whichever prompt slide you are not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they feel when they first read a prompt: anxious? overwhelmed? confused? excited? It can feel like a lot. Tell them you are going to show them a practical process for getting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form top to bottom. Then ask: should we just open a document and start the introduction? No, because we don’t know exactly what we are saying yet. Which part matters most? The thesis statement, because it is what the essay is about. The handout version of this form is in the Day 1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gives the whole essay direction and focus, so we cannot write the essay until we have it. Land on the question that sets up today: but how do you develop a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step of the process and the writing activity for today. Developing a thesis takes time, and it begins with critical thinking: figuring out what we think about a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did this today with the photo: they noticed, asked, answered, and built a theory. Pre-writing is the same move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Movie example: ask the class for a movie in theaters and use a real student as Student A. "I loved it!" Why? "Because it was awesome." Why? "Because I loved it." They know how they feel but can’t say why; that is not analysis yet. Same for "I hated it." Then the 5-year-old who asks why about everything: be that kid. Critical thinking turns opinions into smart, scholarly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and point at the questions in colour. Each answer earns a new question, and the writer ends somewhere much more specific than where they started: from "they’re amazing" to fatherhood. That ending is a possible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one example or both. Explain the process they are about to go through in detail: write, ask yourself a question, answer it,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their Day 1 draft under My Documents; its tag shows the step it is on. Before they start, check every student is on the Pre-Writing step, not in a new document. Ask if there are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today’s YAWP! editor with a sample pre-write in it. Point to each part of the screen: the Tutor’s pre-writing instructions, the assignment prompt above the page, comments on the right. If you can, project your own screen with a student document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used the book prompt, change this to: identify a specific aspect of the book you will talk about in your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worry about grammar, syntax, or organization. Don’t edit as you go; just get it all out. Pre-writing is a purge: opinions, reactions, ideas, anything goes. The more you write at this stage, the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room. After a few minutes, ask individual students if you can quickly read their work. Check in with anyone who isn’t writing. Give positive and constructive feedback. At about five minutes, have them read over what they wrote and ask the Tutor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always a good idea to read over what you just wrote. Some of it may be messy, but some moments will stand out." The Tutor helps each student find their diamonds, choose one, and pre-write on it. Give them time: each round gets more specific, until the Tutor wraps up the pre-writing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individual students to read each point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as they pack up. Next lesson they turn today’s diamond into a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2</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Pre-Writing</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Finding what you actually want to say</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WHY WE’RE HERE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are we doing here?</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Text 5"/>
          <p:cNvSpPr/>
          <p:nvPr/>
        </p:nvSpPr>
        <p:spPr>
          <a:xfrm>
            <a:off x="685800" y="1920240"/>
            <a:ext cx="10820095" cy="86868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Over the course of our sessions, you will learn how to write a </a:t>
            </a:r>
            <a:pPr indent="0" marL="0">
              <a:buNone/>
            </a:pPr>
            <a:r>
              <a:rPr lang="en-US" sz="2200" dirty="0">
                <a:solidFill>
                  <a:srgbClr val="3C3828"/>
                </a:solidFill>
                <a:highlight>
                  <a:srgbClr val="FFE14D"/>
                </a:highlight>
                <a:latin typeface="Calibri" pitchFamily="34" charset="0"/>
                <a:ea typeface="Calibri" pitchFamily="34" charset="-122"/>
                <a:cs typeface="Calibri" pitchFamily="34" charset="-120"/>
              </a:rPr>
              <a:t>thoughtful, original, critical essay.</a:t>
            </a:r>
            <a:pPr indent="0" marL="0">
              <a:buNone/>
            </a:pPr>
            <a:r>
              <a:rPr lang="en-US" sz="2200" dirty="0">
                <a:solidFill>
                  <a:srgbClr val="3C3828"/>
                </a:solidFill>
                <a:latin typeface="Calibri" pitchFamily="34" charset="0"/>
                <a:ea typeface="Calibri" pitchFamily="34" charset="-122"/>
                <a:cs typeface="Calibri" pitchFamily="34" charset="-120"/>
              </a:rPr>
              <a:t> To do that, we will:</a:t>
            </a:r>
            <a:endParaRPr lang="en-US" sz="2200" dirty="0"/>
          </a:p>
        </p:txBody>
      </p:sp>
      <p:sp>
        <p:nvSpPr>
          <p:cNvPr id="9" name="Shape 6"/>
          <p:cNvSpPr/>
          <p:nvPr/>
        </p:nvSpPr>
        <p:spPr>
          <a:xfrm>
            <a:off x="685800"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7"/>
          <p:cNvSpPr/>
          <p:nvPr/>
        </p:nvSpPr>
        <p:spPr>
          <a:xfrm>
            <a:off x="813816" y="2971800"/>
            <a:ext cx="3137306" cy="91440"/>
          </a:xfrm>
          <a:prstGeom prst="rect">
            <a:avLst/>
          </a:prstGeom>
          <a:solidFill>
            <a:srgbClr val="FFB600"/>
          </a:solidFill>
          <a:ln w="12700">
            <a:solidFill>
              <a:srgbClr val="FFB600"/>
            </a:solidFill>
            <a:prstDash val="solid"/>
          </a:ln>
        </p:spPr>
      </p:sp>
      <p:sp>
        <p:nvSpPr>
          <p:cNvPr id="11" name="Shape 8"/>
          <p:cNvSpPr/>
          <p:nvPr/>
        </p:nvSpPr>
        <p:spPr>
          <a:xfrm>
            <a:off x="1005840" y="3337560"/>
            <a:ext cx="731520" cy="731520"/>
          </a:xfrm>
          <a:prstGeom prst="ellipse">
            <a:avLst/>
          </a:prstGeom>
          <a:solidFill>
            <a:srgbClr val="FFB600"/>
          </a:solidFill>
          <a:ln w="12700">
            <a:solidFill>
              <a:srgbClr val="FFB600"/>
            </a:solidFill>
            <a:prstDash val="solid"/>
          </a:ln>
        </p:spPr>
      </p:sp>
      <p:sp>
        <p:nvSpPr>
          <p:cNvPr id="12" name="Text 9"/>
          <p:cNvSpPr/>
          <p:nvPr/>
        </p:nvSpPr>
        <p:spPr>
          <a:xfrm>
            <a:off x="1005840"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3" name="Text 10"/>
          <p:cNvSpPr/>
          <p:nvPr/>
        </p:nvSpPr>
        <p:spPr>
          <a:xfrm>
            <a:off x="1005840"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Analyze and discuss our opinions about the topic</a:t>
            </a:r>
            <a:endParaRPr lang="en-US" sz="2600" dirty="0"/>
          </a:p>
        </p:txBody>
      </p:sp>
      <p:sp>
        <p:nvSpPr>
          <p:cNvPr id="14" name="Shape 11"/>
          <p:cNvSpPr/>
          <p:nvPr/>
        </p:nvSpPr>
        <p:spPr>
          <a:xfrm>
            <a:off x="4399178"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4527194" y="2971800"/>
            <a:ext cx="3137306" cy="91440"/>
          </a:xfrm>
          <a:prstGeom prst="rect">
            <a:avLst/>
          </a:prstGeom>
          <a:solidFill>
            <a:srgbClr val="FC4540"/>
          </a:solidFill>
          <a:ln w="12700">
            <a:solidFill>
              <a:srgbClr val="FC4540"/>
            </a:solidFill>
            <a:prstDash val="solid"/>
          </a:ln>
        </p:spPr>
      </p:sp>
      <p:sp>
        <p:nvSpPr>
          <p:cNvPr id="16" name="Shape 13"/>
          <p:cNvSpPr/>
          <p:nvPr/>
        </p:nvSpPr>
        <p:spPr>
          <a:xfrm>
            <a:off x="4719218" y="3337560"/>
            <a:ext cx="731520" cy="731520"/>
          </a:xfrm>
          <a:prstGeom prst="ellipse">
            <a:avLst/>
          </a:prstGeom>
          <a:solidFill>
            <a:srgbClr val="FC4540"/>
          </a:solidFill>
          <a:ln w="12700">
            <a:solidFill>
              <a:srgbClr val="FC4540"/>
            </a:solidFill>
            <a:prstDash val="solid"/>
          </a:ln>
        </p:spPr>
      </p:sp>
      <p:sp>
        <p:nvSpPr>
          <p:cNvPr id="17" name="Text 14"/>
          <p:cNvSpPr/>
          <p:nvPr/>
        </p:nvSpPr>
        <p:spPr>
          <a:xfrm>
            <a:off x="4719218"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8" name="Text 15"/>
          <p:cNvSpPr/>
          <p:nvPr/>
        </p:nvSpPr>
        <p:spPr>
          <a:xfrm>
            <a:off x="4719218"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Learn a writing process</a:t>
            </a:r>
            <a:endParaRPr lang="en-US" sz="2600" dirty="0"/>
          </a:p>
        </p:txBody>
      </p:sp>
      <p:sp>
        <p:nvSpPr>
          <p:cNvPr id="19" name="Shape 16"/>
          <p:cNvSpPr/>
          <p:nvPr/>
        </p:nvSpPr>
        <p:spPr>
          <a:xfrm>
            <a:off x="8112557"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0" name="Shape 17"/>
          <p:cNvSpPr/>
          <p:nvPr/>
        </p:nvSpPr>
        <p:spPr>
          <a:xfrm>
            <a:off x="8240573" y="2971800"/>
            <a:ext cx="3137306" cy="91440"/>
          </a:xfrm>
          <a:prstGeom prst="rect">
            <a:avLst/>
          </a:prstGeom>
          <a:solidFill>
            <a:srgbClr val="FF9755"/>
          </a:solidFill>
          <a:ln w="12700">
            <a:solidFill>
              <a:srgbClr val="FF9755"/>
            </a:solidFill>
            <a:prstDash val="solid"/>
          </a:ln>
        </p:spPr>
      </p:sp>
      <p:sp>
        <p:nvSpPr>
          <p:cNvPr id="21" name="Shape 18"/>
          <p:cNvSpPr/>
          <p:nvPr/>
        </p:nvSpPr>
        <p:spPr>
          <a:xfrm>
            <a:off x="8432597" y="3337560"/>
            <a:ext cx="731520" cy="731520"/>
          </a:xfrm>
          <a:prstGeom prst="ellipse">
            <a:avLst/>
          </a:prstGeom>
          <a:solidFill>
            <a:srgbClr val="FF9755"/>
          </a:solidFill>
          <a:ln w="12700">
            <a:solidFill>
              <a:srgbClr val="FF9755"/>
            </a:solidFill>
            <a:prstDash val="solid"/>
          </a:ln>
        </p:spPr>
      </p:sp>
      <p:sp>
        <p:nvSpPr>
          <p:cNvPr id="22" name="Text 19"/>
          <p:cNvSpPr/>
          <p:nvPr/>
        </p:nvSpPr>
        <p:spPr>
          <a:xfrm>
            <a:off x="8432597"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3" name="Text 20"/>
          <p:cNvSpPr/>
          <p:nvPr/>
        </p:nvSpPr>
        <p:spPr>
          <a:xfrm>
            <a:off x="8432597"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Write a lot</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 · OBSERVE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Look at this picture.</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ey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6301483"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home/user/yawp/services/web-app/scripts/thesis-essay-decks/assets/fallen-man.jpg">    </p:cNvPr>
          <p:cNvPicPr>
            <a:picLocks noChangeAspect="1"/>
          </p:cNvPicPr>
          <p:nvPr/>
        </p:nvPicPr>
        <p:blipFill>
          <a:blip r:embed="rId2"/>
          <a:stretch>
            <a:fillRect/>
          </a:stretch>
        </p:blipFill>
        <p:spPr>
          <a:xfrm>
            <a:off x="813816" y="2048256"/>
            <a:ext cx="6045451" cy="3950208"/>
          </a:xfrm>
          <a:prstGeom prst="rect">
            <a:avLst/>
          </a:prstGeom>
        </p:spPr>
      </p:pic>
      <p:sp>
        <p:nvSpPr>
          <p:cNvPr id="10" name="Text 6"/>
          <p:cNvSpPr/>
          <p:nvPr/>
        </p:nvSpPr>
        <p:spPr>
          <a:xfrm>
            <a:off x="7490203" y="1965960"/>
            <a:ext cx="4015692"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What do you see?</a:t>
            </a:r>
            <a:endParaRPr lang="en-US" sz="4000" dirty="0"/>
          </a:p>
          <a:p>
            <a:pPr indent="0" marL="0">
              <a:spcAft>
                <a:spcPts val="1400"/>
              </a:spcAft>
              <a:buNone/>
            </a:pPr>
            <a:r>
              <a:rPr lang="en-US" sz="2000" dirty="0">
                <a:solidFill>
                  <a:srgbClr val="7E7C78"/>
                </a:solidFill>
                <a:latin typeface="Calibri" pitchFamily="34" charset="0"/>
                <a:ea typeface="Calibri" pitchFamily="34" charset="-122"/>
                <a:cs typeface="Calibri" pitchFamily="34" charset="-120"/>
              </a:rPr>
              <a:t>Just the details. List as many as you can.</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WARM-UP · ANALYZE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has happened here?</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6301483"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home/user/yawp/services/web-app/scripts/thesis-essay-decks/assets/fallen-man.jpg">    </p:cNvPr>
          <p:cNvPicPr>
            <a:picLocks noChangeAspect="1"/>
          </p:cNvPicPr>
          <p:nvPr/>
        </p:nvPicPr>
        <p:blipFill>
          <a:blip r:embed="rId2"/>
          <a:stretch>
            <a:fillRect/>
          </a:stretch>
        </p:blipFill>
        <p:spPr>
          <a:xfrm>
            <a:off x="813816" y="2048256"/>
            <a:ext cx="6045451" cy="3950208"/>
          </a:xfrm>
          <a:prstGeom prst="rect">
            <a:avLst/>
          </a:prstGeom>
        </p:spPr>
      </p:pic>
      <p:sp>
        <p:nvSpPr>
          <p:cNvPr id="10" name="Shape 6"/>
          <p:cNvSpPr/>
          <p:nvPr/>
        </p:nvSpPr>
        <p:spPr>
          <a:xfrm>
            <a:off x="7490203" y="2288286"/>
            <a:ext cx="384048" cy="384048"/>
          </a:xfrm>
          <a:prstGeom prst="ellipse">
            <a:avLst/>
          </a:prstGeom>
          <a:solidFill>
            <a:srgbClr val="FC4540"/>
          </a:solidFill>
          <a:ln w="12700">
            <a:solidFill>
              <a:srgbClr val="FC4540"/>
            </a:solidFill>
            <a:prstDash val="solid"/>
          </a:ln>
        </p:spPr>
      </p:sp>
      <p:sp>
        <p:nvSpPr>
          <p:cNvPr id="11" name="Text 7"/>
          <p:cNvSpPr/>
          <p:nvPr/>
        </p:nvSpPr>
        <p:spPr>
          <a:xfrm>
            <a:off x="8057131" y="19659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What time of day is it?</a:t>
            </a:r>
            <a:endParaRPr lang="en-US" sz="2400" dirty="0"/>
          </a:p>
        </p:txBody>
      </p:sp>
      <p:sp>
        <p:nvSpPr>
          <p:cNvPr id="12" name="Shape 8"/>
          <p:cNvSpPr/>
          <p:nvPr/>
        </p:nvSpPr>
        <p:spPr>
          <a:xfrm>
            <a:off x="7490203" y="3316986"/>
            <a:ext cx="384048" cy="384048"/>
          </a:xfrm>
          <a:prstGeom prst="ellipse">
            <a:avLst/>
          </a:prstGeom>
          <a:solidFill>
            <a:srgbClr val="FF9755"/>
          </a:solidFill>
          <a:ln w="12700">
            <a:solidFill>
              <a:srgbClr val="FF9755"/>
            </a:solidFill>
            <a:prstDash val="solid"/>
          </a:ln>
        </p:spPr>
      </p:sp>
      <p:sp>
        <p:nvSpPr>
          <p:cNvPr id="13" name="Text 9"/>
          <p:cNvSpPr/>
          <p:nvPr/>
        </p:nvSpPr>
        <p:spPr>
          <a:xfrm>
            <a:off x="8057131" y="29946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Where might this be?</a:t>
            </a:r>
            <a:endParaRPr lang="en-US" sz="2400" dirty="0"/>
          </a:p>
        </p:txBody>
      </p:sp>
      <p:sp>
        <p:nvSpPr>
          <p:cNvPr id="14" name="Shape 10"/>
          <p:cNvSpPr/>
          <p:nvPr/>
        </p:nvSpPr>
        <p:spPr>
          <a:xfrm>
            <a:off x="7490203" y="4345686"/>
            <a:ext cx="384048" cy="384048"/>
          </a:xfrm>
          <a:prstGeom prst="ellipse">
            <a:avLst/>
          </a:prstGeom>
          <a:solidFill>
            <a:srgbClr val="FC4067"/>
          </a:solidFill>
          <a:ln w="12700">
            <a:solidFill>
              <a:srgbClr val="FC4067"/>
            </a:solidFill>
            <a:prstDash val="solid"/>
          </a:ln>
        </p:spPr>
      </p:sp>
      <p:sp>
        <p:nvSpPr>
          <p:cNvPr id="15" name="Text 11"/>
          <p:cNvSpPr/>
          <p:nvPr/>
        </p:nvSpPr>
        <p:spPr>
          <a:xfrm>
            <a:off x="8057131" y="40233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When in history are we?</a:t>
            </a:r>
            <a:endParaRPr lang="en-US" sz="2400" dirty="0"/>
          </a:p>
        </p:txBody>
      </p:sp>
      <p:sp>
        <p:nvSpPr>
          <p:cNvPr id="16" name="Shape 12"/>
          <p:cNvSpPr/>
          <p:nvPr/>
        </p:nvSpPr>
        <p:spPr>
          <a:xfrm>
            <a:off x="7490203" y="5374386"/>
            <a:ext cx="384048" cy="384048"/>
          </a:xfrm>
          <a:prstGeom prst="ellipse">
            <a:avLst/>
          </a:prstGeom>
          <a:solidFill>
            <a:srgbClr val="02BDC7"/>
          </a:solidFill>
          <a:ln w="12700">
            <a:solidFill>
              <a:srgbClr val="02BDC7"/>
            </a:solidFill>
            <a:prstDash val="solid"/>
          </a:ln>
        </p:spPr>
      </p:sp>
      <p:sp>
        <p:nvSpPr>
          <p:cNvPr id="17" name="Text 13"/>
          <p:cNvSpPr/>
          <p:nvPr/>
        </p:nvSpPr>
        <p:spPr>
          <a:xfrm>
            <a:off x="8057131" y="5052060"/>
            <a:ext cx="3448764" cy="1028700"/>
          </a:xfrm>
          <a:prstGeom prst="rect">
            <a:avLst/>
          </a:prstGeom>
          <a:noFill/>
          <a:ln/>
        </p:spPr>
        <p:txBody>
          <a:bodyPr wrap="square" lIns="0" tIns="0" rIns="0" bIns="0" rtlCol="0" anchor="ctr"/>
          <a:lstStyle/>
          <a:p>
            <a:pPr indent="0" marL="0">
              <a:buNone/>
            </a:pPr>
            <a:r>
              <a:rPr lang="en-US" sz="2400" dirty="0">
                <a:solidFill>
                  <a:srgbClr val="3C3828"/>
                </a:solidFill>
                <a:latin typeface="Georgia" pitchFamily="34" charset="0"/>
                <a:ea typeface="Georgia" pitchFamily="34" charset="-122"/>
                <a:cs typeface="Georgia" pitchFamily="34" charset="-120"/>
              </a:rPr>
              <a:t>What is anyone feeling?</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Fallen Man, Paris, France, 1967</a:t>
            </a:r>
            <a:endParaRPr lang="en-US" sz="3600" dirty="0"/>
          </a:p>
        </p:txBody>
      </p:sp>
      <p:sp>
        <p:nvSpPr>
          <p:cNvPr id="4" name="Shape 2"/>
          <p:cNvSpPr/>
          <p:nvPr/>
        </p:nvSpPr>
        <p:spPr>
          <a:xfrm>
            <a:off x="685800" y="1920240"/>
            <a:ext cx="7391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7135063" cy="91440"/>
          </a:xfrm>
          <a:prstGeom prst="rect">
            <a:avLst/>
          </a:prstGeom>
          <a:solidFill>
            <a:srgbClr val="FFB600"/>
          </a:solidFill>
          <a:ln w="12700">
            <a:solidFill>
              <a:srgbClr val="FFB600"/>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FFB600"/>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5790895" cy="2880360"/>
          </a:xfrm>
          <a:prstGeom prst="rect">
            <a:avLst/>
          </a:prstGeom>
          <a:noFill/>
          <a:ln/>
        </p:spPr>
        <p:txBody>
          <a:bodyPr wrap="square" lIns="0" tIns="0" rIns="0" bIns="0" rtlCol="0" anchor="ctr"/>
          <a:lstStyle/>
          <a:p>
            <a:pPr indent="0" marL="0">
              <a:lnSpc>
                <a:spcPct val="120000"/>
              </a:lnSpc>
              <a:buNone/>
            </a:pPr>
            <a:r>
              <a:rPr lang="en-US" sz="1900" i="1" dirty="0">
                <a:solidFill>
                  <a:srgbClr val="3C3828"/>
                </a:solidFill>
                <a:latin typeface="Georgia" pitchFamily="34" charset="0"/>
                <a:ea typeface="Georgia" pitchFamily="34" charset="-122"/>
                <a:cs typeface="Georgia" pitchFamily="34" charset="-120"/>
              </a:rPr>
              <a:t>I was out on the Right Bank just strolling… and came to this Metro stop and noticed a crowd and a man down, and as I inserted myself into the space to get closer, this worker with the hammer came quickly around the pole to make his way to some construction going on behind me, and BOOM! as he stepped over the man it all came together…</a:t>
            </a:r>
            <a:endParaRPr lang="en-US" sz="1900" dirty="0"/>
          </a:p>
        </p:txBody>
      </p:sp>
      <p:sp>
        <p:nvSpPr>
          <p:cNvPr id="8" name="Text 6"/>
          <p:cNvSpPr/>
          <p:nvPr/>
        </p:nvSpPr>
        <p:spPr>
          <a:xfrm>
            <a:off x="1828800" y="5349240"/>
            <a:ext cx="5790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Joel Meyerowitz, street photographer</a:t>
            </a:r>
            <a:endParaRPr lang="en-US" sz="1800" dirty="0"/>
          </a:p>
        </p:txBody>
      </p:sp>
      <p:sp>
        <p:nvSpPr>
          <p:cNvPr id="9" name="Shape 7"/>
          <p:cNvSpPr/>
          <p:nvPr/>
        </p:nvSpPr>
        <p:spPr>
          <a:xfrm>
            <a:off x="8488375" y="3016263"/>
            <a:ext cx="3017520" cy="2014195"/>
          </a:xfrm>
          <a:prstGeom prst="roundRect">
            <a:avLst>
              <a:gd name="adj" fmla="val 6356"/>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10" name="Image 0" descr="/home/user/yawp/services/web-app/scripts/thesis-essay-decks/assets/fallen-man.jpg">    </p:cNvPr>
          <p:cNvPicPr>
            <a:picLocks noChangeAspect="1"/>
          </p:cNvPicPr>
          <p:nvPr/>
        </p:nvPicPr>
        <p:blipFill>
          <a:blip r:embed="rId1"/>
          <a:stretch>
            <a:fillRect/>
          </a:stretch>
        </p:blipFill>
        <p:spPr>
          <a:xfrm>
            <a:off x="8616391" y="3144279"/>
            <a:ext cx="2761488" cy="1758163"/>
          </a:xfrm>
          <a:prstGeom prst="rect">
            <a:avLst/>
          </a:prstGeom>
        </p:spPr>
      </p:pic>
      <p:sp>
        <p:nvSpPr>
          <p:cNvPr id="11" name="Shape 8"/>
          <p:cNvSpPr/>
          <p:nvPr/>
        </p:nvSpPr>
        <p:spPr>
          <a:xfrm>
            <a:off x="10820095" y="2604783"/>
            <a:ext cx="777240" cy="777240"/>
          </a:xfrm>
          <a:prstGeom prst="ellipse">
            <a:avLst/>
          </a:prstGeom>
          <a:solidFill>
            <a:srgbClr val="02BDC7"/>
          </a:solidFill>
          <a:ln w="12700">
            <a:solidFill>
              <a:srgbClr val="02BDC7"/>
            </a:solidFill>
            <a:prstDash val="solid"/>
          </a:ln>
        </p:spPr>
      </p:sp>
      <p:pic>
        <p:nvPicPr>
          <p:cNvPr id="12" name="Image 1" descr="/home/user/yawp/services/web-app/scripts/thesis-essay-decks/assets/icons/eye.png">    </p:cNvPr>
          <p:cNvPicPr>
            <a:picLocks noChangeAspect="1"/>
          </p:cNvPicPr>
          <p:nvPr/>
        </p:nvPicPr>
        <p:blipFill>
          <a:blip r:embed="rId2"/>
          <a:stretch>
            <a:fillRect/>
          </a:stretch>
        </p:blipFill>
        <p:spPr>
          <a:xfrm>
            <a:off x="10975543" y="2760231"/>
            <a:ext cx="466344" cy="466344"/>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PROMPT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essay prompt</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267712"/>
            <a:ext cx="3840480" cy="420624"/>
          </a:xfrm>
          <a:prstGeom prst="roundRect">
            <a:avLst>
              <a:gd name="adj" fmla="val 50000"/>
            </a:avLst>
          </a:prstGeom>
          <a:solidFill>
            <a:srgbClr val="02BDC7"/>
          </a:solidFill>
          <a:ln w="12700">
            <a:solidFill>
              <a:srgbClr val="02BDC7"/>
            </a:solidFill>
            <a:prstDash val="solid"/>
          </a:ln>
        </p:spPr>
      </p:sp>
      <p:sp>
        <p:nvSpPr>
          <p:cNvPr id="11" name="Text 8"/>
          <p:cNvSpPr/>
          <p:nvPr/>
        </p:nvSpPr>
        <p:spPr>
          <a:xfrm>
            <a:off x="1097280" y="226771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OPTION A · YOUR COMMUNITY</a:t>
            </a:r>
            <a:endParaRPr lang="en-US" sz="1200" dirty="0"/>
          </a:p>
        </p:txBody>
      </p:sp>
      <p:sp>
        <p:nvSpPr>
          <p:cNvPr id="12" name="Text 9"/>
          <p:cNvSpPr/>
          <p:nvPr/>
        </p:nvSpPr>
        <p:spPr>
          <a:xfrm>
            <a:off x="1097280" y="2834640"/>
            <a:ext cx="9997135" cy="3063240"/>
          </a:xfrm>
          <a:prstGeom prst="rect">
            <a:avLst/>
          </a:prstGeom>
          <a:noFill/>
          <a:ln/>
        </p:spPr>
        <p:txBody>
          <a:bodyPr wrap="square" lIns="0" tIns="0" rIns="0" bIns="0" rtlCol="0" anchor="t"/>
          <a:lstStyle/>
          <a:p>
            <a:pPr indent="0" marL="0">
              <a:lnSpc>
                <a:spcPct val="120000"/>
              </a:lnSpc>
              <a:buNone/>
            </a:pPr>
            <a:r>
              <a:rPr lang="en-US" sz="1900" dirty="0">
                <a:solidFill>
                  <a:srgbClr val="3C3828"/>
                </a:solidFill>
                <a:latin typeface="Georgia" pitchFamily="34" charset="0"/>
                <a:ea typeface="Georgia" pitchFamily="34" charset="-122"/>
                <a:cs typeface="Georgia" pitchFamily="34" charset="-120"/>
              </a:rPr>
              <a:t>Write an essay about </a:t>
            </a:r>
            <a:pPr indent="0" marL="0">
              <a:lnSpc>
                <a:spcPct val="120000"/>
              </a:lnSpc>
              <a:buNone/>
            </a:pPr>
            <a:r>
              <a:rPr lang="en-US" sz="1900" dirty="0">
                <a:solidFill>
                  <a:srgbClr val="3C3828"/>
                </a:solidFill>
                <a:highlight>
                  <a:srgbClr val="FFE14D"/>
                </a:highlight>
                <a:latin typeface="Georgia" pitchFamily="34" charset="0"/>
                <a:ea typeface="Georgia" pitchFamily="34" charset="-122"/>
                <a:cs typeface="Georgia" pitchFamily="34" charset="-120"/>
              </a:rPr>
              <a:t>a problem in your community</a:t>
            </a:r>
            <a:pPr indent="0" marL="0">
              <a:lnSpc>
                <a:spcPct val="120000"/>
              </a:lnSpc>
              <a:buNone/>
            </a:pPr>
            <a:r>
              <a:rPr lang="en-US" sz="1900" dirty="0">
                <a:solidFill>
                  <a:srgbClr val="3C3828"/>
                </a:solidFill>
                <a:latin typeface="Georgia" pitchFamily="34" charset="0"/>
                <a:ea typeface="Georgia" pitchFamily="34" charset="-122"/>
                <a:cs typeface="Georgia" pitchFamily="34" charset="-120"/>
              </a:rPr>
              <a:t> and how we might solve it. “Community” might refer to your neighborhood, school, grade, city, state, country, age group, race, gender, or any other group you belong to. Your essay can focus on any problems that you see or feel. Use your personal experience and observations to develop your position, and evidence from your own experience to support your ideas. How do you propose we solve this problem? Your essay should be organized formally, with </a:t>
            </a:r>
            <a:pPr indent="0" marL="0">
              <a:lnSpc>
                <a:spcPct val="120000"/>
              </a:lnSpc>
              <a:buNone/>
            </a:pPr>
            <a:r>
              <a:rPr lang="en-US" sz="1900" dirty="0">
                <a:solidFill>
                  <a:srgbClr val="3C3828"/>
                </a:solidFill>
                <a:highlight>
                  <a:srgbClr val="FFE14D"/>
                </a:highlight>
                <a:latin typeface="Georgia" pitchFamily="34" charset="0"/>
                <a:ea typeface="Georgia" pitchFamily="34" charset="-122"/>
                <a:cs typeface="Georgia" pitchFamily="34" charset="-120"/>
              </a:rPr>
              <a:t>an introduction, thesis statement, body paragraphs, and a conclusion.</a:t>
            </a:r>
            <a:endParaRPr lang="en-US" sz="19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THE PROMPT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essay prompt</a:t>
            </a:r>
            <a:endParaRPr lang="en-US" sz="36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267712"/>
            <a:ext cx="3840480" cy="420624"/>
          </a:xfrm>
          <a:prstGeom prst="roundRect">
            <a:avLst>
              <a:gd name="adj" fmla="val 50000"/>
            </a:avLst>
          </a:prstGeom>
          <a:solidFill>
            <a:srgbClr val="FF9755"/>
          </a:solidFill>
          <a:ln w="12700">
            <a:solidFill>
              <a:srgbClr val="FF9755"/>
            </a:solidFill>
            <a:prstDash val="solid"/>
          </a:ln>
        </p:spPr>
      </p:sp>
      <p:sp>
        <p:nvSpPr>
          <p:cNvPr id="11" name="Text 8"/>
          <p:cNvSpPr/>
          <p:nvPr/>
        </p:nvSpPr>
        <p:spPr>
          <a:xfrm>
            <a:off x="1097280" y="226771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OPTION B · A BOOK YOU’VE READ</a:t>
            </a:r>
            <a:endParaRPr lang="en-US" sz="1200" dirty="0"/>
          </a:p>
        </p:txBody>
      </p:sp>
      <p:sp>
        <p:nvSpPr>
          <p:cNvPr id="12" name="Text 9"/>
          <p:cNvSpPr/>
          <p:nvPr/>
        </p:nvSpPr>
        <p:spPr>
          <a:xfrm>
            <a:off x="1097280" y="2834640"/>
            <a:ext cx="9997135" cy="3063240"/>
          </a:xfrm>
          <a:prstGeom prst="rect">
            <a:avLst/>
          </a:prstGeom>
          <a:noFill/>
          <a:ln/>
        </p:spPr>
        <p:txBody>
          <a:bodyPr wrap="square" lIns="0" tIns="0" rIns="0" bIns="0" rtlCol="0" anchor="t"/>
          <a:lstStyle/>
          <a:p>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Write a critical essay about </a:t>
            </a:r>
            <a:pPr indent="0" marL="0">
              <a:lnSpc>
                <a:spcPct val="120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The Great Gatsby.</a:t>
            </a:r>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You can choose </a:t>
            </a:r>
            <a:pPr indent="0" marL="0">
              <a:lnSpc>
                <a:spcPct val="120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any aspect of the novel that interests you.</a:t>
            </a:r>
            <a:pPr indent="0" marL="0">
              <a:lnSpc>
                <a:spcPct val="120000"/>
              </a:lnSpc>
              <a:buNone/>
            </a:pPr>
            <a:r>
              <a:rPr lang="en-US" sz="2200" dirty="0">
                <a:solidFill>
                  <a:srgbClr val="3C3828"/>
                </a:solidFill>
                <a:latin typeface="Georgia" pitchFamily="34" charset="0"/>
                <a:ea typeface="Georgia" pitchFamily="34" charset="-122"/>
                <a:cs typeface="Georgia" pitchFamily="34" charset="-120"/>
              </a:rPr>
              <a:t> Consider the themes we’ve discussed, the characters, the settings, or anything you’ve noticed about the story that you think is worthy of discussion. Use your observations and opinions to develop your position, and quotations from the book to support your ideas. Your essay should be organized formally, with </a:t>
            </a:r>
            <a:pPr indent="0" marL="0">
              <a:lnSpc>
                <a:spcPct val="120000"/>
              </a:lnSpc>
              <a:buNone/>
            </a:pPr>
            <a:r>
              <a:rPr lang="en-US" sz="2200" dirty="0">
                <a:solidFill>
                  <a:srgbClr val="3C3828"/>
                </a:solidFill>
                <a:highlight>
                  <a:srgbClr val="FFE14D"/>
                </a:highlight>
                <a:latin typeface="Georgia" pitchFamily="34" charset="0"/>
                <a:ea typeface="Georgia" pitchFamily="34" charset="-122"/>
                <a:cs typeface="Georgia" pitchFamily="34" charset="-120"/>
              </a:rPr>
              <a:t>an introduction, thesis statement, body paragraphs, and a conclusion.</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GETTING STARTED</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So, how do you begin writing a critical essay?</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home/user/yawp/services/web-app/scripts/thesis-essay-decks/assets/icons/puzzle.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(Like the one we read together?)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Let’s look at the form…</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Critical Essay Form</a:t>
            </a:r>
            <a:endParaRPr lang="en-US" sz="3600" dirty="0"/>
          </a:p>
        </p:txBody>
      </p:sp>
      <p:sp>
        <p:nvSpPr>
          <p:cNvPr id="4" name="Shape 2"/>
          <p:cNvSpPr/>
          <p:nvPr/>
        </p:nvSpPr>
        <p:spPr>
          <a:xfrm>
            <a:off x="685800" y="1828800"/>
            <a:ext cx="3355277" cy="4343400"/>
          </a:xfrm>
          <a:prstGeom prst="roundRect">
            <a:avLst>
              <a:gd name="adj" fmla="val 381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home/user/yawp/services/web-app/scripts/thesis-essay-decks/assets/critical-essay-form.png">    </p:cNvPr>
          <p:cNvPicPr>
            <a:picLocks noChangeAspect="1"/>
          </p:cNvPicPr>
          <p:nvPr/>
        </p:nvPicPr>
        <p:blipFill>
          <a:blip r:embed="rId1"/>
          <a:stretch>
            <a:fillRect/>
          </a:stretch>
        </p:blipFill>
        <p:spPr>
          <a:xfrm>
            <a:off x="813816" y="1956816"/>
            <a:ext cx="3099245" cy="4087368"/>
          </a:xfrm>
          <a:prstGeom prst="rect">
            <a:avLst/>
          </a:prstGeom>
        </p:spPr>
      </p:pic>
      <p:sp>
        <p:nvSpPr>
          <p:cNvPr id="6" name="Shape 3"/>
          <p:cNvSpPr/>
          <p:nvPr/>
        </p:nvSpPr>
        <p:spPr>
          <a:xfrm>
            <a:off x="4589717" y="2231136"/>
            <a:ext cx="292608" cy="292608"/>
          </a:xfrm>
          <a:prstGeom prst="ellipse">
            <a:avLst/>
          </a:prstGeom>
          <a:solidFill>
            <a:srgbClr val="02BDC7"/>
          </a:solidFill>
          <a:ln w="12700">
            <a:solidFill>
              <a:srgbClr val="02BDC7"/>
            </a:solidFill>
            <a:prstDash val="solid"/>
          </a:ln>
        </p:spPr>
      </p:sp>
      <p:sp>
        <p:nvSpPr>
          <p:cNvPr id="7" name="Text 4"/>
          <p:cNvSpPr/>
          <p:nvPr/>
        </p:nvSpPr>
        <p:spPr>
          <a:xfrm>
            <a:off x="5065205" y="1965960"/>
            <a:ext cx="6440691" cy="82296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8" name="Shape 5"/>
          <p:cNvSpPr/>
          <p:nvPr/>
        </p:nvSpPr>
        <p:spPr>
          <a:xfrm>
            <a:off x="4589717" y="3054096"/>
            <a:ext cx="292608" cy="292608"/>
          </a:xfrm>
          <a:prstGeom prst="ellipse">
            <a:avLst/>
          </a:prstGeom>
          <a:solidFill>
            <a:srgbClr val="FFB600"/>
          </a:solidFill>
          <a:ln w="12700">
            <a:solidFill>
              <a:srgbClr val="FFB600"/>
            </a:solidFill>
            <a:prstDash val="solid"/>
          </a:ln>
        </p:spPr>
      </p:sp>
      <p:sp>
        <p:nvSpPr>
          <p:cNvPr id="9" name="Text 6"/>
          <p:cNvSpPr/>
          <p:nvPr/>
        </p:nvSpPr>
        <p:spPr>
          <a:xfrm>
            <a:off x="5065205" y="2788920"/>
            <a:ext cx="6440691" cy="822960"/>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pPr indent="0" marL="0">
              <a:buNone/>
            </a:pPr>
            <a:r>
              <a:rPr lang="en-US" sz="2400" dirty="0">
                <a:solidFill>
                  <a:srgbClr val="3C3828"/>
                </a:solidFill>
                <a:latin typeface="Calibri" pitchFamily="34" charset="0"/>
                <a:ea typeface="Calibri" pitchFamily="34" charset="-122"/>
                <a:cs typeface="Calibri" pitchFamily="34" charset="-120"/>
              </a:rPr>
              <a:t> ★</a:t>
            </a:r>
            <a:endParaRPr lang="en-US" sz="2400" dirty="0"/>
          </a:p>
        </p:txBody>
      </p:sp>
      <p:sp>
        <p:nvSpPr>
          <p:cNvPr id="10" name="Shape 7"/>
          <p:cNvSpPr/>
          <p:nvPr/>
        </p:nvSpPr>
        <p:spPr>
          <a:xfrm>
            <a:off x="4589717" y="3877056"/>
            <a:ext cx="292608" cy="292608"/>
          </a:xfrm>
          <a:prstGeom prst="ellipse">
            <a:avLst/>
          </a:prstGeom>
          <a:solidFill>
            <a:srgbClr val="FC4540"/>
          </a:solidFill>
          <a:ln w="12700">
            <a:solidFill>
              <a:srgbClr val="FC4540"/>
            </a:solidFill>
            <a:prstDash val="solid"/>
          </a:ln>
        </p:spPr>
      </p:sp>
      <p:sp>
        <p:nvSpPr>
          <p:cNvPr id="11" name="Text 8"/>
          <p:cNvSpPr/>
          <p:nvPr/>
        </p:nvSpPr>
        <p:spPr>
          <a:xfrm>
            <a:off x="5065205" y="3611880"/>
            <a:ext cx="6440691" cy="82296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Body paragraphs</a:t>
            </a:r>
            <a:endParaRPr lang="en-US" sz="2400" dirty="0"/>
          </a:p>
        </p:txBody>
      </p:sp>
      <p:sp>
        <p:nvSpPr>
          <p:cNvPr id="12" name="Shape 9"/>
          <p:cNvSpPr/>
          <p:nvPr/>
        </p:nvSpPr>
        <p:spPr>
          <a:xfrm>
            <a:off x="4589717" y="4700016"/>
            <a:ext cx="292608" cy="292608"/>
          </a:xfrm>
          <a:prstGeom prst="ellipse">
            <a:avLst/>
          </a:prstGeom>
          <a:solidFill>
            <a:srgbClr val="FF9755"/>
          </a:solidFill>
          <a:ln w="12700">
            <a:solidFill>
              <a:srgbClr val="FF9755"/>
            </a:solidFill>
            <a:prstDash val="solid"/>
          </a:ln>
        </p:spPr>
      </p:sp>
      <p:sp>
        <p:nvSpPr>
          <p:cNvPr id="13" name="Text 10"/>
          <p:cNvSpPr/>
          <p:nvPr/>
        </p:nvSpPr>
        <p:spPr>
          <a:xfrm>
            <a:off x="5065205" y="4434840"/>
            <a:ext cx="6440691" cy="82296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14" name="Shape 11"/>
          <p:cNvSpPr/>
          <p:nvPr/>
        </p:nvSpPr>
        <p:spPr>
          <a:xfrm>
            <a:off x="4589717" y="5522976"/>
            <a:ext cx="292608" cy="292608"/>
          </a:xfrm>
          <a:prstGeom prst="ellipse">
            <a:avLst/>
          </a:prstGeom>
          <a:solidFill>
            <a:srgbClr val="FC4067"/>
          </a:solidFill>
          <a:ln w="12700">
            <a:solidFill>
              <a:srgbClr val="FC4067"/>
            </a:solidFill>
            <a:prstDash val="solid"/>
          </a:ln>
        </p:spPr>
      </p:sp>
      <p:sp>
        <p:nvSpPr>
          <p:cNvPr id="15" name="Text 12"/>
          <p:cNvSpPr/>
          <p:nvPr/>
        </p:nvSpPr>
        <p:spPr>
          <a:xfrm>
            <a:off x="5065205" y="5257800"/>
            <a:ext cx="6440691" cy="82296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We never start by typing the introduction. Why?</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 MVP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Thesis statement = the MVP of your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FC4540"/>
          </a:solidFill>
          <a:ln w="12700">
            <a:solidFill>
              <a:srgbClr val="FC4540"/>
            </a:solidFill>
            <a:prstDash val="solid"/>
          </a:ln>
        </p:spPr>
      </p:sp>
      <p:sp>
        <p:nvSpPr>
          <p:cNvPr id="10" name="Shape 7"/>
          <p:cNvSpPr/>
          <p:nvPr/>
        </p:nvSpPr>
        <p:spPr>
          <a:xfrm>
            <a:off x="1005840" y="2331720"/>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Without it, your essay might be rambling and disorganized</a:t>
            </a:r>
            <a:endParaRPr lang="en-US" sz="26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331720"/>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Great thesis statements lead to great essays</a:t>
            </a:r>
            <a:endParaRPr lang="en-US" sz="26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331720"/>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highlight>
                  <a:srgbClr val="FFE14D"/>
                </a:highlight>
                <a:latin typeface="Calibri" pitchFamily="34" charset="0"/>
                <a:ea typeface="Calibri" pitchFamily="34" charset="-122"/>
                <a:cs typeface="Calibri" pitchFamily="34" charset="-120"/>
              </a:rPr>
              <a:t>Don’t ever start an essay until you know what you’re going to say!</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1</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5800" dirty="0">
                <a:solidFill>
                  <a:srgbClr val="3C3828"/>
                </a:solidFill>
                <a:highlight>
                  <a:srgbClr val="FFE14D"/>
                </a:highlight>
                <a:latin typeface="Georgia" pitchFamily="34" charset="0"/>
                <a:ea typeface="Georgia" pitchFamily="34" charset="-122"/>
                <a:cs typeface="Georgia" pitchFamily="34" charset="-120"/>
              </a:rPr>
              <a:t>Pre-Writing</a:t>
            </a:r>
            <a:endParaRPr lang="en-US" sz="58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But how do you develop a thesis statement?</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home/user/yawp/services/web-app/scripts/thesis-essay-decks/assets/icons/lightbulb.png">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home/user/yawp/services/web-app/scripts/thesis-essay-decks/assets/icons/puzzle.png">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home/user/yawp/services/web-app/scripts/thesis-essay-decks/assets/icons/thumbs.png">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WHY PRE-WRITE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problem, and the fix</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C4540"/>
          </a:solidFill>
          <a:ln w="12700">
            <a:solidFill>
              <a:srgbClr val="FC4540"/>
            </a:solidFill>
            <a:prstDash val="solid"/>
          </a:ln>
        </p:spPr>
      </p:sp>
      <p:sp>
        <p:nvSpPr>
          <p:cNvPr id="6" name="Shape 4"/>
          <p:cNvSpPr/>
          <p:nvPr/>
        </p:nvSpPr>
        <p:spPr>
          <a:xfrm>
            <a:off x="685800" y="2423160"/>
            <a:ext cx="5181448" cy="256032"/>
          </a:xfrm>
          <a:prstGeom prst="rect">
            <a:avLst/>
          </a:prstGeom>
          <a:solidFill>
            <a:srgbClr val="FC4540"/>
          </a:solidFill>
          <a:ln w="12700">
            <a:solidFill>
              <a:srgbClr val="FC454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PROBLEM</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Most people just start writing their essays without much understanding of what they’re actually going to say.</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This results in really rambling essays that may not make any sense at all (to you or the reader).</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SOLUTION: PRE-WRITING</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Take time before you write your essay to critically think about the prompt and to </a:t>
            </a:r>
            <a:pPr indent="0" marL="0">
              <a:lnSpc>
                <a:spcPct val="115000"/>
              </a:lnSpc>
              <a:buNone/>
            </a:pPr>
            <a:r>
              <a:rPr lang="en-US" sz="2100" dirty="0">
                <a:solidFill>
                  <a:srgbClr val="3C3828"/>
                </a:solidFill>
                <a:highlight>
                  <a:srgbClr val="FFE14D"/>
                </a:highlight>
                <a:latin typeface="Georgia" pitchFamily="34" charset="0"/>
                <a:ea typeface="Georgia" pitchFamily="34" charset="-122"/>
                <a:cs typeface="Georgia" pitchFamily="34" charset="-120"/>
              </a:rPr>
              <a:t>develop a thesis statement.</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This simple act will make the difference between a focused, effective essay and a big, hot mess.</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CRITICAL THINKING</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simply </a:t>
            </a:r>
            <a:pPr indent="0" marL="0">
              <a:buNone/>
            </a:pPr>
            <a:r>
              <a:rPr lang="en-US" sz="3000" dirty="0">
                <a:solidFill>
                  <a:srgbClr val="3C3828"/>
                </a:solidFill>
                <a:highlight>
                  <a:srgbClr val="FFE14D"/>
                </a:highlight>
                <a:latin typeface="Georgia" pitchFamily="34" charset="0"/>
                <a:ea typeface="Georgia" pitchFamily="34" charset="-122"/>
                <a:cs typeface="Georgia" pitchFamily="34" charset="-120"/>
              </a:rPr>
              <a:t>asking questions and seeking answers</a:t>
            </a:r>
            <a:pPr indent="0" marL="0">
              <a:buNone/>
            </a:pPr>
            <a:r>
              <a:rPr lang="en-US" sz="3000" dirty="0">
                <a:solidFill>
                  <a:srgbClr val="3C3828"/>
                </a:solidFill>
                <a:latin typeface="Georgia" pitchFamily="34" charset="0"/>
                <a:ea typeface="Georgia" pitchFamily="34" charset="-122"/>
                <a:cs typeface="Georgia" pitchFamily="34" charset="-120"/>
              </a:rPr>
              <a:t> about a topic.</a:t>
            </a:r>
            <a:endParaRPr lang="en-US" sz="3000" dirty="0"/>
          </a:p>
        </p:txBody>
      </p:sp>
      <p:sp>
        <p:nvSpPr>
          <p:cNvPr id="4" name="Shape 2"/>
          <p:cNvSpPr/>
          <p:nvPr/>
        </p:nvSpPr>
        <p:spPr>
          <a:xfrm>
            <a:off x="685800" y="2194560"/>
            <a:ext cx="5181448" cy="3886200"/>
          </a:xfrm>
          <a:prstGeom prst="roundRect">
            <a:avLst>
              <a:gd name="adj" fmla="val 329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2194560"/>
            <a:ext cx="5181448" cy="713232"/>
          </a:xfrm>
          <a:prstGeom prst="roundRect">
            <a:avLst>
              <a:gd name="adj" fmla="val 17949"/>
            </a:avLst>
          </a:prstGeom>
          <a:solidFill>
            <a:srgbClr val="FFB600"/>
          </a:solidFill>
          <a:ln w="12700">
            <a:solidFill>
              <a:srgbClr val="FFB600"/>
            </a:solidFill>
            <a:prstDash val="solid"/>
          </a:ln>
        </p:spPr>
      </p:sp>
      <p:sp>
        <p:nvSpPr>
          <p:cNvPr id="6" name="Shape 4"/>
          <p:cNvSpPr/>
          <p:nvPr/>
        </p:nvSpPr>
        <p:spPr>
          <a:xfrm>
            <a:off x="685800" y="2651760"/>
            <a:ext cx="5181448" cy="256032"/>
          </a:xfrm>
          <a:prstGeom prst="rect">
            <a:avLst/>
          </a:prstGeom>
          <a:solidFill>
            <a:srgbClr val="FFB600"/>
          </a:solidFill>
          <a:ln w="12700">
            <a:solidFill>
              <a:srgbClr val="FFB600"/>
            </a:solidFill>
            <a:prstDash val="solid"/>
          </a:ln>
        </p:spPr>
      </p:sp>
      <p:sp>
        <p:nvSpPr>
          <p:cNvPr id="7" name="Text 5"/>
          <p:cNvSpPr/>
          <p:nvPr/>
        </p:nvSpPr>
        <p:spPr>
          <a:xfrm>
            <a:off x="1051560" y="21945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3 FRIENDS GO SEE A MOVIE…</a:t>
            </a:r>
            <a:endParaRPr lang="en-US" sz="1500" dirty="0"/>
          </a:p>
        </p:txBody>
      </p:sp>
      <p:sp>
        <p:nvSpPr>
          <p:cNvPr id="8" name="Text 6"/>
          <p:cNvSpPr/>
          <p:nvPr/>
        </p:nvSpPr>
        <p:spPr>
          <a:xfrm>
            <a:off x="1051560" y="3154680"/>
            <a:ext cx="4449928" cy="26517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“I loved it!” Why? “Because it was awesome.” Why? “Because I loved it.”</a:t>
            </a:r>
            <a:endParaRPr lang="en-US" sz="2600" dirty="0"/>
          </a:p>
        </p:txBody>
      </p:sp>
      <p:sp>
        <p:nvSpPr>
          <p:cNvPr id="9" name="Shape 7"/>
          <p:cNvSpPr/>
          <p:nvPr/>
        </p:nvSpPr>
        <p:spPr>
          <a:xfrm>
            <a:off x="6324448" y="2194560"/>
            <a:ext cx="5181448" cy="3886200"/>
          </a:xfrm>
          <a:prstGeom prst="roundRect">
            <a:avLst>
              <a:gd name="adj" fmla="val 329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2194560"/>
            <a:ext cx="5181448" cy="713232"/>
          </a:xfrm>
          <a:prstGeom prst="roundRect">
            <a:avLst>
              <a:gd name="adj" fmla="val 17949"/>
            </a:avLst>
          </a:prstGeom>
          <a:solidFill>
            <a:srgbClr val="FC4067"/>
          </a:solidFill>
          <a:ln w="12700">
            <a:solidFill>
              <a:srgbClr val="FC4067"/>
            </a:solidFill>
            <a:prstDash val="solid"/>
          </a:ln>
        </p:spPr>
      </p:sp>
      <p:sp>
        <p:nvSpPr>
          <p:cNvPr id="11" name="Shape 9"/>
          <p:cNvSpPr/>
          <p:nvPr/>
        </p:nvSpPr>
        <p:spPr>
          <a:xfrm>
            <a:off x="6324448" y="2651760"/>
            <a:ext cx="5181448" cy="256032"/>
          </a:xfrm>
          <a:prstGeom prst="rect">
            <a:avLst/>
          </a:prstGeom>
          <a:solidFill>
            <a:srgbClr val="FC4067"/>
          </a:solidFill>
          <a:ln w="12700">
            <a:solidFill>
              <a:srgbClr val="FC4067"/>
            </a:solidFill>
            <a:prstDash val="solid"/>
          </a:ln>
        </p:spPr>
      </p:sp>
      <p:sp>
        <p:nvSpPr>
          <p:cNvPr id="12" name="Text 10"/>
          <p:cNvSpPr/>
          <p:nvPr/>
        </p:nvSpPr>
        <p:spPr>
          <a:xfrm>
            <a:off x="6690208" y="21945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THE 5-YEAR-OLD</a:t>
            </a:r>
            <a:endParaRPr lang="en-US" sz="1500" dirty="0"/>
          </a:p>
        </p:txBody>
      </p:sp>
      <p:sp>
        <p:nvSpPr>
          <p:cNvPr id="13" name="Text 11"/>
          <p:cNvSpPr/>
          <p:nvPr/>
        </p:nvSpPr>
        <p:spPr>
          <a:xfrm>
            <a:off x="6690208" y="3154680"/>
            <a:ext cx="4449928" cy="26517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Why? Why? Why? Why? Every answer earns another question.</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PRE-WRITE EXAMPLE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Pre-write example: the Creed movies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Text 7"/>
          <p:cNvSpPr/>
          <p:nvPr/>
        </p:nvSpPr>
        <p:spPr>
          <a:xfrm>
            <a:off x="1143000" y="2240280"/>
            <a:ext cx="9905695" cy="3657600"/>
          </a:xfrm>
          <a:prstGeom prst="rect">
            <a:avLst/>
          </a:prstGeom>
          <a:noFill/>
          <a:ln/>
        </p:spPr>
        <p:txBody>
          <a:bodyPr wrap="square" lIns="0" tIns="0" rIns="0" bIns="0" rtlCol="0" anchor="ctr"/>
          <a:lstStyle/>
          <a:p>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I love the Creed movies.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Why?</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Because they’re amazing!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Why?</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They’re really uplifting.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How?</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In that Cinderella story, underdog way.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Are they uplifting in other ways?</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Yes, the love story between Adonis and Bianca is really touching, and the relationship between Adonis and Rocky is really moving.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So it’s more than just a sports story?</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Definitely—it’s really a movie about relationships and overcoming things.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Like what?</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Well, Adonis overcomes the fact that he didn’t really have a dad—Apollo Creed was not really in his life that much, even though he was this huge celebrity back in the day. </a:t>
            </a:r>
            <a:pPr indent="0" marL="0">
              <a:lnSpc>
                <a:spcPct val="125000"/>
              </a:lnSpc>
              <a:buNone/>
            </a:pPr>
            <a:r>
              <a:rPr lang="en-US" sz="1800" b="1" dirty="0">
                <a:solidFill>
                  <a:srgbClr val="02BDC7"/>
                </a:solidFill>
                <a:latin typeface="Georgia" pitchFamily="34" charset="0"/>
                <a:ea typeface="Georgia" pitchFamily="34" charset="-122"/>
                <a:cs typeface="Georgia" pitchFamily="34" charset="-120"/>
              </a:rPr>
              <a:t>How does he overcome that?</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I think his relationship with Rocky becomes like the dad he never had. And Rocky is having trouble with his own son. So Rocky and Adonis both fill these father-son roles for each other. And then Adonis gets to be a dad! </a:t>
            </a:r>
            <a:pPr indent="0" marL="0">
              <a:lnSpc>
                <a:spcPct val="125000"/>
              </a:lnSpc>
              <a:buNone/>
            </a:pPr>
            <a:r>
              <a:rPr lang="en-US" sz="1800" dirty="0">
                <a:solidFill>
                  <a:srgbClr val="3C3828"/>
                </a:solidFill>
                <a:highlight>
                  <a:srgbClr val="FFE14D"/>
                </a:highlight>
                <a:latin typeface="Georgia" pitchFamily="34" charset="0"/>
                <a:ea typeface="Georgia" pitchFamily="34" charset="-122"/>
                <a:cs typeface="Georgia" pitchFamily="34" charset="-120"/>
              </a:rPr>
              <a:t>The movies are about boxing, but they’re also about fatherhood and the power of the father-son relationship.</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PRE-WRITE EXAMPLE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Pre-write example 2: Disney movies</a:t>
            </a:r>
            <a:endParaRPr lang="en-US" sz="36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home/user/yawp/services/web-app/scripts/thesis-essay-decks/assets/icons/question.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Text 7"/>
          <p:cNvSpPr/>
          <p:nvPr/>
        </p:nvSpPr>
        <p:spPr>
          <a:xfrm>
            <a:off x="1143000" y="2240280"/>
            <a:ext cx="9905695" cy="3657600"/>
          </a:xfrm>
          <a:prstGeom prst="rect">
            <a:avLst/>
          </a:prstGeom>
          <a:noFill/>
          <a:ln/>
        </p:spPr>
        <p:txBody>
          <a:bodyPr wrap="square" lIns="0" tIns="0" rIns="0" bIns="0" rtlCol="0" anchor="ctr"/>
          <a:lstStyle/>
          <a:p>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I love Disney movies.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Why?</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They make me feel so happy!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Why?</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I really love how in most of the stories the characters go through something hard and challenging.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Like what?</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In a lot of them, they lose a parent early in the movie. This leaves them feeling sad and alone.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Then what happens?</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Then they usually face some other challenge, like a mean stepmother (Cinderella) or someone trying to hurt them (Lion King) or trying to find a treasure (Aladdin).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How do they handle these challenges?</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Almost always someone comes along and helps them—the Fairy Godmother, Simba’s friends, the Genie. </a:t>
            </a:r>
            <a:pPr indent="0" marL="0">
              <a:lnSpc>
                <a:spcPct val="125000"/>
              </a:lnSpc>
              <a:buNone/>
            </a:pPr>
            <a:r>
              <a:rPr lang="en-US" sz="1800" b="1" dirty="0">
                <a:solidFill>
                  <a:srgbClr val="FF9755"/>
                </a:solidFill>
                <a:latin typeface="Georgia" pitchFamily="34" charset="0"/>
                <a:ea typeface="Georgia" pitchFamily="34" charset="-122"/>
                <a:cs typeface="Georgia" pitchFamily="34" charset="-120"/>
              </a:rPr>
              <a:t>How do they help?</a:t>
            </a:r>
            <a:pPr indent="0" marL="0">
              <a:lnSpc>
                <a:spcPct val="125000"/>
              </a:lnSpc>
              <a:buNone/>
            </a:pPr>
            <a:r>
              <a:rPr lang="en-US" sz="1800" dirty="0">
                <a:solidFill>
                  <a:srgbClr val="3C3828"/>
                </a:solidFill>
                <a:latin typeface="Georgia" pitchFamily="34" charset="0"/>
                <a:ea typeface="Georgia" pitchFamily="34" charset="-122"/>
                <a:cs typeface="Georgia" pitchFamily="34" charset="-120"/>
              </a:rPr>
              <a:t> They guide them and show them the way, but they also usually show the main character the gifts and talents they have inside of them. </a:t>
            </a:r>
            <a:pPr indent="0" marL="0">
              <a:lnSpc>
                <a:spcPct val="125000"/>
              </a:lnSpc>
              <a:buNone/>
            </a:pPr>
            <a:r>
              <a:rPr lang="en-US" sz="1800" dirty="0">
                <a:solidFill>
                  <a:srgbClr val="3C3828"/>
                </a:solidFill>
                <a:highlight>
                  <a:srgbClr val="FFE14D"/>
                </a:highlight>
                <a:latin typeface="Georgia" pitchFamily="34" charset="0"/>
                <a:ea typeface="Georgia" pitchFamily="34" charset="-122"/>
                <a:cs typeface="Georgia" pitchFamily="34" charset="-120"/>
              </a:rPr>
              <a:t>That’s interesting—the main character is the hero, but they almost always need a helper character to show them their hero qualities.</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Open YAWP! and start pre-writing</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home/user/yawp/services/web-app/scripts/thesis-essay-decks/assets/icons/pencil.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2075688"/>
            <a:ext cx="548640" cy="548640"/>
          </a:xfrm>
          <a:prstGeom prst="ellipse">
            <a:avLst/>
          </a:prstGeom>
          <a:solidFill>
            <a:srgbClr val="02BDC7"/>
          </a:solidFill>
          <a:ln w="12700">
            <a:solidFill>
              <a:srgbClr val="02BDC7"/>
            </a:solidFill>
            <a:prstDash val="solid"/>
          </a:ln>
        </p:spPr>
      </p:sp>
      <p:sp>
        <p:nvSpPr>
          <p:cNvPr id="9" name="Text 6"/>
          <p:cNvSpPr/>
          <p:nvPr/>
        </p:nvSpPr>
        <p:spPr>
          <a:xfrm>
            <a:off x="685800"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0" name="Text 7"/>
          <p:cNvSpPr/>
          <p:nvPr/>
        </p:nvSpPr>
        <p:spPr>
          <a:xfrm>
            <a:off x="1417320" y="196596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Sign in to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yawp.school</a:t>
            </a:r>
            <a:endParaRPr lang="en-US" sz="2000" dirty="0"/>
          </a:p>
        </p:txBody>
      </p:sp>
      <p:sp>
        <p:nvSpPr>
          <p:cNvPr id="11" name="Shape 8"/>
          <p:cNvSpPr/>
          <p:nvPr/>
        </p:nvSpPr>
        <p:spPr>
          <a:xfrm>
            <a:off x="6324448" y="2075688"/>
            <a:ext cx="548640" cy="548640"/>
          </a:xfrm>
          <a:prstGeom prst="ellipse">
            <a:avLst/>
          </a:prstGeom>
          <a:solidFill>
            <a:srgbClr val="FFB600"/>
          </a:solidFill>
          <a:ln w="12700">
            <a:solidFill>
              <a:srgbClr val="FFB600"/>
            </a:solidFill>
            <a:prstDash val="solid"/>
          </a:ln>
        </p:spPr>
      </p:sp>
      <p:sp>
        <p:nvSpPr>
          <p:cNvPr id="12" name="Text 9"/>
          <p:cNvSpPr/>
          <p:nvPr/>
        </p:nvSpPr>
        <p:spPr>
          <a:xfrm>
            <a:off x="6324448"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3" name="Text 10"/>
          <p:cNvSpPr/>
          <p:nvPr/>
        </p:nvSpPr>
        <p:spPr>
          <a:xfrm>
            <a:off x="7055968" y="196596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Open the document you created on Day 1 (don’t create a new one!)</a:t>
            </a:r>
            <a:endParaRPr lang="en-US" sz="2000" dirty="0"/>
          </a:p>
        </p:txBody>
      </p:sp>
      <p:sp>
        <p:nvSpPr>
          <p:cNvPr id="14" name="Shape 11"/>
          <p:cNvSpPr/>
          <p:nvPr/>
        </p:nvSpPr>
        <p:spPr>
          <a:xfrm>
            <a:off x="685800" y="2944368"/>
            <a:ext cx="548640" cy="548640"/>
          </a:xfrm>
          <a:prstGeom prst="ellipse">
            <a:avLst/>
          </a:prstGeom>
          <a:solidFill>
            <a:srgbClr val="FC4540"/>
          </a:solidFill>
          <a:ln w="12700">
            <a:solidFill>
              <a:srgbClr val="FC4540"/>
            </a:solidFill>
            <a:prstDash val="solid"/>
          </a:ln>
        </p:spPr>
      </p:sp>
      <p:sp>
        <p:nvSpPr>
          <p:cNvPr id="15" name="Text 12"/>
          <p:cNvSpPr/>
          <p:nvPr/>
        </p:nvSpPr>
        <p:spPr>
          <a:xfrm>
            <a:off x="685800" y="294436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16" name="Text 13"/>
          <p:cNvSpPr/>
          <p:nvPr/>
        </p:nvSpPr>
        <p:spPr>
          <a:xfrm>
            <a:off x="1417320" y="283464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Check out my comments: one way I’ll give you feedback</a:t>
            </a:r>
            <a:endParaRPr lang="en-US" sz="2000" dirty="0"/>
          </a:p>
        </p:txBody>
      </p:sp>
      <p:sp>
        <p:nvSpPr>
          <p:cNvPr id="17" name="Shape 14"/>
          <p:cNvSpPr/>
          <p:nvPr/>
        </p:nvSpPr>
        <p:spPr>
          <a:xfrm>
            <a:off x="6324448" y="2944368"/>
            <a:ext cx="548640" cy="548640"/>
          </a:xfrm>
          <a:prstGeom prst="ellipse">
            <a:avLst/>
          </a:prstGeom>
          <a:solidFill>
            <a:srgbClr val="FF9755"/>
          </a:solidFill>
          <a:ln w="12700">
            <a:solidFill>
              <a:srgbClr val="FF9755"/>
            </a:solidFill>
            <a:prstDash val="solid"/>
          </a:ln>
        </p:spPr>
      </p:sp>
      <p:sp>
        <p:nvSpPr>
          <p:cNvPr id="18" name="Text 15"/>
          <p:cNvSpPr/>
          <p:nvPr/>
        </p:nvSpPr>
        <p:spPr>
          <a:xfrm>
            <a:off x="6324448" y="294436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19" name="Text 16"/>
          <p:cNvSpPr/>
          <p:nvPr/>
        </p:nvSpPr>
        <p:spPr>
          <a:xfrm>
            <a:off x="7055968" y="283464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Make sure the Tutor box says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“Pre-Writing,”</a:t>
            </a:r>
            <a:pPr indent="0" marL="0">
              <a:buNone/>
            </a:pPr>
            <a:r>
              <a:rPr lang="en-US" sz="2000" dirty="0">
                <a:solidFill>
                  <a:srgbClr val="3C3828"/>
                </a:solidFill>
                <a:latin typeface="Calibri" pitchFamily="34" charset="0"/>
                <a:ea typeface="Calibri" pitchFamily="34" charset="-122"/>
                <a:cs typeface="Calibri" pitchFamily="34" charset="-120"/>
              </a:rPr>
              <a:t> then follow the Tutor’s instructions</a:t>
            </a:r>
            <a:endParaRPr lang="en-US" sz="2000" dirty="0"/>
          </a:p>
        </p:txBody>
      </p:sp>
      <p:sp>
        <p:nvSpPr>
          <p:cNvPr id="20" name="Shape 17"/>
          <p:cNvSpPr/>
          <p:nvPr/>
        </p:nvSpPr>
        <p:spPr>
          <a:xfrm>
            <a:off x="2480462" y="3931920"/>
            <a:ext cx="7230771"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21" name="Image 1" descr="/home/user/yawp/services/web-app/scripts/thesis-essay-decks/assets/yawp-my-documents.png">    </p:cNvPr>
          <p:cNvPicPr>
            <a:picLocks noChangeAspect="1"/>
          </p:cNvPicPr>
          <p:nvPr/>
        </p:nvPicPr>
        <p:blipFill>
          <a:blip r:embed="rId2"/>
          <a:stretch>
            <a:fillRect/>
          </a:stretch>
        </p:blipFill>
        <p:spPr>
          <a:xfrm>
            <a:off x="2608478" y="4059936"/>
            <a:ext cx="6974739" cy="1892808"/>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it looks like</a:t>
            </a:r>
            <a:endParaRPr lang="en-US" sz="3600" dirty="0"/>
          </a:p>
        </p:txBody>
      </p:sp>
      <p:sp>
        <p:nvSpPr>
          <p:cNvPr id="4" name="Shape 2"/>
          <p:cNvSpPr/>
          <p:nvPr/>
        </p:nvSpPr>
        <p:spPr>
          <a:xfrm>
            <a:off x="685800" y="1828800"/>
            <a:ext cx="6949440" cy="4150360"/>
          </a:xfrm>
          <a:prstGeom prst="roundRect">
            <a:avLst>
              <a:gd name="adj" fmla="val 308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home/user/yawp/services/web-app/scripts/thesis-essay-decks/assets/yawp-editor-prewriting.png">    </p:cNvPr>
          <p:cNvPicPr>
            <a:picLocks noChangeAspect="1"/>
          </p:cNvPicPr>
          <p:nvPr/>
        </p:nvPicPr>
        <p:blipFill>
          <a:blip r:embed="rId1"/>
          <a:stretch>
            <a:fillRect/>
          </a:stretch>
        </p:blipFill>
        <p:spPr>
          <a:xfrm>
            <a:off x="813816" y="1956816"/>
            <a:ext cx="6693408" cy="3894328"/>
          </a:xfrm>
          <a:prstGeom prst="rect">
            <a:avLst/>
          </a:prstGeom>
        </p:spPr>
      </p:pic>
      <p:sp>
        <p:nvSpPr>
          <p:cNvPr id="6" name="Shape 3"/>
          <p:cNvSpPr/>
          <p:nvPr/>
        </p:nvSpPr>
        <p:spPr>
          <a:xfrm>
            <a:off x="8183880" y="2231136"/>
            <a:ext cx="292608" cy="292608"/>
          </a:xfrm>
          <a:prstGeom prst="ellipse">
            <a:avLst/>
          </a:prstGeom>
          <a:solidFill>
            <a:srgbClr val="FFB600"/>
          </a:solidFill>
          <a:ln w="12700">
            <a:solidFill>
              <a:srgbClr val="FFB600"/>
            </a:solidFill>
            <a:prstDash val="solid"/>
          </a:ln>
        </p:spPr>
      </p:sp>
      <p:sp>
        <p:nvSpPr>
          <p:cNvPr id="7" name="Text 4"/>
          <p:cNvSpPr/>
          <p:nvPr/>
        </p:nvSpPr>
        <p:spPr>
          <a:xfrm>
            <a:off x="8659368" y="1965960"/>
            <a:ext cx="2846527"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Tutor is on the left</a:t>
            </a:r>
            <a:endParaRPr lang="en-US" sz="2000" dirty="0"/>
          </a:p>
        </p:txBody>
      </p:sp>
      <p:sp>
        <p:nvSpPr>
          <p:cNvPr id="8" name="Shape 5"/>
          <p:cNvSpPr/>
          <p:nvPr/>
        </p:nvSpPr>
        <p:spPr>
          <a:xfrm>
            <a:off x="8183880" y="3054096"/>
            <a:ext cx="292608" cy="292608"/>
          </a:xfrm>
          <a:prstGeom prst="ellipse">
            <a:avLst/>
          </a:prstGeom>
          <a:solidFill>
            <a:srgbClr val="FC4540"/>
          </a:solidFill>
          <a:ln w="12700">
            <a:solidFill>
              <a:srgbClr val="FC4540"/>
            </a:solidFill>
            <a:prstDash val="solid"/>
          </a:ln>
        </p:spPr>
      </p:sp>
      <p:sp>
        <p:nvSpPr>
          <p:cNvPr id="9" name="Text 6"/>
          <p:cNvSpPr/>
          <p:nvPr/>
        </p:nvSpPr>
        <p:spPr>
          <a:xfrm>
            <a:off x="8659368" y="2788920"/>
            <a:ext cx="2846527"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Check it says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Pre-writing</a:t>
            </a:r>
            <a:endParaRPr lang="en-US" sz="2000" dirty="0"/>
          </a:p>
        </p:txBody>
      </p:sp>
      <p:sp>
        <p:nvSpPr>
          <p:cNvPr id="10" name="Shape 7"/>
          <p:cNvSpPr/>
          <p:nvPr/>
        </p:nvSpPr>
        <p:spPr>
          <a:xfrm>
            <a:off x="8183880" y="3877056"/>
            <a:ext cx="292608" cy="292608"/>
          </a:xfrm>
          <a:prstGeom prst="ellipse">
            <a:avLst/>
          </a:prstGeom>
          <a:solidFill>
            <a:srgbClr val="FF9755"/>
          </a:solidFill>
          <a:ln w="12700">
            <a:solidFill>
              <a:srgbClr val="FF9755"/>
            </a:solidFill>
            <a:prstDash val="solid"/>
          </a:ln>
        </p:spPr>
      </p:sp>
      <p:sp>
        <p:nvSpPr>
          <p:cNvPr id="11" name="Text 8"/>
          <p:cNvSpPr/>
          <p:nvPr/>
        </p:nvSpPr>
        <p:spPr>
          <a:xfrm>
            <a:off x="8659368" y="3611880"/>
            <a:ext cx="2846527"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Your prompt and writing are in the middle</a:t>
            </a:r>
            <a:endParaRPr lang="en-US" sz="2000" dirty="0"/>
          </a:p>
        </p:txBody>
      </p:sp>
      <p:sp>
        <p:nvSpPr>
          <p:cNvPr id="12" name="Shape 9"/>
          <p:cNvSpPr/>
          <p:nvPr/>
        </p:nvSpPr>
        <p:spPr>
          <a:xfrm>
            <a:off x="8183880" y="4700016"/>
            <a:ext cx="292608" cy="292608"/>
          </a:xfrm>
          <a:prstGeom prst="ellipse">
            <a:avLst/>
          </a:prstGeom>
          <a:solidFill>
            <a:srgbClr val="FC4067"/>
          </a:solidFill>
          <a:ln w="12700">
            <a:solidFill>
              <a:srgbClr val="FC4067"/>
            </a:solidFill>
            <a:prstDash val="solid"/>
          </a:ln>
        </p:spPr>
      </p:sp>
      <p:sp>
        <p:nvSpPr>
          <p:cNvPr id="13" name="Text 10"/>
          <p:cNvSpPr/>
          <p:nvPr/>
        </p:nvSpPr>
        <p:spPr>
          <a:xfrm>
            <a:off x="8659368" y="4434840"/>
            <a:ext cx="2846527"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My comments are on the right</a:t>
            </a:r>
            <a:endParaRPr lang="en-US" sz="2000" dirty="0"/>
          </a:p>
        </p:txBody>
      </p:sp>
      <p:sp>
        <p:nvSpPr>
          <p:cNvPr id="14" name="Shape 11"/>
          <p:cNvSpPr/>
          <p:nvPr/>
        </p:nvSpPr>
        <p:spPr>
          <a:xfrm>
            <a:off x="8183880" y="5522976"/>
            <a:ext cx="292608" cy="292608"/>
          </a:xfrm>
          <a:prstGeom prst="ellipse">
            <a:avLst/>
          </a:prstGeom>
          <a:solidFill>
            <a:srgbClr val="02BDC7"/>
          </a:solidFill>
          <a:ln w="12700">
            <a:solidFill>
              <a:srgbClr val="02BDC7"/>
            </a:solidFill>
            <a:prstDash val="solid"/>
          </a:ln>
        </p:spPr>
      </p:sp>
      <p:sp>
        <p:nvSpPr>
          <p:cNvPr id="15" name="Text 12"/>
          <p:cNvSpPr/>
          <p:nvPr/>
        </p:nvSpPr>
        <p:spPr>
          <a:xfrm>
            <a:off x="8659368" y="5257800"/>
            <a:ext cx="2846527"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Written a bunch? Click </a:t>
            </a:r>
            <a:pPr indent="0" marL="0">
              <a:buNone/>
            </a:pPr>
            <a:r>
              <a:rPr lang="en-US" sz="2000" dirty="0">
                <a:solidFill>
                  <a:srgbClr val="3C3828"/>
                </a:solidFill>
                <a:highlight>
                  <a:srgbClr val="FFE14D"/>
                </a:highlight>
                <a:latin typeface="Calibri" pitchFamily="34" charset="0"/>
                <a:ea typeface="Calibri" pitchFamily="34" charset="-122"/>
                <a:cs typeface="Calibri" pitchFamily="34" charset="-120"/>
              </a:rPr>
              <a:t>Give me feedback!</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PRE-WRITING GOAL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Figure out your </a:t>
            </a:r>
            <a:pP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specific</a:t>
            </a:r>
            <a:pPr indent="0" marL="0">
              <a:buNone/>
            </a:pPr>
            <a:r>
              <a:rPr lang="en-US" sz="3600" dirty="0">
                <a:solidFill>
                  <a:srgbClr val="3C3828"/>
                </a:solidFill>
                <a:latin typeface="Georgia" pitchFamily="34" charset="0"/>
                <a:ea typeface="Georgia" pitchFamily="34" charset="-122"/>
                <a:cs typeface="Georgia" pitchFamily="34" charset="-120"/>
              </a:rPr>
              <a:t> topic</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Identify a </a:t>
            </a:r>
            <a:pPr indent="0" marL="0">
              <a:lnSpc>
                <a:spcPct val="115000"/>
              </a:lnSpc>
              <a:buNone/>
            </a:pPr>
            <a:r>
              <a:rPr lang="en-US" sz="4000" dirty="0">
                <a:solidFill>
                  <a:srgbClr val="3C3828"/>
                </a:solidFill>
                <a:highlight>
                  <a:srgbClr val="FFE14D"/>
                </a:highlight>
                <a:latin typeface="Georgia" pitchFamily="34" charset="0"/>
                <a:ea typeface="Georgia" pitchFamily="34" charset="-122"/>
                <a:cs typeface="Georgia" pitchFamily="34" charset="-120"/>
              </a:rPr>
              <a:t>specific</a:t>
            </a:r>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 problem in your community that you’ll talk about in your essay.</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PRE-WRITING</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Pre-writing: do and don’t</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02BDC7"/>
          </a:solidFill>
          <a:ln w="12700">
            <a:solidFill>
              <a:srgbClr val="02BDC7"/>
            </a:solidFill>
            <a:prstDash val="solid"/>
          </a:ln>
        </p:spPr>
      </p:sp>
      <p:sp>
        <p:nvSpPr>
          <p:cNvPr id="6" name="Shape 4"/>
          <p:cNvSpPr/>
          <p:nvPr/>
        </p:nvSpPr>
        <p:spPr>
          <a:xfrm>
            <a:off x="685800" y="2423160"/>
            <a:ext cx="5181448" cy="256032"/>
          </a:xfrm>
          <a:prstGeom prst="rect">
            <a:avLst/>
          </a:prstGeom>
          <a:solidFill>
            <a:srgbClr val="02BDC7"/>
          </a:solidFill>
          <a:ln w="12700">
            <a:solidFill>
              <a:srgbClr val="02BDC7"/>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a:t>
            </a:r>
            <a:endParaRPr lang="en-US" sz="1500" dirty="0"/>
          </a:p>
        </p:txBody>
      </p:sp>
      <p:sp>
        <p:nvSpPr>
          <p:cNvPr id="8" name="Text 6"/>
          <p:cNvSpPr/>
          <p:nvPr/>
        </p:nvSpPr>
        <p:spPr>
          <a:xfrm>
            <a:off x="1051560" y="2926080"/>
            <a:ext cx="4449928" cy="23774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Flesh out ideas</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Keep writing!</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Ask and answer as many questions as possible</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Unleash the 5-year-old within!</a:t>
            </a:r>
            <a:endParaRPr lang="en-US" sz="24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FC4540"/>
          </a:solidFill>
          <a:ln w="12700">
            <a:solidFill>
              <a:srgbClr val="FC4540"/>
            </a:solidFill>
            <a:prstDash val="solid"/>
          </a:ln>
        </p:spPr>
      </p:sp>
      <p:sp>
        <p:nvSpPr>
          <p:cNvPr id="11" name="Shape 9"/>
          <p:cNvSpPr/>
          <p:nvPr/>
        </p:nvSpPr>
        <p:spPr>
          <a:xfrm>
            <a:off x="6324448" y="2423160"/>
            <a:ext cx="5181448" cy="256032"/>
          </a:xfrm>
          <a:prstGeom prst="rect">
            <a:avLst/>
          </a:prstGeom>
          <a:solidFill>
            <a:srgbClr val="FC4540"/>
          </a:solidFill>
          <a:ln w="12700">
            <a:solidFill>
              <a:srgbClr val="FC4540"/>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DON’T</a:t>
            </a:r>
            <a:endParaRPr lang="en-US" sz="1500" dirty="0"/>
          </a:p>
        </p:txBody>
      </p:sp>
      <p:sp>
        <p:nvSpPr>
          <p:cNvPr id="13" name="Text 11"/>
          <p:cNvSpPr/>
          <p:nvPr/>
        </p:nvSpPr>
        <p:spPr>
          <a:xfrm>
            <a:off x="6690208" y="2926080"/>
            <a:ext cx="4449928" cy="23774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Worry about grammar</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…try to organize your essay</a:t>
            </a:r>
            <a:endParaRPr lang="en-US" sz="2400" dirty="0"/>
          </a:p>
          <a:p>
            <a:pPr marL="342900" indent="-342900">
              <a:lnSpc>
                <a:spcPct val="115000"/>
              </a:lnSpc>
              <a:spcAft>
                <a:spcPts val="1400"/>
              </a:spcAft>
              <a:buSzPct val="100000"/>
              <a:buChar char="●"/>
            </a:pPr>
            <a:r>
              <a:rPr lang="en-US" sz="2400" dirty="0">
                <a:solidFill>
                  <a:srgbClr val="3C3828"/>
                </a:solidFill>
                <a:latin typeface="Calibri" pitchFamily="34" charset="0"/>
                <a:ea typeface="Calibri" pitchFamily="34" charset="-122"/>
                <a:cs typeface="Calibri" pitchFamily="34" charset="-120"/>
              </a:rPr>
              <a:t>…stop writing!</a:t>
            </a:r>
            <a:endParaRPr lang="en-US" sz="2400" dirty="0"/>
          </a:p>
        </p:txBody>
      </p:sp>
      <p:sp>
        <p:nvSpPr>
          <p:cNvPr id="14" name="Shape 12"/>
          <p:cNvSpPr/>
          <p:nvPr/>
        </p:nvSpPr>
        <p:spPr>
          <a:xfrm>
            <a:off x="9859975" y="4572000"/>
            <a:ext cx="1828800" cy="1828800"/>
          </a:xfrm>
          <a:prstGeom prst="ellipse">
            <a:avLst/>
          </a:prstGeom>
          <a:solidFill>
            <a:srgbClr val="FFB600"/>
          </a:solidFill>
          <a:ln w="38100">
            <a:solidFill>
              <a:srgbClr val="FFFEFA"/>
            </a:solidFill>
            <a:prstDash val="solid"/>
          </a:ln>
          <a:effectLst>
            <a:outerShdw sx="100000" sy="100000" kx="0" ky="0" algn="bl" rotWithShape="0" blurRad="101600" dist="38100" dir="5400000">
              <a:srgbClr val="3C3828">
                <a:alpha val="18000"/>
              </a:srgbClr>
            </a:outerShdw>
          </a:effectLst>
        </p:spPr>
      </p:sp>
      <p:sp>
        <p:nvSpPr>
          <p:cNvPr id="15" name="Text 13"/>
          <p:cNvSpPr/>
          <p:nvPr/>
        </p:nvSpPr>
        <p:spPr>
          <a:xfrm rot="-600000">
            <a:off x="10042855" y="4754880"/>
            <a:ext cx="1463040" cy="1463040"/>
          </a:xfrm>
          <a:prstGeom prst="rect">
            <a:avLst/>
          </a:prstGeom>
          <a:noFill/>
          <a:ln/>
        </p:spPr>
        <p:txBody>
          <a:bodyPr wrap="square" lIns="0" tIns="0" rIns="0" bIns="0" rtlCol="0" anchor="ctr"/>
          <a:lstStyle/>
          <a:p>
            <a:pPr algn="ctr" indent="0" marL="0">
              <a:buNone/>
            </a:pPr>
            <a:r>
              <a:rPr lang="en-US" sz="1700" b="1" dirty="0">
                <a:solidFill>
                  <a:srgbClr val="3C3828"/>
                </a:solidFill>
                <a:latin typeface="Calibri" pitchFamily="34" charset="0"/>
                <a:ea typeface="Calibri" pitchFamily="34" charset="-122"/>
                <a:cs typeface="Calibri" pitchFamily="34" charset="-120"/>
              </a:rPr>
              <a:t>Pro-tip: Stay off the internet!</a:t>
            </a:r>
            <a:endParaRPr lang="en-US" sz="17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051560" y="2103120"/>
            <a:ext cx="5486400" cy="365760"/>
          </a:xfrm>
          <a:prstGeom prst="rect">
            <a:avLst/>
          </a:prstGeom>
          <a:noFill/>
          <a:ln/>
        </p:spPr>
        <p:txBody>
          <a:bodyPr wrap="square" lIns="0" tIns="0" rIns="0" bIns="0" rtlCol="0" anchor="ctr"/>
          <a:lstStyle/>
          <a:p>
            <a:pPr indent="0" marL="0">
              <a:buNone/>
            </a:pPr>
            <a:r>
              <a:rPr lang="en-US" sz="1400" b="1" spc="200" kern="0" dirty="0">
                <a:solidFill>
                  <a:srgbClr val="FF9755"/>
                </a:solidFill>
                <a:latin typeface="Consolas" pitchFamily="34" charset="0"/>
                <a:ea typeface="Consolas" pitchFamily="34" charset="-122"/>
                <a:cs typeface="Consolas" pitchFamily="34" charset="-120"/>
              </a:rPr>
              <a:t>WRITING TIME</a:t>
            </a:r>
            <a:endParaRPr lang="en-US" sz="1400" dirty="0"/>
          </a:p>
        </p:txBody>
      </p:sp>
      <p:sp>
        <p:nvSpPr>
          <p:cNvPr id="3" name="Text 1"/>
          <p:cNvSpPr/>
          <p:nvPr/>
        </p:nvSpPr>
        <p:spPr>
          <a:xfrm>
            <a:off x="1051560" y="2514600"/>
            <a:ext cx="5486400" cy="128016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Pre-write</a:t>
            </a:r>
            <a:endParaRPr lang="en-US" sz="6600" dirty="0"/>
          </a:p>
        </p:txBody>
      </p:sp>
      <p:sp>
        <p:nvSpPr>
          <p:cNvPr id="4" name="Text 2"/>
          <p:cNvSpPr/>
          <p:nvPr/>
        </p:nvSpPr>
        <p:spPr>
          <a:xfrm>
            <a:off x="1051560" y="3840480"/>
            <a:ext cx="5486400" cy="822960"/>
          </a:xfrm>
          <a:prstGeom prst="rect">
            <a:avLst/>
          </a:prstGeom>
          <a:noFill/>
          <a:ln/>
        </p:spPr>
        <p:txBody>
          <a:bodyPr wrap="square" lIns="0" tIns="0" rIns="0" bIns="0" rtlCol="0" anchor="t"/>
          <a:lstStyle/>
          <a:p>
            <a:pPr indent="0" marL="0">
              <a:buNone/>
            </a:pPr>
            <a:r>
              <a:rPr lang="en-US" sz="2400" dirty="0">
                <a:solidFill>
                  <a:srgbClr val="7E7C78"/>
                </a:solidFill>
                <a:latin typeface="Calibri" pitchFamily="34" charset="0"/>
                <a:ea typeface="Calibri" pitchFamily="34" charset="-122"/>
                <a:cs typeface="Calibri" pitchFamily="34" charset="-120"/>
              </a:rPr>
              <a:t>for 5 minutes. Ask. Answer. Keep going.</a:t>
            </a:r>
            <a:endParaRPr lang="en-US" sz="2400" dirty="0"/>
          </a:p>
        </p:txBody>
      </p:sp>
      <p:sp>
        <p:nvSpPr>
          <p:cNvPr id="5" name="Shape 3"/>
          <p:cNvSpPr/>
          <p:nvPr/>
        </p:nvSpPr>
        <p:spPr>
          <a:xfrm>
            <a:off x="7116775" y="1417320"/>
            <a:ext cx="4023360" cy="4023360"/>
          </a:xfrm>
          <a:prstGeom prst="ellipse">
            <a:avLst/>
          </a:prstGeom>
          <a:solidFill>
            <a:srgbClr val="FF9755"/>
          </a:solidFill>
          <a:ln w="12700">
            <a:solidFill>
              <a:srgbClr val="FF9755"/>
            </a:solidFill>
            <a:prstDash val="solid"/>
          </a:ln>
          <a:effectLst>
            <a:outerShdw sx="100000" sy="100000" kx="0" ky="0" algn="bl" rotWithShape="0" blurRad="177800" dist="50800" dir="5400000">
              <a:srgbClr val="3C3828">
                <a:alpha val="16000"/>
              </a:srgbClr>
            </a:outerShdw>
          </a:effectLst>
        </p:spPr>
      </p:sp>
      <p:sp>
        <p:nvSpPr>
          <p:cNvPr id="6" name="Text 4"/>
          <p:cNvSpPr/>
          <p:nvPr/>
        </p:nvSpPr>
        <p:spPr>
          <a:xfrm>
            <a:off x="7116775" y="1828800"/>
            <a:ext cx="4023360" cy="2377440"/>
          </a:xfrm>
          <a:prstGeom prst="rect">
            <a:avLst/>
          </a:prstGeom>
          <a:noFill/>
          <a:ln/>
        </p:spPr>
        <p:txBody>
          <a:bodyPr wrap="square" lIns="0" tIns="0" rIns="0" bIns="0" rtlCol="0" anchor="ctr"/>
          <a:lstStyle/>
          <a:p>
            <a:pPr algn="ctr" indent="0" marL="0">
              <a:buNone/>
            </a:pPr>
            <a:r>
              <a:rPr lang="en-US" sz="17000" b="1" dirty="0">
                <a:solidFill>
                  <a:srgbClr val="FFFEFA"/>
                </a:solidFill>
                <a:latin typeface="Georgia" pitchFamily="34" charset="0"/>
                <a:ea typeface="Georgia" pitchFamily="34" charset="-122"/>
                <a:cs typeface="Georgia" pitchFamily="34" charset="-120"/>
              </a:rPr>
              <a:t>5</a:t>
            </a:r>
            <a:endParaRPr lang="en-US" sz="17000" dirty="0"/>
          </a:p>
        </p:txBody>
      </p:sp>
      <p:sp>
        <p:nvSpPr>
          <p:cNvPr id="7" name="Text 5"/>
          <p:cNvSpPr/>
          <p:nvPr/>
        </p:nvSpPr>
        <p:spPr>
          <a:xfrm>
            <a:off x="7116775" y="4160520"/>
            <a:ext cx="4023360" cy="457200"/>
          </a:xfrm>
          <a:prstGeom prst="rect">
            <a:avLst/>
          </a:prstGeom>
          <a:noFill/>
          <a:ln/>
        </p:spPr>
        <p:txBody>
          <a:bodyPr wrap="square" lIns="0" tIns="0" rIns="0" bIns="0" rtlCol="0" anchor="ctr"/>
          <a:lstStyle/>
          <a:p>
            <a:pPr algn="ctr" indent="0" marL="0">
              <a:buNone/>
            </a:pPr>
            <a:r>
              <a:rPr lang="en-US" sz="1800" b="1" spc="400" kern="0" dirty="0">
                <a:solidFill>
                  <a:srgbClr val="FFFEFA"/>
                </a:solidFill>
                <a:latin typeface="Consolas" pitchFamily="34" charset="0"/>
                <a:ea typeface="Consolas" pitchFamily="34" charset="-122"/>
                <a:cs typeface="Consolas" pitchFamily="34" charset="-120"/>
              </a:rPr>
              <a:t>MINUTES</a:t>
            </a:r>
            <a:endParaRPr lang="en-US" sz="1800" dirty="0"/>
          </a:p>
        </p:txBody>
      </p:sp>
      <p:sp>
        <p:nvSpPr>
          <p:cNvPr id="8" name="Shape 6"/>
          <p:cNvSpPr/>
          <p:nvPr/>
        </p:nvSpPr>
        <p:spPr>
          <a:xfrm>
            <a:off x="10225735" y="1234440"/>
            <a:ext cx="1143000" cy="1143000"/>
          </a:xfrm>
          <a:prstGeom prst="ellipse">
            <a:avLst/>
          </a:prstGeom>
          <a:solidFill>
            <a:srgbClr val="02BDC7"/>
          </a:solidFill>
          <a:ln w="12700">
            <a:solidFill>
              <a:srgbClr val="02BDC7"/>
            </a:solidFill>
            <a:prstDash val="solid"/>
          </a:ln>
        </p:spPr>
      </p:sp>
      <p:pic>
        <p:nvPicPr>
          <p:cNvPr id="9" name="Image 0" descr="/home/user/yawp/services/web-app/scripts/thesis-essay-decks/assets/icons/timer.png">    </p:cNvPr>
          <p:cNvPicPr>
            <a:picLocks noChangeAspect="1"/>
          </p:cNvPicPr>
          <p:nvPr/>
        </p:nvPicPr>
        <p:blipFill>
          <a:blip r:embed="rId1"/>
          <a:stretch>
            <a:fillRect/>
          </a:stretch>
        </p:blipFill>
        <p:spPr>
          <a:xfrm>
            <a:off x="10454335" y="1463040"/>
            <a:ext cx="685800" cy="685800"/>
          </a:xfrm>
          <a:prstGeom prst="rect">
            <a:avLst/>
          </a:prstGeom>
        </p:spPr>
      </p:pic>
      <p:sp>
        <p:nvSpPr>
          <p:cNvPr id="10" name="Shape 7"/>
          <p:cNvSpPr/>
          <p:nvPr/>
        </p:nvSpPr>
        <p:spPr>
          <a:xfrm>
            <a:off x="6796735" y="1965960"/>
            <a:ext cx="384048" cy="384048"/>
          </a:xfrm>
          <a:prstGeom prst="ellipse">
            <a:avLst/>
          </a:prstGeom>
          <a:solidFill>
            <a:srgbClr val="FC4067"/>
          </a:solidFill>
          <a:ln w="12700">
            <a:solidFill>
              <a:srgbClr val="FC4067"/>
            </a:solidFill>
            <a:prstDash val="solid"/>
          </a:ln>
        </p:spPr>
      </p:sp>
      <p:sp>
        <p:nvSpPr>
          <p:cNvPr id="11" name="Shape 8"/>
          <p:cNvSpPr/>
          <p:nvPr/>
        </p:nvSpPr>
        <p:spPr>
          <a:xfrm>
            <a:off x="7025335" y="5074920"/>
            <a:ext cx="237744" cy="237744"/>
          </a:xfrm>
          <a:prstGeom prst="ellipse">
            <a:avLst/>
          </a:prstGeom>
          <a:solidFill>
            <a:srgbClr val="FFB600"/>
          </a:solidFill>
          <a:ln w="12700">
            <a:solidFill>
              <a:srgbClr val="FFB600"/>
            </a:solidFill>
            <a:prstDash val="solid"/>
          </a:ln>
        </p:spPr>
      </p:sp>
      <p:sp>
        <p:nvSpPr>
          <p:cNvPr id="12" name="Shape 9"/>
          <p:cNvSpPr/>
          <p:nvPr/>
        </p:nvSpPr>
        <p:spPr>
          <a:xfrm>
            <a:off x="10957255" y="4983480"/>
            <a:ext cx="548640" cy="548640"/>
          </a:xfrm>
          <a:prstGeom prst="ellipse">
            <a:avLst/>
          </a:prstGeom>
          <a:solidFill>
            <a:srgbClr val="FC4540"/>
          </a:solidFill>
          <a:ln w="12700">
            <a:solidFill>
              <a:srgbClr val="FC4540"/>
            </a:solidFill>
            <a:prstDash val="solid"/>
          </a:ln>
        </p:spPr>
      </p:sp>
      <p:sp>
        <p:nvSpPr>
          <p:cNvPr id="13" name="Shape 10"/>
          <p:cNvSpPr/>
          <p:nvPr/>
        </p:nvSpPr>
        <p:spPr>
          <a:xfrm>
            <a:off x="11323015" y="2880360"/>
            <a:ext cx="164592" cy="164592"/>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NARROWING DOWN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Find the diamonds</a:t>
            </a:r>
            <a:endParaRPr lang="en-US" sz="36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home/user/yawp/services/web-app/scripts/thesis-essay-decks/assets/icons/diamond.png">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2600" dirty="0">
                <a:solidFill>
                  <a:srgbClr val="3C3828"/>
                </a:solidFill>
                <a:latin typeface="Georgia" pitchFamily="34" charset="0"/>
                <a:ea typeface="Georgia" pitchFamily="34" charset="-122"/>
                <a:cs typeface="Georgia" pitchFamily="34" charset="-120"/>
              </a:rPr>
              <a:t>A lot of your pre-write will be rambling and might feel kind of random. But there will be parts that stand out: interesting, sharp, worthy of more discussion. </a:t>
            </a:r>
            <a:pPr indent="0" marL="0">
              <a:lnSpc>
                <a:spcPct val="115000"/>
              </a:lnSpc>
              <a:buNone/>
            </a:pPr>
            <a:r>
              <a:rPr lang="en-US" sz="2600" dirty="0">
                <a:solidFill>
                  <a:srgbClr val="3C3828"/>
                </a:solidFill>
                <a:highlight>
                  <a:srgbClr val="FFE14D"/>
                </a:highlight>
                <a:latin typeface="Georgia" pitchFamily="34" charset="0"/>
                <a:ea typeface="Georgia" pitchFamily="34" charset="-122"/>
                <a:cs typeface="Georgia" pitchFamily="34" charset="-120"/>
              </a:rPr>
              <a:t>These are “the diamonds,”</a:t>
            </a:r>
            <a:pPr indent="0" marL="0">
              <a:lnSpc>
                <a:spcPct val="115000"/>
              </a:lnSpc>
              <a:buNone/>
            </a:pPr>
            <a:r>
              <a:rPr lang="en-US" sz="2600" dirty="0">
                <a:solidFill>
                  <a:srgbClr val="3C3828"/>
                </a:solidFill>
                <a:latin typeface="Georgia" pitchFamily="34" charset="0"/>
                <a:ea typeface="Georgia" pitchFamily="34" charset="-122"/>
                <a:cs typeface="Georgia" pitchFamily="34" charset="-120"/>
              </a:rPr>
              <a:t> and they could be a specific focus for your essay.</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BEFORE YOU GO</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have we learned today?</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home/user/yawp/services/web-app/scripts/thesis-essay-decks/assets/icons/lightbulb.png">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55594" cy="91440"/>
          </a:xfrm>
          <a:prstGeom prst="rect">
            <a:avLst/>
          </a:prstGeom>
          <a:solidFill>
            <a:srgbClr val="02BDC7"/>
          </a:solidFill>
          <a:ln w="12700">
            <a:solidFill>
              <a:srgbClr val="02BDC7"/>
            </a:solidFill>
            <a:prstDash val="solid"/>
          </a:ln>
        </p:spPr>
      </p:sp>
      <p:sp>
        <p:nvSpPr>
          <p:cNvPr id="10" name="Shape 7"/>
          <p:cNvSpPr/>
          <p:nvPr/>
        </p:nvSpPr>
        <p:spPr>
          <a:xfrm>
            <a:off x="960120" y="2350008"/>
            <a:ext cx="274320" cy="274320"/>
          </a:xfrm>
          <a:prstGeom prst="ellipse">
            <a:avLst/>
          </a:prstGeom>
          <a:solidFill>
            <a:srgbClr val="02BDC7"/>
          </a:solidFill>
          <a:ln w="12700">
            <a:solidFill>
              <a:srgbClr val="02BDC7"/>
            </a:solidFill>
            <a:prstDash val="solid"/>
          </a:ln>
        </p:spPr>
      </p:sp>
      <p:sp>
        <p:nvSpPr>
          <p:cNvPr id="11" name="Text 8"/>
          <p:cNvSpPr/>
          <p:nvPr/>
        </p:nvSpPr>
        <p:spPr>
          <a:xfrm>
            <a:off x="1417320"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Critical thinking is simply asking and answering questions in a smart way.</a:t>
            </a:r>
            <a:endParaRPr lang="en-US" sz="2000" dirty="0"/>
          </a:p>
        </p:txBody>
      </p:sp>
      <p:sp>
        <p:nvSpPr>
          <p:cNvPr id="12" name="Shape 9"/>
          <p:cNvSpPr/>
          <p:nvPr/>
        </p:nvSpPr>
        <p:spPr>
          <a:xfrm>
            <a:off x="4390034"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4518050" y="1965960"/>
            <a:ext cx="3155594" cy="91440"/>
          </a:xfrm>
          <a:prstGeom prst="rect">
            <a:avLst/>
          </a:prstGeom>
          <a:solidFill>
            <a:srgbClr val="FFB600"/>
          </a:solidFill>
          <a:ln w="12700">
            <a:solidFill>
              <a:srgbClr val="FFB600"/>
            </a:solidFill>
            <a:prstDash val="solid"/>
          </a:ln>
        </p:spPr>
      </p:sp>
      <p:sp>
        <p:nvSpPr>
          <p:cNvPr id="14" name="Shape 11"/>
          <p:cNvSpPr/>
          <p:nvPr/>
        </p:nvSpPr>
        <p:spPr>
          <a:xfrm>
            <a:off x="4664354" y="2350008"/>
            <a:ext cx="274320" cy="274320"/>
          </a:xfrm>
          <a:prstGeom prst="ellipse">
            <a:avLst/>
          </a:prstGeom>
          <a:solidFill>
            <a:srgbClr val="FFB600"/>
          </a:solidFill>
          <a:ln w="12700">
            <a:solidFill>
              <a:srgbClr val="FFB600"/>
            </a:solidFill>
            <a:prstDash val="solid"/>
          </a:ln>
        </p:spPr>
      </p:sp>
      <p:sp>
        <p:nvSpPr>
          <p:cNvPr id="15" name="Text 12"/>
          <p:cNvSpPr/>
          <p:nvPr/>
        </p:nvSpPr>
        <p:spPr>
          <a:xfrm>
            <a:off x="5121554"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Pre-writing is one of the most important steps in the writing process.</a:t>
            </a:r>
            <a:endParaRPr lang="en-US" sz="2000" dirty="0"/>
          </a:p>
        </p:txBody>
      </p:sp>
      <p:sp>
        <p:nvSpPr>
          <p:cNvPr id="16" name="Shape 13"/>
          <p:cNvSpPr/>
          <p:nvPr/>
        </p:nvSpPr>
        <p:spPr>
          <a:xfrm>
            <a:off x="8094269" y="1965960"/>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8222285" y="1965960"/>
            <a:ext cx="3155594" cy="91440"/>
          </a:xfrm>
          <a:prstGeom prst="rect">
            <a:avLst/>
          </a:prstGeom>
          <a:solidFill>
            <a:srgbClr val="FC4540"/>
          </a:solidFill>
          <a:ln w="12700">
            <a:solidFill>
              <a:srgbClr val="FC4540"/>
            </a:solidFill>
            <a:prstDash val="solid"/>
          </a:ln>
        </p:spPr>
      </p:sp>
      <p:sp>
        <p:nvSpPr>
          <p:cNvPr id="18" name="Shape 15"/>
          <p:cNvSpPr/>
          <p:nvPr/>
        </p:nvSpPr>
        <p:spPr>
          <a:xfrm>
            <a:off x="8368589" y="2350008"/>
            <a:ext cx="274320" cy="274320"/>
          </a:xfrm>
          <a:prstGeom prst="ellipse">
            <a:avLst/>
          </a:prstGeom>
          <a:solidFill>
            <a:srgbClr val="FC4540"/>
          </a:solidFill>
          <a:ln w="12700">
            <a:solidFill>
              <a:srgbClr val="FC4540"/>
            </a:solidFill>
            <a:prstDash val="solid"/>
          </a:ln>
        </p:spPr>
      </p:sp>
      <p:sp>
        <p:nvSpPr>
          <p:cNvPr id="19" name="Text 16"/>
          <p:cNvSpPr/>
          <p:nvPr/>
        </p:nvSpPr>
        <p:spPr>
          <a:xfrm>
            <a:off x="8825789" y="2258568"/>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Generating ideas requires effort and time. It’s not always easy, but it pays off.</a:t>
            </a:r>
            <a:endParaRPr lang="en-US" sz="2000" dirty="0"/>
          </a:p>
        </p:txBody>
      </p:sp>
      <p:sp>
        <p:nvSpPr>
          <p:cNvPr id="20" name="Shape 17"/>
          <p:cNvSpPr/>
          <p:nvPr/>
        </p:nvSpPr>
        <p:spPr>
          <a:xfrm>
            <a:off x="2537917" y="4169664"/>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2665933" y="4169664"/>
            <a:ext cx="3155594" cy="91440"/>
          </a:xfrm>
          <a:prstGeom prst="rect">
            <a:avLst/>
          </a:prstGeom>
          <a:solidFill>
            <a:srgbClr val="FF9755"/>
          </a:solidFill>
          <a:ln w="12700">
            <a:solidFill>
              <a:srgbClr val="FF9755"/>
            </a:solidFill>
            <a:prstDash val="solid"/>
          </a:ln>
        </p:spPr>
      </p:sp>
      <p:sp>
        <p:nvSpPr>
          <p:cNvPr id="22" name="Shape 19"/>
          <p:cNvSpPr/>
          <p:nvPr/>
        </p:nvSpPr>
        <p:spPr>
          <a:xfrm>
            <a:off x="2812237" y="4553712"/>
            <a:ext cx="274320" cy="274320"/>
          </a:xfrm>
          <a:prstGeom prst="ellipse">
            <a:avLst/>
          </a:prstGeom>
          <a:solidFill>
            <a:srgbClr val="FF9755"/>
          </a:solidFill>
          <a:ln w="12700">
            <a:solidFill>
              <a:srgbClr val="FF9755"/>
            </a:solidFill>
            <a:prstDash val="solid"/>
          </a:ln>
        </p:spPr>
      </p:sp>
      <p:sp>
        <p:nvSpPr>
          <p:cNvPr id="23" name="Text 20"/>
          <p:cNvSpPr/>
          <p:nvPr/>
        </p:nvSpPr>
        <p:spPr>
          <a:xfrm>
            <a:off x="3269437" y="4462272"/>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The more questions you ask, the more ideas and theories you start to form.</a:t>
            </a:r>
            <a:endParaRPr lang="en-US" sz="2000" dirty="0"/>
          </a:p>
        </p:txBody>
      </p:sp>
      <p:sp>
        <p:nvSpPr>
          <p:cNvPr id="24" name="Shape 21"/>
          <p:cNvSpPr/>
          <p:nvPr/>
        </p:nvSpPr>
        <p:spPr>
          <a:xfrm>
            <a:off x="6242152" y="4169664"/>
            <a:ext cx="3411626" cy="1911096"/>
          </a:xfrm>
          <a:prstGeom prst="roundRect">
            <a:avLst>
              <a:gd name="adj" fmla="val 6699"/>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6370168" y="4169664"/>
            <a:ext cx="3155594" cy="91440"/>
          </a:xfrm>
          <a:prstGeom prst="rect">
            <a:avLst/>
          </a:prstGeom>
          <a:solidFill>
            <a:srgbClr val="FC4067"/>
          </a:solidFill>
          <a:ln w="12700">
            <a:solidFill>
              <a:srgbClr val="FC4067"/>
            </a:solidFill>
            <a:prstDash val="solid"/>
          </a:ln>
        </p:spPr>
      </p:sp>
      <p:sp>
        <p:nvSpPr>
          <p:cNvPr id="26" name="Shape 23"/>
          <p:cNvSpPr/>
          <p:nvPr/>
        </p:nvSpPr>
        <p:spPr>
          <a:xfrm>
            <a:off x="6516472" y="4553712"/>
            <a:ext cx="274320" cy="274320"/>
          </a:xfrm>
          <a:prstGeom prst="ellipse">
            <a:avLst/>
          </a:prstGeom>
          <a:solidFill>
            <a:srgbClr val="FC4067"/>
          </a:solidFill>
          <a:ln w="12700">
            <a:solidFill>
              <a:srgbClr val="FC4067"/>
            </a:solidFill>
            <a:prstDash val="solid"/>
          </a:ln>
        </p:spPr>
      </p:sp>
      <p:sp>
        <p:nvSpPr>
          <p:cNvPr id="27" name="Text 24"/>
          <p:cNvSpPr/>
          <p:nvPr/>
        </p:nvSpPr>
        <p:spPr>
          <a:xfrm>
            <a:off x="6973672" y="4462272"/>
            <a:ext cx="2451506" cy="1453896"/>
          </a:xfrm>
          <a:prstGeom prst="rect">
            <a:avLst/>
          </a:prstGeom>
          <a:noFill/>
          <a:ln/>
        </p:spPr>
        <p:txBody>
          <a:bodyPr wrap="square" lIns="0" tIns="0" rIns="0" bIns="0" rtlCol="0" anchor="t"/>
          <a:lstStyle/>
          <a:p>
            <a:pPr indent="0" marL="0">
              <a:buNone/>
            </a:pPr>
            <a:r>
              <a:rPr lang="en-US" sz="2000" dirty="0">
                <a:solidFill>
                  <a:srgbClr val="3C3828"/>
                </a:solidFill>
                <a:latin typeface="Georgia" pitchFamily="34" charset="0"/>
                <a:ea typeface="Georgia" pitchFamily="34" charset="-122"/>
                <a:cs typeface="Georgia" pitchFamily="34" charset="-120"/>
              </a:rPr>
              <a:t>The internet destroys originality. Stay off it while you pre-write!</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E9B3"/>
        </a:solidFill>
      </p:bgPr>
    </p:bg>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REMEMBER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Generating ideas requires energy. Don’t expect it to be easy.</a:t>
            </a:r>
            <a:endParaRPr lang="en-US" sz="3000" dirty="0"/>
          </a:p>
        </p:txBody>
      </p:sp>
      <p:sp>
        <p:nvSpPr>
          <p:cNvPr id="4" name="Shape 2"/>
          <p:cNvSpPr/>
          <p:nvPr/>
        </p:nvSpPr>
        <p:spPr>
          <a:xfrm>
            <a:off x="1272388" y="2194560"/>
            <a:ext cx="2606040" cy="2606040"/>
          </a:xfrm>
          <a:prstGeom prst="ellipse">
            <a:avLst/>
          </a:prstGeom>
          <a:solidFill>
            <a:srgbClr val="02BDC7"/>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5" name="Image 0" descr="/home/user/yawp/services/web-app/scripts/thesis-essay-decks/assets/icons/question.png">    </p:cNvPr>
          <p:cNvPicPr>
            <a:picLocks noChangeAspect="1"/>
          </p:cNvPicPr>
          <p:nvPr/>
        </p:nvPicPr>
        <p:blipFill>
          <a:blip r:embed="rId1"/>
          <a:stretch>
            <a:fillRect/>
          </a:stretch>
        </p:blipFill>
        <p:spPr>
          <a:xfrm>
            <a:off x="2163928" y="2560320"/>
            <a:ext cx="822960" cy="822960"/>
          </a:xfrm>
          <a:prstGeom prst="rect">
            <a:avLst/>
          </a:prstGeom>
        </p:spPr>
      </p:pic>
      <p:sp>
        <p:nvSpPr>
          <p:cNvPr id="6" name="Text 3"/>
          <p:cNvSpPr/>
          <p:nvPr/>
        </p:nvSpPr>
        <p:spPr>
          <a:xfrm>
            <a:off x="145526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Critical thinking</a:t>
            </a:r>
            <a:endParaRPr lang="en-US" sz="2600" dirty="0"/>
          </a:p>
        </p:txBody>
      </p:sp>
      <p:sp>
        <p:nvSpPr>
          <p:cNvPr id="7" name="Text 4"/>
          <p:cNvSpPr/>
          <p:nvPr/>
        </p:nvSpPr>
        <p:spPr>
          <a:xfrm>
            <a:off x="387842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8" name="Shape 5"/>
          <p:cNvSpPr/>
          <p:nvPr/>
        </p:nvSpPr>
        <p:spPr>
          <a:xfrm>
            <a:off x="4792828" y="2194560"/>
            <a:ext cx="2606040" cy="2606040"/>
          </a:xfrm>
          <a:prstGeom prst="ellipse">
            <a:avLst/>
          </a:prstGeom>
          <a:solidFill>
            <a:srgbClr val="FF9755"/>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9" name="Image 1" descr="/home/user/yawp/services/web-app/scripts/thesis-essay-decks/assets/icons/timer.png">    </p:cNvPr>
          <p:cNvPicPr>
            <a:picLocks noChangeAspect="1"/>
          </p:cNvPicPr>
          <p:nvPr/>
        </p:nvPicPr>
        <p:blipFill>
          <a:blip r:embed="rId2"/>
          <a:stretch>
            <a:fillRect/>
          </a:stretch>
        </p:blipFill>
        <p:spPr>
          <a:xfrm>
            <a:off x="5684368" y="2560320"/>
            <a:ext cx="822960" cy="822960"/>
          </a:xfrm>
          <a:prstGeom prst="rect">
            <a:avLst/>
          </a:prstGeom>
        </p:spPr>
      </p:pic>
      <p:sp>
        <p:nvSpPr>
          <p:cNvPr id="10" name="Text 6"/>
          <p:cNvSpPr/>
          <p:nvPr/>
        </p:nvSpPr>
        <p:spPr>
          <a:xfrm>
            <a:off x="497570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Time</a:t>
            </a:r>
            <a:endParaRPr lang="en-US" sz="2600" dirty="0"/>
          </a:p>
        </p:txBody>
      </p:sp>
      <p:sp>
        <p:nvSpPr>
          <p:cNvPr id="11" name="Text 7"/>
          <p:cNvSpPr/>
          <p:nvPr/>
        </p:nvSpPr>
        <p:spPr>
          <a:xfrm>
            <a:off x="739886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12" name="Shape 8"/>
          <p:cNvSpPr/>
          <p:nvPr/>
        </p:nvSpPr>
        <p:spPr>
          <a:xfrm>
            <a:off x="8313268" y="2194560"/>
            <a:ext cx="2606040" cy="2606040"/>
          </a:xfrm>
          <a:prstGeom prst="ellipse">
            <a:avLst/>
          </a:prstGeom>
          <a:solidFill>
            <a:srgbClr val="FC4540"/>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13" name="Image 2" descr="/home/user/yawp/services/web-app/scripts/thesis-essay-decks/assets/icons/lightbulb.png">    </p:cNvPr>
          <p:cNvPicPr>
            <a:picLocks noChangeAspect="1"/>
          </p:cNvPicPr>
          <p:nvPr/>
        </p:nvPicPr>
        <p:blipFill>
          <a:blip r:embed="rId3"/>
          <a:stretch>
            <a:fillRect/>
          </a:stretch>
        </p:blipFill>
        <p:spPr>
          <a:xfrm>
            <a:off x="9204808" y="2560320"/>
            <a:ext cx="822960" cy="822960"/>
          </a:xfrm>
          <a:prstGeom prst="rect">
            <a:avLst/>
          </a:prstGeom>
        </p:spPr>
      </p:pic>
      <p:sp>
        <p:nvSpPr>
          <p:cNvPr id="14" name="Text 9"/>
          <p:cNvSpPr/>
          <p:nvPr/>
        </p:nvSpPr>
        <p:spPr>
          <a:xfrm>
            <a:off x="849614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Original ideas</a:t>
            </a:r>
            <a:endParaRPr lang="en-US" sz="2600" dirty="0"/>
          </a:p>
        </p:txBody>
      </p:sp>
      <p:sp>
        <p:nvSpPr>
          <p:cNvPr id="15" name="Text 10"/>
          <p:cNvSpPr/>
          <p:nvPr/>
        </p:nvSpPr>
        <p:spPr>
          <a:xfrm>
            <a:off x="685800" y="5120640"/>
            <a:ext cx="10820095" cy="457200"/>
          </a:xfrm>
          <a:prstGeom prst="rect">
            <a:avLst/>
          </a:prstGeom>
          <a:noFill/>
          <a:ln/>
        </p:spPr>
        <p:txBody>
          <a:bodyPr wrap="square" lIns="0" tIns="0" rIns="0" bIns="0" rtlCol="0" anchor="ctr"/>
          <a:lstStyle/>
          <a:p>
            <a:pPr algn="ctr" indent="0" marL="0">
              <a:buNone/>
            </a:pPr>
            <a:r>
              <a:rPr lang="en-US" sz="2000" i="1" dirty="0">
                <a:solidFill>
                  <a:srgbClr val="7E7C78"/>
                </a:solidFill>
                <a:latin typeface="Calibri" pitchFamily="34" charset="0"/>
                <a:ea typeface="Calibri" pitchFamily="34" charset="-122"/>
                <a:cs typeface="Calibri" pitchFamily="34" charset="-120"/>
              </a:rPr>
              <a:t>See you next time: thesis statements.</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Pre-Writing</dc:title>
  <dc:subject>Thesis-Driven Essay · Lesson 2</dc:subject>
  <dc:creator>PptxGenJS</dc:creator>
  <cp:lastModifiedBy>PptxGenJS</cp:lastModifiedBy>
  <cp:revision>1</cp:revision>
  <dcterms:created xsi:type="dcterms:W3CDTF">2026-10-12T21:13:36Z</dcterms:created>
  <dcterms:modified xsi:type="dcterms:W3CDTF">2026-10-12T21:13:36Z</dcterms:modified>
</cp:coreProperties>
</file>